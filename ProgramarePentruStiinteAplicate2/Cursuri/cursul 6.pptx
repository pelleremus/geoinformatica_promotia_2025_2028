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300" r:id="rId3"/>
    <p:sldId id="301" r:id="rId4"/>
    <p:sldId id="302" r:id="rId5"/>
    <p:sldId id="303" r:id="rId6"/>
    <p:sldId id="304"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21" autoAdjust="0"/>
    <p:restoredTop sz="94660"/>
  </p:normalViewPr>
  <p:slideViewPr>
    <p:cSldViewPr snapToGrid="0">
      <p:cViewPr varScale="1">
        <p:scale>
          <a:sx n="99" d="100"/>
          <a:sy n="99" d="100"/>
        </p:scale>
        <p:origin x="8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5"/>
            <a:ext cx="7315200" cy="2595025"/>
          </a:xfrm>
        </p:spPr>
        <p:txBody>
          <a:bodyPr>
            <a:normAutofit/>
          </a:bodyPr>
          <a:lstStyle>
            <a:lvl1pPr>
              <a:defRPr sz="36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165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856C7F-C199-47A3-AF94-EAE81E21E31B}" type="datetimeFigureOut">
              <a:rPr lang="en-US" smtClean="0"/>
              <a:t>3/24/2026</a:t>
            </a:fld>
            <a:endParaRPr lang="en-US"/>
          </a:p>
        </p:txBody>
      </p:sp>
      <p:sp>
        <p:nvSpPr>
          <p:cNvPr id="8" name="Slide Number Placeholder 7"/>
          <p:cNvSpPr>
            <a:spLocks noGrp="1"/>
          </p:cNvSpPr>
          <p:nvPr>
            <p:ph type="sldNum" sz="quarter" idx="11"/>
          </p:nvPr>
        </p:nvSpPr>
        <p:spPr/>
        <p:txBody>
          <a:bodyPr/>
          <a:lstStyle/>
          <a:p>
            <a:fld id="{E13EF8AE-9767-4E5A-802F-66A2B36F74A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1998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56C7F-C199-47A3-AF94-EAE81E21E31B}"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09895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914400" y="3865099"/>
            <a:ext cx="7315200" cy="1098439"/>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56C7F-C199-47A3-AF94-EAE81E21E31B}"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77142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856C7F-C199-47A3-AF94-EAE81E21E31B}"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
        <p:nvSpPr>
          <p:cNvPr id="9" name="Title 8"/>
          <p:cNvSpPr>
            <a:spLocks noGrp="1"/>
          </p:cNvSpPr>
          <p:nvPr>
            <p:ph type="title"/>
          </p:nvPr>
        </p:nvSpPr>
        <p:spPr>
          <a:xfrm>
            <a:off x="914400" y="1544717"/>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2"/>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313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p:cNvSpPr>
            <a:spLocks noGrp="1"/>
          </p:cNvSpPr>
          <p:nvPr>
            <p:ph type="body" sz="quarter" idx="3"/>
          </p:nvPr>
        </p:nvSpPr>
        <p:spPr>
          <a:xfrm>
            <a:off x="4885145" y="2743200"/>
            <a:ext cx="336206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7856C7F-C199-47A3-AF94-EAE81E21E31B}"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3EF8AE-9767-4E5A-802F-66A2B36F74A8}" type="slidenum">
              <a:rPr lang="en-US" smtClean="0"/>
              <a:t>‹#›</a:t>
            </a:fld>
            <a:endParaRPr lang="en-US"/>
          </a:p>
        </p:txBody>
      </p:sp>
      <p:sp>
        <p:nvSpPr>
          <p:cNvPr id="10" name="Title 9"/>
          <p:cNvSpPr>
            <a:spLocks noGrp="1"/>
          </p:cNvSpPr>
          <p:nvPr>
            <p:ph type="title"/>
          </p:nvPr>
        </p:nvSpPr>
        <p:spPr>
          <a:xfrm>
            <a:off x="914400" y="1544717"/>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6342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856C7F-C199-47A3-AF94-EAE81E21E31B}"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74712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56C7F-C199-47A3-AF94-EAE81E21E31B}"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1612098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4"/>
            <a:ext cx="2950936" cy="2173015"/>
          </a:xfrm>
        </p:spPr>
        <p:txBody>
          <a:bodyPr anchor="b">
            <a:normAutofit/>
          </a:bodyPr>
          <a:lstStyle>
            <a:lvl1pPr algn="l">
              <a:defRPr sz="21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7"/>
            <a:ext cx="2950936" cy="224538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42868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1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30526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741162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1"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54162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914400" y="1544717"/>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5"/>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1" y="548797"/>
            <a:ext cx="1189132" cy="297918"/>
          </a:xfrm>
          <a:prstGeom prst="rect">
            <a:avLst/>
          </a:prstGeom>
        </p:spPr>
        <p:txBody>
          <a:bodyPr vert="horz" lIns="91440" tIns="45720" rIns="91440" bIns="45720" rtlCol="0" anchor="ctr"/>
          <a:lstStyle>
            <a:lvl1pPr algn="l">
              <a:defRPr sz="900">
                <a:solidFill>
                  <a:schemeClr val="tx1">
                    <a:alpha val="50000"/>
                  </a:schemeClr>
                </a:solidFill>
              </a:defRPr>
            </a:lvl1pPr>
          </a:lstStyle>
          <a:p>
            <a:fld id="{C7856C7F-C199-47A3-AF94-EAE81E21E31B}" type="datetimeFigureOut">
              <a:rPr lang="en-US" smtClean="0"/>
              <a:t>3/24/2026</a:t>
            </a:fld>
            <a:endParaRPr lang="en-US"/>
          </a:p>
        </p:txBody>
      </p:sp>
      <p:sp>
        <p:nvSpPr>
          <p:cNvPr id="6" name="Slide Number Placeholder 5"/>
          <p:cNvSpPr>
            <a:spLocks noGrp="1"/>
          </p:cNvSpPr>
          <p:nvPr>
            <p:ph type="sldNum" sz="quarter" idx="4"/>
          </p:nvPr>
        </p:nvSpPr>
        <p:spPr>
          <a:xfrm>
            <a:off x="7314416" y="548797"/>
            <a:ext cx="941203" cy="301752"/>
          </a:xfrm>
          <a:prstGeom prst="rect">
            <a:avLst/>
          </a:prstGeom>
        </p:spPr>
        <p:txBody>
          <a:bodyPr vert="horz" lIns="91440" tIns="45720" rIns="91440" bIns="45720" rtlCol="0" anchor="ctr"/>
          <a:lstStyle>
            <a:lvl1pPr algn="r">
              <a:defRPr sz="900">
                <a:solidFill>
                  <a:schemeClr val="tx1"/>
                </a:solidFill>
              </a:defRPr>
            </a:lvl1pPr>
          </a:lstStyle>
          <a:p>
            <a:fld id="{E13EF8AE-9767-4E5A-802F-66A2B36F74A8}" type="slidenum">
              <a:rPr lang="en-US" smtClean="0"/>
              <a:t>‹#›</a:t>
            </a:fld>
            <a:endParaRPr lang="en-US"/>
          </a:p>
        </p:txBody>
      </p:sp>
      <p:sp>
        <p:nvSpPr>
          <p:cNvPr id="5" name="Footer Placeholder 4"/>
          <p:cNvSpPr>
            <a:spLocks noGrp="1"/>
          </p:cNvSpPr>
          <p:nvPr>
            <p:ph type="ftr" sz="quarter" idx="3"/>
          </p:nvPr>
        </p:nvSpPr>
        <p:spPr>
          <a:xfrm>
            <a:off x="6008689" y="855958"/>
            <a:ext cx="2246489" cy="301227"/>
          </a:xfrm>
          <a:prstGeom prst="rect">
            <a:avLst/>
          </a:prstGeom>
        </p:spPr>
        <p:txBody>
          <a:bodyPr vert="horz" lIns="91440" tIns="0" rIns="91440" bIns="45720" rtlCol="0" anchor="t"/>
          <a:lstStyle>
            <a:lvl1pPr algn="l">
              <a:defRPr sz="750">
                <a:solidFill>
                  <a:schemeClr val="tx1"/>
                </a:solidFill>
              </a:defRPr>
            </a:lvl1pPr>
          </a:lstStyle>
          <a:p>
            <a:endParaRPr lang="en-US"/>
          </a:p>
        </p:txBody>
      </p:sp>
    </p:spTree>
    <p:extLst>
      <p:ext uri="{BB962C8B-B14F-4D97-AF65-F5344CB8AC3E}">
        <p14:creationId xmlns:p14="http://schemas.microsoft.com/office/powerpoint/2010/main" val="9417921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spcBef>
          <a:spcPct val="0"/>
        </a:spcBef>
        <a:buNone/>
        <a:defRPr sz="3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37160" algn="l" defTabSz="685800" rtl="0" eaLnBrk="1" latinLnBrk="0" hangingPunct="1">
        <a:spcBef>
          <a:spcPct val="20000"/>
        </a:spcBef>
        <a:buClr>
          <a:schemeClr val="tx2"/>
        </a:buClr>
        <a:buFont typeface="Wingdings" charset="2"/>
        <a:buChar char="§"/>
        <a:defRPr sz="1500" kern="1200">
          <a:solidFill>
            <a:schemeClr val="tx1"/>
          </a:solidFill>
          <a:latin typeface="+mn-lt"/>
          <a:ea typeface="+mn-ea"/>
          <a:cs typeface="+mn-cs"/>
        </a:defRPr>
      </a:lvl1pPr>
      <a:lvl2pPr marL="377190" indent="-137160" algn="l" defTabSz="685800" rtl="0" eaLnBrk="1" latinLnBrk="0" hangingPunct="1">
        <a:spcBef>
          <a:spcPct val="20000"/>
        </a:spcBef>
        <a:buClr>
          <a:schemeClr val="tx2"/>
        </a:buClr>
        <a:buFont typeface="Wingdings" charset="2"/>
        <a:buChar char="§"/>
        <a:defRPr sz="1350" kern="1200">
          <a:solidFill>
            <a:schemeClr val="tx1"/>
          </a:solidFill>
          <a:latin typeface="+mn-lt"/>
          <a:ea typeface="+mn-ea"/>
          <a:cs typeface="+mn-cs"/>
        </a:defRPr>
      </a:lvl2pPr>
      <a:lvl3pPr marL="514350" indent="-137160" algn="l" defTabSz="685800" rtl="0" eaLnBrk="1" latinLnBrk="0" hangingPunct="1">
        <a:spcBef>
          <a:spcPct val="20000"/>
        </a:spcBef>
        <a:buClr>
          <a:schemeClr val="tx2"/>
        </a:buClr>
        <a:buFont typeface="Wingdings" charset="2"/>
        <a:buChar char="§"/>
        <a:defRPr sz="1200" kern="1200">
          <a:solidFill>
            <a:schemeClr val="tx1"/>
          </a:solidFill>
          <a:latin typeface="+mn-lt"/>
          <a:ea typeface="+mn-ea"/>
          <a:cs typeface="+mn-cs"/>
        </a:defRPr>
      </a:lvl3pPr>
      <a:lvl4pPr marL="68580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4pPr>
      <a:lvl5pPr marL="85725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5pPr>
      <a:lvl6pPr marL="10287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6pPr>
      <a:lvl7pPr marL="12001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7pPr>
      <a:lvl8pPr marL="13716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8pPr>
      <a:lvl9pPr marL="15430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271B79-AD63-DB37-67C7-C575BD375C76}"/>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80B65007-A43F-3FCE-F922-090075940AA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Programarea orientată pe obiecte</a:t>
            </a:r>
          </a:p>
          <a:p>
            <a:pPr algn="just"/>
            <a:r>
              <a:rPr lang="ro-RO" sz="2800" noProof="0" dirty="0">
                <a:solidFill>
                  <a:srgbClr val="00B0F0"/>
                </a:solidFill>
              </a:rPr>
              <a:t> Moștenire</a:t>
            </a:r>
          </a:p>
          <a:p>
            <a:pPr algn="just"/>
            <a:r>
              <a:rPr lang="ro-RO" sz="2800" noProof="0" dirty="0">
                <a:solidFill>
                  <a:srgbClr val="00B0F0"/>
                </a:solidFill>
              </a:rPr>
              <a:t> Clase de bază și clase derivate</a:t>
            </a:r>
          </a:p>
          <a:p>
            <a:pPr algn="just"/>
            <a:r>
              <a:rPr lang="ro-RO" sz="2800" noProof="0" dirty="0">
                <a:solidFill>
                  <a:srgbClr val="00B0F0"/>
                </a:solidFill>
              </a:rPr>
              <a:t> Cuvântul cheie </a:t>
            </a:r>
            <a:r>
              <a:rPr lang="ro-RO" sz="2800" noProof="0" dirty="0" err="1">
                <a:solidFill>
                  <a:schemeClr val="tx2"/>
                </a:solidFill>
              </a:rPr>
              <a:t>base</a:t>
            </a:r>
            <a:endParaRPr lang="ro-RO" sz="2800" noProof="0" dirty="0">
              <a:solidFill>
                <a:schemeClr val="tx2"/>
              </a:solidFill>
            </a:endParaRPr>
          </a:p>
          <a:p>
            <a:pPr algn="just"/>
            <a:r>
              <a:rPr lang="ro-RO" sz="2800" noProof="0" dirty="0">
                <a:solidFill>
                  <a:srgbClr val="00B0F0"/>
                </a:solidFill>
              </a:rPr>
              <a:t> Suprascrierea metodelor</a:t>
            </a:r>
          </a:p>
          <a:p>
            <a:pPr algn="just"/>
            <a:r>
              <a:rPr lang="ro-RO" sz="2800" noProof="0" dirty="0">
                <a:solidFill>
                  <a:srgbClr val="00B0F0"/>
                </a:solidFill>
              </a:rPr>
              <a:t> Cuvântul cheie </a:t>
            </a:r>
            <a:r>
              <a:rPr lang="ro-RO" sz="2800" noProof="0" dirty="0">
                <a:solidFill>
                  <a:schemeClr val="tx2"/>
                </a:solidFill>
              </a:rPr>
              <a:t>virtual</a:t>
            </a:r>
            <a:r>
              <a:rPr lang="ro-RO" sz="2800" noProof="0" dirty="0">
                <a:solidFill>
                  <a:srgbClr val="00B0F0"/>
                </a:solidFill>
              </a:rPr>
              <a:t> și </a:t>
            </a:r>
            <a:r>
              <a:rPr lang="ro-RO" sz="2800" noProof="0" dirty="0" err="1">
                <a:solidFill>
                  <a:schemeClr val="tx2"/>
                </a:solidFill>
              </a:rPr>
              <a:t>override</a:t>
            </a:r>
            <a:endParaRPr lang="ro-RO" sz="2800" noProof="0" dirty="0">
              <a:solidFill>
                <a:schemeClr val="tx2"/>
              </a:solidFill>
            </a:endParaRPr>
          </a:p>
          <a:p>
            <a:pPr algn="just"/>
            <a:r>
              <a:rPr lang="ro-RO" sz="2800" noProof="0" dirty="0">
                <a:solidFill>
                  <a:srgbClr val="00B0F0"/>
                </a:solidFill>
              </a:rPr>
              <a:t> Prevenirea derivării/moștenirii, cuvântul cheie </a:t>
            </a:r>
            <a:r>
              <a:rPr lang="ro-RO" sz="2800" noProof="0" dirty="0" err="1">
                <a:solidFill>
                  <a:schemeClr val="tx2"/>
                </a:solidFill>
              </a:rPr>
              <a:t>sealed</a:t>
            </a:r>
            <a:endParaRPr lang="ro-RO" sz="2800" noProof="0" dirty="0">
              <a:solidFill>
                <a:schemeClr val="tx2"/>
              </a:solidFill>
            </a:endParaRPr>
          </a:p>
          <a:p>
            <a:pPr algn="just"/>
            <a:r>
              <a:rPr lang="ro-RO" sz="2800" noProof="0" dirty="0">
                <a:solidFill>
                  <a:srgbClr val="00B0F0"/>
                </a:solidFill>
              </a:rPr>
              <a:t> Moștenire multiplă, cuvântul cheie </a:t>
            </a:r>
            <a:r>
              <a:rPr lang="ro-RO" sz="2800" noProof="0" dirty="0" err="1">
                <a:solidFill>
                  <a:schemeClr val="tx2"/>
                </a:solidFill>
              </a:rPr>
              <a:t>interface</a:t>
            </a:r>
            <a:endParaRPr lang="ro-RO" sz="2800" noProof="0" dirty="0">
              <a:solidFill>
                <a:schemeClr val="tx2"/>
              </a:solidFill>
            </a:endParaRPr>
          </a:p>
          <a:p>
            <a:pPr algn="just"/>
            <a:endParaRPr lang="ro-RO" sz="2800" noProof="0" dirty="0">
              <a:solidFill>
                <a:srgbClr val="00B0F0"/>
              </a:solidFill>
            </a:endParaRPr>
          </a:p>
          <a:p>
            <a:pPr algn="just"/>
            <a:endParaRPr lang="ro-RO" sz="2800" noProof="0" dirty="0">
              <a:solidFill>
                <a:srgbClr val="00B0F0"/>
              </a:solidFill>
            </a:endParaRPr>
          </a:p>
        </p:txBody>
      </p:sp>
    </p:spTree>
    <p:extLst>
      <p:ext uri="{BB962C8B-B14F-4D97-AF65-F5344CB8AC3E}">
        <p14:creationId xmlns:p14="http://schemas.microsoft.com/office/powerpoint/2010/main" val="689500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88D1B-34D2-8C11-5876-0F5D8147AE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5E18B50-FFF2-20F6-0EF4-A3BC571E2288}"/>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4CA4C17E-D401-99E3-A4B0-DFCE323F85C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Unul dintre cele mai importante concepte din programarea orientată pe obiecte este </a:t>
            </a:r>
            <a:r>
              <a:rPr lang="ro-RO" sz="2800" noProof="0" dirty="0">
                <a:solidFill>
                  <a:schemeClr val="tx2"/>
                </a:solidFill>
              </a:rPr>
              <a:t>moștenirea</a:t>
            </a:r>
            <a:r>
              <a:rPr lang="ro-RO" sz="2800" noProof="0" dirty="0">
                <a:solidFill>
                  <a:srgbClr val="00B0F0"/>
                </a:solidFill>
              </a:rPr>
              <a:t>. </a:t>
            </a:r>
            <a:r>
              <a:rPr lang="ro-RO" sz="2800" noProof="0" dirty="0">
                <a:solidFill>
                  <a:schemeClr val="tx2"/>
                </a:solidFill>
              </a:rPr>
              <a:t>Moștenirea</a:t>
            </a:r>
            <a:r>
              <a:rPr lang="ro-RO" sz="2800" noProof="0" dirty="0">
                <a:solidFill>
                  <a:srgbClr val="00B0F0"/>
                </a:solidFill>
              </a:rPr>
              <a:t> ne permite să definim o clasă în termenii unei alte clase, ceea ce facilitează crearea și întreținerea unei aplicații. Aceasta oferă, de asemenea, oportunitatea de a reutiliza funcționalitatea codului și accelerează timpul de implementare.</a:t>
            </a:r>
          </a:p>
        </p:txBody>
      </p:sp>
    </p:spTree>
    <p:extLst>
      <p:ext uri="{BB962C8B-B14F-4D97-AF65-F5344CB8AC3E}">
        <p14:creationId xmlns:p14="http://schemas.microsoft.com/office/powerpoint/2010/main" val="832168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77828-7E30-F4F2-72B5-2920D5E653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494F17-DE47-4CA4-817A-FBF350992659}"/>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607DCB5B-70CC-C3B0-C890-A573D352749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Atunci când se creează o clasă, în loc să se scrie membri de date și funcții membre complet noi, programatorul poate desemna ca </a:t>
            </a:r>
            <a:r>
              <a:rPr lang="ro-RO" sz="2800" noProof="0" dirty="0">
                <a:solidFill>
                  <a:schemeClr val="tx2"/>
                </a:solidFill>
              </a:rPr>
              <a:t>noua</a:t>
            </a:r>
            <a:r>
              <a:rPr lang="ro-RO" sz="2800" noProof="0" dirty="0">
                <a:solidFill>
                  <a:srgbClr val="00B0F0"/>
                </a:solidFill>
              </a:rPr>
              <a:t> clasă să </a:t>
            </a:r>
            <a:r>
              <a:rPr lang="ro-RO" sz="2800" noProof="0" dirty="0">
                <a:solidFill>
                  <a:schemeClr val="tx2"/>
                </a:solidFill>
              </a:rPr>
              <a:t>moștenească</a:t>
            </a:r>
            <a:r>
              <a:rPr lang="ro-RO" sz="2800" noProof="0" dirty="0">
                <a:solidFill>
                  <a:srgbClr val="00B0F0"/>
                </a:solidFill>
              </a:rPr>
              <a:t> membrii unei clase </a:t>
            </a:r>
            <a:r>
              <a:rPr lang="ro-RO" sz="2800" noProof="0" dirty="0">
                <a:solidFill>
                  <a:schemeClr val="tx2"/>
                </a:solidFill>
              </a:rPr>
              <a:t>existente</a:t>
            </a:r>
            <a:r>
              <a:rPr lang="ro-RO" sz="2800" noProof="0" dirty="0">
                <a:solidFill>
                  <a:srgbClr val="00B0F0"/>
                </a:solidFill>
              </a:rPr>
              <a:t>. Această clasă existentă se numește </a:t>
            </a:r>
            <a:r>
              <a:rPr lang="ro-RO" sz="2800" noProof="0" dirty="0">
                <a:solidFill>
                  <a:schemeClr val="tx2"/>
                </a:solidFill>
              </a:rPr>
              <a:t>clasă de bază</a:t>
            </a:r>
            <a:r>
              <a:rPr lang="ro-RO" sz="2800" noProof="0" dirty="0">
                <a:solidFill>
                  <a:srgbClr val="00B0F0"/>
                </a:solidFill>
              </a:rPr>
              <a:t>, iar noua clasă se numește </a:t>
            </a:r>
            <a:r>
              <a:rPr lang="ro-RO" sz="2800" noProof="0" dirty="0">
                <a:solidFill>
                  <a:schemeClr val="tx2"/>
                </a:solidFill>
              </a:rPr>
              <a:t>clasă derivată</a:t>
            </a:r>
            <a:r>
              <a:rPr lang="ro-RO" sz="2800" noProof="0" dirty="0">
                <a:solidFill>
                  <a:srgbClr val="00B0F0"/>
                </a:solidFill>
              </a:rPr>
              <a:t>.</a:t>
            </a:r>
          </a:p>
        </p:txBody>
      </p:sp>
    </p:spTree>
    <p:extLst>
      <p:ext uri="{BB962C8B-B14F-4D97-AF65-F5344CB8AC3E}">
        <p14:creationId xmlns:p14="http://schemas.microsoft.com/office/powerpoint/2010/main" val="4001650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D1A9D-0171-9C15-4FD6-F75FE88C01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96B2FD-37E1-086A-466E-00D101067DBE}"/>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D9ADDED0-BD08-B1E6-DF35-0597AB91718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Ideea de moștenire implementează relația </a:t>
            </a:r>
            <a:r>
              <a:rPr lang="ro-RO" sz="2800" noProof="0" dirty="0">
                <a:solidFill>
                  <a:schemeClr val="tx2"/>
                </a:solidFill>
              </a:rPr>
              <a:t>ESTE-UN</a:t>
            </a:r>
            <a:r>
              <a:rPr lang="ro-RO" sz="2800" noProof="0" dirty="0">
                <a:solidFill>
                  <a:srgbClr val="00B0F0"/>
                </a:solidFill>
              </a:rPr>
              <a:t>. </a:t>
            </a:r>
          </a:p>
          <a:p>
            <a:pPr marL="34290" indent="0" algn="just">
              <a:buNone/>
            </a:pPr>
            <a:r>
              <a:rPr lang="ro-RO" sz="2800" noProof="0" dirty="0">
                <a:solidFill>
                  <a:srgbClr val="00B0F0"/>
                </a:solidFill>
              </a:rPr>
              <a:t>De exemplu, mamiferul </a:t>
            </a:r>
            <a:r>
              <a:rPr lang="ro-RO" sz="2800" noProof="0" dirty="0">
                <a:solidFill>
                  <a:schemeClr val="tx2"/>
                </a:solidFill>
              </a:rPr>
              <a:t>ESTE UN</a:t>
            </a:r>
            <a:r>
              <a:rPr lang="ro-RO" sz="2800" noProof="0" dirty="0">
                <a:solidFill>
                  <a:srgbClr val="00B0F0"/>
                </a:solidFill>
              </a:rPr>
              <a:t> animal, câinele </a:t>
            </a:r>
            <a:r>
              <a:rPr lang="ro-RO" sz="2800" noProof="0" dirty="0">
                <a:solidFill>
                  <a:schemeClr val="tx2"/>
                </a:solidFill>
              </a:rPr>
              <a:t>ESTE UN </a:t>
            </a:r>
            <a:r>
              <a:rPr lang="ro-RO" sz="2800" noProof="0" dirty="0">
                <a:solidFill>
                  <a:srgbClr val="00B0F0"/>
                </a:solidFill>
              </a:rPr>
              <a:t>mamifer, prin urmare, și câinele </a:t>
            </a:r>
            <a:r>
              <a:rPr lang="ro-RO" sz="2800" noProof="0" dirty="0">
                <a:solidFill>
                  <a:schemeClr val="tx2"/>
                </a:solidFill>
              </a:rPr>
              <a:t>ESTE UN</a:t>
            </a:r>
            <a:r>
              <a:rPr lang="ro-RO" sz="2800" noProof="0" dirty="0">
                <a:solidFill>
                  <a:srgbClr val="00B0F0"/>
                </a:solidFill>
              </a:rPr>
              <a:t> animal și așa mai departe.</a:t>
            </a:r>
          </a:p>
        </p:txBody>
      </p:sp>
    </p:spTree>
    <p:extLst>
      <p:ext uri="{BB962C8B-B14F-4D97-AF65-F5344CB8AC3E}">
        <p14:creationId xmlns:p14="http://schemas.microsoft.com/office/powerpoint/2010/main" val="1398428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018FB-1CAE-7533-6763-177B118925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CFCA0A-FB18-1002-F5B3-C27007C4A05E}"/>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69167517-4E28-8BFB-00A2-AD10C1817BA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Clase de bază și clase derivate</a:t>
            </a:r>
          </a:p>
          <a:p>
            <a:pPr marL="34290" indent="0" algn="just">
              <a:buNone/>
            </a:pPr>
            <a:r>
              <a:rPr lang="ro-RO" sz="2800" noProof="0" dirty="0">
                <a:solidFill>
                  <a:srgbClr val="00B0F0"/>
                </a:solidFill>
              </a:rPr>
              <a:t>O clasă poate fi derivată din mai multe clase sau interfețe, ceea ce înseamnă că poate moșteni date și funcții de la mai multe clase de bază sau interfețe.(</a:t>
            </a:r>
            <a:r>
              <a:rPr lang="ro-RO" sz="2800" noProof="0" dirty="0">
                <a:solidFill>
                  <a:srgbClr val="FF0000"/>
                </a:solidFill>
              </a:rPr>
              <a:t>Obs</a:t>
            </a:r>
            <a:r>
              <a:rPr lang="ro-RO" sz="2800" noProof="0" dirty="0">
                <a:solidFill>
                  <a:srgbClr val="00B0F0"/>
                </a:solidFill>
              </a:rPr>
              <a:t> în C# doar dintr-o clasă de bază + o interfață)</a:t>
            </a:r>
          </a:p>
          <a:p>
            <a:pPr marL="34290" indent="0" algn="just">
              <a:buNone/>
            </a:pPr>
            <a:r>
              <a:rPr lang="ro-RO" sz="2800" noProof="0" dirty="0">
                <a:solidFill>
                  <a:srgbClr val="00B0F0"/>
                </a:solidFill>
              </a:rPr>
              <a:t>Sintaxa:</a:t>
            </a:r>
          </a:p>
          <a:p>
            <a:pPr marL="34290" indent="0" algn="just">
              <a:buNone/>
            </a:pPr>
            <a:r>
              <a:rPr lang="ro-RO" sz="2400" b="1" i="0" noProof="0" dirty="0">
                <a:solidFill>
                  <a:srgbClr val="67CDCC"/>
                </a:solidFill>
                <a:effectLst/>
                <a:latin typeface="Courier New" panose="02070309020205020404" pitchFamily="49" charset="0"/>
              </a:rPr>
              <a:t>&lt;</a:t>
            </a:r>
            <a:r>
              <a:rPr lang="ro-RO" sz="2400" b="1" i="0" noProof="0" dirty="0" err="1">
                <a:solidFill>
                  <a:srgbClr val="CCCCCC"/>
                </a:solidFill>
                <a:effectLst/>
                <a:latin typeface="Courier New" panose="02070309020205020404" pitchFamily="49" charset="0"/>
              </a:rPr>
              <a:t>acess</a:t>
            </a:r>
            <a:r>
              <a:rPr lang="ro-RO" sz="2400" b="1" i="0" noProof="0" dirty="0" err="1">
                <a:solidFill>
                  <a:srgbClr val="67CDCC"/>
                </a:solidFill>
                <a:effectLst/>
                <a:latin typeface="Courier New" panose="02070309020205020404" pitchFamily="49" charset="0"/>
              </a:rPr>
              <a:t>-</a:t>
            </a:r>
            <a:r>
              <a:rPr lang="ro-RO" sz="2400" b="1" i="0" noProof="0" dirty="0" err="1">
                <a:solidFill>
                  <a:srgbClr val="CCCCCC"/>
                </a:solidFill>
                <a:effectLst/>
                <a:latin typeface="Courier New" panose="02070309020205020404" pitchFamily="49" charset="0"/>
              </a:rPr>
              <a:t>specifier</a:t>
            </a:r>
            <a:r>
              <a:rPr lang="ro-RO" sz="2400" b="1" i="0" noProof="0" dirty="0">
                <a:solidFill>
                  <a:srgbClr val="67CDCC"/>
                </a:solidFill>
                <a:effectLst/>
                <a:latin typeface="Courier New" panose="02070309020205020404" pitchFamily="49" charset="0"/>
              </a:rPr>
              <a:t>&gt;</a:t>
            </a:r>
            <a:r>
              <a:rPr lang="ro-RO" sz="2400" b="1" i="0" noProof="0" dirty="0">
                <a:solidFill>
                  <a:srgbClr val="CCCCCC"/>
                </a:solidFill>
                <a:effectLst/>
                <a:latin typeface="Courier New" panose="02070309020205020404" pitchFamily="49" charset="0"/>
              </a:rPr>
              <a:t> </a:t>
            </a: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&lt;</a:t>
            </a:r>
            <a:r>
              <a:rPr lang="ro-RO" sz="2400" b="1" i="0" noProof="0" dirty="0" err="1">
                <a:solidFill>
                  <a:srgbClr val="CCCCCC"/>
                </a:solidFill>
                <a:effectLst/>
                <a:latin typeface="Courier New" panose="02070309020205020404" pitchFamily="49" charset="0"/>
              </a:rPr>
              <a:t>base_class</a:t>
            </a:r>
            <a:r>
              <a:rPr lang="ro-RO" sz="2400" b="1" i="0" noProof="0" dirty="0">
                <a:solidFill>
                  <a:srgbClr val="67CDCC"/>
                </a:solidFill>
                <a:effectLst/>
                <a:latin typeface="Courier New" panose="02070309020205020404" pitchFamily="49" charset="0"/>
              </a:rPr>
              <a:t>&gt;</a:t>
            </a:r>
            <a:r>
              <a:rPr lang="ro-RO" sz="2400" b="1" i="0" noProof="0" dirty="0">
                <a:solidFill>
                  <a:srgbClr val="CCCCCC"/>
                </a:solidFill>
                <a:effectLst/>
                <a:latin typeface="Courier New" panose="02070309020205020404" pitchFamily="49" charset="0"/>
              </a:rPr>
              <a:t> {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 </a:t>
            </a:r>
          </a:p>
          <a:p>
            <a:pPr marL="34290" indent="0" algn="just">
              <a:buNone/>
            </a:pPr>
            <a:r>
              <a:rPr lang="ro-RO" sz="2400" b="1" i="0" noProof="0" dirty="0" err="1">
                <a:solidFill>
                  <a:srgbClr val="CC99CD"/>
                </a:solidFill>
                <a:effectLst/>
                <a:latin typeface="Courier New" panose="02070309020205020404" pitchFamily="49" charset="0"/>
              </a:rPr>
              <a:t>class</a:t>
            </a:r>
            <a:r>
              <a:rPr lang="ro-RO" sz="2400" b="1" i="0" noProof="0" dirty="0">
                <a:solidFill>
                  <a:srgbClr val="CCCCCC"/>
                </a:solidFill>
                <a:effectLst/>
                <a:latin typeface="Courier New" panose="02070309020205020404" pitchFamily="49" charset="0"/>
              </a:rPr>
              <a:t> </a:t>
            </a:r>
            <a:r>
              <a:rPr lang="ro-RO" sz="2400" b="1" i="0" noProof="0" dirty="0">
                <a:solidFill>
                  <a:srgbClr val="67CDCC"/>
                </a:solidFill>
                <a:effectLst/>
                <a:latin typeface="Courier New" panose="02070309020205020404" pitchFamily="49" charset="0"/>
              </a:rPr>
              <a:t>&lt;</a:t>
            </a:r>
            <a:r>
              <a:rPr lang="ro-RO" sz="2400" b="1" i="0" noProof="0" dirty="0" err="1">
                <a:solidFill>
                  <a:srgbClr val="CCCCCC"/>
                </a:solidFill>
                <a:effectLst/>
                <a:latin typeface="Courier New" panose="02070309020205020404" pitchFamily="49" charset="0"/>
              </a:rPr>
              <a:t>derived_class</a:t>
            </a:r>
            <a:r>
              <a:rPr lang="ro-RO" sz="2400" b="1" i="0" noProof="0" dirty="0">
                <a:solidFill>
                  <a:srgbClr val="67CDCC"/>
                </a:solidFill>
                <a:effectLst/>
                <a:latin typeface="Courier New" panose="02070309020205020404" pitchFamily="49" charset="0"/>
              </a:rPr>
              <a:t>&gt;</a:t>
            </a:r>
            <a:r>
              <a:rPr lang="ro-RO" sz="2400" b="1" i="0" noProof="0" dirty="0">
                <a:solidFill>
                  <a:srgbClr val="CCCCCC"/>
                </a:solidFill>
                <a:effectLst/>
                <a:latin typeface="Courier New" panose="02070309020205020404" pitchFamily="49" charset="0"/>
              </a:rPr>
              <a:t> : </a:t>
            </a:r>
            <a:r>
              <a:rPr lang="ro-RO" sz="2400" b="1" i="0" noProof="0" dirty="0">
                <a:solidFill>
                  <a:srgbClr val="67CDCC"/>
                </a:solidFill>
                <a:effectLst/>
                <a:latin typeface="Courier New" panose="02070309020205020404" pitchFamily="49" charset="0"/>
              </a:rPr>
              <a:t>&lt;</a:t>
            </a:r>
            <a:r>
              <a:rPr lang="ro-RO" sz="2400" b="1" i="0" noProof="0" dirty="0" err="1">
                <a:solidFill>
                  <a:srgbClr val="CCCCCC"/>
                </a:solidFill>
                <a:effectLst/>
                <a:latin typeface="Courier New" panose="02070309020205020404" pitchFamily="49" charset="0"/>
              </a:rPr>
              <a:t>base_class</a:t>
            </a:r>
            <a:r>
              <a:rPr lang="ro-RO" sz="2400" b="1" i="0" noProof="0" dirty="0">
                <a:solidFill>
                  <a:srgbClr val="67CDCC"/>
                </a:solidFill>
                <a:effectLst/>
                <a:latin typeface="Courier New" panose="02070309020205020404" pitchFamily="49" charset="0"/>
              </a:rPr>
              <a:t>&gt;</a:t>
            </a:r>
            <a:r>
              <a:rPr lang="ro-RO" sz="2400" b="1" i="0" noProof="0" dirty="0">
                <a:solidFill>
                  <a:srgbClr val="CCCCCC"/>
                </a:solidFill>
                <a:effectLst/>
                <a:latin typeface="Courier New" panose="02070309020205020404" pitchFamily="49" charset="0"/>
              </a:rPr>
              <a:t> { </a:t>
            </a:r>
            <a:r>
              <a:rPr lang="ro-RO" sz="2400" b="1" i="0" noProof="0" dirty="0">
                <a:solidFill>
                  <a:srgbClr val="67CDCC"/>
                </a:solidFill>
                <a:effectLst/>
                <a:latin typeface="Courier New" panose="02070309020205020404" pitchFamily="49" charset="0"/>
              </a:rPr>
              <a:t>..</a:t>
            </a:r>
            <a:r>
              <a:rPr lang="ro-RO" sz="2400" b="1" i="0" noProof="0" dirty="0">
                <a:solidFill>
                  <a:srgbClr val="CCCCCC"/>
                </a:solidFill>
                <a:effectLst/>
                <a:latin typeface="Courier New" panose="02070309020205020404" pitchFamily="49" charset="0"/>
              </a:rPr>
              <a:t>. }</a:t>
            </a:r>
            <a:endParaRPr lang="ro-RO" sz="2400" b="1" noProof="0" dirty="0">
              <a:solidFill>
                <a:srgbClr val="00B0F0"/>
              </a:solidFill>
            </a:endParaRPr>
          </a:p>
        </p:txBody>
      </p:sp>
    </p:spTree>
    <p:extLst>
      <p:ext uri="{BB962C8B-B14F-4D97-AF65-F5344CB8AC3E}">
        <p14:creationId xmlns:p14="http://schemas.microsoft.com/office/powerpoint/2010/main" val="17189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6BEAF-79BE-E3B0-7CD1-89D5F6FAFB7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18A5295-F886-BF31-48A0-4455D19206C4}"/>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CFDE5D2A-9CA3-8F7F-5E25-26C1AE3258A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 derivare - moștenire</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InheritanceApplication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Shape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setWidth</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w</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width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w</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setHeight</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h</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protected</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width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protected</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6A9955"/>
                </a:solidFill>
                <a:effectLst/>
                <a:latin typeface="Consolas" panose="020B0609020204030204" pitchFamily="49" charset="0"/>
              </a:rPr>
              <a:t>   // </a:t>
            </a:r>
            <a:r>
              <a:rPr lang="ro-RO" sz="2000" b="1" noProof="0" dirty="0" err="1">
                <a:solidFill>
                  <a:srgbClr val="6A9955"/>
                </a:solidFill>
                <a:effectLst/>
                <a:latin typeface="Consolas" panose="020B0609020204030204" pitchFamily="49" charset="0"/>
              </a:rPr>
              <a:t>Derived</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class</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Rectangle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Shape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getArea</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width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96498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C5C38-B49B-DEF3-9EAE-1996459D41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0C6973-D83E-03AB-21C9-6900B75FD9B8}"/>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5DB0FD51-F717-74FA-8B22-2B12E84F398D}"/>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RectangleTester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Rect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Rect</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setWidth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Rect</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setHeight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7</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Print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the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area</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of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the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object</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"Total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area</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Rect</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getArea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endParaRPr lang="ro-RO" sz="2800" noProof="0" dirty="0">
              <a:solidFill>
                <a:srgbClr val="00B0F0"/>
              </a:solidFill>
            </a:endParaRPr>
          </a:p>
        </p:txBody>
      </p:sp>
    </p:spTree>
    <p:extLst>
      <p:ext uri="{BB962C8B-B14F-4D97-AF65-F5344CB8AC3E}">
        <p14:creationId xmlns:p14="http://schemas.microsoft.com/office/powerpoint/2010/main" val="3984510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3DD0B-A287-6FEB-643C-EB0C6267CD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D75CB6-C33F-2B1A-2632-C246D9054F5D}"/>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ECBE3EB6-F416-11C9-FF3D-2255A1257AB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Inițializarea clasei de bază</a:t>
            </a:r>
          </a:p>
          <a:p>
            <a:pPr marL="34290" indent="0" algn="just">
              <a:buNone/>
            </a:pPr>
            <a:r>
              <a:rPr lang="ro-RO" sz="2800" noProof="0" dirty="0">
                <a:solidFill>
                  <a:srgbClr val="00B0F0"/>
                </a:solidFill>
              </a:rPr>
              <a:t>Când clasa derivată moștenește de la o clasă de bază, putem inițializa clasa de bază folosind cuvântul cheie </a:t>
            </a:r>
            <a:r>
              <a:rPr lang="ro-RO" sz="2800" noProof="0" dirty="0" err="1">
                <a:solidFill>
                  <a:schemeClr val="tx2"/>
                </a:solidFill>
              </a:rPr>
              <a:t>base</a:t>
            </a:r>
            <a:r>
              <a:rPr lang="ro-RO" sz="2800" noProof="0" dirty="0">
                <a:solidFill>
                  <a:srgbClr val="00B0F0"/>
                </a:solidFill>
              </a:rPr>
              <a:t> din constructorul clasei derivate.</a:t>
            </a:r>
          </a:p>
          <a:p>
            <a:pPr marL="34290" indent="0" algn="just">
              <a:buNone/>
            </a:pPr>
            <a:r>
              <a:rPr lang="ro-RO" sz="2800" noProof="0" dirty="0">
                <a:solidFill>
                  <a:srgbClr val="00B0F0"/>
                </a:solidFill>
              </a:rPr>
              <a:t>Clasa derivată moștenește variabilele membre ale clasei de bază și metodele membre. Prin urmare, obiectul clasei de bază trebuie creat înainte de obiectul clasei derivate. Putem specifica inițializarea clasei de bază în lista de inițializare a membrilor.</a:t>
            </a:r>
          </a:p>
        </p:txBody>
      </p:sp>
    </p:spTree>
    <p:extLst>
      <p:ext uri="{BB962C8B-B14F-4D97-AF65-F5344CB8AC3E}">
        <p14:creationId xmlns:p14="http://schemas.microsoft.com/office/powerpoint/2010/main" val="2346070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D5C91-8ABD-69C2-7AD9-CA240319949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7EE37F-8D90-8746-4FED-5D13D1EF3920}"/>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4FA99D78-A983-CEAC-78F3-1F79A64D657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Sintaxa:</a:t>
            </a:r>
          </a:p>
          <a:p>
            <a:pPr>
              <a:lnSpc>
                <a:spcPts val="1425"/>
              </a:lnSpc>
              <a:buNone/>
            </a:pPr>
            <a:r>
              <a:rPr lang="ro-RO" sz="2400" b="1" noProof="0" dirty="0" err="1">
                <a:solidFill>
                  <a:srgbClr val="569CD6"/>
                </a:solidFill>
                <a:effectLst/>
                <a:latin typeface="Consolas" panose="020B0609020204030204" pitchFamily="49" charset="0"/>
              </a:rPr>
              <a:t>class</a:t>
            </a:r>
            <a:r>
              <a:rPr lang="ro-RO" sz="2400" b="1" noProof="0" dirty="0">
                <a:solidFill>
                  <a:srgbClr val="CCCCCC"/>
                </a:solidFill>
                <a:effectLst/>
                <a:latin typeface="Consolas" panose="020B0609020204030204" pitchFamily="49" charset="0"/>
              </a:rPr>
              <a:t> </a:t>
            </a:r>
            <a:r>
              <a:rPr lang="ro-RO" sz="2400" b="1" noProof="0" dirty="0" err="1">
                <a:solidFill>
                  <a:srgbClr val="4EC9B0"/>
                </a:solidFill>
                <a:effectLst/>
                <a:latin typeface="Consolas" panose="020B0609020204030204" pitchFamily="49" charset="0"/>
              </a:rPr>
              <a:t>BaseClass</a:t>
            </a: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a:solidFill>
                  <a:srgbClr val="569CD6"/>
                </a:solidFill>
                <a:effectLst/>
                <a:latin typeface="Consolas" panose="020B0609020204030204" pitchFamily="49" charset="0"/>
              </a:rPr>
              <a:t>public</a:t>
            </a:r>
            <a:r>
              <a:rPr lang="ro-RO" sz="2400" b="1" noProof="0" dirty="0">
                <a:solidFill>
                  <a:srgbClr val="CCCCCC"/>
                </a:solidFill>
                <a:effectLst/>
                <a:latin typeface="Consolas" panose="020B0609020204030204" pitchFamily="49" charset="0"/>
              </a:rPr>
              <a:t> </a:t>
            </a:r>
            <a:r>
              <a:rPr lang="ro-RO" sz="2400" b="1" noProof="0" dirty="0" err="1">
                <a:solidFill>
                  <a:srgbClr val="DCDCAA"/>
                </a:solidFill>
                <a:effectLst/>
                <a:latin typeface="Consolas" panose="020B0609020204030204" pitchFamily="49" charset="0"/>
              </a:rPr>
              <a:t>BaseClass</a:t>
            </a:r>
            <a:r>
              <a:rPr lang="ro-RO" sz="2400" b="1" noProof="0" dirty="0">
                <a:solidFill>
                  <a:srgbClr val="CCCCCC"/>
                </a:solidFill>
                <a:effectLst/>
                <a:latin typeface="Consolas" panose="020B0609020204030204" pitchFamily="49" charset="0"/>
              </a:rPr>
              <a:t>(</a:t>
            </a:r>
            <a:r>
              <a:rPr lang="ro-RO" sz="2400" b="1" noProof="0" dirty="0" err="1">
                <a:solidFill>
                  <a:srgbClr val="569CD6"/>
                </a:solidFill>
                <a:effectLst/>
                <a:latin typeface="Consolas" panose="020B0609020204030204" pitchFamily="49" charset="0"/>
              </a:rPr>
              <a:t>int</a:t>
            </a: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value</a:t>
            </a: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Console</a:t>
            </a:r>
            <a:r>
              <a:rPr lang="ro-RO" sz="2400" b="1" noProof="0" dirty="0" err="1">
                <a:solidFill>
                  <a:srgbClr val="CCCCCC"/>
                </a:solidFill>
                <a:effectLst/>
                <a:latin typeface="Consolas" panose="020B0609020204030204" pitchFamily="49" charset="0"/>
              </a:rPr>
              <a:t>.</a:t>
            </a:r>
            <a:r>
              <a:rPr lang="ro-RO" sz="2400" b="1" noProof="0" dirty="0" err="1">
                <a:solidFill>
                  <a:srgbClr val="DCDCAA"/>
                </a:solidFill>
                <a:effectLst/>
                <a:latin typeface="Consolas" panose="020B0609020204030204" pitchFamily="49" charset="0"/>
              </a:rPr>
              <a:t>WriteLine</a:t>
            </a:r>
            <a:r>
              <a:rPr lang="ro-RO" sz="2400" b="1" noProof="0" dirty="0">
                <a:solidFill>
                  <a:srgbClr val="CCCCCC"/>
                </a:solidFill>
                <a:effectLst/>
                <a:latin typeface="Consolas" panose="020B0609020204030204" pitchFamily="49" charset="0"/>
              </a:rPr>
              <a:t>(</a:t>
            </a:r>
            <a:r>
              <a:rPr lang="ro-RO" sz="2400" b="1" noProof="0" dirty="0">
                <a:solidFill>
                  <a:srgbClr val="CE9178"/>
                </a:solidFill>
                <a:effectLst/>
                <a:latin typeface="Consolas" panose="020B0609020204030204" pitchFamily="49" charset="0"/>
              </a:rPr>
              <a:t>"</a:t>
            </a:r>
            <a:r>
              <a:rPr lang="ro-RO" sz="2400" b="1" noProof="0" dirty="0" err="1">
                <a:solidFill>
                  <a:srgbClr val="CE9178"/>
                </a:solidFill>
                <a:effectLst/>
                <a:latin typeface="Consolas" panose="020B0609020204030204" pitchFamily="49" charset="0"/>
              </a:rPr>
              <a:t>Base</a:t>
            </a:r>
            <a:r>
              <a:rPr lang="ro-RO" sz="2400" b="1" noProof="0" dirty="0">
                <a:solidFill>
                  <a:srgbClr val="CE9178"/>
                </a:solidFill>
                <a:effectLst/>
                <a:latin typeface="Consolas" panose="020B0609020204030204" pitchFamily="49" charset="0"/>
              </a:rPr>
              <a:t> </a:t>
            </a:r>
            <a:r>
              <a:rPr lang="ro-RO" sz="2400" b="1" noProof="0" dirty="0" err="1">
                <a:solidFill>
                  <a:srgbClr val="CE9178"/>
                </a:solidFill>
                <a:effectLst/>
                <a:latin typeface="Consolas" panose="020B0609020204030204" pitchFamily="49" charset="0"/>
              </a:rPr>
              <a:t>class</a:t>
            </a:r>
            <a:r>
              <a:rPr lang="ro-RO" sz="2400" b="1" noProof="0" dirty="0">
                <a:solidFill>
                  <a:srgbClr val="CE9178"/>
                </a:solidFill>
                <a:effectLst/>
                <a:latin typeface="Consolas" panose="020B0609020204030204" pitchFamily="49" charset="0"/>
              </a:rPr>
              <a:t> constructor </a:t>
            </a:r>
            <a:r>
              <a:rPr lang="ro-RO" sz="2400" b="1" noProof="0" dirty="0" err="1">
                <a:solidFill>
                  <a:srgbClr val="CE9178"/>
                </a:solidFill>
                <a:effectLst/>
                <a:latin typeface="Consolas" panose="020B0609020204030204" pitchFamily="49" charset="0"/>
              </a:rPr>
              <a:t>called</a:t>
            </a:r>
            <a:r>
              <a:rPr lang="ro-RO" sz="2400" b="1" noProof="0" dirty="0">
                <a:solidFill>
                  <a:srgbClr val="CE9178"/>
                </a:solidFill>
                <a:effectLst/>
                <a:latin typeface="Consolas" panose="020B0609020204030204" pitchFamily="49" charset="0"/>
              </a:rPr>
              <a:t> </a:t>
            </a:r>
            <a:r>
              <a:rPr lang="ro-RO" sz="2400" b="1" noProof="0" dirty="0" err="1">
                <a:solidFill>
                  <a:srgbClr val="CE9178"/>
                </a:solidFill>
                <a:effectLst/>
                <a:latin typeface="Consolas" panose="020B0609020204030204" pitchFamily="49" charset="0"/>
              </a:rPr>
              <a:t>with</a:t>
            </a:r>
            <a:r>
              <a:rPr lang="ro-RO" sz="2400" b="1" noProof="0" dirty="0">
                <a:solidFill>
                  <a:srgbClr val="CE9178"/>
                </a:solidFill>
                <a:effectLst/>
                <a:latin typeface="Consolas" panose="020B0609020204030204" pitchFamily="49" charset="0"/>
              </a:rPr>
              <a:t> </a:t>
            </a:r>
            <a:r>
              <a:rPr lang="ro-RO" sz="2400" b="1" noProof="0" dirty="0" err="1">
                <a:solidFill>
                  <a:srgbClr val="CE9178"/>
                </a:solidFill>
                <a:effectLst/>
                <a:latin typeface="Consolas" panose="020B0609020204030204" pitchFamily="49" charset="0"/>
              </a:rPr>
              <a:t>value</a:t>
            </a:r>
            <a:r>
              <a:rPr lang="ro-RO" sz="2400" b="1" noProof="0" dirty="0">
                <a:solidFill>
                  <a:srgbClr val="CE9178"/>
                </a:solidFill>
                <a:effectLst/>
                <a:latin typeface="Consolas" panose="020B0609020204030204" pitchFamily="49" charset="0"/>
              </a:rPr>
              <a:t>: "</a:t>
            </a:r>
            <a:r>
              <a:rPr lang="ro-RO" sz="2400" b="1" noProof="0" dirty="0">
                <a:solidFill>
                  <a:srgbClr val="CCCCCC"/>
                </a:solidFill>
                <a:effectLst/>
                <a:latin typeface="Consolas" panose="020B0609020204030204" pitchFamily="49" charset="0"/>
              </a:rPr>
              <a:t> </a:t>
            </a:r>
            <a:r>
              <a:rPr lang="ro-RO" sz="2400" b="1" noProof="0" dirty="0">
                <a:solidFill>
                  <a:srgbClr val="D4D4D4"/>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value</a:t>
            </a:r>
            <a:r>
              <a:rPr lang="ro-RO" sz="2400" b="1" noProof="0" dirty="0">
                <a:solidFill>
                  <a:srgbClr val="CCCCCC"/>
                </a:solidFill>
                <a:effectLst/>
                <a:latin typeface="Consolas" panose="020B0609020204030204" pitchFamily="49" charset="0"/>
              </a:rPr>
              <a:t>);</a:t>
            </a:r>
          </a:p>
          <a:p>
            <a:pPr>
              <a:lnSpc>
                <a:spcPts val="1425"/>
              </a:lnSpc>
              <a:buNone/>
            </a:pP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a:t>
            </a:r>
          </a:p>
          <a:p>
            <a:pPr>
              <a:lnSpc>
                <a:spcPts val="1425"/>
              </a:lnSpc>
              <a:buNone/>
            </a:pPr>
            <a:br>
              <a:rPr lang="ro-RO" sz="2400" b="1" noProof="0" dirty="0">
                <a:solidFill>
                  <a:srgbClr val="CCCCCC"/>
                </a:solidFill>
                <a:effectLst/>
                <a:latin typeface="Consolas" panose="020B0609020204030204" pitchFamily="49" charset="0"/>
              </a:rPr>
            </a:br>
            <a:endParaRPr lang="ro-RO" sz="2400" b="1" noProof="0" dirty="0">
              <a:solidFill>
                <a:srgbClr val="CCCCCC"/>
              </a:solidFill>
              <a:effectLst/>
              <a:latin typeface="Consolas" panose="020B0609020204030204" pitchFamily="49" charset="0"/>
            </a:endParaRPr>
          </a:p>
          <a:p>
            <a:pPr>
              <a:lnSpc>
                <a:spcPts val="1425"/>
              </a:lnSpc>
              <a:buNone/>
            </a:pPr>
            <a:r>
              <a:rPr lang="ro-RO" sz="2400" b="1" noProof="0" dirty="0" err="1">
                <a:solidFill>
                  <a:srgbClr val="569CD6"/>
                </a:solidFill>
                <a:effectLst/>
                <a:latin typeface="Consolas" panose="020B0609020204030204" pitchFamily="49" charset="0"/>
              </a:rPr>
              <a:t>class</a:t>
            </a:r>
            <a:r>
              <a:rPr lang="ro-RO" sz="2400" b="1" noProof="0" dirty="0">
                <a:solidFill>
                  <a:srgbClr val="CCCCCC"/>
                </a:solidFill>
                <a:effectLst/>
                <a:latin typeface="Consolas" panose="020B0609020204030204" pitchFamily="49" charset="0"/>
              </a:rPr>
              <a:t> </a:t>
            </a:r>
            <a:r>
              <a:rPr lang="ro-RO" sz="2400" b="1" noProof="0" dirty="0" err="1">
                <a:solidFill>
                  <a:srgbClr val="4EC9B0"/>
                </a:solidFill>
                <a:effectLst/>
                <a:latin typeface="Consolas" panose="020B0609020204030204" pitchFamily="49" charset="0"/>
              </a:rPr>
              <a:t>DerivedClass</a:t>
            </a:r>
            <a:r>
              <a:rPr lang="ro-RO" sz="2400" b="1" noProof="0" dirty="0">
                <a:solidFill>
                  <a:srgbClr val="CCCCCC"/>
                </a:solidFill>
                <a:effectLst/>
                <a:latin typeface="Consolas" panose="020B0609020204030204" pitchFamily="49" charset="0"/>
              </a:rPr>
              <a:t> : </a:t>
            </a:r>
            <a:r>
              <a:rPr lang="ro-RO" sz="2400" b="1" noProof="0" dirty="0" err="1">
                <a:solidFill>
                  <a:srgbClr val="4EC9B0"/>
                </a:solidFill>
                <a:effectLst/>
                <a:latin typeface="Consolas" panose="020B0609020204030204" pitchFamily="49" charset="0"/>
              </a:rPr>
              <a:t>BaseClass</a:t>
            </a: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a:solidFill>
                  <a:srgbClr val="569CD6"/>
                </a:solidFill>
                <a:effectLst/>
                <a:latin typeface="Consolas" panose="020B0609020204030204" pitchFamily="49" charset="0"/>
              </a:rPr>
              <a:t>public</a:t>
            </a:r>
            <a:r>
              <a:rPr lang="ro-RO" sz="2400" b="1" noProof="0" dirty="0">
                <a:solidFill>
                  <a:srgbClr val="CCCCCC"/>
                </a:solidFill>
                <a:effectLst/>
                <a:latin typeface="Consolas" panose="020B0609020204030204" pitchFamily="49" charset="0"/>
              </a:rPr>
              <a:t> </a:t>
            </a:r>
            <a:r>
              <a:rPr lang="ro-RO" sz="2400" b="1" noProof="0" dirty="0" err="1">
                <a:solidFill>
                  <a:srgbClr val="DCDCAA"/>
                </a:solidFill>
                <a:effectLst/>
                <a:latin typeface="Consolas" panose="020B0609020204030204" pitchFamily="49" charset="0"/>
              </a:rPr>
              <a:t>DerivedClass</a:t>
            </a:r>
            <a:r>
              <a:rPr lang="ro-RO" sz="2400" b="1" noProof="0" dirty="0">
                <a:solidFill>
                  <a:srgbClr val="CCCCCC"/>
                </a:solidFill>
                <a:effectLst/>
                <a:latin typeface="Consolas" panose="020B0609020204030204" pitchFamily="49" charset="0"/>
              </a:rPr>
              <a:t>(</a:t>
            </a:r>
            <a:r>
              <a:rPr lang="ro-RO" sz="2400" b="1" noProof="0" dirty="0" err="1">
                <a:solidFill>
                  <a:srgbClr val="569CD6"/>
                </a:solidFill>
                <a:effectLst/>
                <a:latin typeface="Consolas" panose="020B0609020204030204" pitchFamily="49" charset="0"/>
              </a:rPr>
              <a:t>int</a:t>
            </a: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value</a:t>
            </a:r>
            <a:r>
              <a:rPr lang="ro-RO" sz="2400" b="1" noProof="0" dirty="0">
                <a:solidFill>
                  <a:srgbClr val="CCCCCC"/>
                </a:solidFill>
                <a:effectLst/>
                <a:latin typeface="Consolas" panose="020B0609020204030204" pitchFamily="49" charset="0"/>
              </a:rPr>
              <a:t>) : </a:t>
            </a:r>
            <a:r>
              <a:rPr lang="ro-RO" sz="2400" b="1" noProof="0" dirty="0" err="1">
                <a:solidFill>
                  <a:srgbClr val="569CD6"/>
                </a:solidFill>
                <a:effectLst/>
                <a:latin typeface="Consolas" panose="020B0609020204030204" pitchFamily="49" charset="0"/>
              </a:rPr>
              <a:t>base</a:t>
            </a:r>
            <a:r>
              <a:rPr lang="ro-RO" sz="2400" b="1" noProof="0" dirty="0">
                <a:solidFill>
                  <a:srgbClr val="CCCCCC"/>
                </a:solidFill>
                <a:effectLst/>
                <a:latin typeface="Consolas" panose="020B0609020204030204" pitchFamily="49" charset="0"/>
              </a:rPr>
              <a:t>(</a:t>
            </a:r>
            <a:r>
              <a:rPr lang="ro-RO" sz="2400" b="1" noProof="0" dirty="0" err="1">
                <a:solidFill>
                  <a:srgbClr val="9CDCFE"/>
                </a:solidFill>
                <a:effectLst/>
                <a:latin typeface="Consolas" panose="020B0609020204030204" pitchFamily="49" charset="0"/>
              </a:rPr>
              <a:t>value</a:t>
            </a: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Console</a:t>
            </a:r>
            <a:r>
              <a:rPr lang="ro-RO" sz="2400" b="1" noProof="0" dirty="0" err="1">
                <a:solidFill>
                  <a:srgbClr val="CCCCCC"/>
                </a:solidFill>
                <a:effectLst/>
                <a:latin typeface="Consolas" panose="020B0609020204030204" pitchFamily="49" charset="0"/>
              </a:rPr>
              <a:t>.</a:t>
            </a:r>
            <a:r>
              <a:rPr lang="ro-RO" sz="2400" b="1" noProof="0" dirty="0" err="1">
                <a:solidFill>
                  <a:srgbClr val="DCDCAA"/>
                </a:solidFill>
                <a:effectLst/>
                <a:latin typeface="Consolas" panose="020B0609020204030204" pitchFamily="49" charset="0"/>
              </a:rPr>
              <a:t>WriteLine</a:t>
            </a:r>
            <a:r>
              <a:rPr lang="ro-RO" sz="2400" b="1" noProof="0" dirty="0">
                <a:solidFill>
                  <a:srgbClr val="CCCCCC"/>
                </a:solidFill>
                <a:effectLst/>
                <a:latin typeface="Consolas" panose="020B0609020204030204" pitchFamily="49" charset="0"/>
              </a:rPr>
              <a:t>(</a:t>
            </a:r>
            <a:r>
              <a:rPr lang="ro-RO" sz="2400" b="1" noProof="0" dirty="0">
                <a:solidFill>
                  <a:srgbClr val="CE9178"/>
                </a:solidFill>
                <a:effectLst/>
                <a:latin typeface="Consolas" panose="020B0609020204030204" pitchFamily="49" charset="0"/>
              </a:rPr>
              <a:t>"</a:t>
            </a:r>
            <a:r>
              <a:rPr lang="ro-RO" sz="2400" b="1" noProof="0" dirty="0" err="1">
                <a:solidFill>
                  <a:srgbClr val="CE9178"/>
                </a:solidFill>
                <a:effectLst/>
                <a:latin typeface="Consolas" panose="020B0609020204030204" pitchFamily="49" charset="0"/>
              </a:rPr>
              <a:t>Derived</a:t>
            </a:r>
            <a:r>
              <a:rPr lang="ro-RO" sz="2400" b="1" noProof="0" dirty="0">
                <a:solidFill>
                  <a:srgbClr val="CE9178"/>
                </a:solidFill>
                <a:effectLst/>
                <a:latin typeface="Consolas" panose="020B0609020204030204" pitchFamily="49" charset="0"/>
              </a:rPr>
              <a:t> </a:t>
            </a:r>
            <a:r>
              <a:rPr lang="ro-RO" sz="2400" b="1" noProof="0" dirty="0" err="1">
                <a:solidFill>
                  <a:srgbClr val="CE9178"/>
                </a:solidFill>
                <a:effectLst/>
                <a:latin typeface="Consolas" panose="020B0609020204030204" pitchFamily="49" charset="0"/>
              </a:rPr>
              <a:t>class</a:t>
            </a:r>
            <a:r>
              <a:rPr lang="ro-RO" sz="2400" b="1" noProof="0" dirty="0">
                <a:solidFill>
                  <a:srgbClr val="CE9178"/>
                </a:solidFill>
                <a:effectLst/>
                <a:latin typeface="Consolas" panose="020B0609020204030204" pitchFamily="49" charset="0"/>
              </a:rPr>
              <a:t> constructor </a:t>
            </a:r>
            <a:r>
              <a:rPr lang="ro-RO" sz="2400" b="1" noProof="0" dirty="0" err="1">
                <a:solidFill>
                  <a:srgbClr val="CE9178"/>
                </a:solidFill>
                <a:effectLst/>
                <a:latin typeface="Consolas" panose="020B0609020204030204" pitchFamily="49" charset="0"/>
              </a:rPr>
              <a:t>called</a:t>
            </a:r>
            <a:r>
              <a:rPr lang="ro-RO" sz="2400" b="1" noProof="0" dirty="0">
                <a:solidFill>
                  <a:srgbClr val="CE9178"/>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a:t>
            </a:r>
          </a:p>
          <a:p>
            <a:pPr>
              <a:lnSpc>
                <a:spcPts val="1425"/>
              </a:lnSpc>
              <a:buNone/>
            </a:pP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127299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94C4C-8BF9-6ED4-7C47-45C6B1065A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D1F865-71D5-F73E-D2AD-0690746EE706}"/>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E3AF6986-B545-B2D6-DC6C-34C7A17B2A0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RectangleApplication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Rectangle</a:t>
            </a: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member</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variables</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protected</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protected</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width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Rectangle</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l</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w</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l</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width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w</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double</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GetArea</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width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Display</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Length</a:t>
            </a:r>
            <a:r>
              <a:rPr lang="ro-RO" sz="2000" b="1" noProof="0" dirty="0">
                <a:solidFill>
                  <a:srgbClr val="CE9178"/>
                </a:solidFill>
                <a:effectLst/>
                <a:latin typeface="Consolas" panose="020B0609020204030204" pitchFamily="49" charset="0"/>
              </a:rPr>
              <a:t>: {0}"</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length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Width</a:t>
            </a:r>
            <a:r>
              <a:rPr lang="ro-RO" sz="2000" b="1" noProof="0" dirty="0">
                <a:solidFill>
                  <a:srgbClr val="CE9178"/>
                </a:solidFill>
                <a:effectLst/>
                <a:latin typeface="Consolas" panose="020B0609020204030204" pitchFamily="49" charset="0"/>
              </a:rPr>
              <a:t>: {0}"</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width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Area</a:t>
            </a:r>
            <a:r>
              <a:rPr lang="ro-RO" sz="2000" b="1" noProof="0" dirty="0">
                <a:solidFill>
                  <a:srgbClr val="CE9178"/>
                </a:solidFill>
                <a:effectLst/>
                <a:latin typeface="Consolas" panose="020B0609020204030204" pitchFamily="49" charset="0"/>
              </a:rPr>
              <a:t>: {0}"</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GetArea</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 </a:t>
            </a:r>
          </a:p>
          <a:p>
            <a:pPr>
              <a:lnSpc>
                <a:spcPts val="1425"/>
              </a:lnSpc>
              <a:buNone/>
            </a:pPr>
            <a:r>
              <a:rPr lang="ro-RO" sz="20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1332251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368BC-9493-EDBC-F773-36E374CB6F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DA2F19-8238-A152-9934-A7735647BBB0}"/>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D3384569-AE00-DD83-909D-BB977F050489}"/>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Tabletop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private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double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cost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initializing</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base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member</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variable</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Tabletop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double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double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base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l</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double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GetCost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double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cost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cost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GetArea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70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cost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base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"Cost: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GetCost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ExecuteRectangle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Tabletop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Tabletop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4.5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7.5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t</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Display</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406284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89945-0E32-6550-4C02-8AA18B0B45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6B3764-95E8-F5F1-0020-A1E68DAC57BE}"/>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27CA9C2C-4020-9A0B-A596-B6DD888AA6D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Moștenire singulară</a:t>
            </a:r>
          </a:p>
          <a:p>
            <a:pPr marL="34290" indent="0" algn="just">
              <a:buNone/>
            </a:pPr>
            <a:r>
              <a:rPr lang="ro-RO" sz="2800" noProof="0" dirty="0">
                <a:solidFill>
                  <a:srgbClr val="00B0F0"/>
                </a:solidFill>
              </a:rPr>
              <a:t>Moștenirea singulară este un tip de bază de moștenire în care o clasă moștenește de la o altă clasă singulară.</a:t>
            </a:r>
          </a:p>
        </p:txBody>
      </p:sp>
    </p:spTree>
    <p:extLst>
      <p:ext uri="{BB962C8B-B14F-4D97-AF65-F5344CB8AC3E}">
        <p14:creationId xmlns:p14="http://schemas.microsoft.com/office/powerpoint/2010/main" val="3876799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2E9B8-780C-6114-5595-F2D44544DE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4B7478-04C9-1833-4EAA-FA290994C406}"/>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A06B4F5D-3ADA-57E0-817C-DD01A24F467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Parent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Display</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This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the</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parent</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class</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Child</a:t>
            </a:r>
            <a:r>
              <a:rPr lang="ro-RO" sz="2000" b="1" noProof="0" dirty="0">
                <a:solidFill>
                  <a:srgbClr val="CCCCCC"/>
                </a:solidFill>
                <a:effectLst/>
                <a:latin typeface="Consolas" panose="020B0609020204030204" pitchFamily="49" charset="0"/>
              </a:rPr>
              <a:t> : </a:t>
            </a:r>
            <a:r>
              <a:rPr lang="ro-RO" sz="2000" b="1" noProof="0" dirty="0" err="1">
                <a:solidFill>
                  <a:srgbClr val="4EC9B0"/>
                </a:solidFill>
                <a:effectLst/>
                <a:latin typeface="Consolas" panose="020B0609020204030204" pitchFamily="49" charset="0"/>
              </a:rPr>
              <a:t>Parent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Show</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This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the</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child</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class</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Program</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Child</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obj</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Child</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obj</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Display</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Inherited</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from</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Parent</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obj</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Show</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Defined</a:t>
            </a:r>
            <a:r>
              <a:rPr lang="ro-RO" sz="2000" b="1" noProof="0" dirty="0">
                <a:solidFill>
                  <a:srgbClr val="6A9955"/>
                </a:solidFill>
                <a:effectLst/>
                <a:latin typeface="Consolas" panose="020B0609020204030204" pitchFamily="49" charset="0"/>
              </a:rPr>
              <a:t> in </a:t>
            </a:r>
            <a:r>
              <a:rPr lang="ro-RO" sz="2000" b="1" noProof="0" dirty="0" err="1">
                <a:solidFill>
                  <a:srgbClr val="6A9955"/>
                </a:solidFill>
                <a:effectLst/>
                <a:latin typeface="Consolas" panose="020B0609020204030204" pitchFamily="49" charset="0"/>
              </a:rPr>
              <a:t>Child</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361356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BE4E2-4152-B30A-1542-A0E754814D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8FAF45-EC87-7229-5089-B7EA9667BBC4}"/>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B6A3ADE0-443C-2DEC-85D2-8C9D307231F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Moștenire pe mai multe niveluri</a:t>
            </a:r>
          </a:p>
          <a:p>
            <a:pPr marL="34290" indent="0" algn="just">
              <a:buNone/>
            </a:pPr>
            <a:r>
              <a:rPr lang="ro-RO" sz="2800" noProof="0" dirty="0">
                <a:solidFill>
                  <a:srgbClr val="00B0F0"/>
                </a:solidFill>
              </a:rPr>
              <a:t>Moștenirea pe mai multe niveluri este implementată atunci când o clasă moștenește de la o altă clasă derivată, ceea ce creează un lanț de moștenire.</a:t>
            </a:r>
          </a:p>
        </p:txBody>
      </p:sp>
    </p:spTree>
    <p:extLst>
      <p:ext uri="{BB962C8B-B14F-4D97-AF65-F5344CB8AC3E}">
        <p14:creationId xmlns:p14="http://schemas.microsoft.com/office/powerpoint/2010/main" val="4176624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547D5-6C64-669E-9500-D7562B534D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D369E7-6566-1AD0-A8B6-78142C42EF26}"/>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84ACB924-76F3-B5BC-B499-578DA1E9E11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Grandparent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Display</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Grandparent</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class</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Parent</a:t>
            </a:r>
            <a:r>
              <a:rPr lang="ro-RO" sz="2000" b="1" noProof="0" dirty="0">
                <a:solidFill>
                  <a:srgbClr val="CCCCCC"/>
                </a:solidFill>
                <a:effectLst/>
                <a:latin typeface="Consolas" panose="020B0609020204030204" pitchFamily="49" charset="0"/>
              </a:rPr>
              <a:t> : </a:t>
            </a:r>
            <a:r>
              <a:rPr lang="ro-RO" sz="2000" b="1" noProof="0" dirty="0" err="1">
                <a:solidFill>
                  <a:srgbClr val="4EC9B0"/>
                </a:solidFill>
                <a:effectLst/>
                <a:latin typeface="Consolas" panose="020B0609020204030204" pitchFamily="49" charset="0"/>
              </a:rPr>
              <a:t>Grandparent</a:t>
            </a:r>
            <a:r>
              <a:rPr lang="ro-RO" sz="2000" b="1" noProof="0" dirty="0">
                <a:solidFill>
                  <a:srgbClr val="CCCCCC"/>
                </a:solidFill>
                <a:effectLst/>
                <a:latin typeface="Consolas" panose="020B0609020204030204" pitchFamily="49" charset="0"/>
              </a:rPr>
              <a:t> { }</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Child</a:t>
            </a:r>
            <a:r>
              <a:rPr lang="ro-RO" sz="2000" b="1" noProof="0" dirty="0">
                <a:solidFill>
                  <a:srgbClr val="CCCCCC"/>
                </a:solidFill>
                <a:effectLst/>
                <a:latin typeface="Consolas" panose="020B0609020204030204" pitchFamily="49" charset="0"/>
              </a:rPr>
              <a:t> : </a:t>
            </a:r>
            <a:r>
              <a:rPr lang="ro-RO" sz="2000" b="1" noProof="0" dirty="0" err="1">
                <a:solidFill>
                  <a:srgbClr val="4EC9B0"/>
                </a:solidFill>
                <a:effectLst/>
                <a:latin typeface="Consolas" panose="020B0609020204030204" pitchFamily="49" charset="0"/>
              </a:rPr>
              <a:t>Parent</a:t>
            </a:r>
            <a:r>
              <a:rPr lang="ro-RO" sz="2000" b="1" noProof="0" dirty="0">
                <a:solidFill>
                  <a:srgbClr val="CCCCCC"/>
                </a:solidFill>
                <a:effectLst/>
                <a:latin typeface="Consolas" panose="020B0609020204030204" pitchFamily="49" charset="0"/>
              </a:rPr>
              <a:t> { }</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Program</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Child</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obj</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Child</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obj</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Display</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Inherited</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from</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Grandparent</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006001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C0C1B-5C04-0E23-F9F3-E7AF2A358A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21FAFA-1B00-845B-E10B-582BF370D767}"/>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3FDF8A32-B5A0-9442-3398-40B61AC34057}"/>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Moștenire ierarhică</a:t>
            </a:r>
          </a:p>
          <a:p>
            <a:pPr marL="34290" indent="0" algn="just">
              <a:buNone/>
            </a:pPr>
            <a:r>
              <a:rPr lang="ro-RO" sz="2800" noProof="0" dirty="0">
                <a:solidFill>
                  <a:srgbClr val="00B0F0"/>
                </a:solidFill>
              </a:rPr>
              <a:t>Moștenirea ierarhică are loc atunci când mai multe clase moștenesc de la o singură clasă de bază.</a:t>
            </a:r>
          </a:p>
        </p:txBody>
      </p:sp>
    </p:spTree>
    <p:extLst>
      <p:ext uri="{BB962C8B-B14F-4D97-AF65-F5344CB8AC3E}">
        <p14:creationId xmlns:p14="http://schemas.microsoft.com/office/powerpoint/2010/main" val="3844493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9CC19-A164-8658-D927-D787F29235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EB256C-DB6A-A823-96DB-B71C096C2FB3}"/>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629C48CE-FFFC-0B47-D622-74849810FCC2}"/>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Vehicle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Start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Vehicle</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starting</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Car</a:t>
            </a:r>
            <a:r>
              <a:rPr lang="ro-RO" sz="2000" b="1" noProof="0" dirty="0">
                <a:solidFill>
                  <a:srgbClr val="CCCCCC"/>
                </a:solidFill>
                <a:effectLst/>
                <a:latin typeface="Consolas" panose="020B0609020204030204" pitchFamily="49" charset="0"/>
              </a:rPr>
              <a:t> : </a:t>
            </a:r>
            <a:r>
              <a:rPr lang="ro-RO" sz="2000" b="1" noProof="0" dirty="0" err="1">
                <a:solidFill>
                  <a:srgbClr val="4EC9B0"/>
                </a:solidFill>
                <a:effectLst/>
                <a:latin typeface="Consolas" panose="020B0609020204030204" pitchFamily="49" charset="0"/>
              </a:rPr>
              <a:t>Vehicle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Drive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"Car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driving</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Bike</a:t>
            </a:r>
            <a:r>
              <a:rPr lang="ro-RO" sz="2000" b="1" noProof="0" dirty="0">
                <a:solidFill>
                  <a:srgbClr val="CCCCCC"/>
                </a:solidFill>
                <a:effectLst/>
                <a:latin typeface="Consolas" panose="020B0609020204030204" pitchFamily="49" charset="0"/>
              </a:rPr>
              <a:t> : </a:t>
            </a:r>
            <a:r>
              <a:rPr lang="ro-RO" sz="2000" b="1" noProof="0" dirty="0" err="1">
                <a:solidFill>
                  <a:srgbClr val="4EC9B0"/>
                </a:solidFill>
                <a:effectLst/>
                <a:latin typeface="Consolas" panose="020B0609020204030204" pitchFamily="49" charset="0"/>
              </a:rPr>
              <a:t>Vehicle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Ride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Bike</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is</a:t>
            </a:r>
            <a:r>
              <a:rPr lang="ro-RO" sz="2000" b="1" noProof="0" dirty="0">
                <a:solidFill>
                  <a:srgbClr val="CE9178"/>
                </a:solidFill>
                <a:effectLst/>
                <a:latin typeface="Consolas" panose="020B0609020204030204" pitchFamily="49" charset="0"/>
              </a:rPr>
              <a:t> </a:t>
            </a:r>
            <a:r>
              <a:rPr lang="ro-RO" sz="2000" b="1" noProof="0" dirty="0" err="1">
                <a:solidFill>
                  <a:srgbClr val="CE9178"/>
                </a:solidFill>
                <a:effectLst/>
                <a:latin typeface="Consolas" panose="020B0609020204030204" pitchFamily="49" charset="0"/>
              </a:rPr>
              <a:t>riding</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810979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D693E-9FFF-E1B5-61A7-B729EA3E1C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1B2266-8A0F-D446-99CF-66C9B866D49F}"/>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CC444380-DF61-2111-9361-5BEFD829E15D}"/>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endPar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Program</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Car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myCar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Car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myCar</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Start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Inherited</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method</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myCar</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Drive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b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b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Bike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myBike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Bike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myBike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Start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Inherited</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method</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myBike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Ride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3168858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2F9DD-9EA2-F388-E100-4479E4A93C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E88730-70BB-5A80-C8CA-4F37CAC2C432}"/>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491A3F7E-6F79-BBEA-A98B-3D2EC89F75A3}"/>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Suprascrierea metodelor în moștenire</a:t>
            </a:r>
          </a:p>
          <a:p>
            <a:pPr marL="34290" indent="0" algn="just">
              <a:buNone/>
            </a:pPr>
            <a:r>
              <a:rPr lang="ro-RO" sz="2800" noProof="0" dirty="0">
                <a:solidFill>
                  <a:srgbClr val="00B0F0"/>
                </a:solidFill>
              </a:rPr>
              <a:t>În moștenire, </a:t>
            </a:r>
            <a:r>
              <a:rPr lang="ro-RO" sz="2800" noProof="0" dirty="0">
                <a:solidFill>
                  <a:schemeClr val="tx2"/>
                </a:solidFill>
              </a:rPr>
              <a:t>suprascrierea metodelor </a:t>
            </a:r>
            <a:r>
              <a:rPr lang="ro-RO" sz="2800" dirty="0">
                <a:solidFill>
                  <a:srgbClr val="00B0F0"/>
                </a:solidFill>
              </a:rPr>
              <a:t>ne</a:t>
            </a:r>
            <a:r>
              <a:rPr lang="ro-RO" sz="2800" noProof="0" dirty="0">
                <a:solidFill>
                  <a:srgbClr val="00B0F0"/>
                </a:solidFill>
              </a:rPr>
              <a:t> permite să rescriem o metodă din clasa de bază într-o clasă derivată folosind cuvântul cheie </a:t>
            </a:r>
            <a:r>
              <a:rPr lang="ro-RO" sz="2800" noProof="0" dirty="0" err="1">
                <a:solidFill>
                  <a:schemeClr val="tx2"/>
                </a:solidFill>
              </a:rPr>
              <a:t>override</a:t>
            </a:r>
            <a:endParaRPr lang="ro-RO" sz="2800" noProof="0" dirty="0">
              <a:solidFill>
                <a:schemeClr val="tx2"/>
              </a:solidFill>
            </a:endParaRPr>
          </a:p>
        </p:txBody>
      </p:sp>
    </p:spTree>
    <p:extLst>
      <p:ext uri="{BB962C8B-B14F-4D97-AF65-F5344CB8AC3E}">
        <p14:creationId xmlns:p14="http://schemas.microsoft.com/office/powerpoint/2010/main" val="418180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312D0-1B8C-BFD3-6AC3-167B917833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A487A4-6A2A-4A0B-5AB2-E55CB19141B5}"/>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93AE035B-B507-30CB-4B52-8FB14F83F2D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Animal</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virtual</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MakeSound</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"Animal </a:t>
            </a:r>
            <a:r>
              <a:rPr lang="ro-RO" sz="2000" b="1" noProof="0" dirty="0" err="1">
                <a:solidFill>
                  <a:srgbClr val="CE9178"/>
                </a:solidFill>
                <a:effectLst/>
                <a:latin typeface="Consolas" panose="020B0609020204030204" pitchFamily="49" charset="0"/>
              </a:rPr>
              <a:t>makes</a:t>
            </a:r>
            <a:r>
              <a:rPr lang="ro-RO" sz="2000" b="1" noProof="0" dirty="0">
                <a:solidFill>
                  <a:srgbClr val="CE9178"/>
                </a:solidFill>
                <a:effectLst/>
                <a:latin typeface="Consolas" panose="020B0609020204030204" pitchFamily="49" charset="0"/>
              </a:rPr>
              <a:t> a sound."</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Dog</a:t>
            </a:r>
            <a:r>
              <a:rPr lang="ro-RO" sz="2000" b="1" noProof="0" dirty="0">
                <a:solidFill>
                  <a:srgbClr val="CCCCCC"/>
                </a:solidFill>
                <a:effectLst/>
                <a:latin typeface="Consolas" panose="020B0609020204030204" pitchFamily="49" charset="0"/>
              </a:rPr>
              <a:t> : </a:t>
            </a:r>
            <a:r>
              <a:rPr lang="ro-RO" sz="2000" b="1" noProof="0" dirty="0">
                <a:solidFill>
                  <a:srgbClr val="4EC9B0"/>
                </a:solidFill>
                <a:effectLst/>
                <a:latin typeface="Consolas" panose="020B0609020204030204" pitchFamily="49" charset="0"/>
              </a:rPr>
              <a:t>Animal</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override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MakeSound</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"Dog </a:t>
            </a:r>
            <a:r>
              <a:rPr lang="ro-RO" sz="2000" b="1" noProof="0" dirty="0" err="1">
                <a:solidFill>
                  <a:srgbClr val="CE9178"/>
                </a:solidFill>
                <a:effectLst/>
                <a:latin typeface="Consolas" panose="020B0609020204030204" pitchFamily="49" charset="0"/>
              </a:rPr>
              <a:t>barks</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Program</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Animal</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myPet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Dog</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myPet</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MakeSound</a:t>
            </a:r>
            <a:r>
              <a:rPr lang="ro-RO" sz="2000" b="1" noProof="0" dirty="0">
                <a:solidFill>
                  <a:srgbClr val="CCCCCC"/>
                </a:solidFill>
                <a:effectLst/>
                <a:latin typeface="Consolas" panose="020B0609020204030204" pitchFamily="49" charset="0"/>
              </a:rPr>
              <a:t>(); </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Calls</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overridden</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method</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303943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574F9-088B-7A8C-F828-EFB16CA33E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DCB803-ED79-9456-E76D-A65F415316E4}"/>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76F00EDD-9437-E8F2-DE86-32780CBF0C69}"/>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Utilizarea cuvântului cheie </a:t>
            </a:r>
            <a:r>
              <a:rPr lang="ro-RO" sz="2800" noProof="0" dirty="0" err="1">
                <a:solidFill>
                  <a:schemeClr val="tx2"/>
                </a:solidFill>
              </a:rPr>
              <a:t>base</a:t>
            </a:r>
            <a:r>
              <a:rPr lang="ro-RO" sz="2800" noProof="0" dirty="0">
                <a:solidFill>
                  <a:srgbClr val="00B0F0"/>
                </a:solidFill>
              </a:rPr>
              <a:t> în moștenire</a:t>
            </a:r>
          </a:p>
          <a:p>
            <a:pPr marL="34290" indent="0" algn="just">
              <a:buNone/>
            </a:pPr>
            <a:r>
              <a:rPr lang="ro-RO" sz="2800" noProof="0" dirty="0">
                <a:solidFill>
                  <a:srgbClr val="00B0F0"/>
                </a:solidFill>
              </a:rPr>
              <a:t>Cuvântul cheie </a:t>
            </a:r>
            <a:r>
              <a:rPr lang="ro-RO" sz="2800" noProof="0" dirty="0" err="1">
                <a:solidFill>
                  <a:schemeClr val="tx2"/>
                </a:solidFill>
              </a:rPr>
              <a:t>base</a:t>
            </a:r>
            <a:r>
              <a:rPr lang="ro-RO" sz="2800" noProof="0" dirty="0">
                <a:solidFill>
                  <a:srgbClr val="00B0F0"/>
                </a:solidFill>
              </a:rPr>
              <a:t> în moștenire permite unei clase derivate să acceseze membrii clasei sale de bază.</a:t>
            </a:r>
          </a:p>
        </p:txBody>
      </p:sp>
    </p:spTree>
    <p:extLst>
      <p:ext uri="{BB962C8B-B14F-4D97-AF65-F5344CB8AC3E}">
        <p14:creationId xmlns:p14="http://schemas.microsoft.com/office/powerpoint/2010/main" val="3695140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3D2E3-4E3A-0BF5-0F42-15AC3AE928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BDF1F6-AF32-B884-DF38-6D1884346A4E}"/>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207B84FE-84A2-5C4C-69E0-45CD8249892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Person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Person</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Student</a:t>
            </a:r>
            <a:r>
              <a:rPr lang="ro-RO" sz="2000" b="1" noProof="0" dirty="0">
                <a:solidFill>
                  <a:srgbClr val="CCCCCC"/>
                </a:solidFill>
                <a:effectLst/>
                <a:latin typeface="Consolas" panose="020B0609020204030204" pitchFamily="49" charset="0"/>
              </a:rPr>
              <a:t> : </a:t>
            </a:r>
            <a:r>
              <a:rPr lang="ro-RO" sz="2000" b="1" noProof="0" dirty="0" err="1">
                <a:solidFill>
                  <a:srgbClr val="4EC9B0"/>
                </a:solidFill>
                <a:effectLst/>
                <a:latin typeface="Consolas" panose="020B0609020204030204" pitchFamily="49" charset="0"/>
              </a:rPr>
              <a:t>Person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RollNo</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latin typeface="Consolas" panose="020B0609020204030204" pitchFamily="49" charset="0"/>
              </a:rPr>
              <a:t>   </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Student</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rollNo</a:t>
            </a:r>
            <a:r>
              <a:rPr lang="ro-RO" sz="2000" b="1" noProof="0" dirty="0">
                <a:solidFill>
                  <a:srgbClr val="CCCCCC"/>
                </a:solidFill>
                <a:effectLst/>
                <a:latin typeface="Consolas" panose="020B0609020204030204" pitchFamily="49" charset="0"/>
              </a:rPr>
              <a:t>) : </a:t>
            </a:r>
            <a:r>
              <a:rPr lang="ro-RO" sz="2000" b="1" noProof="0" dirty="0" err="1">
                <a:solidFill>
                  <a:srgbClr val="569CD6"/>
                </a:solidFill>
                <a:effectLst/>
                <a:latin typeface="Consolas" panose="020B0609020204030204" pitchFamily="49" charset="0"/>
              </a:rPr>
              <a:t>base</a:t>
            </a:r>
            <a:r>
              <a:rPr lang="ro-RO" sz="2000" b="1" noProof="0" dirty="0">
                <a:solidFill>
                  <a:srgbClr val="CCCCCC"/>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name</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RollNo</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rollNo</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Display</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Console</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WriteLine</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Name</a:t>
            </a:r>
            <a:r>
              <a:rPr lang="ro-RO" sz="2000" b="1" noProof="0" dirty="0">
                <a:solidFill>
                  <a:srgbClr val="CE9178"/>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Name</a:t>
            </a:r>
            <a:r>
              <a:rPr lang="ro-RO" sz="2000" b="1" noProof="0" dirty="0">
                <a:solidFill>
                  <a:srgbClr val="D4D4D4"/>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 Roll No: </a:t>
            </a:r>
            <a:r>
              <a:rPr lang="ro-RO" sz="2000" b="1" noProof="0" dirty="0">
                <a:solidFill>
                  <a:srgbClr val="D4D4D4"/>
                </a:solidFill>
                <a:effectLst/>
                <a:latin typeface="Consolas" panose="020B0609020204030204" pitchFamily="49" charset="0"/>
              </a:rPr>
              <a:t>{</a:t>
            </a:r>
            <a:r>
              <a:rPr lang="ro-RO" sz="2000" b="1" noProof="0" dirty="0" err="1">
                <a:solidFill>
                  <a:srgbClr val="9CDCFE"/>
                </a:solidFill>
                <a:effectLst/>
                <a:latin typeface="Consolas" panose="020B0609020204030204" pitchFamily="49" charset="0"/>
              </a:rPr>
              <a:t>RollNo</a:t>
            </a:r>
            <a:r>
              <a:rPr lang="ro-RO" sz="2000" b="1" noProof="0" dirty="0">
                <a:solidFill>
                  <a:srgbClr val="D4D4D4"/>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Program</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Student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student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new</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Student</a:t>
            </a:r>
            <a:r>
              <a:rPr lang="ro-RO" sz="2000" b="1" noProof="0" dirty="0">
                <a:solidFill>
                  <a:srgbClr val="CCCCCC"/>
                </a:solidFill>
                <a:effectLst/>
                <a:latin typeface="Consolas" panose="020B0609020204030204" pitchFamily="49" charset="0"/>
              </a:rPr>
              <a:t>(</a:t>
            </a:r>
            <a:r>
              <a:rPr lang="ro-RO" sz="2000" b="1" noProof="0" dirty="0">
                <a:solidFill>
                  <a:srgbClr val="CE9178"/>
                </a:solidFill>
                <a:effectLst/>
                <a:latin typeface="Consolas" panose="020B0609020204030204" pitchFamily="49" charset="0"/>
              </a:rPr>
              <a:t>"</a:t>
            </a:r>
            <a:r>
              <a:rPr lang="ro-RO" sz="2000" b="1" noProof="0" dirty="0" err="1">
                <a:solidFill>
                  <a:srgbClr val="CE9178"/>
                </a:solidFill>
                <a:effectLst/>
                <a:latin typeface="Consolas" panose="020B0609020204030204" pitchFamily="49" charset="0"/>
              </a:rPr>
              <a:t>Sudhir</a:t>
            </a:r>
            <a:r>
              <a:rPr lang="ro-RO" sz="2000" b="1" noProof="0" dirty="0">
                <a:solidFill>
                  <a:srgbClr val="CE9178"/>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101</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student</a:t>
            </a:r>
            <a:r>
              <a:rPr lang="ro-RO" sz="2000" b="1" noProof="0" dirty="0" err="1">
                <a:solidFill>
                  <a:srgbClr val="CCCCCC"/>
                </a:solidFill>
                <a:effectLst/>
                <a:latin typeface="Consolas" panose="020B0609020204030204" pitchFamily="49" charset="0"/>
              </a:rPr>
              <a:t>.</a:t>
            </a:r>
            <a:r>
              <a:rPr lang="ro-RO" sz="2000" b="1" noProof="0" dirty="0" err="1">
                <a:solidFill>
                  <a:srgbClr val="DCDCAA"/>
                </a:solidFill>
                <a:effectLst/>
                <a:latin typeface="Consolas" panose="020B0609020204030204" pitchFamily="49" charset="0"/>
              </a:rPr>
              <a:t>Display</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4091416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0BE9A-C904-9F05-3F0F-9BCCAD7DA0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16F9F8-7D9B-70C4-0573-9F0E3F785BED}"/>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BE6406F1-3205-5575-3052-CBC173540846}"/>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Prevenirea moștenirii cu ajutorul cuvântului cheie </a:t>
            </a:r>
            <a:r>
              <a:rPr lang="ro-RO" sz="2800" noProof="0" dirty="0" err="1">
                <a:solidFill>
                  <a:schemeClr val="tx2"/>
                </a:solidFill>
              </a:rPr>
              <a:t>sealed</a:t>
            </a:r>
            <a:endParaRPr lang="ro-RO" sz="2800" noProof="0" dirty="0">
              <a:solidFill>
                <a:schemeClr val="tx2"/>
              </a:solidFill>
            </a:endParaRPr>
          </a:p>
          <a:p>
            <a:pPr marL="34290" indent="0" algn="just">
              <a:buNone/>
            </a:pPr>
            <a:r>
              <a:rPr lang="ro-RO" sz="2800" noProof="0" dirty="0">
                <a:solidFill>
                  <a:srgbClr val="00B0F0"/>
                </a:solidFill>
              </a:rPr>
              <a:t>Puteți preveni moștenirea unei clase utilizând cuvântul cheie </a:t>
            </a:r>
            <a:r>
              <a:rPr lang="ro-RO" sz="2800" noProof="0" dirty="0" err="1">
                <a:solidFill>
                  <a:schemeClr val="tx2"/>
                </a:solidFill>
              </a:rPr>
              <a:t>sealed</a:t>
            </a:r>
            <a:r>
              <a:rPr lang="ro-RO" sz="2800" noProof="0" dirty="0">
                <a:solidFill>
                  <a:srgbClr val="00B0F0"/>
                </a:solidFill>
              </a:rPr>
              <a:t>. </a:t>
            </a:r>
          </a:p>
          <a:p>
            <a:pPr marL="34290" indent="0" algn="just">
              <a:buNone/>
            </a:pPr>
            <a:r>
              <a:rPr lang="ro-RO" sz="2800" noProof="0" dirty="0">
                <a:solidFill>
                  <a:srgbClr val="00B0F0"/>
                </a:solidFill>
              </a:rPr>
              <a:t>Cuvântul cheie </a:t>
            </a:r>
            <a:r>
              <a:rPr lang="ro-RO" sz="2800" noProof="0" dirty="0" err="1">
                <a:solidFill>
                  <a:schemeClr val="tx2"/>
                </a:solidFill>
              </a:rPr>
              <a:t>sealed</a:t>
            </a:r>
            <a:r>
              <a:rPr lang="ro-RO" sz="2800" noProof="0" dirty="0">
                <a:solidFill>
                  <a:srgbClr val="00B0F0"/>
                </a:solidFill>
              </a:rPr>
              <a:t> este utilizat înaintea cuvântului cheie </a:t>
            </a:r>
            <a:r>
              <a:rPr lang="ro-RO" sz="2800" noProof="0" dirty="0" err="1">
                <a:solidFill>
                  <a:schemeClr val="tx2"/>
                </a:solidFill>
              </a:rPr>
              <a:t>class</a:t>
            </a:r>
            <a:r>
              <a:rPr lang="ro-RO" sz="2800" noProof="0" dirty="0">
                <a:solidFill>
                  <a:srgbClr val="00B0F0"/>
                </a:solidFill>
              </a:rPr>
              <a:t> în timpul declarării clasei și nicio altă clasă nu poate deriva din acesta.</a:t>
            </a:r>
          </a:p>
        </p:txBody>
      </p:sp>
    </p:spTree>
    <p:extLst>
      <p:ext uri="{BB962C8B-B14F-4D97-AF65-F5344CB8AC3E}">
        <p14:creationId xmlns:p14="http://schemas.microsoft.com/office/powerpoint/2010/main" val="319780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8C449-505C-2110-FC2D-1A437AA616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1EC315-272A-678A-5F00-FD7B7EE934D6}"/>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A95EC9F7-4C28-DADA-D143-40538F3CBCA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a:t>
            </a:r>
          </a:p>
          <a:p>
            <a:pPr marL="34290" indent="0" algn="just">
              <a:buNone/>
            </a:pPr>
            <a:endParaRPr lang="ro-RO" sz="2800" noProof="0" dirty="0">
              <a:solidFill>
                <a:srgbClr val="00B0F0"/>
              </a:solidFill>
            </a:endParaRPr>
          </a:p>
          <a:p>
            <a:pPr>
              <a:lnSpc>
                <a:spcPts val="1425"/>
              </a:lnSpc>
              <a:buNone/>
            </a:pPr>
            <a:r>
              <a:rPr lang="ro-RO" sz="2400" b="1" noProof="0" dirty="0" err="1">
                <a:solidFill>
                  <a:srgbClr val="569CD6"/>
                </a:solidFill>
                <a:effectLst/>
                <a:latin typeface="Consolas" panose="020B0609020204030204" pitchFamily="49" charset="0"/>
              </a:rPr>
              <a:t>sealed</a:t>
            </a:r>
            <a:r>
              <a:rPr lang="ro-RO" sz="2400" b="1" noProof="0" dirty="0">
                <a:solidFill>
                  <a:srgbClr val="CCCCCC"/>
                </a:solidFill>
                <a:effectLst/>
                <a:latin typeface="Consolas" panose="020B0609020204030204" pitchFamily="49" charset="0"/>
              </a:rPr>
              <a:t> </a:t>
            </a:r>
            <a:r>
              <a:rPr lang="ro-RO" sz="2400" b="1" noProof="0" dirty="0" err="1">
                <a:solidFill>
                  <a:srgbClr val="569CD6"/>
                </a:solidFill>
                <a:effectLst/>
                <a:latin typeface="Consolas" panose="020B0609020204030204" pitchFamily="49" charset="0"/>
              </a:rPr>
              <a:t>class</a:t>
            </a:r>
            <a:r>
              <a:rPr lang="ro-RO" sz="2400" b="1" noProof="0" dirty="0">
                <a:solidFill>
                  <a:srgbClr val="CCCCCC"/>
                </a:solidFill>
                <a:effectLst/>
                <a:latin typeface="Consolas" panose="020B0609020204030204" pitchFamily="49" charset="0"/>
              </a:rPr>
              <a:t> </a:t>
            </a:r>
            <a:r>
              <a:rPr lang="ro-RO" sz="2400" b="1" noProof="0" dirty="0" err="1">
                <a:solidFill>
                  <a:srgbClr val="4EC9B0"/>
                </a:solidFill>
                <a:effectLst/>
                <a:latin typeface="Consolas" panose="020B0609020204030204" pitchFamily="49" charset="0"/>
              </a:rPr>
              <a:t>FinalClass</a:t>
            </a: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a:solidFill>
                  <a:srgbClr val="569CD6"/>
                </a:solidFill>
                <a:effectLst/>
                <a:latin typeface="Consolas" panose="020B0609020204030204" pitchFamily="49" charset="0"/>
              </a:rPr>
              <a:t>public</a:t>
            </a:r>
            <a:r>
              <a:rPr lang="ro-RO" sz="2400" b="1" noProof="0" dirty="0">
                <a:solidFill>
                  <a:srgbClr val="CCCCCC"/>
                </a:solidFill>
                <a:effectLst/>
                <a:latin typeface="Consolas" panose="020B0609020204030204" pitchFamily="49" charset="0"/>
              </a:rPr>
              <a:t> </a:t>
            </a:r>
            <a:r>
              <a:rPr lang="ro-RO" sz="2400" b="1" noProof="0" dirty="0" err="1">
                <a:solidFill>
                  <a:srgbClr val="569CD6"/>
                </a:solidFill>
                <a:effectLst/>
                <a:latin typeface="Consolas" panose="020B0609020204030204" pitchFamily="49" charset="0"/>
              </a:rPr>
              <a:t>void</a:t>
            </a:r>
            <a:r>
              <a:rPr lang="ro-RO" sz="2400" b="1" noProof="0" dirty="0">
                <a:solidFill>
                  <a:srgbClr val="CCCCCC"/>
                </a:solidFill>
                <a:effectLst/>
                <a:latin typeface="Consolas" panose="020B0609020204030204" pitchFamily="49" charset="0"/>
              </a:rPr>
              <a:t> </a:t>
            </a:r>
            <a:r>
              <a:rPr lang="ro-RO" sz="2400" b="1" noProof="0" dirty="0">
                <a:solidFill>
                  <a:srgbClr val="DCDCAA"/>
                </a:solidFill>
                <a:effectLst/>
                <a:latin typeface="Consolas" panose="020B0609020204030204" pitchFamily="49" charset="0"/>
              </a:rPr>
              <a:t>Display</a:t>
            </a: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        </a:t>
            </a:r>
            <a:r>
              <a:rPr lang="ro-RO" sz="2400" b="1" noProof="0" dirty="0" err="1">
                <a:solidFill>
                  <a:srgbClr val="9CDCFE"/>
                </a:solidFill>
                <a:effectLst/>
                <a:latin typeface="Consolas" panose="020B0609020204030204" pitchFamily="49" charset="0"/>
              </a:rPr>
              <a:t>Console</a:t>
            </a:r>
            <a:r>
              <a:rPr lang="ro-RO" sz="2400" b="1" noProof="0" dirty="0" err="1">
                <a:solidFill>
                  <a:srgbClr val="CCCCCC"/>
                </a:solidFill>
                <a:effectLst/>
                <a:latin typeface="Consolas" panose="020B0609020204030204" pitchFamily="49" charset="0"/>
              </a:rPr>
              <a:t>.</a:t>
            </a:r>
            <a:r>
              <a:rPr lang="ro-RO" sz="2400" b="1" noProof="0" dirty="0" err="1">
                <a:solidFill>
                  <a:srgbClr val="DCDCAA"/>
                </a:solidFill>
                <a:effectLst/>
                <a:latin typeface="Consolas" panose="020B0609020204030204" pitchFamily="49" charset="0"/>
              </a:rPr>
              <a:t>WriteLine</a:t>
            </a:r>
            <a:r>
              <a:rPr lang="ro-RO" sz="2400" b="1" noProof="0" dirty="0">
                <a:solidFill>
                  <a:srgbClr val="CCCCCC"/>
                </a:solidFill>
                <a:effectLst/>
                <a:latin typeface="Consolas" panose="020B0609020204030204" pitchFamily="49" charset="0"/>
              </a:rPr>
              <a:t>(</a:t>
            </a:r>
            <a:r>
              <a:rPr lang="ro-RO" sz="2400" b="1" noProof="0" dirty="0">
                <a:solidFill>
                  <a:srgbClr val="CE9178"/>
                </a:solidFill>
                <a:effectLst/>
                <a:latin typeface="Consolas" panose="020B0609020204030204" pitchFamily="49" charset="0"/>
              </a:rPr>
              <a:t>"</a:t>
            </a:r>
            <a:r>
              <a:rPr lang="ro-RO" sz="2400" b="1" noProof="0" dirty="0" err="1">
                <a:solidFill>
                  <a:srgbClr val="CE9178"/>
                </a:solidFill>
                <a:effectLst/>
                <a:latin typeface="Consolas" panose="020B0609020204030204" pitchFamily="49" charset="0"/>
              </a:rPr>
              <a:t>This</a:t>
            </a:r>
            <a:r>
              <a:rPr lang="ro-RO" sz="2400" b="1" noProof="0" dirty="0">
                <a:solidFill>
                  <a:srgbClr val="CE9178"/>
                </a:solidFill>
                <a:effectLst/>
                <a:latin typeface="Consolas" panose="020B0609020204030204" pitchFamily="49" charset="0"/>
              </a:rPr>
              <a:t> </a:t>
            </a:r>
            <a:r>
              <a:rPr lang="ro-RO" sz="2400" b="1" noProof="0" dirty="0" err="1">
                <a:solidFill>
                  <a:srgbClr val="CE9178"/>
                </a:solidFill>
                <a:effectLst/>
                <a:latin typeface="Consolas" panose="020B0609020204030204" pitchFamily="49" charset="0"/>
              </a:rPr>
              <a:t>is</a:t>
            </a:r>
            <a:r>
              <a:rPr lang="ro-RO" sz="2400" b="1" noProof="0" dirty="0">
                <a:solidFill>
                  <a:srgbClr val="CE9178"/>
                </a:solidFill>
                <a:effectLst/>
                <a:latin typeface="Consolas" panose="020B0609020204030204" pitchFamily="49" charset="0"/>
              </a:rPr>
              <a:t> a </a:t>
            </a:r>
            <a:r>
              <a:rPr lang="ro-RO" sz="2400" b="1" noProof="0" dirty="0" err="1">
                <a:solidFill>
                  <a:srgbClr val="CE9178"/>
                </a:solidFill>
                <a:effectLst/>
                <a:latin typeface="Consolas" panose="020B0609020204030204" pitchFamily="49" charset="0"/>
              </a:rPr>
              <a:t>sealed</a:t>
            </a:r>
            <a:r>
              <a:rPr lang="ro-RO" sz="2400" b="1" noProof="0" dirty="0">
                <a:solidFill>
                  <a:srgbClr val="CE9178"/>
                </a:solidFill>
                <a:effectLst/>
                <a:latin typeface="Consolas" panose="020B0609020204030204" pitchFamily="49" charset="0"/>
              </a:rPr>
              <a:t> </a:t>
            </a:r>
            <a:r>
              <a:rPr lang="ro-RO" sz="2400" b="1" noProof="0" dirty="0" err="1">
                <a:solidFill>
                  <a:srgbClr val="CE9178"/>
                </a:solidFill>
                <a:effectLst/>
                <a:latin typeface="Consolas" panose="020B0609020204030204" pitchFamily="49" charset="0"/>
              </a:rPr>
              <a:t>class</a:t>
            </a:r>
            <a:r>
              <a:rPr lang="ro-RO" sz="2400" b="1" noProof="0" dirty="0">
                <a:solidFill>
                  <a:srgbClr val="CE9178"/>
                </a:solidFill>
                <a:effectLst/>
                <a:latin typeface="Consolas" panose="020B0609020204030204" pitchFamily="49" charset="0"/>
              </a:rPr>
              <a:t>."</a:t>
            </a:r>
            <a:r>
              <a:rPr lang="ro-RO" sz="2400" b="1" noProof="0" dirty="0">
                <a:solidFill>
                  <a:srgbClr val="CCCCCC"/>
                </a:solidFill>
                <a:effectLst/>
                <a:latin typeface="Consolas" panose="020B0609020204030204" pitchFamily="49" charset="0"/>
              </a:rPr>
              <a:t>);</a:t>
            </a:r>
          </a:p>
          <a:p>
            <a:pPr>
              <a:lnSpc>
                <a:spcPts val="1425"/>
              </a:lnSpc>
              <a:buNone/>
            </a:pPr>
            <a:r>
              <a:rPr lang="ro-RO" sz="2400" b="1" noProof="0" dirty="0">
                <a:solidFill>
                  <a:srgbClr val="CCCCCC"/>
                </a:solidFill>
                <a:effectLst/>
                <a:latin typeface="Consolas" panose="020B0609020204030204" pitchFamily="49" charset="0"/>
              </a:rPr>
              <a:t>    }</a:t>
            </a:r>
          </a:p>
          <a:p>
            <a:pPr>
              <a:lnSpc>
                <a:spcPts val="1425"/>
              </a:lnSpc>
              <a:buNone/>
            </a:pPr>
            <a:r>
              <a:rPr lang="ro-RO" sz="2400" b="1" noProof="0" dirty="0">
                <a:solidFill>
                  <a:srgbClr val="CCCCCC"/>
                </a:solidFill>
                <a:effectLst/>
                <a:latin typeface="Consolas" panose="020B0609020204030204" pitchFamily="49" charset="0"/>
              </a:rPr>
              <a:t>}</a:t>
            </a:r>
          </a:p>
          <a:p>
            <a:pPr>
              <a:lnSpc>
                <a:spcPts val="1425"/>
              </a:lnSpc>
              <a:buNone/>
            </a:pPr>
            <a:br>
              <a:rPr lang="ro-RO" sz="2400" b="1" noProof="0" dirty="0">
                <a:solidFill>
                  <a:srgbClr val="CCCCCC"/>
                </a:solidFill>
                <a:effectLst/>
                <a:latin typeface="Consolas" panose="020B0609020204030204" pitchFamily="49" charset="0"/>
              </a:rPr>
            </a:br>
            <a:endParaRPr lang="ro-RO" sz="2400" b="1" noProof="0" dirty="0">
              <a:solidFill>
                <a:srgbClr val="CCCCCC"/>
              </a:solidFill>
              <a:effectLst/>
              <a:latin typeface="Consolas" panose="020B0609020204030204" pitchFamily="49" charset="0"/>
            </a:endParaRPr>
          </a:p>
          <a:p>
            <a:pPr>
              <a:lnSpc>
                <a:spcPts val="1425"/>
              </a:lnSpc>
              <a:buNone/>
            </a:pPr>
            <a:endParaRPr lang="ro-RO" sz="2400" b="1" noProof="0" dirty="0">
              <a:solidFill>
                <a:srgbClr val="CCCCCC"/>
              </a:solidFill>
              <a:latin typeface="Consolas" panose="020B0609020204030204" pitchFamily="49" charset="0"/>
            </a:endParaRPr>
          </a:p>
          <a:p>
            <a:pPr>
              <a:lnSpc>
                <a:spcPts val="1425"/>
              </a:lnSpc>
              <a:buNone/>
            </a:pPr>
            <a:r>
              <a:rPr lang="ro-RO" sz="2400" b="1" noProof="0" dirty="0" err="1">
                <a:solidFill>
                  <a:srgbClr val="569CD6"/>
                </a:solidFill>
                <a:effectLst/>
                <a:latin typeface="Consolas" panose="020B0609020204030204" pitchFamily="49" charset="0"/>
              </a:rPr>
              <a:t>class</a:t>
            </a:r>
            <a:r>
              <a:rPr lang="ro-RO" sz="2400" b="1" noProof="0" dirty="0">
                <a:solidFill>
                  <a:srgbClr val="CCCCCC"/>
                </a:solidFill>
                <a:effectLst/>
                <a:latin typeface="Consolas" panose="020B0609020204030204" pitchFamily="49" charset="0"/>
              </a:rPr>
              <a:t> </a:t>
            </a:r>
            <a:r>
              <a:rPr lang="ro-RO" sz="2400" b="1" noProof="0" dirty="0" err="1">
                <a:solidFill>
                  <a:srgbClr val="4EC9B0"/>
                </a:solidFill>
                <a:effectLst/>
                <a:latin typeface="Consolas" panose="020B0609020204030204" pitchFamily="49" charset="0"/>
              </a:rPr>
              <a:t>DerivedClass</a:t>
            </a:r>
            <a:r>
              <a:rPr lang="ro-RO" sz="2400" b="1" noProof="0" dirty="0">
                <a:solidFill>
                  <a:srgbClr val="CCCCCC"/>
                </a:solidFill>
                <a:effectLst/>
                <a:latin typeface="Consolas" panose="020B0609020204030204" pitchFamily="49" charset="0"/>
              </a:rPr>
              <a:t> : </a:t>
            </a:r>
            <a:r>
              <a:rPr lang="ro-RO" sz="2400" b="1" noProof="0" dirty="0" err="1">
                <a:solidFill>
                  <a:srgbClr val="4EC9B0"/>
                </a:solidFill>
                <a:effectLst/>
                <a:latin typeface="Consolas" panose="020B0609020204030204" pitchFamily="49" charset="0"/>
              </a:rPr>
              <a:t>FinalClass</a:t>
            </a:r>
            <a:r>
              <a:rPr lang="ro-RO" sz="2400" b="1" noProof="0" dirty="0">
                <a:solidFill>
                  <a:srgbClr val="CCCCCC"/>
                </a:solidFill>
                <a:effectLst/>
                <a:latin typeface="Consolas" panose="020B0609020204030204" pitchFamily="49" charset="0"/>
              </a:rPr>
              <a:t> {} </a:t>
            </a:r>
          </a:p>
          <a:p>
            <a:pPr>
              <a:lnSpc>
                <a:spcPts val="1425"/>
              </a:lnSpc>
              <a:buNone/>
            </a:pPr>
            <a:r>
              <a:rPr lang="ro-RO" sz="2400" b="1" noProof="0" dirty="0">
                <a:solidFill>
                  <a:srgbClr val="6A9955"/>
                </a:solidFill>
                <a:latin typeface="Consolas" panose="020B0609020204030204" pitchFamily="49" charset="0"/>
              </a:rPr>
              <a:t>// ERROR: </a:t>
            </a:r>
            <a:r>
              <a:rPr lang="ro-RO" sz="2400" b="1" noProof="0" dirty="0" err="1">
                <a:solidFill>
                  <a:srgbClr val="6A9955"/>
                </a:solidFill>
                <a:latin typeface="Consolas" panose="020B0609020204030204" pitchFamily="49" charset="0"/>
              </a:rPr>
              <a:t>Cannot</a:t>
            </a:r>
            <a:r>
              <a:rPr lang="ro-RO" sz="2400" b="1" noProof="0" dirty="0">
                <a:solidFill>
                  <a:srgbClr val="6A9955"/>
                </a:solidFill>
                <a:latin typeface="Consolas" panose="020B0609020204030204" pitchFamily="49" charset="0"/>
              </a:rPr>
              <a:t> </a:t>
            </a:r>
            <a:r>
              <a:rPr lang="ro-RO" sz="2400" b="1" noProof="0" dirty="0" err="1">
                <a:solidFill>
                  <a:srgbClr val="6A9955"/>
                </a:solidFill>
                <a:effectLst/>
                <a:latin typeface="Consolas" panose="020B0609020204030204" pitchFamily="49" charset="0"/>
              </a:rPr>
              <a:t>inherit</a:t>
            </a:r>
            <a:endParaRPr lang="ro-RO" sz="2400" b="1" noProof="0" dirty="0">
              <a:solidFill>
                <a:srgbClr val="CCCCCC"/>
              </a:solidFill>
              <a:effectLst/>
              <a:latin typeface="Consolas" panose="020B0609020204030204" pitchFamily="49" charset="0"/>
            </a:endParaRP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044519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509A7-6557-D57E-43F2-D0F7D32330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951344B-60C4-7440-1276-961E6D646FFD}"/>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8AB1EB2F-AD1D-E455-DF71-FD71F74B533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Moștenire multiplă</a:t>
            </a:r>
          </a:p>
          <a:p>
            <a:pPr marL="34290" indent="0" algn="just">
              <a:buNone/>
            </a:pPr>
            <a:r>
              <a:rPr lang="ro-RO" sz="2800" noProof="0" dirty="0">
                <a:solidFill>
                  <a:schemeClr val="tx2"/>
                </a:solidFill>
              </a:rPr>
              <a:t>Moștenirea multiplă </a:t>
            </a:r>
            <a:r>
              <a:rPr lang="ro-RO" sz="2800" noProof="0" dirty="0">
                <a:solidFill>
                  <a:srgbClr val="00B0F0"/>
                </a:solidFill>
              </a:rPr>
              <a:t>definește capacitatea unei clase de a moșteni de la mai multe clase de bază. Însă </a:t>
            </a:r>
            <a:r>
              <a:rPr lang="ro-RO" sz="2800" noProof="0" dirty="0">
                <a:solidFill>
                  <a:schemeClr val="tx2"/>
                </a:solidFill>
              </a:rPr>
              <a:t>C# NU acceptă moștenirea multiplă</a:t>
            </a:r>
            <a:r>
              <a:rPr lang="ro-RO" sz="2800" noProof="0" dirty="0">
                <a:solidFill>
                  <a:srgbClr val="00B0F0"/>
                </a:solidFill>
              </a:rPr>
              <a:t>. </a:t>
            </a:r>
          </a:p>
          <a:p>
            <a:pPr marL="34290" indent="0" algn="just">
              <a:buNone/>
            </a:pPr>
            <a:r>
              <a:rPr lang="ro-RO" sz="2800" noProof="0" dirty="0">
                <a:solidFill>
                  <a:srgbClr val="00B0F0"/>
                </a:solidFill>
              </a:rPr>
              <a:t>Cu toate acestea, putem implementa moștenirea multiplă folosind </a:t>
            </a:r>
            <a:r>
              <a:rPr lang="ro-RO" sz="2800" noProof="0" dirty="0">
                <a:solidFill>
                  <a:schemeClr val="tx2"/>
                </a:solidFill>
              </a:rPr>
              <a:t>interfețele</a:t>
            </a:r>
            <a:r>
              <a:rPr lang="ro-RO" sz="2800" noProof="0" dirty="0">
                <a:solidFill>
                  <a:srgbClr val="00B0F0"/>
                </a:solidFill>
              </a:rPr>
              <a:t> din C#.</a:t>
            </a:r>
          </a:p>
          <a:p>
            <a:pPr marL="34290" indent="0" algn="just">
              <a:buNone/>
            </a:pPr>
            <a:r>
              <a:rPr lang="ro-RO" sz="2800" noProof="0" dirty="0">
                <a:solidFill>
                  <a:srgbClr val="00B0F0"/>
                </a:solidFill>
              </a:rPr>
              <a:t>O </a:t>
            </a:r>
            <a:r>
              <a:rPr lang="ro-RO" sz="2800" noProof="0" dirty="0">
                <a:solidFill>
                  <a:schemeClr val="tx2"/>
                </a:solidFill>
              </a:rPr>
              <a:t>interfață</a:t>
            </a:r>
            <a:r>
              <a:rPr lang="ro-RO" sz="2800" noProof="0" dirty="0">
                <a:solidFill>
                  <a:srgbClr val="00B0F0"/>
                </a:solidFill>
              </a:rPr>
              <a:t> este o colecție de metode abstracte pe care o clasă le implementează pentru a oferi un comportament specific.</a:t>
            </a:r>
          </a:p>
        </p:txBody>
      </p:sp>
    </p:spTree>
    <p:extLst>
      <p:ext uri="{BB962C8B-B14F-4D97-AF65-F5344CB8AC3E}">
        <p14:creationId xmlns:p14="http://schemas.microsoft.com/office/powerpoint/2010/main" val="15569711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CEA53-4706-D51B-1B41-7317185F5E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2F2FB47-CB13-B1A8-A4A5-3AC75511B033}"/>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17A215C0-AA0C-484C-0187-3D52AF3D254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Exemplu</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InheritanceApplication</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Shape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setWidth</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w</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width</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w</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setHeight</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h</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protected</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width</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protected</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height</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6A9955"/>
                </a:solidFill>
                <a:effectLst/>
                <a:latin typeface="Consolas" panose="020B0609020204030204" pitchFamily="49" charset="0"/>
              </a:rPr>
              <a:t>   // </a:t>
            </a:r>
            <a:r>
              <a:rPr lang="ro-RO" sz="2000" b="1" noProof="0" dirty="0" err="1">
                <a:solidFill>
                  <a:srgbClr val="6A9955"/>
                </a:solidFill>
                <a:effectLst/>
                <a:latin typeface="Consolas" panose="020B0609020204030204" pitchFamily="49" charset="0"/>
              </a:rPr>
              <a:t>Base</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class</a:t>
            </a:r>
            <a:r>
              <a:rPr lang="ro-RO" sz="2000" b="1" noProof="0" dirty="0">
                <a:solidFill>
                  <a:srgbClr val="6A9955"/>
                </a:solidFill>
                <a:effectLst/>
                <a:latin typeface="Consolas" panose="020B0609020204030204" pitchFamily="49" charset="0"/>
              </a:rPr>
              <a:t> </a:t>
            </a:r>
            <a:r>
              <a:rPr lang="ro-RO" sz="2000" b="1" noProof="0" dirty="0" err="1">
                <a:solidFill>
                  <a:srgbClr val="6A9955"/>
                </a:solidFill>
                <a:effectLst/>
                <a:latin typeface="Consolas" panose="020B0609020204030204" pitchFamily="49" charset="0"/>
              </a:rPr>
              <a:t>PaintCost</a:t>
            </a: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interface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PaintCost</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getCost</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area</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6A9955"/>
                </a:solidFill>
                <a:effectLst/>
                <a:latin typeface="Consolas" panose="020B0609020204030204" pitchFamily="49" charset="0"/>
              </a:rPr>
              <a:t>   </a:t>
            </a:r>
            <a:endParaRPr lang="ro-RO" sz="2000" b="1" noProof="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371649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90E5D-1758-E362-2E4D-C52DB35450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7BA9F0-84D5-9794-6F2D-8425BBAE43CA}"/>
              </a:ext>
            </a:extLst>
          </p:cNvPr>
          <p:cNvSpPr>
            <a:spLocks noGrp="1"/>
          </p:cNvSpPr>
          <p:nvPr>
            <p:ph type="title"/>
          </p:nvPr>
        </p:nvSpPr>
        <p:spPr>
          <a:xfrm>
            <a:off x="463925" y="582705"/>
            <a:ext cx="7819465" cy="504265"/>
          </a:xfrm>
        </p:spPr>
        <p:txBody>
          <a:bodyPr>
            <a:noAutofit/>
          </a:bodyPr>
          <a:lstStyle/>
          <a:p>
            <a:r>
              <a:rPr lang="ro-RO" sz="3200" noProof="0" dirty="0"/>
              <a:t>C#POO - Cursul 6</a:t>
            </a:r>
          </a:p>
        </p:txBody>
      </p:sp>
      <p:sp>
        <p:nvSpPr>
          <p:cNvPr id="5" name="Content Placeholder 4">
            <a:extLst>
              <a:ext uri="{FF2B5EF4-FFF2-40B4-BE49-F238E27FC236}">
                <a16:creationId xmlns:a16="http://schemas.microsoft.com/office/drawing/2014/main" id="{61A668A5-656F-D454-46A2-C2A7BD946870}"/>
              </a:ext>
            </a:extLst>
          </p:cNvPr>
          <p:cNvSpPr>
            <a:spLocks noGrp="1"/>
          </p:cNvSpPr>
          <p:nvPr>
            <p:ph idx="1"/>
          </p:nvPr>
        </p:nvSpPr>
        <p:spPr>
          <a:xfrm>
            <a:off x="463925" y="1281952"/>
            <a:ext cx="8249770" cy="5074024"/>
          </a:xfrm>
        </p:spPr>
        <p:txBody>
          <a:bodyPr>
            <a:noAutofit/>
          </a:bodyPr>
          <a:lstStyle/>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Derived</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class</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Shape</a:t>
            </a:r>
            <a:r>
              <a:rPr kumimoji="0" lang="ro-RO" sz="2000" b="1" i="0" u="none" strike="noStrike" kern="1200" cap="none" spc="0" normalizeH="0" baseline="0" noProof="0" dirty="0">
                <a:ln>
                  <a:noFill/>
                </a:ln>
                <a:solidFill>
                  <a:srgbClr val="4EC9B0"/>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PaintCost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getArea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width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public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getCost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area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586C0"/>
                </a:solidFill>
                <a:effectLst/>
                <a:uLnTx/>
                <a:uFillTx/>
                <a:latin typeface="Consolas" panose="020B0609020204030204" pitchFamily="49" charset="0"/>
                <a:ea typeface="+mn-ea"/>
                <a:cs typeface="+mn-cs"/>
              </a:rPr>
              <a:t>return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area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70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class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RectangleTester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Rect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Rectangle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area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Rect</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setWidth</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Rect</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setHeight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7</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area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Rect</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getArea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 Print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the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area</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of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the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object</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"Total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area</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Rect</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getArea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"Total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paint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cost: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Rect</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getCost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area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22541471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ldThem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ldTheme" id="{E044F4A2-B66D-45C2-96C7-FCDC24F4574A}" vid="{A3C9D0F2-0975-40A9-A9D7-E4850D5DE04F}"/>
    </a:ext>
  </a:extLst>
</a:theme>
</file>

<file path=docProps/app.xml><?xml version="1.0" encoding="utf-8"?>
<Properties xmlns="http://schemas.openxmlformats.org/officeDocument/2006/extended-properties" xmlns:vt="http://schemas.openxmlformats.org/officeDocument/2006/docPropsVTypes">
  <Template/>
  <TotalTime>2535</TotalTime>
  <Words>1892</Words>
  <Application>Microsoft Office PowerPoint</Application>
  <PresentationFormat>On-screen Show (4:3)</PresentationFormat>
  <Paragraphs>321</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Consolas</vt:lpstr>
      <vt:lpstr>Courier New</vt:lpstr>
      <vt:lpstr>Wingdings</vt:lpstr>
      <vt:lpstr>oldTheme</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lpstr>C#POO - Cursul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Licenta A3 - Facultatea de Informatica și Ştiinţe</dc:creator>
  <cp:lastModifiedBy>Licenta A3 - Facultatea de Informatica și Ştiinţe</cp:lastModifiedBy>
  <cp:revision>46</cp:revision>
  <dcterms:created xsi:type="dcterms:W3CDTF">2025-10-05T09:43:55Z</dcterms:created>
  <dcterms:modified xsi:type="dcterms:W3CDTF">2026-03-24T07:20:07Z</dcterms:modified>
</cp:coreProperties>
</file>
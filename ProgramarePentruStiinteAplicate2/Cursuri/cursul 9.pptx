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5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5"/>
            <a:ext cx="7315200" cy="2595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8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5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9"/>
            <a:ext cx="7315200" cy="109843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2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2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31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5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4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2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4"/>
            <a:ext cx="2950936" cy="2173015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7"/>
            <a:ext cx="2950936" cy="224538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8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1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2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5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1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C7856C7F-C199-47A3-AF94-EAE81E21E31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6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9" y="855958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92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14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271B79-AD63-DB37-67C7-C575BD37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B65007-A43F-3FCE-F922-090075940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Programarea orientată pe obiecte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 err="1">
                <a:solidFill>
                  <a:schemeClr val="tx2"/>
                </a:solidFill>
              </a:rPr>
              <a:t>interface</a:t>
            </a:r>
            <a:r>
              <a:rPr lang="ro-RO" sz="2800" noProof="0" dirty="0">
                <a:solidFill>
                  <a:schemeClr val="tx2"/>
                </a:solidFill>
              </a:rPr>
              <a:t> (interfețe)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o-RO" sz="2650" dirty="0">
                <a:solidFill>
                  <a:schemeClr val="tx2"/>
                </a:solidFill>
              </a:rPr>
              <a:t> Declarare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o-RO" sz="2650" noProof="0" dirty="0">
                <a:solidFill>
                  <a:schemeClr val="tx2"/>
                </a:solidFill>
              </a:rPr>
              <a:t> Implementare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o-RO" sz="2650" dirty="0">
                <a:solidFill>
                  <a:schemeClr val="tx2"/>
                </a:solidFill>
              </a:rPr>
              <a:t> Tipuri de interfețe din C#</a:t>
            </a:r>
            <a:endParaRPr lang="ro-RO" sz="2650" noProof="0" dirty="0">
              <a:solidFill>
                <a:schemeClr val="tx2"/>
              </a:solidFill>
            </a:endParaRPr>
          </a:p>
          <a:p>
            <a:pPr algn="just"/>
            <a:r>
              <a:rPr lang="ro-RO" sz="2800" noProof="0" dirty="0">
                <a:solidFill>
                  <a:schemeClr val="tx2"/>
                </a:solidFill>
              </a:rPr>
              <a:t> </a:t>
            </a:r>
            <a:r>
              <a:rPr lang="ro-RO" sz="2800" noProof="0" dirty="0" err="1">
                <a:solidFill>
                  <a:schemeClr val="tx2"/>
                </a:solidFill>
              </a:rPr>
              <a:t>namespace</a:t>
            </a:r>
            <a:r>
              <a:rPr lang="ro-RO" sz="2800" noProof="0" dirty="0">
                <a:solidFill>
                  <a:schemeClr val="tx2"/>
                </a:solidFill>
              </a:rPr>
              <a:t> (spații de nume)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o-RO" sz="2650" dirty="0">
                <a:solidFill>
                  <a:schemeClr val="tx2"/>
                </a:solidFill>
              </a:rPr>
              <a:t> definire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o-RO" sz="2650" noProof="0" dirty="0">
                <a:solidFill>
                  <a:schemeClr val="tx2"/>
                </a:solidFill>
              </a:rPr>
              <a:t> cuvântul cheie </a:t>
            </a:r>
            <a:r>
              <a:rPr lang="ro-RO" sz="2650" noProof="0" dirty="0" err="1">
                <a:solidFill>
                  <a:schemeClr val="tx2"/>
                </a:solidFill>
              </a:rPr>
              <a:t>using</a:t>
            </a:r>
            <a:endParaRPr lang="ro-RO" sz="2650" noProof="0" dirty="0">
              <a:solidFill>
                <a:schemeClr val="tx2"/>
              </a:solidFill>
            </a:endParaRP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o-RO" sz="2650" dirty="0">
                <a:solidFill>
                  <a:schemeClr val="tx2"/>
                </a:solidFill>
              </a:rPr>
              <a:t> imbricarea </a:t>
            </a:r>
            <a:r>
              <a:rPr lang="ro-RO" sz="2650" dirty="0" err="1">
                <a:solidFill>
                  <a:schemeClr val="tx2"/>
                </a:solidFill>
              </a:rPr>
              <a:t>namespace</a:t>
            </a:r>
            <a:r>
              <a:rPr lang="ro-RO" sz="2650" dirty="0">
                <a:solidFill>
                  <a:schemeClr val="tx2"/>
                </a:solidFill>
              </a:rPr>
              <a:t>-urilor</a:t>
            </a:r>
            <a:endParaRPr lang="ro-RO" sz="265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50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2083-9218-959D-088C-9F562AAA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3686E0-AD59-D7BA-F184-7154722D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D4DFB8-43CB-6E8D-ABE6-B776D408A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 </a:t>
            </a:r>
            <a:r>
              <a:rPr lang="ro-RO" sz="2800" noProof="0" dirty="0">
                <a:solidFill>
                  <a:schemeClr val="tx2"/>
                </a:solidFill>
              </a:rPr>
              <a:t>interfață</a:t>
            </a:r>
            <a:r>
              <a:rPr lang="ro-RO" sz="2800" noProof="0" dirty="0">
                <a:solidFill>
                  <a:srgbClr val="00B0F0"/>
                </a:solidFill>
              </a:rPr>
              <a:t> este definită ca un contract sintactic pe care toate clasele care moștenesc interfața ar trebui să îl respecte.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Interfața</a:t>
            </a:r>
            <a:r>
              <a:rPr lang="ro-RO" sz="2800" noProof="0" dirty="0">
                <a:solidFill>
                  <a:srgbClr val="00B0F0"/>
                </a:solidFill>
              </a:rPr>
              <a:t> definește partea „</a:t>
            </a:r>
            <a:r>
              <a:rPr lang="ro-RO" sz="2800" noProof="0" dirty="0">
                <a:solidFill>
                  <a:schemeClr val="tx2"/>
                </a:solidFill>
              </a:rPr>
              <a:t>ce</a:t>
            </a:r>
            <a:r>
              <a:rPr lang="ro-RO" sz="2800" noProof="0" dirty="0">
                <a:solidFill>
                  <a:srgbClr val="00B0F0"/>
                </a:solidFill>
              </a:rPr>
              <a:t>” a contractului sintactic, iar clasele derivative definesc partea „</a:t>
            </a:r>
            <a:r>
              <a:rPr lang="ro-RO" sz="2800" noProof="0" dirty="0">
                <a:solidFill>
                  <a:schemeClr val="tx2"/>
                </a:solidFill>
              </a:rPr>
              <a:t>cum</a:t>
            </a:r>
            <a:r>
              <a:rPr lang="ro-RO" sz="2800" noProof="0" dirty="0">
                <a:solidFill>
                  <a:srgbClr val="00B0F0"/>
                </a:solidFill>
              </a:rPr>
              <a:t>” a contractului sintactic.</a:t>
            </a:r>
          </a:p>
        </p:txBody>
      </p:sp>
    </p:spTree>
    <p:extLst>
      <p:ext uri="{BB962C8B-B14F-4D97-AF65-F5344CB8AC3E}">
        <p14:creationId xmlns:p14="http://schemas.microsoft.com/office/powerpoint/2010/main" val="3044661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B7201-9D2C-6A75-FFC9-EF5D93D02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4AB2A0-CE74-42AE-D4C0-C51C148F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A2A95D-8C77-5FA1-7D22-BBA752E06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Interfețele</a:t>
            </a:r>
            <a:r>
              <a:rPr lang="ro-RO" sz="2800" noProof="0" dirty="0">
                <a:solidFill>
                  <a:srgbClr val="00B0F0"/>
                </a:solidFill>
              </a:rPr>
              <a:t> definesc proprietăți, metode și evenimente, care sunt membrii interfeței.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Interfețele</a:t>
            </a:r>
            <a:r>
              <a:rPr lang="ro-RO" sz="2800" noProof="0" dirty="0">
                <a:solidFill>
                  <a:srgbClr val="00B0F0"/>
                </a:solidFill>
              </a:rPr>
              <a:t> conțin doar declararea membrilor. Este responsabilitatea clasei derivative să definească membrii. Adesea, acest lucru ajută la furnizarea unei structuri standard pe care clasele derivative ar trebui să o urmeze.</a:t>
            </a:r>
          </a:p>
        </p:txBody>
      </p:sp>
    </p:spTree>
    <p:extLst>
      <p:ext uri="{BB962C8B-B14F-4D97-AF65-F5344CB8AC3E}">
        <p14:creationId xmlns:p14="http://schemas.microsoft.com/office/powerpoint/2010/main" val="1721384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C4184-0E50-8E3D-3FB0-8BA44D0CD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3D11BF-4865-1549-CBC7-44F413A6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DD7ED4-3D2B-0592-CB32-D372F3210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Clasele abstracte </a:t>
            </a:r>
            <a:r>
              <a:rPr lang="ro-RO" sz="2800" noProof="0" dirty="0">
                <a:solidFill>
                  <a:srgbClr val="00B0F0"/>
                </a:solidFill>
              </a:rPr>
              <a:t>servesc într-o oarecare măsură aceluiași scop, însă sunt utilizate mai ales atunci când doar câteva metode trebuie declarate de clasa de bază, iar clasa derivativă implementează funcționalitățile.</a:t>
            </a:r>
          </a:p>
        </p:txBody>
      </p:sp>
    </p:spTree>
    <p:extLst>
      <p:ext uri="{BB962C8B-B14F-4D97-AF65-F5344CB8AC3E}">
        <p14:creationId xmlns:p14="http://schemas.microsoft.com/office/powerpoint/2010/main" val="109978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56C11-6A5D-6CE1-1F19-C589697DE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DECDC0-56D3-3A90-20CC-D7187A784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64D71-2E42-C631-A164-059D6CF1A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Declararea interfețelor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Interfețele</a:t>
            </a:r>
            <a:r>
              <a:rPr lang="ro-RO" sz="2800" noProof="0" dirty="0">
                <a:solidFill>
                  <a:srgbClr val="00B0F0"/>
                </a:solidFill>
              </a:rPr>
              <a:t> sunt </a:t>
            </a:r>
            <a:r>
              <a:rPr lang="ro-RO" sz="2800" noProof="0" dirty="0">
                <a:solidFill>
                  <a:schemeClr val="tx2"/>
                </a:solidFill>
              </a:rPr>
              <a:t>declarate</a:t>
            </a:r>
            <a:r>
              <a:rPr lang="ro-RO" sz="2800" noProof="0" dirty="0">
                <a:solidFill>
                  <a:srgbClr val="00B0F0"/>
                </a:solidFill>
              </a:rPr>
              <a:t> folosind cuvântul cheie </a:t>
            </a:r>
            <a:r>
              <a:rPr lang="ro-RO" sz="2800" noProof="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interface</a:t>
            </a:r>
            <a:r>
              <a:rPr lang="ro-RO" sz="2800" noProof="0" dirty="0">
                <a:solidFill>
                  <a:srgbClr val="00B0F0"/>
                </a:solidFill>
              </a:rPr>
              <a:t>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Este similar cu declararea clasei. Instrucțiunile de interfață sunt </a:t>
            </a:r>
            <a:r>
              <a:rPr lang="ro-RO" sz="2800" noProof="0" dirty="0">
                <a:solidFill>
                  <a:schemeClr val="tx2"/>
                </a:solidFill>
              </a:rPr>
              <a:t>publice în mod implicit</a:t>
            </a:r>
            <a:r>
              <a:rPr lang="ro-RO" sz="2800" noProof="0" dirty="0">
                <a:solidFill>
                  <a:srgbClr val="00B0F0"/>
                </a:solidFill>
              </a:rPr>
              <a:t>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de declarație de interfață: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interface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ITransactions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 // </a:t>
            </a:r>
            <a:r>
              <a:rPr lang="ro-RO" sz="24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interface</a:t>
            </a:r>
            <a:r>
              <a:rPr lang="ro-RO" sz="24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members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showTransaction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double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getAmount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191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420E9-C237-E128-D68C-AD741B77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54A514-B0CE-2795-9A85-CDE70951C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82229D-9FB2-D9CD-6AA9-15F14277D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Implementarea unei interfețe exemplul 1: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InterfaceExample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o-RO" sz="24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Define</a:t>
            </a:r>
            <a:r>
              <a:rPr lang="ro-RO" sz="24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an </a:t>
            </a:r>
            <a:r>
              <a:rPr lang="ro-RO" sz="24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interface</a:t>
            </a:r>
            <a:r>
              <a:rPr lang="ro-RO" sz="24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interface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IAnimal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MakeSound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o-RO" sz="24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Implement</a:t>
            </a:r>
            <a:r>
              <a:rPr lang="ro-RO" sz="24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the</a:t>
            </a:r>
            <a:r>
              <a:rPr lang="ro-RO" sz="24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interface</a:t>
            </a:r>
            <a:r>
              <a:rPr lang="ro-RO" sz="24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in a </a:t>
            </a:r>
            <a:r>
              <a:rPr lang="ro-RO" sz="24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 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00B050"/>
                </a:solidFill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Dog :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IAnimal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MakeSound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4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"Dog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barks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Woof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Woof</a:t>
            </a:r>
            <a:r>
              <a:rPr lang="ro-RO" sz="24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!"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3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1162-44CB-C136-C110-11F120DC9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BFCBE0-D125-2074-BA9F-68B6955E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24BDA4-FA55-077F-2990-1BEBC2DC2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Program {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[]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args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Dog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myDog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Dog();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myDog.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MakeSound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ReadKey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969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CF4C4-952C-6F12-7E8F-C413D7E2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AD5439-B9E9-BF6E-EFA0-0DB270C1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30823E-3E7F-6BE0-D057-55FCABBAE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Implementarea unei interfețe exemplul 2: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InterfaceApplication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interface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ITransactions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o-RO" sz="20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interface</a:t>
            </a:r>
            <a:r>
              <a:rPr lang="ro-RO" sz="20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members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showTransaction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double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getAmount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Transaction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ITransactions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private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tCode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private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date;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private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double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amount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Transaction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tCode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 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date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 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amount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0.0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939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53522-F040-8EF5-95AD-E9C8C0A19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53F33E-BDE4-93E6-80E0-530362B0C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E92A1B-3896-41C7-7262-1016F5642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Transaction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c,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d,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double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a) {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tCode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c; date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d;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amount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double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getAmount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 {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amount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showTransaction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 {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Transaction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{0}"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tCode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"Date: {0}"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date);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Amount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{0}"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getAmount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());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142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5B6BF-3104-279E-2A72-16A2C58F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EFF66D-ABE0-18BF-A219-18DEFC4F9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C9E80F-D3B5-9FE7-7019-9FE8D4E25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Tester {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[]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args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Transaction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t1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Transaction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"001"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"8/10/2012"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78900.00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Transaction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t2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Transaction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"002"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"9/10/2012"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451900.00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t1.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showTransaction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t2.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showTransaction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ReadKey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endParaRPr kumimoji="0" lang="ro-RO" sz="2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94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98E7F-8FB2-B0E4-28B8-5DE48CA2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7ADF30-B25C-EDD9-A15A-C8D4D2A70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FD4101-BB81-CC90-3F6A-B0B207057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Tipuri de interfețe C#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Printre tipurile de interfețe din C# se numără: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chemeClr val="tx2"/>
                </a:solidFill>
              </a:rPr>
              <a:t> </a:t>
            </a:r>
            <a:r>
              <a:rPr lang="ro-RO" sz="2800" noProof="0" dirty="0" err="1">
                <a:solidFill>
                  <a:schemeClr val="tx2"/>
                </a:solidFill>
              </a:rPr>
              <a:t>IEnumerable</a:t>
            </a:r>
            <a:r>
              <a:rPr lang="ro-RO" sz="2800" noProof="0" dirty="0">
                <a:solidFill>
                  <a:srgbClr val="00B0F0"/>
                </a:solidFill>
              </a:rPr>
              <a:t> − Interfață de bază pentru toate colecțiile generice.</a:t>
            </a:r>
          </a:p>
          <a:p>
            <a:pPr algn="just"/>
            <a:r>
              <a:rPr lang="ro-RO" sz="2800" noProof="0" dirty="0">
                <a:solidFill>
                  <a:schemeClr val="tx2"/>
                </a:solidFill>
              </a:rPr>
              <a:t> </a:t>
            </a:r>
            <a:r>
              <a:rPr lang="ro-RO" sz="2800" noProof="0" dirty="0" err="1">
                <a:solidFill>
                  <a:schemeClr val="tx2"/>
                </a:solidFill>
              </a:rPr>
              <a:t>IList</a:t>
            </a:r>
            <a:r>
              <a:rPr lang="ro-RO" sz="2800" noProof="0" dirty="0">
                <a:solidFill>
                  <a:srgbClr val="00B0F0"/>
                </a:solidFill>
              </a:rPr>
              <a:t> − O interfață generică implementată de </a:t>
            </a:r>
            <a:r>
              <a:rPr lang="ro-RO" sz="2800" noProof="0" dirty="0" err="1">
                <a:solidFill>
                  <a:srgbClr val="00B0F0"/>
                </a:solidFill>
              </a:rPr>
              <a:t>matrici</a:t>
            </a:r>
            <a:r>
              <a:rPr lang="ro-RO" sz="2800" noProof="0" dirty="0">
                <a:solidFill>
                  <a:srgbClr val="00B0F0"/>
                </a:solidFill>
              </a:rPr>
              <a:t> și tipul listă.</a:t>
            </a:r>
          </a:p>
          <a:p>
            <a:pPr algn="just"/>
            <a:r>
              <a:rPr lang="ro-RO" sz="2800" noProof="0" dirty="0">
                <a:solidFill>
                  <a:schemeClr val="tx2"/>
                </a:solidFill>
              </a:rPr>
              <a:t> </a:t>
            </a:r>
            <a:r>
              <a:rPr lang="ro-RO" sz="2800" noProof="0" dirty="0" err="1">
                <a:solidFill>
                  <a:schemeClr val="tx2"/>
                </a:solidFill>
              </a:rPr>
              <a:t>IDictionary</a:t>
            </a:r>
            <a:r>
              <a:rPr lang="ro-RO" sz="2800" noProof="0" dirty="0">
                <a:solidFill>
                  <a:srgbClr val="00B0F0"/>
                </a:solidFill>
              </a:rPr>
              <a:t> − O colecție de dicționare.</a:t>
            </a:r>
          </a:p>
        </p:txBody>
      </p:sp>
    </p:spTree>
    <p:extLst>
      <p:ext uri="{BB962C8B-B14F-4D97-AF65-F5344CB8AC3E}">
        <p14:creationId xmlns:p14="http://schemas.microsoft.com/office/powerpoint/2010/main" val="228058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79F60-582E-4E92-13AF-5BC9344E7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69C3BF-F096-B2CF-D289-BD6FB9385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FB8F71-3180-DFF4-39F3-2727361F2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 err="1">
                <a:solidFill>
                  <a:schemeClr val="tx2"/>
                </a:solidFill>
              </a:rPr>
              <a:t>IEnumerable</a:t>
            </a:r>
            <a:r>
              <a:rPr lang="ro-RO" sz="2800" noProof="0" dirty="0">
                <a:solidFill>
                  <a:srgbClr val="00B0F0"/>
                </a:solidFill>
              </a:rPr>
              <a:t> este o interfață care definește o singură metodă </a:t>
            </a:r>
            <a:r>
              <a:rPr lang="ro-RO" sz="2800" noProof="0" dirty="0" err="1">
                <a:solidFill>
                  <a:srgbClr val="00B0F0"/>
                </a:solidFill>
              </a:rPr>
              <a:t>GetEnumerator</a:t>
            </a:r>
            <a:r>
              <a:rPr lang="ro-RO" sz="2800" noProof="0" dirty="0">
                <a:solidFill>
                  <a:srgbClr val="00B0F0"/>
                </a:solidFill>
              </a:rPr>
              <a:t> care returnează o interfață </a:t>
            </a:r>
            <a:r>
              <a:rPr lang="ro-RO" sz="2800" noProof="0" dirty="0" err="1">
                <a:solidFill>
                  <a:schemeClr val="tx2"/>
                </a:solidFill>
              </a:rPr>
              <a:t>IEnumerator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Aceasta funcționează pentru acces doar în </a:t>
            </a:r>
            <a:r>
              <a:rPr lang="ro-RO" sz="2800" noProof="0" dirty="0">
                <a:solidFill>
                  <a:schemeClr val="tx2"/>
                </a:solidFill>
              </a:rPr>
              <a:t>citire</a:t>
            </a:r>
            <a:r>
              <a:rPr lang="ro-RO" sz="2800" noProof="0" dirty="0">
                <a:solidFill>
                  <a:srgbClr val="00B0F0"/>
                </a:solidFill>
              </a:rPr>
              <a:t> la o colecție care implementează acel </a:t>
            </a:r>
            <a:r>
              <a:rPr lang="ro-RO" sz="2800" noProof="0" dirty="0" err="1">
                <a:solidFill>
                  <a:srgbClr val="00B0F0"/>
                </a:solidFill>
              </a:rPr>
              <a:t>IEnumerable</a:t>
            </a:r>
            <a:r>
              <a:rPr lang="ro-RO" sz="2800" noProof="0" dirty="0">
                <a:solidFill>
                  <a:srgbClr val="00B0F0"/>
                </a:solidFill>
              </a:rPr>
              <a:t>, putând fi utilizat cu o instrucțiune </a:t>
            </a:r>
            <a:r>
              <a:rPr lang="ro-RO" sz="2800" noProof="0" dirty="0" err="1">
                <a:solidFill>
                  <a:srgbClr val="00B0F0"/>
                </a:solidFill>
              </a:rPr>
              <a:t>foreach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2105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6EF17-675D-4A3D-4D20-9BA5E140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5C6433-0B16-B719-124E-7200266E1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9DA5B3-0F10-5F2D-8795-5A6E8D529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cu interfață </a:t>
            </a:r>
            <a:r>
              <a:rPr lang="ro-RO" sz="2800" noProof="0" dirty="0" err="1">
                <a:solidFill>
                  <a:schemeClr val="tx2"/>
                </a:solidFill>
              </a:rPr>
              <a:t>IEnumerable</a:t>
            </a:r>
            <a:endParaRPr lang="ro-RO" sz="2800" noProof="0" dirty="0">
              <a:solidFill>
                <a:schemeClr val="tx2"/>
              </a:solidFill>
            </a:endParaRP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System.Collections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Demo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: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IEnumerable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IEnumerator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private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};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private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currentIndex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IEnumerable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method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GetEnumerator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()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IEnumerator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GetEnumerator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this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Returns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the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current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instance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for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iteration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endParaRPr lang="ro-RO" sz="20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230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272E-2152-2FF6-1117-B4EC087D7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6BB55B-862C-7ED3-98C1-9DB838A2F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64DF59-96F8-3D86-ACCD-590F2DF5A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IEnumerator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method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-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Current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property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object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Current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{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{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currentIndex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-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||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currentIndex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&gt;=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numbers.Length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throw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InvalidOperationException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currentIndex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00B050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IEnumerator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method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-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MoveNext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bool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MoveNext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 {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currentIndex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&lt;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numbers.Length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-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currentIndex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++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true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false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56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34AB0-666C-5BFA-B920-E512370C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A2485B-176D-F31B-63EC-A035A21AC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255E02-9548-F46C-CE1D-378AFB822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IEnumerator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method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-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Reset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Reset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 {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Reset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index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to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start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iteration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from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beginning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currentIndex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-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Program {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[]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args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Demo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demo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Demo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foreach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demo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585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412BA-F39A-4AEE-B9C6-C95ABF387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D23010-BEF2-C298-958B-2494A19C2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ADC867-6AB6-A46A-F3AA-2BAD5E9B7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cu interfață </a:t>
            </a:r>
            <a:r>
              <a:rPr lang="ro-RO" sz="2800" noProof="0" dirty="0" err="1">
                <a:solidFill>
                  <a:schemeClr val="tx2"/>
                </a:solidFill>
              </a:rPr>
              <a:t>IList</a:t>
            </a:r>
            <a:endParaRPr lang="ro-RO" sz="2800" noProof="0" dirty="0">
              <a:solidFill>
                <a:schemeClr val="tx2"/>
              </a:solidFill>
            </a:endParaRP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System.Collections.Generic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IListExample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Create a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of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integers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IList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{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};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Accessing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elements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index</a:t>
            </a: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"Element at index 2: 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]);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Output: 3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Adding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an element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to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the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numbers.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Added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6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to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the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."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3261711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218C5-5536-1378-99BE-CFA98C6C3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081F6C-E707-B6BD-BA88-F6169D295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EA205D-926E-06CF-9524-02F2799A3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Removing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an element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from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list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Remove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3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Removes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first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occurrence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of 3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Removed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3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from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list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Iterating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over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list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Updated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list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foreach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num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(num);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FF86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011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41022-C3AE-E6E5-78F3-CDCDBAEC5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00755B-85C4-C29A-F427-7F05D0BA2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58E5C5-8425-FC8F-4B7A-7019D6DCF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cu interfață </a:t>
            </a:r>
            <a:r>
              <a:rPr lang="ro-RO" sz="2800" noProof="0" dirty="0" err="1">
                <a:solidFill>
                  <a:schemeClr val="tx2"/>
                </a:solidFill>
              </a:rPr>
              <a:t>IDictionary</a:t>
            </a:r>
            <a:endParaRPr lang="ro-RO" sz="2800" noProof="0" dirty="0">
              <a:solidFill>
                <a:schemeClr val="tx2"/>
              </a:solidFill>
            </a:endParaRP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System.Collections.Generic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</a:p>
          <a:p>
            <a:pPr marL="34290" indent="0" algn="just">
              <a:buNone/>
            </a:pP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IDictionaryExample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ro-RO" sz="20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static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args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 {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00B050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Create a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dictionary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keys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values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IDictionary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ages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>
                <a:solidFill>
                  <a:srgbClr val="67CDCC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Dictionary&lt;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&gt;();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Adding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key-value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pairs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to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the</a:t>
            </a:r>
            <a:r>
              <a:rPr lang="ro-RO" sz="20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dictionary</a:t>
            </a:r>
            <a:endParaRPr lang="ro-RO" sz="2000" b="1" i="0" noProof="0" dirty="0">
              <a:solidFill>
                <a:srgbClr val="00B050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ages.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Sudhir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Shamra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27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ages.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Prakash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26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ro-RO" sz="20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ages.</a:t>
            </a:r>
            <a:r>
              <a:rPr lang="ro-RO" sz="2000" b="1" i="0" noProof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Yash</a:t>
            </a:r>
            <a:r>
              <a:rPr lang="ro-RO" sz="2000" b="1" i="0" noProof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o-RO" sz="2000" b="1" i="0" noProof="0" dirty="0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22</a:t>
            </a:r>
            <a:r>
              <a:rPr lang="ro-RO" sz="20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marL="34290" indent="0" algn="just">
              <a:buNone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endParaRPr lang="ro-RO" sz="2000" b="1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304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3F80-A687-3C5A-AE20-D1923B2D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4BC080-ED76-CF5D-738C-0E1C3DE39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DE1562-A0A0-F3B1-0EB1-EF1B7CF6F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Accessing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values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using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keys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lvl="0" indent="0" algn="just">
              <a:buClr>
                <a:srgbClr val="FF8600"/>
              </a:buClr>
              <a:buNone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Yash's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lang="ro-RO" sz="2000" b="1" noProof="0" dirty="0" err="1">
                <a:solidFill>
                  <a:srgbClr val="7EC699"/>
                </a:solidFill>
                <a:latin typeface="Courier New" panose="02070309020205020404" pitchFamily="49" charset="0"/>
              </a:rPr>
              <a:t>age</a:t>
            </a:r>
            <a:r>
              <a:rPr lang="ro-RO" sz="2000" b="1" noProof="0" dirty="0">
                <a:solidFill>
                  <a:srgbClr val="7EC699"/>
                </a:solidFill>
                <a:latin typeface="Courier New" panose="02070309020205020404" pitchFamily="49" charset="0"/>
              </a:rPr>
              <a:t>:"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+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Yash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// Output: 30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Checking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key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exists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ages.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ContainsKey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Prakash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)) {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Prakash's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in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dictionary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Iterating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over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dictionary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List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of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people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and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their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foreach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kvp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$"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{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kvp.Key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{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kvp.Value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310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40F2A-AD85-BC3A-2097-84AF2F45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DB94ED-05CD-55A4-A3BF-4948D6D7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9E03AC-A1E9-39C2-EC25-E41867F3E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Removing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an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entry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ages.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Remove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Yash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Removed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Yash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from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dictionary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Checking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updated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dictionary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999999"/>
                </a:solidFill>
                <a:latin typeface="Courier New" panose="02070309020205020404" pitchFamily="49" charset="0"/>
              </a:rPr>
              <a:t>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Updated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list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of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people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and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their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foreach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kvp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$"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{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kvp.Key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{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kvp.Value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FF86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794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3A1D-373F-3819-A871-12F64A76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1D3EF5-E83C-C6C6-682E-17F34222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837B9E-4BB0-27D8-CFFF-695EE5432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C# - </a:t>
            </a:r>
            <a:r>
              <a:rPr lang="ro-RO" sz="2800" noProof="0" dirty="0" err="1">
                <a:solidFill>
                  <a:schemeClr val="tx2"/>
                </a:solidFill>
              </a:rPr>
              <a:t>Namespaces</a:t>
            </a:r>
            <a:r>
              <a:rPr lang="ro-RO" sz="2800" noProof="0" dirty="0">
                <a:solidFill>
                  <a:srgbClr val="00B0F0"/>
                </a:solidFill>
              </a:rPr>
              <a:t>(spații de nume)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Un </a:t>
            </a:r>
            <a:r>
              <a:rPr lang="ro-RO" sz="2800" noProof="0" dirty="0" err="1">
                <a:solidFill>
                  <a:schemeClr val="tx2"/>
                </a:solidFill>
              </a:rPr>
              <a:t>namespace</a:t>
            </a:r>
            <a:r>
              <a:rPr lang="ro-RO" sz="2800" noProof="0" dirty="0">
                <a:solidFill>
                  <a:srgbClr val="00B0F0"/>
                </a:solidFill>
              </a:rPr>
              <a:t> este conceput pentru a oferi o modalitate de a păstra un set de nume separat de altul. Numele claselor declarate într-un </a:t>
            </a:r>
            <a:r>
              <a:rPr lang="ro-RO" sz="2800" noProof="0" dirty="0" err="1">
                <a:solidFill>
                  <a:srgbClr val="00B0F0"/>
                </a:solidFill>
              </a:rPr>
              <a:t>namespace</a:t>
            </a:r>
            <a:r>
              <a:rPr lang="ro-RO" sz="2800" noProof="0" dirty="0">
                <a:solidFill>
                  <a:srgbClr val="00B0F0"/>
                </a:solidFill>
              </a:rPr>
              <a:t> nu intră în conflict cu aceleași nume de clase declarate în alt </a:t>
            </a:r>
            <a:r>
              <a:rPr lang="ro-RO" sz="2800" noProof="0" dirty="0" err="1">
                <a:solidFill>
                  <a:srgbClr val="00B0F0"/>
                </a:solidFill>
              </a:rPr>
              <a:t>namespace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668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D612F-9A4A-665A-8694-9AEADDDC0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4966A2-DD83-AE4B-FFF1-B0FBEC9EB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F7AFE4-7B37-21DD-60D4-F8E1EC079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Definirea unui spațiu de nume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 definiție a unui spațiu de nume începe cu cuvântul cheie </a:t>
            </a:r>
            <a:r>
              <a:rPr lang="ro-RO" sz="2800" noProof="0" dirty="0" err="1">
                <a:solidFill>
                  <a:schemeClr val="tx2"/>
                </a:solidFill>
              </a:rPr>
              <a:t>namespace</a:t>
            </a:r>
            <a:r>
              <a:rPr lang="ro-RO" sz="2800" noProof="0" dirty="0">
                <a:solidFill>
                  <a:srgbClr val="00B0F0"/>
                </a:solidFill>
              </a:rPr>
              <a:t> urmat de numele spațiului de nume:</a:t>
            </a:r>
          </a:p>
          <a:p>
            <a:pPr marL="34290" indent="0" algn="just">
              <a:buNone/>
            </a:pPr>
            <a:br>
              <a:rPr lang="ro-RO" sz="2400" b="1" i="0" noProof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</a:br>
            <a:r>
              <a:rPr lang="ro-RO" sz="2400" b="1" i="0" noProof="0" dirty="0" err="1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o-RO" sz="2400" b="1" i="0" noProof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namespace_name</a:t>
            </a: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999999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ro-RO" sz="24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code </a:t>
            </a:r>
            <a:r>
              <a:rPr lang="ro-RO" sz="2400" b="1" i="0" noProof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declarations</a:t>
            </a:r>
            <a:r>
              <a:rPr lang="ro-RO" sz="2400" b="1" i="0" noProof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34290" indent="0" algn="just">
              <a:buNone/>
            </a:pPr>
            <a:r>
              <a:rPr lang="ro-RO" sz="2400" b="1" i="0" noProof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795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5177-C41B-6E81-C47D-DE2242BA0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0EEAAD-34DB-D0DA-B459-AEEFB9EB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06356C-A7CE-EFEB-5104-D7BDE0ADA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Pentru a putea folosi o variabil</a:t>
            </a:r>
            <a:r>
              <a:rPr lang="ro-RO" sz="2800" dirty="0">
                <a:solidFill>
                  <a:srgbClr val="00B0F0"/>
                </a:solidFill>
              </a:rPr>
              <a:t>ă</a:t>
            </a:r>
            <a:r>
              <a:rPr lang="ro-RO" sz="2800" noProof="0" dirty="0">
                <a:solidFill>
                  <a:srgbClr val="00B0F0"/>
                </a:solidFill>
              </a:rPr>
              <a:t> sau o funcție dintr-un spațiu de nume se adaugă numele </a:t>
            </a:r>
            <a:r>
              <a:rPr lang="ro-RO" sz="2800" noProof="0" dirty="0" err="1">
                <a:solidFill>
                  <a:srgbClr val="00B0F0"/>
                </a:solidFill>
              </a:rPr>
              <a:t>namespace</a:t>
            </a:r>
            <a:r>
              <a:rPr lang="ro-RO" sz="2800" noProof="0" dirty="0">
                <a:solidFill>
                  <a:srgbClr val="00B0F0"/>
                </a:solidFill>
              </a:rPr>
              <a:t>-ului înaintea acesteia separate printr-un punct.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en-US" sz="2400" b="1" i="0" dirty="0" err="1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namespace_name</a:t>
            </a: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2400" b="1" i="0" dirty="0" err="1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item_name</a:t>
            </a:r>
            <a:r>
              <a:rPr lang="en-US" sz="24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;</a:t>
            </a:r>
            <a:endParaRPr lang="ro-RO" sz="2400" b="1" noProof="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388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87C8C-62F1-C341-A248-CE7CAE9B5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BAB5E3-0D5E-C103-A62A-50208E1F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B877E-0225-46F8-94C0-969B5CC0E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utilizare </a:t>
            </a:r>
            <a:r>
              <a:rPr lang="ro-RO" sz="2800" noProof="0" dirty="0" err="1">
                <a:solidFill>
                  <a:srgbClr val="00B0F0"/>
                </a:solidFill>
              </a:rPr>
              <a:t>namespace</a:t>
            </a:r>
            <a:r>
              <a:rPr lang="ro-RO" sz="2800" noProof="0" dirty="0">
                <a:solidFill>
                  <a:srgbClr val="00B0F0"/>
                </a:solidFill>
              </a:rPr>
              <a:t>-uri</a:t>
            </a: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System;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first_space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namespace_cl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func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en-US" sz="20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"Inside </a:t>
            </a:r>
            <a:r>
              <a:rPr lang="en-US" sz="2000" b="1" i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first_space</a:t>
            </a:r>
            <a:r>
              <a:rPr lang="en-US" sz="20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second_space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namespace_cl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func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en-US" sz="20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"Inside </a:t>
            </a:r>
            <a:r>
              <a:rPr lang="en-US" sz="2000" b="1" i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second_space</a:t>
            </a:r>
            <a:r>
              <a:rPr lang="en-US" sz="20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078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41488-58E1-45E2-608E-C78B25ED9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55D038-28FA-8050-599A-F76CC2669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AD7441-993F-3FB4-4861-82A3CA414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99CD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TestClass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{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[]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args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first_space.namespace_cl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fc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first_space.namespace_cl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second_space.namespace_cl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second_space.namespace_cl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fc.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sc.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491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699BF-F7A2-1DC3-3390-AAD99A4AF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4EFB55-D7BD-ADBA-0947-016C6EB3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DFB56F-60CC-6E01-E8F0-6EF886A09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Cuvântul cheie </a:t>
            </a:r>
            <a:r>
              <a:rPr lang="ro-RO" sz="2800" noProof="0" dirty="0" err="1">
                <a:solidFill>
                  <a:schemeClr val="tx2"/>
                </a:solidFill>
              </a:rPr>
              <a:t>using</a:t>
            </a:r>
            <a:endParaRPr lang="ro-RO" sz="2800" noProof="0" dirty="0">
              <a:solidFill>
                <a:schemeClr val="tx2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Cuvântul cheie </a:t>
            </a:r>
            <a:r>
              <a:rPr lang="ro-RO" sz="2800" noProof="0" dirty="0" err="1">
                <a:solidFill>
                  <a:schemeClr val="tx2"/>
                </a:solidFill>
              </a:rPr>
              <a:t>using</a:t>
            </a:r>
            <a:r>
              <a:rPr lang="ro-RO" sz="2800" noProof="0" dirty="0">
                <a:solidFill>
                  <a:srgbClr val="00B0F0"/>
                </a:solidFill>
              </a:rPr>
              <a:t> indică faptul că programul folosește numele din spațiul de nume dat. De exemplu, noi folosim spațiul de nume </a:t>
            </a:r>
            <a:r>
              <a:rPr lang="ro-RO" sz="2800" noProof="0" dirty="0" err="1">
                <a:solidFill>
                  <a:schemeClr val="tx2"/>
                </a:solidFill>
              </a:rPr>
              <a:t>System</a:t>
            </a:r>
            <a:r>
              <a:rPr lang="ro-RO" sz="2800" noProof="0" dirty="0">
                <a:solidFill>
                  <a:srgbClr val="00B0F0"/>
                </a:solidFill>
              </a:rPr>
              <a:t> în programele noastre. Clasa </a:t>
            </a:r>
            <a:r>
              <a:rPr lang="ro-RO" sz="2800" noProof="0" dirty="0">
                <a:solidFill>
                  <a:schemeClr val="tx2"/>
                </a:solidFill>
              </a:rPr>
              <a:t>Console</a:t>
            </a:r>
            <a:r>
              <a:rPr lang="ro-RO" sz="2800" noProof="0" dirty="0">
                <a:solidFill>
                  <a:srgbClr val="00B0F0"/>
                </a:solidFill>
              </a:rPr>
              <a:t> este definită acolo.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Scriem doar −</a:t>
            </a:r>
          </a:p>
          <a:p>
            <a:pPr marL="34290" indent="0" algn="just">
              <a:buNone/>
            </a:pPr>
            <a:r>
              <a:rPr lang="en-US" sz="2400" b="1" i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Console.WriteLine</a:t>
            </a:r>
            <a:r>
              <a:rPr lang="en-US" sz="2400" b="1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"Hello there"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Am fi putut scrie numele complet calificat ca −</a:t>
            </a:r>
          </a:p>
          <a:p>
            <a:pPr marL="34290" indent="0" algn="just">
              <a:buNone/>
            </a:pPr>
            <a:r>
              <a:rPr lang="en-US" sz="24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System.</a:t>
            </a:r>
            <a:r>
              <a:rPr lang="en-US" sz="2400" b="1" i="0" dirty="0" err="1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en-US" sz="24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4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"Hello there"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</a:t>
            </a:r>
            <a:endParaRPr lang="ro-RO" sz="2400" b="1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653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F9A44-31AB-2D28-A669-AF5F30BD8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921C4E-6B30-41FA-4147-65B65BC0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83B963-2107-8B72-3167-B0D9C595F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De asemenea, puteți evita adăugarea antepusă a spațiilor de nume cu directiva </a:t>
            </a:r>
            <a:r>
              <a:rPr lang="ro-RO" sz="2800" noProof="0" dirty="0" err="1">
                <a:solidFill>
                  <a:schemeClr val="tx2"/>
                </a:solidFill>
              </a:rPr>
              <a:t>using</a:t>
            </a:r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 err="1">
                <a:solidFill>
                  <a:srgbClr val="00B0F0"/>
                </a:solidFill>
              </a:rPr>
              <a:t>namespace</a:t>
            </a:r>
            <a:r>
              <a:rPr lang="ro-RO" sz="2800" noProof="0" dirty="0">
                <a:solidFill>
                  <a:srgbClr val="00B0F0"/>
                </a:solidFill>
              </a:rPr>
              <a:t>. Această directivă îi spune compilatorului că codul ulterior utilizează nume din spațiul de nume specificat. Prin urmare, spațiul de nume este implicit pentru următorul cod: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668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11DD8-ACA5-F87B-0888-ACDDE116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99AE89-D9BA-495D-D1FD-035066C4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D1D484-B07F-8C7A-8516-840C716A2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</a:t>
            </a:r>
            <a:r>
              <a:rPr lang="ro-RO" sz="2800" noProof="0" dirty="0" err="1">
                <a:solidFill>
                  <a:schemeClr val="tx2"/>
                </a:solidFill>
              </a:rPr>
              <a:t>namespace</a:t>
            </a:r>
            <a:r>
              <a:rPr lang="ro-RO" sz="2800" noProof="0" dirty="0">
                <a:solidFill>
                  <a:schemeClr val="tx2"/>
                </a:solidFill>
              </a:rPr>
              <a:t>-uri</a:t>
            </a:r>
            <a:r>
              <a:rPr lang="ro-RO" sz="2800" noProof="0" dirty="0">
                <a:solidFill>
                  <a:srgbClr val="00B0F0"/>
                </a:solidFill>
              </a:rPr>
              <a:t> cu directiva </a:t>
            </a:r>
            <a:r>
              <a:rPr lang="ro-RO" sz="2800" noProof="0" dirty="0" err="1">
                <a:solidFill>
                  <a:schemeClr val="tx2"/>
                </a:solidFill>
              </a:rPr>
              <a:t>using</a:t>
            </a:r>
            <a:endParaRPr lang="ro-RO" sz="2800" noProof="0" dirty="0">
              <a:solidFill>
                <a:schemeClr val="tx2"/>
              </a:solidFill>
            </a:endParaRPr>
          </a:p>
          <a:p>
            <a:pPr marL="34290" indent="0" algn="just">
              <a:buNone/>
            </a:pPr>
            <a:endParaRPr lang="ro-RO" sz="2000" b="1" i="0" dirty="0">
              <a:solidFill>
                <a:srgbClr val="CC99CD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System;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first_space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second_space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first_space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abc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func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en-US" sz="20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"Inside </a:t>
            </a:r>
            <a:r>
              <a:rPr lang="en-US" sz="2000" b="1" i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first_space</a:t>
            </a:r>
            <a:r>
              <a:rPr lang="en-US" sz="20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86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20D4B-A843-A64C-F946-C49EB2FA7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7CB60C-02D1-3547-DD14-F3658D90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BEBF00-03FE-E8E7-A0E9-C2A49A5CA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namespace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second_space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{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efg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{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public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 {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WriteLine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"Inside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second_space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EC6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}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TestClass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{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[]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args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abc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fc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abc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efg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efg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fc.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sc.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FF86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923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C526F-7114-E91F-2A74-6B2D78BB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AD1A31-DCEF-C305-5539-48DD50621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1C8A57-38B1-E81E-11EA-A849CA2BD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dirty="0" err="1">
                <a:solidFill>
                  <a:schemeClr val="tx2"/>
                </a:solidFill>
              </a:rPr>
              <a:t>Namespace</a:t>
            </a:r>
            <a:r>
              <a:rPr lang="ro-RO" sz="2800" dirty="0">
                <a:solidFill>
                  <a:schemeClr val="tx2"/>
                </a:solidFill>
              </a:rPr>
              <a:t>-uri imbricate</a:t>
            </a:r>
          </a:p>
          <a:p>
            <a:pPr marL="34290" indent="0" algn="just">
              <a:buNone/>
            </a:pPr>
            <a:r>
              <a:rPr lang="ro-RO" sz="2800" dirty="0">
                <a:solidFill>
                  <a:srgbClr val="00B0F0"/>
                </a:solidFill>
              </a:rPr>
              <a:t>Puteți defini un spațiu de nume în interiorul unui alt spațiu de nume:</a:t>
            </a:r>
          </a:p>
          <a:p>
            <a:pPr marL="34290" indent="0" algn="just">
              <a:buNone/>
            </a:pP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namespace_name1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code declarations </a:t>
            </a:r>
            <a:endParaRPr lang="ro-RO" sz="2400" b="1" i="0" dirty="0">
              <a:solidFill>
                <a:srgbClr val="00B050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4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namespace_name2 {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// code declarations </a:t>
            </a:r>
            <a:endParaRPr lang="ro-RO" sz="2400" b="1" i="0" dirty="0">
              <a:solidFill>
                <a:srgbClr val="00B050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4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4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4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</a:t>
            </a:r>
            <a:endParaRPr lang="ro-RO" sz="2400" b="1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Puteți accesa membrii spațiului de nume imbricat utilizând operatorul punct (.) după cum urmează:</a:t>
            </a:r>
          </a:p>
        </p:txBody>
      </p:sp>
    </p:spTree>
    <p:extLst>
      <p:ext uri="{BB962C8B-B14F-4D97-AF65-F5344CB8AC3E}">
        <p14:creationId xmlns:p14="http://schemas.microsoft.com/office/powerpoint/2010/main" val="22322228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97C8-9F00-F400-E4C5-CE59F619C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5B3CF-26FF-0BC5-8CF0-522F22459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643974-467D-F940-789E-A7AE7B416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 </a:t>
            </a:r>
            <a:r>
              <a:rPr lang="ro-RO" sz="2800" noProof="0" dirty="0" err="1">
                <a:solidFill>
                  <a:srgbClr val="00B0F0"/>
                </a:solidFill>
              </a:rPr>
              <a:t>namespace</a:t>
            </a:r>
            <a:r>
              <a:rPr lang="ro-RO" sz="2800" noProof="0" dirty="0">
                <a:solidFill>
                  <a:srgbClr val="00B0F0"/>
                </a:solidFill>
              </a:rPr>
              <a:t>-uri imbricate</a:t>
            </a: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System;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first_space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using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first_space.second_space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;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first_space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abc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func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en-US" sz="20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"Inside </a:t>
            </a:r>
            <a:r>
              <a:rPr lang="en-US" sz="2000" b="1" i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first_space</a:t>
            </a:r>
            <a:r>
              <a:rPr lang="en-US" sz="20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namespace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second_space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efg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public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>
                <a:solidFill>
                  <a:srgbClr val="CC99CD"/>
                </a:solidFill>
                <a:effectLst/>
                <a:latin typeface="Courier New" panose="02070309020205020404" pitchFamily="49" charset="0"/>
              </a:rPr>
              <a:t>void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func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() {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  </a:t>
            </a:r>
            <a:r>
              <a:rPr lang="en-US" sz="2000" b="1" i="0" dirty="0" err="1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en-US" sz="2000" b="1" i="0" dirty="0" err="1">
                <a:solidFill>
                  <a:srgbClr val="F08D49"/>
                </a:solidFill>
                <a:effectLst/>
                <a:latin typeface="Courier New" panose="02070309020205020404" pitchFamily="49" charset="0"/>
              </a:rPr>
              <a:t>WriteLine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"Inside </a:t>
            </a:r>
            <a:r>
              <a:rPr lang="en-US" sz="2000" b="1" i="0" dirty="0" err="1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second_space</a:t>
            </a:r>
            <a:r>
              <a:rPr lang="en-US" sz="2000" b="1" i="0" dirty="0">
                <a:solidFill>
                  <a:srgbClr val="7EC69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);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  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000" b="1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  <a:p>
            <a:pPr marL="34290" indent="0" algn="just">
              <a:buNone/>
            </a:pPr>
            <a:r>
              <a:rPr lang="en-US" sz="2000" b="1" i="0" dirty="0">
                <a:solidFill>
                  <a:srgbClr val="CCCCCC"/>
                </a:solidFill>
                <a:effectLst/>
                <a:latin typeface="Courier New" panose="02070309020205020404" pitchFamily="49" charset="0"/>
              </a:rPr>
              <a:t>} 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030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E6A7F-DF20-0F85-E557-61D382E87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179596-B757-04D5-904E-1E0D2C9FF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A16744-42FE-3589-654C-2004B5E6B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class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TestClass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{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static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void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[]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args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{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abc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fc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abc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efg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7CD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99CD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new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efg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fc.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sc.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Console.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08D4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ReadKey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(); 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dirty="0">
                <a:solidFill>
                  <a:srgbClr val="CCCCCC"/>
                </a:solidFill>
                <a:latin typeface="Courier New" panose="02070309020205020404" pitchFamily="49" charset="0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" marR="0" lvl="0" indent="0" algn="just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9730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ldThem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ldTheme" id="{E044F4A2-B66D-45C2-96C7-FCDC24F4574A}" vid="{A3C9D0F2-0975-40A9-A9D7-E4850D5DE0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5213</TotalTime>
  <Words>2117</Words>
  <Application>Microsoft Office PowerPoint</Application>
  <PresentationFormat>On-screen Show (4:3)</PresentationFormat>
  <Paragraphs>331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Courier New</vt:lpstr>
      <vt:lpstr>Wingdings</vt:lpstr>
      <vt:lpstr>oldTheme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  <vt:lpstr>C#POO - Cursul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Licenta A3 - Facultatea de Informatica și Ştiinţe</dc:creator>
  <cp:lastModifiedBy>Licenta A3 - Facultatea de Informatica și Ştiinţe</cp:lastModifiedBy>
  <cp:revision>70</cp:revision>
  <dcterms:created xsi:type="dcterms:W3CDTF">2025-10-05T09:43:55Z</dcterms:created>
  <dcterms:modified xsi:type="dcterms:W3CDTF">2026-04-26T10:04:58Z</dcterms:modified>
</cp:coreProperties>
</file>
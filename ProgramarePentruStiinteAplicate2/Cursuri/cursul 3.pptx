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300" r:id="rId3"/>
    <p:sldId id="301" r:id="rId4"/>
    <p:sldId id="302" r:id="rId5"/>
    <p:sldId id="303" r:id="rId6"/>
    <p:sldId id="304" r:id="rId7"/>
    <p:sldId id="305" r:id="rId8"/>
    <p:sldId id="306" r:id="rId9"/>
    <p:sldId id="307" r:id="rId10"/>
    <p:sldId id="308" r:id="rId11"/>
    <p:sldId id="309" r:id="rId12"/>
    <p:sldId id="310" r:id="rId13"/>
    <p:sldId id="311" r:id="rId14"/>
    <p:sldId id="312" r:id="rId15"/>
    <p:sldId id="313" r:id="rId16"/>
    <p:sldId id="314" r:id="rId17"/>
    <p:sldId id="315" r:id="rId18"/>
    <p:sldId id="316" r:id="rId19"/>
    <p:sldId id="317" r:id="rId20"/>
    <p:sldId id="318" r:id="rId21"/>
    <p:sldId id="319" r:id="rId22"/>
    <p:sldId id="328" r:id="rId23"/>
    <p:sldId id="325" r:id="rId24"/>
    <p:sldId id="326" r:id="rId25"/>
    <p:sldId id="327" r:id="rId26"/>
    <p:sldId id="320" r:id="rId27"/>
    <p:sldId id="321" r:id="rId28"/>
    <p:sldId id="322" r:id="rId29"/>
    <p:sldId id="323" r:id="rId30"/>
    <p:sldId id="324" r:id="rId31"/>
    <p:sldId id="329" r:id="rId32"/>
    <p:sldId id="330" r:id="rId33"/>
    <p:sldId id="331" r:id="rId34"/>
    <p:sldId id="332"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34" autoAdjust="0"/>
    <p:restoredTop sz="94660"/>
  </p:normalViewPr>
  <p:slideViewPr>
    <p:cSldViewPr snapToGrid="0">
      <p:cViewPr varScale="1">
        <p:scale>
          <a:sx n="107" d="100"/>
          <a:sy n="107" d="100"/>
        </p:scale>
        <p:origin x="166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5"/>
            <a:ext cx="7315200" cy="2595025"/>
          </a:xfrm>
        </p:spPr>
        <p:txBody>
          <a:bodyPr>
            <a:normAutofit/>
          </a:bodyPr>
          <a:lstStyle>
            <a:lvl1pPr>
              <a:defRPr sz="3600"/>
            </a:lvl1pPr>
          </a:lstStyle>
          <a:p>
            <a:r>
              <a:rPr lang="en-US"/>
              <a:t>Click to edit Master title style</a:t>
            </a:r>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165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7856C7F-C199-47A3-AF94-EAE81E21E31B}" type="datetimeFigureOut">
              <a:rPr lang="en-US" smtClean="0"/>
              <a:t>3/10/2026</a:t>
            </a:fld>
            <a:endParaRPr lang="en-US"/>
          </a:p>
        </p:txBody>
      </p:sp>
      <p:sp>
        <p:nvSpPr>
          <p:cNvPr id="8" name="Slide Number Placeholder 7"/>
          <p:cNvSpPr>
            <a:spLocks noGrp="1"/>
          </p:cNvSpPr>
          <p:nvPr>
            <p:ph type="sldNum" sz="quarter" idx="11"/>
          </p:nvPr>
        </p:nvSpPr>
        <p:spPr/>
        <p:txBody>
          <a:bodyPr/>
          <a:lstStyle/>
          <a:p>
            <a:fld id="{E13EF8AE-9767-4E5A-802F-66A2B36F74A8}"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719987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856C7F-C199-47A3-AF94-EAE81E21E31B}"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098958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3000" b="0" cap="none"/>
            </a:lvl1pPr>
          </a:lstStyle>
          <a:p>
            <a:r>
              <a:rPr lang="en-US"/>
              <a:t>Click to edit Master title style</a:t>
            </a:r>
          </a:p>
        </p:txBody>
      </p:sp>
      <p:sp>
        <p:nvSpPr>
          <p:cNvPr id="3" name="Text Placeholder 2"/>
          <p:cNvSpPr>
            <a:spLocks noGrp="1"/>
          </p:cNvSpPr>
          <p:nvPr>
            <p:ph type="body" idx="1"/>
          </p:nvPr>
        </p:nvSpPr>
        <p:spPr>
          <a:xfrm>
            <a:off x="914400" y="3865099"/>
            <a:ext cx="7315200" cy="1098439"/>
          </a:xfrm>
        </p:spPr>
        <p:txBody>
          <a:bodyPr anchor="b"/>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856C7F-C199-47A3-AF94-EAE81E21E31B}"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771426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856C7F-C199-47A3-AF94-EAE81E21E31B}"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
        <p:nvSpPr>
          <p:cNvPr id="9" name="Title 8"/>
          <p:cNvSpPr>
            <a:spLocks noGrp="1"/>
          </p:cNvSpPr>
          <p:nvPr>
            <p:ph type="title"/>
          </p:nvPr>
        </p:nvSpPr>
        <p:spPr>
          <a:xfrm>
            <a:off x="914400" y="1544717"/>
            <a:ext cx="7315200" cy="1154097"/>
          </a:xfrm>
        </p:spPr>
        <p:txBody>
          <a:bodyPr/>
          <a:lstStyle/>
          <a:p>
            <a:r>
              <a:rPr lang="en-US"/>
              <a:t>Click to edit Master title style</a:t>
            </a:r>
          </a:p>
        </p:txBody>
      </p:sp>
      <p:sp>
        <p:nvSpPr>
          <p:cNvPr id="8" name="Content Placeholder 7"/>
          <p:cNvSpPr>
            <a:spLocks noGrp="1"/>
          </p:cNvSpPr>
          <p:nvPr>
            <p:ph sz="quarter" idx="13"/>
          </p:nvPr>
        </p:nvSpPr>
        <p:spPr>
          <a:xfrm>
            <a:off x="914400" y="2743200"/>
            <a:ext cx="356616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81728" y="2743202"/>
            <a:ext cx="3566160" cy="3595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7313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5" name="Text Placeholder 4"/>
          <p:cNvSpPr>
            <a:spLocks noGrp="1"/>
          </p:cNvSpPr>
          <p:nvPr>
            <p:ph type="body" sz="quarter" idx="3"/>
          </p:nvPr>
        </p:nvSpPr>
        <p:spPr>
          <a:xfrm>
            <a:off x="4885145" y="2743200"/>
            <a:ext cx="336206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Date Placeholder 6"/>
          <p:cNvSpPr>
            <a:spLocks noGrp="1"/>
          </p:cNvSpPr>
          <p:nvPr>
            <p:ph type="dt" sz="half" idx="10"/>
          </p:nvPr>
        </p:nvSpPr>
        <p:spPr/>
        <p:txBody>
          <a:bodyPr/>
          <a:lstStyle/>
          <a:p>
            <a:fld id="{C7856C7F-C199-47A3-AF94-EAE81E21E31B}" type="datetimeFigureOut">
              <a:rPr lang="en-US" smtClean="0"/>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3EF8AE-9767-4E5A-802F-66A2B36F74A8}" type="slidenum">
              <a:rPr lang="en-US" smtClean="0"/>
              <a:t>‹#›</a:t>
            </a:fld>
            <a:endParaRPr lang="en-US"/>
          </a:p>
        </p:txBody>
      </p:sp>
      <p:sp>
        <p:nvSpPr>
          <p:cNvPr id="10" name="Title 9"/>
          <p:cNvSpPr>
            <a:spLocks noGrp="1"/>
          </p:cNvSpPr>
          <p:nvPr>
            <p:ph type="title"/>
          </p:nvPr>
        </p:nvSpPr>
        <p:spPr>
          <a:xfrm>
            <a:off x="914400" y="1544717"/>
            <a:ext cx="7315200" cy="1154097"/>
          </a:xfrm>
        </p:spPr>
        <p:txBody>
          <a:bodyPr/>
          <a:lstStyle/>
          <a:p>
            <a:r>
              <a:rPr lang="en-US"/>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6342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856C7F-C199-47A3-AF94-EAE81E21E31B}" type="datetimeFigureOut">
              <a:rPr lang="en-US" smtClean="0"/>
              <a:t>3/10/2026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747128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856C7F-C199-47A3-AF94-EAE81E21E31B}" type="datetimeFigureOut">
              <a:rPr lang="en-US" smtClean="0"/>
              <a:t>3/10/2026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1612098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4"/>
            <a:ext cx="2950936" cy="2173015"/>
          </a:xfrm>
        </p:spPr>
        <p:txBody>
          <a:bodyPr anchor="b">
            <a:normAutofit/>
          </a:bodyPr>
          <a:lstStyle>
            <a:lvl1pPr algn="l">
              <a:defRPr sz="2100" b="0"/>
            </a:lvl1pPr>
          </a:lstStyle>
          <a:p>
            <a:r>
              <a:rPr lang="en-US"/>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4400" y="4061097"/>
            <a:ext cx="2950936" cy="224538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428687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100" b="0"/>
            </a:lvl1pPr>
          </a:lstStyle>
          <a:p>
            <a:r>
              <a:rPr lang="en-US"/>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305268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741162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1" y="1826709"/>
            <a:ext cx="1492499" cy="448445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541627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914400" y="1544717"/>
            <a:ext cx="7315200" cy="115409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14400" y="2769835"/>
            <a:ext cx="7315200" cy="35395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07691" y="548797"/>
            <a:ext cx="1189132" cy="297918"/>
          </a:xfrm>
          <a:prstGeom prst="rect">
            <a:avLst/>
          </a:prstGeom>
        </p:spPr>
        <p:txBody>
          <a:bodyPr vert="horz" lIns="91440" tIns="45720" rIns="91440" bIns="45720" rtlCol="0" anchor="ctr"/>
          <a:lstStyle>
            <a:lvl1pPr algn="l">
              <a:defRPr sz="900">
                <a:solidFill>
                  <a:schemeClr val="tx1">
                    <a:alpha val="50000"/>
                  </a:schemeClr>
                </a:solidFill>
              </a:defRPr>
            </a:lvl1pPr>
          </a:lstStyle>
          <a:p>
            <a:fld id="{C7856C7F-C199-47A3-AF94-EAE81E21E31B}" type="datetimeFigureOut">
              <a:rPr lang="en-US" smtClean="0"/>
              <a:t>3/10/2026</a:t>
            </a:fld>
            <a:endParaRPr lang="en-US"/>
          </a:p>
        </p:txBody>
      </p:sp>
      <p:sp>
        <p:nvSpPr>
          <p:cNvPr id="6" name="Slide Number Placeholder 5"/>
          <p:cNvSpPr>
            <a:spLocks noGrp="1"/>
          </p:cNvSpPr>
          <p:nvPr>
            <p:ph type="sldNum" sz="quarter" idx="4"/>
          </p:nvPr>
        </p:nvSpPr>
        <p:spPr>
          <a:xfrm>
            <a:off x="7314416" y="548797"/>
            <a:ext cx="941203" cy="301752"/>
          </a:xfrm>
          <a:prstGeom prst="rect">
            <a:avLst/>
          </a:prstGeom>
        </p:spPr>
        <p:txBody>
          <a:bodyPr vert="horz" lIns="91440" tIns="45720" rIns="91440" bIns="45720" rtlCol="0" anchor="ctr"/>
          <a:lstStyle>
            <a:lvl1pPr algn="r">
              <a:defRPr sz="900">
                <a:solidFill>
                  <a:schemeClr val="tx1"/>
                </a:solidFill>
              </a:defRPr>
            </a:lvl1pPr>
          </a:lstStyle>
          <a:p>
            <a:fld id="{E13EF8AE-9767-4E5A-802F-66A2B36F74A8}" type="slidenum">
              <a:rPr lang="en-US" smtClean="0"/>
              <a:t>‹#›</a:t>
            </a:fld>
            <a:endParaRPr lang="en-US"/>
          </a:p>
        </p:txBody>
      </p:sp>
      <p:sp>
        <p:nvSpPr>
          <p:cNvPr id="5" name="Footer Placeholder 4"/>
          <p:cNvSpPr>
            <a:spLocks noGrp="1"/>
          </p:cNvSpPr>
          <p:nvPr>
            <p:ph type="ftr" sz="quarter" idx="3"/>
          </p:nvPr>
        </p:nvSpPr>
        <p:spPr>
          <a:xfrm>
            <a:off x="6008689" y="855958"/>
            <a:ext cx="2246489" cy="301227"/>
          </a:xfrm>
          <a:prstGeom prst="rect">
            <a:avLst/>
          </a:prstGeom>
        </p:spPr>
        <p:txBody>
          <a:bodyPr vert="horz" lIns="91440" tIns="0" rIns="91440" bIns="45720" rtlCol="0" anchor="t"/>
          <a:lstStyle>
            <a:lvl1pPr algn="l">
              <a:defRPr sz="750">
                <a:solidFill>
                  <a:schemeClr val="tx1"/>
                </a:solidFill>
              </a:defRPr>
            </a:lvl1pPr>
          </a:lstStyle>
          <a:p>
            <a:endParaRPr lang="en-US"/>
          </a:p>
        </p:txBody>
      </p:sp>
    </p:spTree>
    <p:extLst>
      <p:ext uri="{BB962C8B-B14F-4D97-AF65-F5344CB8AC3E}">
        <p14:creationId xmlns:p14="http://schemas.microsoft.com/office/powerpoint/2010/main" val="941792168"/>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spcBef>
          <a:spcPct val="0"/>
        </a:spcBef>
        <a:buNone/>
        <a:defRPr sz="3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71450" indent="-137160" algn="l" defTabSz="685800" rtl="0" eaLnBrk="1" latinLnBrk="0" hangingPunct="1">
        <a:spcBef>
          <a:spcPct val="20000"/>
        </a:spcBef>
        <a:buClr>
          <a:schemeClr val="tx2"/>
        </a:buClr>
        <a:buFont typeface="Wingdings" charset="2"/>
        <a:buChar char="§"/>
        <a:defRPr sz="1500" kern="1200">
          <a:solidFill>
            <a:schemeClr val="tx1"/>
          </a:solidFill>
          <a:latin typeface="+mn-lt"/>
          <a:ea typeface="+mn-ea"/>
          <a:cs typeface="+mn-cs"/>
        </a:defRPr>
      </a:lvl1pPr>
      <a:lvl2pPr marL="377190" indent="-137160" algn="l" defTabSz="685800" rtl="0" eaLnBrk="1" latinLnBrk="0" hangingPunct="1">
        <a:spcBef>
          <a:spcPct val="20000"/>
        </a:spcBef>
        <a:buClr>
          <a:schemeClr val="tx2"/>
        </a:buClr>
        <a:buFont typeface="Wingdings" charset="2"/>
        <a:buChar char="§"/>
        <a:defRPr sz="1350" kern="1200">
          <a:solidFill>
            <a:schemeClr val="tx1"/>
          </a:solidFill>
          <a:latin typeface="+mn-lt"/>
          <a:ea typeface="+mn-ea"/>
          <a:cs typeface="+mn-cs"/>
        </a:defRPr>
      </a:lvl2pPr>
      <a:lvl3pPr marL="514350" indent="-137160" algn="l" defTabSz="685800" rtl="0" eaLnBrk="1" latinLnBrk="0" hangingPunct="1">
        <a:spcBef>
          <a:spcPct val="20000"/>
        </a:spcBef>
        <a:buClr>
          <a:schemeClr val="tx2"/>
        </a:buClr>
        <a:buFont typeface="Wingdings" charset="2"/>
        <a:buChar char="§"/>
        <a:defRPr sz="1200" kern="1200">
          <a:solidFill>
            <a:schemeClr val="tx1"/>
          </a:solidFill>
          <a:latin typeface="+mn-lt"/>
          <a:ea typeface="+mn-ea"/>
          <a:cs typeface="+mn-cs"/>
        </a:defRPr>
      </a:lvl3pPr>
      <a:lvl4pPr marL="68580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4pPr>
      <a:lvl5pPr marL="85725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5pPr>
      <a:lvl6pPr marL="10287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6pPr>
      <a:lvl7pPr marL="12001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7pPr>
      <a:lvl8pPr marL="13716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8pPr>
      <a:lvl9pPr marL="15430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271B79-AD63-DB37-67C7-C575BD375C76}"/>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80B65007-A43F-3FCE-F922-090075940AAD}"/>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Programarea orientată pe obiecte</a:t>
            </a:r>
          </a:p>
          <a:p>
            <a:pPr algn="just"/>
            <a:r>
              <a:rPr lang="ro-RO" sz="2800" noProof="0" dirty="0">
                <a:solidFill>
                  <a:srgbClr val="00B0F0"/>
                </a:solidFill>
              </a:rPr>
              <a:t>Proprietăți (Get și Set)</a:t>
            </a:r>
          </a:p>
          <a:p>
            <a:pPr algn="just"/>
            <a:r>
              <a:rPr lang="ro-RO" sz="2800" noProof="0" dirty="0">
                <a:solidFill>
                  <a:srgbClr val="00B0F0"/>
                </a:solidFill>
              </a:rPr>
              <a:t>Indexatori</a:t>
            </a:r>
          </a:p>
        </p:txBody>
      </p:sp>
    </p:spTree>
    <p:extLst>
      <p:ext uri="{BB962C8B-B14F-4D97-AF65-F5344CB8AC3E}">
        <p14:creationId xmlns:p14="http://schemas.microsoft.com/office/powerpoint/2010/main" val="689500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88D1B-34D2-8C11-5876-0F5D8147AE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5E18B50-FFF2-20F6-0EF4-A3BC571E2288}"/>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4CA4C17E-D401-99E3-A4B0-DFCE323F85CB}"/>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chemeClr val="tx2"/>
                </a:solidFill>
              </a:rPr>
              <a:t>C# </a:t>
            </a:r>
            <a:r>
              <a:rPr lang="ro-RO" sz="2800" noProof="0" dirty="0" err="1">
                <a:solidFill>
                  <a:schemeClr val="tx2"/>
                </a:solidFill>
              </a:rPr>
              <a:t>Proprietati</a:t>
            </a:r>
            <a:endParaRPr lang="ro-RO" sz="2800" noProof="0" dirty="0">
              <a:solidFill>
                <a:schemeClr val="tx2"/>
              </a:solidFill>
            </a:endParaRPr>
          </a:p>
          <a:p>
            <a:pPr marL="34290" indent="0" algn="just">
              <a:buNone/>
            </a:pPr>
            <a:r>
              <a:rPr lang="ro-RO" sz="2800" noProof="0" dirty="0">
                <a:solidFill>
                  <a:schemeClr val="tx2"/>
                </a:solidFill>
              </a:rPr>
              <a:t>Proprietățile</a:t>
            </a:r>
            <a:r>
              <a:rPr lang="ro-RO" sz="2800" noProof="0" dirty="0">
                <a:solidFill>
                  <a:srgbClr val="00B0F0"/>
                </a:solidFill>
              </a:rPr>
              <a:t> sunt membri denumiți ai claselor, structurilor și interfețelor. Variabilele sau metodele membre dintr-o clasă sau structuri se numesc </a:t>
            </a:r>
            <a:r>
              <a:rPr lang="ro-RO" sz="2800" noProof="0" dirty="0">
                <a:solidFill>
                  <a:schemeClr val="tx2"/>
                </a:solidFill>
              </a:rPr>
              <a:t>câmpuri</a:t>
            </a:r>
            <a:r>
              <a:rPr lang="ro-RO" sz="2800" noProof="0" dirty="0">
                <a:solidFill>
                  <a:srgbClr val="00B0F0"/>
                </a:solidFill>
              </a:rPr>
              <a:t>. </a:t>
            </a:r>
          </a:p>
          <a:p>
            <a:pPr marL="34290" indent="0" algn="just">
              <a:buNone/>
            </a:pPr>
            <a:r>
              <a:rPr lang="ro-RO" sz="2800" noProof="0" dirty="0">
                <a:solidFill>
                  <a:schemeClr val="tx2"/>
                </a:solidFill>
              </a:rPr>
              <a:t>Proprietățile</a:t>
            </a:r>
            <a:r>
              <a:rPr lang="ro-RO" sz="2800" noProof="0" dirty="0">
                <a:solidFill>
                  <a:srgbClr val="00B0F0"/>
                </a:solidFill>
              </a:rPr>
              <a:t> sunt o extensie a câmpurilor și sunt accesate folosind aceeași sintaxă. Acestea utilizează </a:t>
            </a:r>
            <a:r>
              <a:rPr lang="ro-RO" sz="2800" noProof="0" dirty="0" err="1">
                <a:solidFill>
                  <a:srgbClr val="00B0F0"/>
                </a:solidFill>
              </a:rPr>
              <a:t>accesori</a:t>
            </a:r>
            <a:r>
              <a:rPr lang="ro-RO" sz="2800" noProof="0" dirty="0">
                <a:solidFill>
                  <a:srgbClr val="00B0F0"/>
                </a:solidFill>
              </a:rPr>
              <a:t> prin care valorile câmpurilor private pot fi citite, scrise sau manipulate.</a:t>
            </a:r>
          </a:p>
        </p:txBody>
      </p:sp>
    </p:spTree>
    <p:extLst>
      <p:ext uri="{BB962C8B-B14F-4D97-AF65-F5344CB8AC3E}">
        <p14:creationId xmlns:p14="http://schemas.microsoft.com/office/powerpoint/2010/main" val="832168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CF7F6-E660-005E-FA61-FA69990CCD6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0E774FA-EF8B-3FAE-8D80-FC2A693C93E1}"/>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39DA7F3D-A4D1-2C35-AF4F-F4D2D2214745}"/>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chemeClr val="tx2"/>
                </a:solidFill>
              </a:rPr>
              <a:t>Proprietățile</a:t>
            </a:r>
            <a:r>
              <a:rPr lang="ro-RO" sz="2800" noProof="0" dirty="0">
                <a:solidFill>
                  <a:srgbClr val="00B0F0"/>
                </a:solidFill>
              </a:rPr>
              <a:t> nu denumesc locațiile de stocare. În schimb, acestea au </a:t>
            </a:r>
            <a:r>
              <a:rPr lang="ro-RO" sz="2800" noProof="0" dirty="0" err="1">
                <a:solidFill>
                  <a:srgbClr val="00B0F0"/>
                </a:solidFill>
              </a:rPr>
              <a:t>accesori</a:t>
            </a:r>
            <a:r>
              <a:rPr lang="ro-RO" sz="2800" noProof="0" dirty="0">
                <a:solidFill>
                  <a:srgbClr val="00B0F0"/>
                </a:solidFill>
              </a:rPr>
              <a:t> care citesc, scriu sau calculează valorile acestora.</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De exemplu, să avem o clasă numită Student, cu câmpuri private pentru vârstă, nume și cod. Nu putem accesa direct aceste câmpuri din afara domeniului de aplicare al clasei, dar putem avea proprietăți pentru accesarea acestor câmpuri private.</a:t>
            </a:r>
          </a:p>
        </p:txBody>
      </p:sp>
    </p:spTree>
    <p:extLst>
      <p:ext uri="{BB962C8B-B14F-4D97-AF65-F5344CB8AC3E}">
        <p14:creationId xmlns:p14="http://schemas.microsoft.com/office/powerpoint/2010/main" val="3060494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1C73A-3944-D1AF-DEBA-2087817869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4288EF4-2FE5-2AA3-9BF4-D80D39D10DF7}"/>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0E09E3C5-7E1F-4ACC-18AE-A01A1F8AF9E5}"/>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Proprietăți ale </a:t>
            </a:r>
            <a:r>
              <a:rPr lang="ro-RO" sz="2800" noProof="0" dirty="0" err="1">
                <a:solidFill>
                  <a:srgbClr val="00B0F0"/>
                </a:solidFill>
              </a:rPr>
              <a:t>accesorilor</a:t>
            </a:r>
            <a:endParaRPr lang="ro-RO" sz="2800" noProof="0" dirty="0">
              <a:solidFill>
                <a:srgbClr val="00B0F0"/>
              </a:solidFill>
            </a:endParaRPr>
          </a:p>
          <a:p>
            <a:pPr marL="34290" indent="0" algn="just">
              <a:buNone/>
            </a:pPr>
            <a:r>
              <a:rPr lang="ro-RO" sz="2800" noProof="0" dirty="0" err="1">
                <a:solidFill>
                  <a:schemeClr val="tx2"/>
                </a:solidFill>
              </a:rPr>
              <a:t>Accesorul</a:t>
            </a:r>
            <a:r>
              <a:rPr lang="ro-RO" sz="2800" noProof="0" dirty="0">
                <a:solidFill>
                  <a:srgbClr val="00B0F0"/>
                </a:solidFill>
              </a:rPr>
              <a:t> unei proprietăți conține instrucțiunile executabile care ajută la obținerea (citirea sau calcularea) sau setarea (scrierea) proprietății. Declarațiile </a:t>
            </a:r>
            <a:r>
              <a:rPr lang="ro-RO" sz="2800" noProof="0" dirty="0" err="1">
                <a:solidFill>
                  <a:srgbClr val="00B0F0"/>
                </a:solidFill>
              </a:rPr>
              <a:t>accesorului</a:t>
            </a:r>
            <a:r>
              <a:rPr lang="ro-RO" sz="2800" noProof="0" dirty="0">
                <a:solidFill>
                  <a:srgbClr val="00B0F0"/>
                </a:solidFill>
              </a:rPr>
              <a:t> pot conține un </a:t>
            </a:r>
            <a:r>
              <a:rPr lang="ro-RO" sz="2800" noProof="0" dirty="0" err="1">
                <a:solidFill>
                  <a:srgbClr val="00B0F0"/>
                </a:solidFill>
              </a:rPr>
              <a:t>accesor</a:t>
            </a:r>
            <a:r>
              <a:rPr lang="ro-RO" sz="2800" noProof="0" dirty="0">
                <a:solidFill>
                  <a:srgbClr val="00B0F0"/>
                </a:solidFill>
              </a:rPr>
              <a:t> get, un </a:t>
            </a:r>
            <a:r>
              <a:rPr lang="ro-RO" sz="2800" noProof="0" dirty="0" err="1">
                <a:solidFill>
                  <a:srgbClr val="00B0F0"/>
                </a:solidFill>
              </a:rPr>
              <a:t>accesor</a:t>
            </a:r>
            <a:r>
              <a:rPr lang="ro-RO" sz="2800" noProof="0" dirty="0">
                <a:solidFill>
                  <a:srgbClr val="00B0F0"/>
                </a:solidFill>
              </a:rPr>
              <a:t> set sau ambele. De exemplu -</a:t>
            </a:r>
          </a:p>
        </p:txBody>
      </p:sp>
    </p:spTree>
    <p:extLst>
      <p:ext uri="{BB962C8B-B14F-4D97-AF65-F5344CB8AC3E}">
        <p14:creationId xmlns:p14="http://schemas.microsoft.com/office/powerpoint/2010/main" val="1933207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D79DC-16B8-C5EB-817A-B1325D1171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184AE6-352B-FEE5-5AC0-0352A0AAF227}"/>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E4631047-5C75-86B0-E702-048E926E964E}"/>
              </a:ext>
            </a:extLst>
          </p:cNvPr>
          <p:cNvSpPr>
            <a:spLocks noGrp="1"/>
          </p:cNvSpPr>
          <p:nvPr>
            <p:ph idx="1"/>
          </p:nvPr>
        </p:nvSpPr>
        <p:spPr>
          <a:xfrm>
            <a:off x="463925" y="1281952"/>
            <a:ext cx="8249770" cy="5074024"/>
          </a:xfrm>
        </p:spPr>
        <p:txBody>
          <a:bodyPr>
            <a:noAutofit/>
          </a:bodyPr>
          <a:lstStyle/>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 //exemplu </a:t>
            </a:r>
            <a:r>
              <a:rPr lang="ro-RO" sz="2000" b="1" noProof="0" dirty="0" err="1">
                <a:solidFill>
                  <a:srgbClr val="CCCCCC"/>
                </a:solidFill>
                <a:effectLst/>
                <a:latin typeface="Consolas" panose="020B0609020204030204" pitchFamily="49" charset="0"/>
              </a:rPr>
              <a:t>proprietati</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properties_example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Student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code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"N.A"</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not</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known</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age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0</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6A9955"/>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Code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get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code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set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code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value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6A9955"/>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get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set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value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6A9955"/>
                </a:solidFill>
                <a:effectLst/>
                <a:latin typeface="Consolas" panose="020B0609020204030204" pitchFamily="49" charset="0"/>
              </a:rPr>
              <a:t>     </a:t>
            </a:r>
            <a:endParaRPr lang="ro-RO" sz="2800" noProof="0" dirty="0">
              <a:solidFill>
                <a:srgbClr val="00B0F0"/>
              </a:solidFill>
            </a:endParaRPr>
          </a:p>
        </p:txBody>
      </p:sp>
    </p:spTree>
    <p:extLst>
      <p:ext uri="{BB962C8B-B14F-4D97-AF65-F5344CB8AC3E}">
        <p14:creationId xmlns:p14="http://schemas.microsoft.com/office/powerpoint/2010/main" val="1420654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D962C-C01E-51D1-4A21-E5FEFC2F91B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AFE3011-B6E9-7055-F72D-66B4414BF1AB}"/>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9B0F5516-3DEE-1777-45AC-9D63553A4924}"/>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      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Age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get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586C0"/>
                </a:solidFill>
                <a:effectLst/>
                <a:uLnTx/>
                <a:uFillTx/>
                <a:latin typeface="Consolas" panose="020B0609020204030204" pitchFamily="49" charset="0"/>
                <a:ea typeface="+mn-ea"/>
                <a:cs typeface="+mn-cs"/>
              </a:rPr>
              <a:t>return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age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set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age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value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override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ToString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586C0"/>
                </a:solidFill>
                <a:effectLst/>
                <a:uLnTx/>
                <a:uFillTx/>
                <a:latin typeface="Consolas" panose="020B0609020204030204" pitchFamily="49" charset="0"/>
                <a:ea typeface="+mn-ea"/>
                <a:cs typeface="+mn-cs"/>
              </a:rPr>
              <a:t>return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"Code = "</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lang="en-US" sz="2000" b="1" dirty="0">
                <a:solidFill>
                  <a:srgbClr val="9CDCFE"/>
                </a:solidFill>
                <a:latin typeface="Consolas" panose="020B0609020204030204" pitchFamily="49" charset="0"/>
              </a:rPr>
              <a:t>c</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ode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Name</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 "</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lang="en-US" sz="2000" b="1" dirty="0">
                <a:solidFill>
                  <a:srgbClr val="9CDCFE"/>
                </a:solidFill>
                <a:latin typeface="Consolas" panose="020B0609020204030204" pitchFamily="49" charset="0"/>
              </a:rPr>
              <a:t>n</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Age</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 "</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lang="en-US" sz="2000" b="1" dirty="0">
                <a:solidFill>
                  <a:srgbClr val="9CDCFE"/>
                </a:solidFill>
                <a:latin typeface="Consolas" panose="020B0609020204030204" pitchFamily="49" charset="0"/>
              </a:rPr>
              <a:t>a</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ge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Properties_Example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Student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Student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Code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"001"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"Zara"</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Age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9</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"Student Info: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Age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"Student Info: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593041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B6022-D1FA-D86D-5011-4DDDD74CE9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C7955AA-FEE8-FAED-46C5-A2A4717E502E}"/>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7064F4FF-F923-540B-775A-696368BF5E2B}"/>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Proprietăți abstracte</a:t>
            </a:r>
          </a:p>
          <a:p>
            <a:pPr marL="34290" indent="0" algn="just">
              <a:buNone/>
            </a:pPr>
            <a:r>
              <a:rPr lang="ro-RO" sz="2800" noProof="0" dirty="0">
                <a:solidFill>
                  <a:srgbClr val="00B0F0"/>
                </a:solidFill>
              </a:rPr>
              <a:t>În C#, o clasă abstractă folosește proprietatea abstractă pentru a defini proprietatea care trebuie implementată în clasa derivată. Acționează ca un contract, asigurându-se că subclasa oferă implementări definite −</a:t>
            </a:r>
          </a:p>
        </p:txBody>
      </p:sp>
    </p:spTree>
    <p:extLst>
      <p:ext uri="{BB962C8B-B14F-4D97-AF65-F5344CB8AC3E}">
        <p14:creationId xmlns:p14="http://schemas.microsoft.com/office/powerpoint/2010/main" val="3399740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95301-401C-8B97-A2B7-905514A5713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91940E8-D92A-45E1-6E32-1E5CC99A2903}"/>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F6BA983B-5C18-AF7F-C7D3-BF603ECD567C}"/>
              </a:ext>
            </a:extLst>
          </p:cNvPr>
          <p:cNvSpPr>
            <a:spLocks noGrp="1"/>
          </p:cNvSpPr>
          <p:nvPr>
            <p:ph idx="1"/>
          </p:nvPr>
        </p:nvSpPr>
        <p:spPr>
          <a:xfrm>
            <a:off x="463925" y="1281952"/>
            <a:ext cx="8249770" cy="5074024"/>
          </a:xfrm>
        </p:spPr>
        <p:txBody>
          <a:bodyPr>
            <a:noAutofit/>
          </a:bodyPr>
          <a:lstStyle/>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 //exemplu </a:t>
            </a:r>
            <a:r>
              <a:rPr lang="ro-RO" sz="2000" b="1" noProof="0" dirty="0" err="1">
                <a:solidFill>
                  <a:srgbClr val="CCCCCC"/>
                </a:solidFill>
                <a:effectLst/>
                <a:latin typeface="Consolas" panose="020B0609020204030204" pitchFamily="49" charset="0"/>
              </a:rPr>
              <a:t>proprietati</a:t>
            </a:r>
            <a:r>
              <a:rPr lang="ro-RO" sz="2000" b="1" noProof="0" dirty="0">
                <a:solidFill>
                  <a:srgbClr val="CCCCCC"/>
                </a:solidFill>
                <a:effectLst/>
                <a:latin typeface="Consolas" panose="020B0609020204030204" pitchFamily="49" charset="0"/>
              </a:rPr>
              <a:t> abstract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abstract_properties_example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abstract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Person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abstract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get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set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abstract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Age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get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set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Student</a:t>
            </a:r>
            <a:r>
              <a:rPr lang="ro-RO" sz="2000" b="1" noProof="0" dirty="0">
                <a:solidFill>
                  <a:srgbClr val="CCCCCC"/>
                </a:solidFill>
                <a:effectLst/>
                <a:latin typeface="Consolas" panose="020B0609020204030204" pitchFamily="49" charset="0"/>
              </a:rPr>
              <a:t> : </a:t>
            </a:r>
            <a:r>
              <a:rPr lang="ro-RO" sz="2000" b="1" noProof="0" dirty="0" err="1">
                <a:solidFill>
                  <a:srgbClr val="4EC9B0"/>
                </a:solidFill>
                <a:effectLst/>
                <a:latin typeface="Consolas" panose="020B0609020204030204" pitchFamily="49" charset="0"/>
              </a:rPr>
              <a:t>Person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code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"N.A"</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"N.A"</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age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Code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get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code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set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code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value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p:txBody>
      </p:sp>
    </p:spTree>
    <p:extLst>
      <p:ext uri="{BB962C8B-B14F-4D97-AF65-F5344CB8AC3E}">
        <p14:creationId xmlns:p14="http://schemas.microsoft.com/office/powerpoint/2010/main" val="3289589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08113-CBC3-0C17-39C6-526C42689E7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64151D4-0B9C-CAD6-E776-E31805421B9D}"/>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C8475AED-3E15-CAA1-5F3C-2F688051741B}"/>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override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get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586C0"/>
                </a:solidFill>
                <a:effectLst/>
                <a:uLnTx/>
                <a:uFillTx/>
                <a:latin typeface="Consolas" panose="020B0609020204030204" pitchFamily="49" charset="0"/>
                <a:ea typeface="+mn-ea"/>
                <a:cs typeface="+mn-cs"/>
              </a:rPr>
              <a:t>return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set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value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override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Age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get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586C0"/>
                </a:solidFill>
                <a:effectLst/>
                <a:uLnTx/>
                <a:uFillTx/>
                <a:latin typeface="Consolas" panose="020B0609020204030204" pitchFamily="49" charset="0"/>
                <a:ea typeface="+mn-ea"/>
                <a:cs typeface="+mn-cs"/>
              </a:rPr>
              <a:t>return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age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set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age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value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override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ToString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586C0"/>
                </a:solidFill>
                <a:effectLst/>
                <a:uLnTx/>
                <a:uFillTx/>
                <a:latin typeface="Consolas" panose="020B0609020204030204" pitchFamily="49" charset="0"/>
                <a:ea typeface="+mn-ea"/>
                <a:cs typeface="+mn-cs"/>
              </a:rPr>
              <a:t>return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"Code = "</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Code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Name</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 "</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Age</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 "</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Age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endParaRPr lang="ro-RO" sz="2800" noProof="0" dirty="0">
              <a:solidFill>
                <a:srgbClr val="00B0F0"/>
              </a:solidFill>
            </a:endParaRPr>
          </a:p>
        </p:txBody>
      </p:sp>
    </p:spTree>
    <p:extLst>
      <p:ext uri="{BB962C8B-B14F-4D97-AF65-F5344CB8AC3E}">
        <p14:creationId xmlns:p14="http://schemas.microsoft.com/office/powerpoint/2010/main" val="1229611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A3765-CBBE-0B59-0325-D057D91E06C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3A883B7-7960-198A-F507-99976200B9D7}"/>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4FD4FB99-FBD4-AF0E-A558-8A6E55A24A8D}"/>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AbstractPropertiesExample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Student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Student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Code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"001"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"Zara"</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Age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9</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"Student Info:-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b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b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Age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"Student Info:-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endParaRPr kumimoji="0" lang="ro-RO" sz="2800" b="0" i="0" u="none" strike="noStrike" kern="1200" cap="none" spc="0" normalizeH="0" baseline="0" noProof="0" dirty="0">
              <a:ln>
                <a:noFill/>
              </a:ln>
              <a:solidFill>
                <a:srgbClr val="00B0F0"/>
              </a:solidFill>
              <a:effectLst/>
              <a:uLnTx/>
              <a:uFillTx/>
              <a:latin typeface="Arial"/>
              <a:ea typeface="+mn-ea"/>
              <a:cs typeface="+mn-cs"/>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130874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649D1-0447-EF16-9D3F-78A050CCF19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446AA64-869F-A50A-4904-0579CD07B44F}"/>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3F7D36B0-8D4D-4E76-2973-049E38A91668}"/>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Proprietati</a:t>
            </a:r>
            <a:r>
              <a:rPr lang="ro-RO" sz="2800" noProof="0" dirty="0">
                <a:solidFill>
                  <a:srgbClr val="00B0F0"/>
                </a:solidFill>
              </a:rPr>
              <a:t> implementate automat</a:t>
            </a:r>
          </a:p>
          <a:p>
            <a:pPr marL="34290" indent="0" algn="just">
              <a:buNone/>
            </a:pPr>
            <a:r>
              <a:rPr lang="ro-RO" sz="2800" noProof="0" dirty="0">
                <a:solidFill>
                  <a:srgbClr val="00B0F0"/>
                </a:solidFill>
              </a:rPr>
              <a:t>În C#, o proprietate implementată automat este cunoscută și sub numele de proprietate automată. Este o metodă prescurtată de a defini proprietatea. Ne permite să declarăm o proprietate fără a defini explicit un câmp de suport. Compilatorul generează automat câmpul în culise.</a:t>
            </a:r>
          </a:p>
        </p:txBody>
      </p:sp>
    </p:spTree>
    <p:extLst>
      <p:ext uri="{BB962C8B-B14F-4D97-AF65-F5344CB8AC3E}">
        <p14:creationId xmlns:p14="http://schemas.microsoft.com/office/powerpoint/2010/main" val="4191409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3B3EB-3C7E-FB4A-32BD-3AE5095EB1D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81ACB66-7AB0-B693-132D-D6841E646C7F}"/>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DE2085C0-3BEB-150B-DC7C-5C7562355D79}"/>
              </a:ext>
            </a:extLst>
          </p:cNvPr>
          <p:cNvSpPr>
            <a:spLocks noGrp="1"/>
          </p:cNvSpPr>
          <p:nvPr>
            <p:ph idx="1"/>
          </p:nvPr>
        </p:nvSpPr>
        <p:spPr>
          <a:xfrm>
            <a:off x="463925" y="1281952"/>
            <a:ext cx="8249770" cy="5074024"/>
          </a:xfrm>
        </p:spPr>
        <p:txBody>
          <a:bodyPr>
            <a:noAutofit/>
          </a:bodyPr>
          <a:lstStyle/>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Student</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6A9955"/>
                </a:solidFill>
                <a:effectLst/>
                <a:latin typeface="Consolas" panose="020B0609020204030204" pitchFamily="49" charset="0"/>
              </a:rPr>
              <a:t>   // Auto-</a:t>
            </a:r>
            <a:r>
              <a:rPr lang="ro-RO" sz="2000" b="1" noProof="0" dirty="0" err="1">
                <a:solidFill>
                  <a:srgbClr val="6A9955"/>
                </a:solidFill>
                <a:effectLst/>
                <a:latin typeface="Consolas" panose="020B0609020204030204" pitchFamily="49" charset="0"/>
              </a:rPr>
              <a:t>implemented</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properties</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 { </a:t>
            </a:r>
            <a:r>
              <a:rPr lang="ro-RO" sz="2000" b="1" noProof="0" dirty="0">
                <a:solidFill>
                  <a:srgbClr val="569CD6"/>
                </a:solidFill>
                <a:effectLst/>
                <a:latin typeface="Consolas" panose="020B0609020204030204" pitchFamily="49" charset="0"/>
              </a:rPr>
              <a:t>get</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set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Age</a:t>
            </a:r>
            <a:r>
              <a:rPr lang="ro-RO" sz="2000" b="1" noProof="0" dirty="0">
                <a:solidFill>
                  <a:srgbClr val="CCCCCC"/>
                </a:solidFill>
                <a:effectLst/>
                <a:latin typeface="Consolas" panose="020B0609020204030204" pitchFamily="49" charset="0"/>
              </a:rPr>
              <a:t> { </a:t>
            </a:r>
            <a:r>
              <a:rPr lang="ro-RO" sz="2000" b="1" noProof="0" dirty="0">
                <a:solidFill>
                  <a:srgbClr val="569CD6"/>
                </a:solidFill>
                <a:effectLst/>
                <a:latin typeface="Consolas" panose="020B0609020204030204" pitchFamily="49" charset="0"/>
              </a:rPr>
              <a:t>get</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set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Program</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Main</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Student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Student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6A9955"/>
                </a:solidFill>
                <a:effectLst/>
                <a:latin typeface="Consolas" panose="020B0609020204030204" pitchFamily="49" charset="0"/>
              </a:rPr>
              <a:t>      // </a:t>
            </a:r>
            <a:r>
              <a:rPr lang="ro-RO" sz="2000" b="1" noProof="0" dirty="0" err="1">
                <a:solidFill>
                  <a:srgbClr val="6A9955"/>
                </a:solidFill>
                <a:effectLst/>
                <a:latin typeface="Consolas" panose="020B0609020204030204" pitchFamily="49" charset="0"/>
              </a:rPr>
              <a:t>Setting</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property</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values</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s</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"Aman"</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s</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Age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20</a:t>
            </a:r>
            <a:r>
              <a:rPr lang="ro-RO" sz="2000" b="1" noProof="0" dirty="0">
                <a:solidFill>
                  <a:srgbClr val="CCCCCC"/>
                </a:solidFill>
                <a:effectLst/>
                <a:latin typeface="Consolas" panose="020B0609020204030204" pitchFamily="49" charset="0"/>
              </a:rPr>
              <a:t>;</a:t>
            </a:r>
          </a:p>
          <a:p>
            <a:pPr>
              <a:lnSpc>
                <a:spcPts val="1425"/>
              </a:lnSpc>
              <a:buNone/>
            </a:pPr>
            <a:br>
              <a:rPr lang="ro-RO" sz="2000" b="1" noProof="0" dirty="0">
                <a:solidFill>
                  <a:srgbClr val="CCCCCC"/>
                </a:solidFill>
                <a:effectLst/>
                <a:latin typeface="Consolas" panose="020B0609020204030204" pitchFamily="49" charset="0"/>
              </a:rPr>
            </a:b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Name</a:t>
            </a:r>
            <a:r>
              <a:rPr lang="ro-RO" sz="2000" b="1" noProof="0" dirty="0">
                <a:solidFill>
                  <a:srgbClr val="CE9178"/>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s</a:t>
            </a:r>
            <a:r>
              <a:rPr lang="ro-RO" sz="2000" b="1" noProof="0" dirty="0" err="1">
                <a:solidFill>
                  <a:srgbClr val="D4D4D4"/>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Name</a:t>
            </a:r>
            <a:r>
              <a:rPr lang="ro-RO" sz="2000" b="1" noProof="0" dirty="0">
                <a:solidFill>
                  <a:srgbClr val="D4D4D4"/>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Age</a:t>
            </a:r>
            <a:r>
              <a:rPr lang="ro-RO" sz="2000" b="1" noProof="0" dirty="0">
                <a:solidFill>
                  <a:srgbClr val="CE9178"/>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s</a:t>
            </a:r>
            <a:r>
              <a:rPr lang="ro-RO" sz="2000" b="1" noProof="0" dirty="0" err="1">
                <a:solidFill>
                  <a:srgbClr val="D4D4D4"/>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Age</a:t>
            </a:r>
            <a:r>
              <a:rPr lang="ro-RO" sz="2000" b="1" noProof="0" dirty="0">
                <a:solidFill>
                  <a:srgbClr val="D4D4D4"/>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4194727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0F64-3914-61BF-46F6-22F15672D7C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9E7ADDE-6E46-4213-3C2C-FBFABB50ACAD}"/>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854FC50B-F09F-C8FE-6E21-03F323EC6E6C}"/>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Proprietăți </a:t>
            </a:r>
            <a:r>
              <a:rPr lang="ro-RO" sz="2800" noProof="0" dirty="0" err="1">
                <a:solidFill>
                  <a:srgbClr val="00B0F0"/>
                </a:solidFill>
              </a:rPr>
              <a:t>Read-only</a:t>
            </a:r>
            <a:r>
              <a:rPr lang="ro-RO" sz="2800" noProof="0" dirty="0">
                <a:solidFill>
                  <a:srgbClr val="00B0F0"/>
                </a:solidFill>
              </a:rPr>
              <a:t> și </a:t>
            </a:r>
            <a:r>
              <a:rPr lang="ro-RO" sz="2800" noProof="0" dirty="0" err="1">
                <a:solidFill>
                  <a:srgbClr val="00B0F0"/>
                </a:solidFill>
              </a:rPr>
              <a:t>Write-only</a:t>
            </a:r>
            <a:endParaRPr lang="ro-RO" sz="2800" noProof="0" dirty="0">
              <a:solidFill>
                <a:srgbClr val="00B0F0"/>
              </a:solidFill>
            </a:endParaRPr>
          </a:p>
          <a:p>
            <a:pPr marL="34290" indent="0" algn="just">
              <a:buNone/>
            </a:pPr>
            <a:r>
              <a:rPr lang="ro-RO" sz="2800" noProof="0" dirty="0">
                <a:solidFill>
                  <a:srgbClr val="00B0F0"/>
                </a:solidFill>
              </a:rPr>
              <a:t>Proprietatea </a:t>
            </a:r>
            <a:r>
              <a:rPr lang="ro-RO" sz="2800" noProof="0" dirty="0" err="1">
                <a:solidFill>
                  <a:srgbClr val="00B0F0"/>
                </a:solidFill>
              </a:rPr>
              <a:t>read-only</a:t>
            </a:r>
            <a:r>
              <a:rPr lang="ro-RO" sz="2800" noProof="0" dirty="0">
                <a:solidFill>
                  <a:srgbClr val="00B0F0"/>
                </a:solidFill>
              </a:rPr>
              <a:t> are doar un </a:t>
            </a:r>
            <a:r>
              <a:rPr lang="ro-RO" sz="2800" noProof="0" dirty="0" err="1">
                <a:solidFill>
                  <a:srgbClr val="00B0F0"/>
                </a:solidFill>
              </a:rPr>
              <a:t>accesor</a:t>
            </a:r>
            <a:r>
              <a:rPr lang="ro-RO" sz="2800" noProof="0" dirty="0">
                <a:solidFill>
                  <a:srgbClr val="00B0F0"/>
                </a:solidFill>
              </a:rPr>
              <a:t> get și poate fi citită, dar nu setată din afara clasei. În timp ce proprietatea </a:t>
            </a:r>
            <a:r>
              <a:rPr lang="ro-RO" sz="2800" noProof="0" dirty="0" err="1">
                <a:solidFill>
                  <a:srgbClr val="00B0F0"/>
                </a:solidFill>
              </a:rPr>
              <a:t>write-only</a:t>
            </a:r>
            <a:r>
              <a:rPr lang="ro-RO" sz="2800" noProof="0" dirty="0">
                <a:solidFill>
                  <a:srgbClr val="00B0F0"/>
                </a:solidFill>
              </a:rPr>
              <a:t> are doar un </a:t>
            </a:r>
            <a:r>
              <a:rPr lang="ro-RO" sz="2800" noProof="0" dirty="0" err="1">
                <a:solidFill>
                  <a:srgbClr val="00B0F0"/>
                </a:solidFill>
              </a:rPr>
              <a:t>accesor</a:t>
            </a:r>
            <a:r>
              <a:rPr lang="ro-RO" sz="2800" noProof="0" dirty="0">
                <a:solidFill>
                  <a:srgbClr val="00B0F0"/>
                </a:solidFill>
              </a:rPr>
              <a:t> set și poate fi setată, dar nu citită.</a:t>
            </a:r>
          </a:p>
        </p:txBody>
      </p:sp>
    </p:spTree>
    <p:extLst>
      <p:ext uri="{BB962C8B-B14F-4D97-AF65-F5344CB8AC3E}">
        <p14:creationId xmlns:p14="http://schemas.microsoft.com/office/powerpoint/2010/main" val="3100151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2B22C-3EF0-4C8A-8F86-1E2FF29815F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ECA045-BD4E-4C12-EEFE-AC4605D55920}"/>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821F52FD-564F-4772-E1FB-6914798E8BF6}"/>
              </a:ext>
            </a:extLst>
          </p:cNvPr>
          <p:cNvSpPr>
            <a:spLocks noGrp="1"/>
          </p:cNvSpPr>
          <p:nvPr>
            <p:ph idx="1"/>
          </p:nvPr>
        </p:nvSpPr>
        <p:spPr>
          <a:xfrm>
            <a:off x="463925" y="1281952"/>
            <a:ext cx="8249770" cy="5074024"/>
          </a:xfrm>
        </p:spPr>
        <p:txBody>
          <a:bodyPr>
            <a:noAutofit/>
          </a:bodyPr>
          <a:lstStyle/>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User</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password</a:t>
            </a:r>
            <a:r>
              <a:rPr lang="ro-RO" sz="2000" b="1" noProof="0" dirty="0">
                <a:solidFill>
                  <a:srgbClr val="CCCCCC"/>
                </a:solidFill>
                <a:effectLst/>
                <a:latin typeface="Consolas" panose="020B0609020204030204" pitchFamily="49" charset="0"/>
              </a:rPr>
              <a:t>;</a:t>
            </a:r>
            <a:br>
              <a:rPr lang="ro-RO" sz="2000" b="1" noProof="0" dirty="0">
                <a:solidFill>
                  <a:srgbClr val="CCCCCC"/>
                </a:solidFill>
                <a:effectLst/>
                <a:latin typeface="Consolas" panose="020B0609020204030204" pitchFamily="49" charset="0"/>
              </a:rPr>
            </a:br>
            <a:r>
              <a:rPr lang="ro-RO" sz="2000" b="1" noProof="0" dirty="0">
                <a:solidFill>
                  <a:srgbClr val="6A9955"/>
                </a:solidFill>
                <a:effectLst/>
                <a:latin typeface="Consolas" panose="020B0609020204030204" pitchFamily="49" charset="0"/>
              </a:rPr>
              <a:t>   // </a:t>
            </a:r>
            <a:r>
              <a:rPr lang="ro-RO" sz="2000" b="1" noProof="0" dirty="0" err="1">
                <a:solidFill>
                  <a:srgbClr val="6A9955"/>
                </a:solidFill>
                <a:effectLst/>
                <a:latin typeface="Consolas" panose="020B0609020204030204" pitchFamily="49" charset="0"/>
              </a:rPr>
              <a:t>Read-only</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property</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CreatedBy</a:t>
            </a:r>
            <a:r>
              <a:rPr lang="ro-RO" sz="2000" b="1" noProof="0" dirty="0">
                <a:solidFill>
                  <a:srgbClr val="CCCCCC"/>
                </a:solidFill>
                <a:effectLst/>
                <a:latin typeface="Consolas" panose="020B0609020204030204" pitchFamily="49" charset="0"/>
              </a:rPr>
              <a:t> { </a:t>
            </a:r>
            <a:r>
              <a:rPr lang="ro-RO" sz="2000" b="1" noProof="0" dirty="0">
                <a:solidFill>
                  <a:srgbClr val="569CD6"/>
                </a:solidFill>
                <a:effectLst/>
                <a:latin typeface="Consolas" panose="020B0609020204030204" pitchFamily="49" charset="0"/>
              </a:rPr>
              <a:t>get</a:t>
            </a:r>
            <a:r>
              <a:rPr lang="ro-RO" sz="2000" b="1" noProof="0" dirty="0">
                <a:solidFill>
                  <a:srgbClr val="CCCCCC"/>
                </a:solidFill>
                <a:effectLst/>
                <a:latin typeface="Consolas" panose="020B0609020204030204" pitchFamily="49" charset="0"/>
              </a:rPr>
              <a:t>; }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Ravi</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Kumar</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br>
              <a:rPr lang="ro-RO" sz="2000" b="1" noProof="0" dirty="0">
                <a:solidFill>
                  <a:srgbClr val="CCCCCC"/>
                </a:solidFill>
                <a:effectLst/>
                <a:latin typeface="Consolas" panose="020B0609020204030204" pitchFamily="49" charset="0"/>
              </a:rPr>
            </a:br>
            <a:r>
              <a:rPr lang="ro-RO" sz="2000" b="1" noProof="0" dirty="0">
                <a:solidFill>
                  <a:srgbClr val="6A9955"/>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Password</a:t>
            </a:r>
            <a:r>
              <a:rPr lang="ro-RO" sz="2000" b="1" noProof="0" dirty="0">
                <a:solidFill>
                  <a:srgbClr val="9CDCFE"/>
                </a:solidFill>
                <a:effectLst/>
                <a:latin typeface="Consolas" panose="020B0609020204030204" pitchFamily="49" charset="0"/>
              </a:rPr>
              <a:t> </a:t>
            </a:r>
            <a:r>
              <a:rPr lang="ro-RO" sz="2000" b="1" noProof="0" dirty="0">
                <a:solidFill>
                  <a:srgbClr val="6A9955"/>
                </a:solidFill>
                <a:latin typeface="Consolas" panose="020B0609020204030204" pitchFamily="49" charset="0"/>
              </a:rPr>
              <a:t>// </a:t>
            </a:r>
            <a:r>
              <a:rPr lang="ro-RO" sz="2000" b="1" noProof="0" dirty="0" err="1">
                <a:solidFill>
                  <a:srgbClr val="6A9955"/>
                </a:solidFill>
                <a:latin typeface="Consolas" panose="020B0609020204030204" pitchFamily="49" charset="0"/>
              </a:rPr>
              <a:t>Write-only</a:t>
            </a:r>
            <a:r>
              <a:rPr lang="ro-RO" sz="2000" b="1" noProof="0" dirty="0">
                <a:solidFill>
                  <a:srgbClr val="6A9955"/>
                </a:solidFill>
                <a:latin typeface="Consolas" panose="020B0609020204030204" pitchFamily="49" charset="0"/>
              </a:rPr>
              <a:t> </a:t>
            </a:r>
            <a:r>
              <a:rPr lang="ro-RO" sz="2000" b="1" noProof="0" dirty="0" err="1">
                <a:solidFill>
                  <a:srgbClr val="6A9955"/>
                </a:solidFill>
                <a:latin typeface="Consolas" panose="020B0609020204030204" pitchFamily="49" charset="0"/>
              </a:rPr>
              <a:t>property</a:t>
            </a:r>
            <a:endParaRPr lang="ro-RO" sz="2000" b="1" noProof="0" dirty="0">
              <a:solidFill>
                <a:srgbClr val="CCCCCC"/>
              </a:solidFill>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set</a:t>
            </a:r>
            <a:r>
              <a:rPr lang="ro-RO" sz="2000" b="1" noProof="0" dirty="0">
                <a:solidFill>
                  <a:srgbClr val="CCCCCC"/>
                </a:solidFill>
                <a:effectLst/>
                <a:latin typeface="Consolas" panose="020B0609020204030204" pitchFamily="49" charset="0"/>
              </a:rPr>
              <a:t> { </a:t>
            </a:r>
            <a:r>
              <a:rPr lang="ro-RO" sz="2000" b="1" noProof="0" dirty="0" err="1">
                <a:solidFill>
                  <a:srgbClr val="9CDCFE"/>
                </a:solidFill>
                <a:effectLst/>
                <a:latin typeface="Consolas" panose="020B0609020204030204" pitchFamily="49" charset="0"/>
              </a:rPr>
              <a:t>password</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value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ShowInfo</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Created</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By</a:t>
            </a:r>
            <a:r>
              <a:rPr lang="ro-RO" sz="2000" b="1" noProof="0" dirty="0">
                <a:solidFill>
                  <a:srgbClr val="CE9178"/>
                </a:solidFill>
                <a:effectLst/>
                <a:latin typeface="Consolas" panose="020B0609020204030204" pitchFamily="49" charset="0"/>
              </a:rPr>
              <a:t>: "</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CreatedBy</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Password</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is</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stored</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securely</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Program</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Main</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User</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user</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User</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user</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Password</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My$ecureP@ss</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user</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ShowInfo</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230065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9BB03-64BA-1965-72C6-3F8E08748A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445E10B-FB6A-1213-42A8-A42A1F8715A4}"/>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DE2714D6-4221-FC84-F2A6-959E0094512F}"/>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Validarea proprietăților</a:t>
            </a:r>
          </a:p>
          <a:p>
            <a:pPr marL="34290" indent="0" algn="just">
              <a:buNone/>
            </a:pPr>
            <a:r>
              <a:rPr lang="ro-RO" sz="2800" noProof="0" dirty="0">
                <a:solidFill>
                  <a:srgbClr val="00B0F0"/>
                </a:solidFill>
              </a:rPr>
              <a:t>Puteți utiliza validarea în cadrul </a:t>
            </a:r>
            <a:r>
              <a:rPr lang="ro-RO" sz="2800" noProof="0" dirty="0" err="1">
                <a:solidFill>
                  <a:srgbClr val="00B0F0"/>
                </a:solidFill>
              </a:rPr>
              <a:t>accesorului</a:t>
            </a:r>
            <a:r>
              <a:rPr lang="ro-RO" sz="2800" noProof="0" dirty="0">
                <a:solidFill>
                  <a:srgbClr val="00B0F0"/>
                </a:solidFill>
              </a:rPr>
              <a:t> set al unei proprietăți pentru a restricționa valorile nevalide.</a:t>
            </a:r>
          </a:p>
        </p:txBody>
      </p:sp>
    </p:spTree>
    <p:extLst>
      <p:ext uri="{BB962C8B-B14F-4D97-AF65-F5344CB8AC3E}">
        <p14:creationId xmlns:p14="http://schemas.microsoft.com/office/powerpoint/2010/main" val="3692991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18674-1D77-DE05-E29A-20BE1FDDF85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53222FB-C100-FCCF-936D-F2432C99E199}"/>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7F3D7091-4267-66A6-AB1B-474EDE265B4C}"/>
              </a:ext>
            </a:extLst>
          </p:cNvPr>
          <p:cNvSpPr>
            <a:spLocks noGrp="1"/>
          </p:cNvSpPr>
          <p:nvPr>
            <p:ph idx="1"/>
          </p:nvPr>
        </p:nvSpPr>
        <p:spPr>
          <a:xfrm>
            <a:off x="463925" y="1281952"/>
            <a:ext cx="8249770" cy="5074024"/>
          </a:xfrm>
        </p:spPr>
        <p:txBody>
          <a:bodyPr>
            <a:noAutofit/>
          </a:bodyPr>
          <a:lstStyle/>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Employee</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age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Age</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get</a:t>
            </a:r>
            <a:r>
              <a:rPr lang="ro-RO" sz="2000" b="1" noProof="0" dirty="0">
                <a:solidFill>
                  <a:srgbClr val="CCCCCC"/>
                </a:solidFill>
                <a:effectLst/>
                <a:latin typeface="Consolas" panose="020B0609020204030204" pitchFamily="49" charset="0"/>
              </a:rPr>
              <a:t> {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age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set</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if</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value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&lt;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18</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throw</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ArgumentException</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"Minimum </a:t>
            </a:r>
            <a:r>
              <a:rPr lang="ro-RO" sz="2000" b="1" noProof="0" dirty="0" err="1">
                <a:solidFill>
                  <a:srgbClr val="CE9178"/>
                </a:solidFill>
                <a:effectLst/>
                <a:latin typeface="Consolas" panose="020B0609020204030204" pitchFamily="49" charset="0"/>
              </a:rPr>
              <a:t>age</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is</a:t>
            </a:r>
            <a:r>
              <a:rPr lang="ro-RO" sz="2000" b="1" noProof="0" dirty="0">
                <a:solidFill>
                  <a:srgbClr val="CE9178"/>
                </a:solidFill>
                <a:effectLst/>
                <a:latin typeface="Consolas" panose="020B0609020204030204" pitchFamily="49" charset="0"/>
              </a:rPr>
              <a:t> 18."</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age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value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Program</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Main</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Employee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emp</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Employee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emp</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Age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25</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Age</a:t>
            </a:r>
            <a:r>
              <a:rPr lang="ro-RO" sz="2000" b="1" noProof="0" dirty="0">
                <a:solidFill>
                  <a:srgbClr val="CE9178"/>
                </a:solidFill>
                <a:effectLst/>
                <a:latin typeface="Consolas" panose="020B0609020204030204" pitchFamily="49" charset="0"/>
              </a:rPr>
              <a:t>: "</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emp</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Age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85142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0617C-744D-045F-D76F-D0FCA9AD1A0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3619F9E-AC69-0128-3503-AA27BBA48749}"/>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E0081125-BA4E-CFFF-0769-671CE4D793C7}"/>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chemeClr val="tx2"/>
                </a:solidFill>
              </a:rPr>
              <a:t>C# - Indexatori</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Un </a:t>
            </a:r>
            <a:r>
              <a:rPr lang="ro-RO" sz="2800" noProof="0" dirty="0">
                <a:solidFill>
                  <a:schemeClr val="tx2"/>
                </a:solidFill>
              </a:rPr>
              <a:t>indexator</a:t>
            </a:r>
            <a:r>
              <a:rPr lang="ro-RO" sz="2800" noProof="0" dirty="0">
                <a:solidFill>
                  <a:srgbClr val="00B0F0"/>
                </a:solidFill>
              </a:rPr>
              <a:t> permite indexarea unui obiect, cum ar fi o matrice. Când definiți un indexator pentru o clasă, această clasă se comportă similar unei matrice virtuale. Puteți apoi accesa instanța acestei clase folosind operatorul de acces la matrice ([ ]).</a:t>
            </a:r>
          </a:p>
        </p:txBody>
      </p:sp>
    </p:spTree>
    <p:extLst>
      <p:ext uri="{BB962C8B-B14F-4D97-AF65-F5344CB8AC3E}">
        <p14:creationId xmlns:p14="http://schemas.microsoft.com/office/powerpoint/2010/main" val="2727138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C4AAB-AF99-F5FA-1EC7-3122C028EA1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85CDED0-1BCA-7CD8-8808-FEC85BD5EF9B}"/>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21346348-EEFA-C915-7A41-8D88F807E5DE}"/>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Sintaxa indexatori</a:t>
            </a:r>
          </a:p>
          <a:p>
            <a:pPr marL="34290" indent="0" algn="just">
              <a:buNone/>
            </a:pPr>
            <a:endParaRPr lang="ro-RO" sz="2800" noProof="0" dirty="0">
              <a:solidFill>
                <a:srgbClr val="00B0F0"/>
              </a:solidFill>
            </a:endParaRPr>
          </a:p>
          <a:p>
            <a:pPr>
              <a:lnSpc>
                <a:spcPts val="1425"/>
              </a:lnSpc>
              <a:buNone/>
            </a:pPr>
            <a:r>
              <a:rPr lang="ro-RO" sz="2400" b="1" noProof="0" dirty="0">
                <a:solidFill>
                  <a:srgbClr val="9CDCFE"/>
                </a:solidFill>
                <a:effectLst/>
                <a:latin typeface="Consolas" panose="020B0609020204030204" pitchFamily="49" charset="0"/>
              </a:rPr>
              <a:t>element</a:t>
            </a:r>
            <a:r>
              <a:rPr lang="ro-RO" sz="2400" b="1" noProof="0" dirty="0">
                <a:solidFill>
                  <a:srgbClr val="D4D4D4"/>
                </a:solidFill>
                <a:effectLst/>
                <a:latin typeface="Consolas" panose="020B0609020204030204" pitchFamily="49" charset="0"/>
              </a:rPr>
              <a:t>-</a:t>
            </a:r>
            <a:r>
              <a:rPr lang="ro-RO" sz="2400" b="1" noProof="0" dirty="0" err="1">
                <a:solidFill>
                  <a:srgbClr val="9CDCFE"/>
                </a:solidFill>
                <a:effectLst/>
                <a:latin typeface="Consolas" panose="020B0609020204030204" pitchFamily="49" charset="0"/>
              </a:rPr>
              <a:t>type</a:t>
            </a:r>
            <a:r>
              <a:rPr lang="ro-RO" sz="2400" b="1" noProof="0" dirty="0">
                <a:solidFill>
                  <a:srgbClr val="CCCCCC"/>
                </a:solidFill>
                <a:effectLst/>
                <a:latin typeface="Consolas" panose="020B0609020204030204" pitchFamily="49" charset="0"/>
              </a:rPr>
              <a:t> </a:t>
            </a:r>
            <a:r>
              <a:rPr lang="ro-RO" sz="2400" b="1" noProof="0" dirty="0" err="1">
                <a:solidFill>
                  <a:srgbClr val="569CD6"/>
                </a:solidFill>
                <a:effectLst/>
                <a:latin typeface="Consolas" panose="020B0609020204030204" pitchFamily="49" charset="0"/>
              </a:rPr>
              <a:t>this</a:t>
            </a:r>
            <a:r>
              <a:rPr lang="ro-RO" sz="2400" b="1" noProof="0" dirty="0">
                <a:solidFill>
                  <a:srgbClr val="CCCCCC"/>
                </a:solidFill>
                <a:effectLst/>
                <a:latin typeface="Consolas" panose="020B0609020204030204" pitchFamily="49" charset="0"/>
              </a:rPr>
              <a:t>[</a:t>
            </a:r>
            <a:r>
              <a:rPr lang="ro-RO" sz="2400" b="1" noProof="0" dirty="0" err="1">
                <a:solidFill>
                  <a:srgbClr val="4EC9B0"/>
                </a:solidFill>
                <a:effectLst/>
                <a:latin typeface="Consolas" panose="020B0609020204030204" pitchFamily="49" charset="0"/>
              </a:rPr>
              <a:t>int</a:t>
            </a:r>
            <a:r>
              <a:rPr lang="ro-RO" sz="2400" b="1" noProof="0" dirty="0">
                <a:solidFill>
                  <a:srgbClr val="CCCCCC"/>
                </a:solidFill>
                <a:effectLst/>
                <a:latin typeface="Consolas" panose="020B0609020204030204" pitchFamily="49" charset="0"/>
              </a:rPr>
              <a:t> </a:t>
            </a:r>
            <a:r>
              <a:rPr lang="ro-RO" sz="2400" b="1" noProof="0" dirty="0">
                <a:solidFill>
                  <a:srgbClr val="4EC9B0"/>
                </a:solidFill>
                <a:effectLst/>
                <a:latin typeface="Consolas" panose="020B0609020204030204" pitchFamily="49" charset="0"/>
              </a:rPr>
              <a:t>index</a:t>
            </a:r>
            <a:r>
              <a:rPr lang="ro-RO" sz="2400" b="1" noProof="0" dirty="0">
                <a:solidFill>
                  <a:srgbClr val="CCCCCC"/>
                </a:solidFill>
                <a:effectLst/>
                <a:latin typeface="Consolas" panose="020B0609020204030204" pitchFamily="49" charset="0"/>
              </a:rPr>
              <a:t>] {</a:t>
            </a:r>
          </a:p>
          <a:p>
            <a:pPr>
              <a:lnSpc>
                <a:spcPts val="1425"/>
              </a:lnSpc>
              <a:buNone/>
            </a:pPr>
            <a:r>
              <a:rPr lang="ro-RO" sz="2400" b="1" noProof="0" dirty="0">
                <a:solidFill>
                  <a:srgbClr val="6A9955"/>
                </a:solidFill>
                <a:effectLst/>
                <a:latin typeface="Consolas" panose="020B0609020204030204" pitchFamily="49" charset="0"/>
              </a:rPr>
              <a:t>   // The get </a:t>
            </a:r>
            <a:r>
              <a:rPr lang="ro-RO" sz="2400" b="1" noProof="0" dirty="0" err="1">
                <a:solidFill>
                  <a:srgbClr val="6A9955"/>
                </a:solidFill>
                <a:effectLst/>
                <a:latin typeface="Consolas" panose="020B0609020204030204" pitchFamily="49" charset="0"/>
              </a:rPr>
              <a:t>accessor</a:t>
            </a:r>
            <a:r>
              <a:rPr lang="ro-RO" sz="2400" b="1" noProof="0" dirty="0">
                <a:solidFill>
                  <a:srgbClr val="6A9955"/>
                </a:solidFill>
                <a:effectLst/>
                <a:latin typeface="Consolas" panose="020B0609020204030204" pitchFamily="49" charset="0"/>
              </a:rPr>
              <a:t>.</a:t>
            </a:r>
            <a:endParaRPr lang="ro-RO" sz="2400" b="1" noProof="0" dirty="0">
              <a:solidFill>
                <a:srgbClr val="CCCCCC"/>
              </a:solidFill>
              <a:effectLst/>
              <a:latin typeface="Consolas" panose="020B0609020204030204" pitchFamily="49" charset="0"/>
            </a:endParaRPr>
          </a:p>
          <a:p>
            <a:pPr>
              <a:lnSpc>
                <a:spcPts val="1425"/>
              </a:lnSpc>
              <a:buNone/>
            </a:pPr>
            <a:r>
              <a:rPr lang="ro-RO" sz="2400" b="1" noProof="0" dirty="0">
                <a:solidFill>
                  <a:srgbClr val="CCCCCC"/>
                </a:solidFill>
                <a:effectLst/>
                <a:latin typeface="Consolas" panose="020B0609020204030204" pitchFamily="49" charset="0"/>
              </a:rPr>
              <a:t>   </a:t>
            </a:r>
            <a:r>
              <a:rPr lang="ro-RO" sz="2400" b="1" noProof="0" dirty="0">
                <a:solidFill>
                  <a:srgbClr val="9CDCFE"/>
                </a:solidFill>
                <a:effectLst/>
                <a:latin typeface="Consolas" panose="020B0609020204030204" pitchFamily="49" charset="0"/>
              </a:rPr>
              <a:t>get</a:t>
            </a:r>
            <a:r>
              <a:rPr lang="ro-RO" sz="2400" b="1" noProof="0" dirty="0">
                <a:solidFill>
                  <a:srgbClr val="CCCCCC"/>
                </a:solidFill>
                <a:effectLst/>
                <a:latin typeface="Consolas" panose="020B0609020204030204" pitchFamily="49" charset="0"/>
              </a:rPr>
              <a:t> {</a:t>
            </a:r>
          </a:p>
          <a:p>
            <a:pPr>
              <a:lnSpc>
                <a:spcPts val="1425"/>
              </a:lnSpc>
              <a:buNone/>
            </a:pPr>
            <a:r>
              <a:rPr lang="ro-RO" sz="2400" b="1" noProof="0" dirty="0">
                <a:solidFill>
                  <a:srgbClr val="6A9955"/>
                </a:solidFill>
                <a:effectLst/>
                <a:latin typeface="Consolas" panose="020B0609020204030204" pitchFamily="49" charset="0"/>
              </a:rPr>
              <a:t>      // </a:t>
            </a:r>
            <a:r>
              <a:rPr lang="ro-RO" sz="2400" b="1" noProof="0" dirty="0" err="1">
                <a:solidFill>
                  <a:srgbClr val="6A9955"/>
                </a:solidFill>
                <a:effectLst/>
                <a:latin typeface="Consolas" panose="020B0609020204030204" pitchFamily="49" charset="0"/>
              </a:rPr>
              <a:t>return</a:t>
            </a:r>
            <a:r>
              <a:rPr lang="ro-RO" sz="2400" b="1" noProof="0" dirty="0">
                <a:solidFill>
                  <a:srgbClr val="6A9955"/>
                </a:solidFill>
                <a:effectLst/>
                <a:latin typeface="Consolas" panose="020B0609020204030204" pitchFamily="49" charset="0"/>
              </a:rPr>
              <a:t> </a:t>
            </a:r>
            <a:r>
              <a:rPr lang="ro-RO" sz="2400" b="1" noProof="0" dirty="0" err="1">
                <a:solidFill>
                  <a:srgbClr val="6A9955"/>
                </a:solidFill>
                <a:effectLst/>
                <a:latin typeface="Consolas" panose="020B0609020204030204" pitchFamily="49" charset="0"/>
              </a:rPr>
              <a:t>the</a:t>
            </a:r>
            <a:r>
              <a:rPr lang="ro-RO" sz="2400" b="1" noProof="0" dirty="0">
                <a:solidFill>
                  <a:srgbClr val="6A9955"/>
                </a:solidFill>
                <a:effectLst/>
                <a:latin typeface="Consolas" panose="020B0609020204030204" pitchFamily="49" charset="0"/>
              </a:rPr>
              <a:t> </a:t>
            </a:r>
            <a:r>
              <a:rPr lang="ro-RO" sz="2400" b="1" noProof="0" dirty="0" err="1">
                <a:solidFill>
                  <a:srgbClr val="6A9955"/>
                </a:solidFill>
                <a:effectLst/>
                <a:latin typeface="Consolas" panose="020B0609020204030204" pitchFamily="49" charset="0"/>
              </a:rPr>
              <a:t>value</a:t>
            </a:r>
            <a:r>
              <a:rPr lang="ro-RO" sz="2400" b="1" noProof="0" dirty="0">
                <a:solidFill>
                  <a:srgbClr val="6A9955"/>
                </a:solidFill>
                <a:effectLst/>
                <a:latin typeface="Consolas" panose="020B0609020204030204" pitchFamily="49" charset="0"/>
              </a:rPr>
              <a:t> </a:t>
            </a:r>
            <a:r>
              <a:rPr lang="ro-RO" sz="2400" b="1" noProof="0" dirty="0" err="1">
                <a:solidFill>
                  <a:srgbClr val="6A9955"/>
                </a:solidFill>
                <a:effectLst/>
                <a:latin typeface="Consolas" panose="020B0609020204030204" pitchFamily="49" charset="0"/>
              </a:rPr>
              <a:t>specified</a:t>
            </a:r>
            <a:r>
              <a:rPr lang="ro-RO" sz="2400" b="1" noProof="0" dirty="0">
                <a:solidFill>
                  <a:srgbClr val="6A9955"/>
                </a:solidFill>
                <a:effectLst/>
                <a:latin typeface="Consolas" panose="020B0609020204030204" pitchFamily="49" charset="0"/>
              </a:rPr>
              <a:t> </a:t>
            </a:r>
            <a:r>
              <a:rPr lang="ro-RO" sz="2400" b="1" noProof="0" dirty="0" err="1">
                <a:solidFill>
                  <a:srgbClr val="6A9955"/>
                </a:solidFill>
                <a:effectLst/>
                <a:latin typeface="Consolas" panose="020B0609020204030204" pitchFamily="49" charset="0"/>
              </a:rPr>
              <a:t>by</a:t>
            </a:r>
            <a:r>
              <a:rPr lang="ro-RO" sz="2400" b="1" noProof="0" dirty="0">
                <a:solidFill>
                  <a:srgbClr val="6A9955"/>
                </a:solidFill>
                <a:effectLst/>
                <a:latin typeface="Consolas" panose="020B0609020204030204" pitchFamily="49" charset="0"/>
              </a:rPr>
              <a:t> index</a:t>
            </a:r>
            <a:endParaRPr lang="ro-RO" sz="2400" b="1" noProof="0" dirty="0">
              <a:solidFill>
                <a:srgbClr val="CCCCCC"/>
              </a:solidFill>
              <a:effectLst/>
              <a:latin typeface="Consolas" panose="020B0609020204030204" pitchFamily="49" charset="0"/>
            </a:endParaRPr>
          </a:p>
          <a:p>
            <a:pPr>
              <a:lnSpc>
                <a:spcPts val="1425"/>
              </a:lnSpc>
              <a:buNone/>
            </a:pPr>
            <a:r>
              <a:rPr lang="ro-RO" sz="2400" b="1" noProof="0" dirty="0">
                <a:solidFill>
                  <a:srgbClr val="CCCCCC"/>
                </a:solidFill>
                <a:effectLst/>
                <a:latin typeface="Consolas" panose="020B0609020204030204" pitchFamily="49" charset="0"/>
              </a:rPr>
              <a:t>   }</a:t>
            </a:r>
          </a:p>
          <a:p>
            <a:pPr>
              <a:lnSpc>
                <a:spcPts val="1425"/>
              </a:lnSpc>
              <a:buNone/>
            </a:pPr>
            <a:r>
              <a:rPr lang="ro-RO" sz="2400" b="1" noProof="0" dirty="0">
                <a:solidFill>
                  <a:srgbClr val="CCCCCC"/>
                </a:solidFill>
                <a:effectLst/>
                <a:latin typeface="Consolas" panose="020B0609020204030204" pitchFamily="49" charset="0"/>
              </a:rPr>
              <a:t>   </a:t>
            </a:r>
          </a:p>
          <a:p>
            <a:pPr>
              <a:lnSpc>
                <a:spcPts val="1425"/>
              </a:lnSpc>
              <a:buNone/>
            </a:pPr>
            <a:r>
              <a:rPr lang="ro-RO" sz="2400" b="1" noProof="0" dirty="0">
                <a:solidFill>
                  <a:srgbClr val="6A9955"/>
                </a:solidFill>
                <a:effectLst/>
                <a:latin typeface="Consolas" panose="020B0609020204030204" pitchFamily="49" charset="0"/>
              </a:rPr>
              <a:t>   // The set </a:t>
            </a:r>
            <a:r>
              <a:rPr lang="ro-RO" sz="2400" b="1" noProof="0" dirty="0" err="1">
                <a:solidFill>
                  <a:srgbClr val="6A9955"/>
                </a:solidFill>
                <a:effectLst/>
                <a:latin typeface="Consolas" panose="020B0609020204030204" pitchFamily="49" charset="0"/>
              </a:rPr>
              <a:t>accessor</a:t>
            </a:r>
            <a:r>
              <a:rPr lang="ro-RO" sz="2400" b="1" noProof="0" dirty="0">
                <a:solidFill>
                  <a:srgbClr val="6A9955"/>
                </a:solidFill>
                <a:effectLst/>
                <a:latin typeface="Consolas" panose="020B0609020204030204" pitchFamily="49" charset="0"/>
              </a:rPr>
              <a:t>.</a:t>
            </a:r>
            <a:endParaRPr lang="ro-RO" sz="2400" b="1" noProof="0" dirty="0">
              <a:solidFill>
                <a:srgbClr val="CCCCCC"/>
              </a:solidFill>
              <a:effectLst/>
              <a:latin typeface="Consolas" panose="020B0609020204030204" pitchFamily="49" charset="0"/>
            </a:endParaRPr>
          </a:p>
          <a:p>
            <a:pPr>
              <a:lnSpc>
                <a:spcPts val="1425"/>
              </a:lnSpc>
              <a:buNone/>
            </a:pPr>
            <a:r>
              <a:rPr lang="ro-RO" sz="2400" b="1" noProof="0" dirty="0">
                <a:solidFill>
                  <a:srgbClr val="CCCCCC"/>
                </a:solidFill>
                <a:effectLst/>
                <a:latin typeface="Consolas" panose="020B0609020204030204" pitchFamily="49" charset="0"/>
              </a:rPr>
              <a:t>   </a:t>
            </a:r>
            <a:r>
              <a:rPr lang="ro-RO" sz="2400" b="1" noProof="0" dirty="0">
                <a:solidFill>
                  <a:srgbClr val="9CDCFE"/>
                </a:solidFill>
                <a:effectLst/>
                <a:latin typeface="Consolas" panose="020B0609020204030204" pitchFamily="49" charset="0"/>
              </a:rPr>
              <a:t>set</a:t>
            </a:r>
            <a:r>
              <a:rPr lang="ro-RO" sz="2400" b="1" noProof="0" dirty="0">
                <a:solidFill>
                  <a:srgbClr val="CCCCCC"/>
                </a:solidFill>
                <a:effectLst/>
                <a:latin typeface="Consolas" panose="020B0609020204030204" pitchFamily="49" charset="0"/>
              </a:rPr>
              <a:t> {</a:t>
            </a:r>
          </a:p>
          <a:p>
            <a:pPr>
              <a:lnSpc>
                <a:spcPts val="1425"/>
              </a:lnSpc>
              <a:buNone/>
            </a:pPr>
            <a:r>
              <a:rPr lang="ro-RO" sz="2400" b="1" noProof="0" dirty="0">
                <a:solidFill>
                  <a:srgbClr val="6A9955"/>
                </a:solidFill>
                <a:effectLst/>
                <a:latin typeface="Consolas" panose="020B0609020204030204" pitchFamily="49" charset="0"/>
              </a:rPr>
              <a:t>      // set </a:t>
            </a:r>
            <a:r>
              <a:rPr lang="ro-RO" sz="2400" b="1" noProof="0" dirty="0" err="1">
                <a:solidFill>
                  <a:srgbClr val="6A9955"/>
                </a:solidFill>
                <a:effectLst/>
                <a:latin typeface="Consolas" panose="020B0609020204030204" pitchFamily="49" charset="0"/>
              </a:rPr>
              <a:t>the</a:t>
            </a:r>
            <a:r>
              <a:rPr lang="ro-RO" sz="2400" b="1" noProof="0" dirty="0">
                <a:solidFill>
                  <a:srgbClr val="6A9955"/>
                </a:solidFill>
                <a:effectLst/>
                <a:latin typeface="Consolas" panose="020B0609020204030204" pitchFamily="49" charset="0"/>
              </a:rPr>
              <a:t> </a:t>
            </a:r>
            <a:r>
              <a:rPr lang="ro-RO" sz="2400" b="1" noProof="0" dirty="0" err="1">
                <a:solidFill>
                  <a:srgbClr val="6A9955"/>
                </a:solidFill>
                <a:effectLst/>
                <a:latin typeface="Consolas" panose="020B0609020204030204" pitchFamily="49" charset="0"/>
              </a:rPr>
              <a:t>value</a:t>
            </a:r>
            <a:r>
              <a:rPr lang="ro-RO" sz="2400" b="1" noProof="0" dirty="0">
                <a:solidFill>
                  <a:srgbClr val="6A9955"/>
                </a:solidFill>
                <a:effectLst/>
                <a:latin typeface="Consolas" panose="020B0609020204030204" pitchFamily="49" charset="0"/>
              </a:rPr>
              <a:t> </a:t>
            </a:r>
            <a:r>
              <a:rPr lang="ro-RO" sz="2400" b="1" noProof="0" dirty="0" err="1">
                <a:solidFill>
                  <a:srgbClr val="6A9955"/>
                </a:solidFill>
                <a:effectLst/>
                <a:latin typeface="Consolas" panose="020B0609020204030204" pitchFamily="49" charset="0"/>
              </a:rPr>
              <a:t>specified</a:t>
            </a:r>
            <a:r>
              <a:rPr lang="ro-RO" sz="2400" b="1" noProof="0" dirty="0">
                <a:solidFill>
                  <a:srgbClr val="6A9955"/>
                </a:solidFill>
                <a:effectLst/>
                <a:latin typeface="Consolas" panose="020B0609020204030204" pitchFamily="49" charset="0"/>
              </a:rPr>
              <a:t> </a:t>
            </a:r>
            <a:r>
              <a:rPr lang="ro-RO" sz="2400" b="1" noProof="0" dirty="0" err="1">
                <a:solidFill>
                  <a:srgbClr val="6A9955"/>
                </a:solidFill>
                <a:effectLst/>
                <a:latin typeface="Consolas" panose="020B0609020204030204" pitchFamily="49" charset="0"/>
              </a:rPr>
              <a:t>by</a:t>
            </a:r>
            <a:r>
              <a:rPr lang="ro-RO" sz="2400" b="1" noProof="0" dirty="0">
                <a:solidFill>
                  <a:srgbClr val="6A9955"/>
                </a:solidFill>
                <a:effectLst/>
                <a:latin typeface="Consolas" panose="020B0609020204030204" pitchFamily="49" charset="0"/>
              </a:rPr>
              <a:t> index</a:t>
            </a:r>
            <a:endParaRPr lang="ro-RO" sz="2400" b="1" noProof="0" dirty="0">
              <a:solidFill>
                <a:srgbClr val="CCCCCC"/>
              </a:solidFill>
              <a:effectLst/>
              <a:latin typeface="Consolas" panose="020B0609020204030204" pitchFamily="49" charset="0"/>
            </a:endParaRPr>
          </a:p>
          <a:p>
            <a:pPr>
              <a:lnSpc>
                <a:spcPts val="1425"/>
              </a:lnSpc>
              <a:buNone/>
            </a:pPr>
            <a:r>
              <a:rPr lang="ro-RO" sz="2400" b="1" noProof="0" dirty="0">
                <a:solidFill>
                  <a:srgbClr val="CCCCCC"/>
                </a:solidFill>
                <a:effectLst/>
                <a:latin typeface="Consolas" panose="020B0609020204030204" pitchFamily="49" charset="0"/>
              </a:rPr>
              <a:t>   }</a:t>
            </a:r>
          </a:p>
          <a:p>
            <a:pPr>
              <a:lnSpc>
                <a:spcPts val="1425"/>
              </a:lnSpc>
              <a:buNone/>
            </a:pPr>
            <a:r>
              <a:rPr lang="ro-RO" sz="2400" b="1" noProof="0" dirty="0">
                <a:solidFill>
                  <a:srgbClr val="CCCCCC"/>
                </a:solidFill>
                <a:effectLst/>
                <a:latin typeface="Consolas" panose="020B0609020204030204" pitchFamily="49" charset="0"/>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926356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D4062-C8C2-602B-0291-2D3A8CEF28B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F0ADA4D-7815-3563-BCAB-92E656147F0D}"/>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C0FF56BE-00FF-B15B-9B75-E0E68147F3F8}"/>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Utilizarea indexatorilor</a:t>
            </a:r>
          </a:p>
          <a:p>
            <a:pPr marL="34290" indent="0" algn="just">
              <a:buNone/>
            </a:pPr>
            <a:r>
              <a:rPr lang="ro-RO" sz="2800" noProof="0" dirty="0">
                <a:solidFill>
                  <a:srgbClr val="00B0F0"/>
                </a:solidFill>
              </a:rPr>
              <a:t>Declararea comportamentului unui indexator este într-o oarecare măsură similară cu o proprietate. Similar proprietăților, utilizați accesorii get și set pentru a defini un indexator. Cu toate acestea, proprietățile returnează sau setează un anumit membru de date, în timp ce indexatorii returnează sau setează o anumită valoare din instanța obiectului. Cu alte cuvinte, împart datele instanței în părți mai mici și indexează fiecare parte, preiau sau setează fiecare parte.</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93389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71D25-659A-8CBE-0A3D-1424BFAC2D8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6734209-F9F0-4D03-EC6B-DD0C0FFC9C7A}"/>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9C8D96DB-4107-99CE-F514-08D8842D6664}"/>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Definirea unei proprietăți implică furnizarea unui nume de proprietate. Indexatorii nu sunt definiți cu nume, ci cu cuvântul cheie </a:t>
            </a:r>
            <a:r>
              <a:rPr lang="ro-RO" sz="2800" noProof="0" dirty="0" err="1">
                <a:solidFill>
                  <a:schemeClr val="tx2"/>
                </a:solidFill>
              </a:rPr>
              <a:t>this</a:t>
            </a:r>
            <a:r>
              <a:rPr lang="ro-RO" sz="2800" noProof="0" dirty="0">
                <a:solidFill>
                  <a:srgbClr val="00B0F0"/>
                </a:solidFill>
              </a:rPr>
              <a:t>, care se referă la instanța obiectului.</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467971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1768C-AF9E-DEBD-1AE4-543E1CB33D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48707A-3AEF-DC56-9F73-8AA7B62B0E2D}"/>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70EFE979-1203-CCF9-A0ED-6869AF878447}"/>
              </a:ext>
            </a:extLst>
          </p:cNvPr>
          <p:cNvSpPr>
            <a:spLocks noGrp="1"/>
          </p:cNvSpPr>
          <p:nvPr>
            <p:ph idx="1"/>
          </p:nvPr>
        </p:nvSpPr>
        <p:spPr>
          <a:xfrm>
            <a:off x="463925" y="1281952"/>
            <a:ext cx="8249770" cy="5074024"/>
          </a:xfrm>
        </p:spPr>
        <p:txBody>
          <a:bodyPr>
            <a:noAutofit/>
          </a:bodyPr>
          <a:lstStyle/>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err="1">
                <a:solidFill>
                  <a:srgbClr val="4EC9B0"/>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IndexerApplication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IndexedNames</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namelist</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a:t>
            </a:r>
            <a:r>
              <a:rPr lang="ro-RO" sz="2000" b="1" noProof="0" dirty="0" err="1">
                <a:solidFill>
                  <a:srgbClr val="4EC9B0"/>
                </a:solidFill>
                <a:effectLst/>
                <a:latin typeface="Consolas" panose="020B0609020204030204" pitchFamily="49" charset="0"/>
              </a:rPr>
              <a:t>size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size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10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IndexedNames</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C586C0"/>
                </a:solidFill>
                <a:effectLst/>
                <a:latin typeface="Consolas" panose="020B0609020204030204" pitchFamily="49" charset="0"/>
              </a:rPr>
              <a:t>for</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0</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&lt;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size</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namelist</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i</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"N. A."</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this</a:t>
            </a:r>
            <a:r>
              <a:rPr lang="ro-RO" sz="2000" b="1" noProof="0" dirty="0">
                <a:solidFill>
                  <a:srgbClr val="CCCCCC"/>
                </a:solidFill>
                <a:effectLst/>
                <a:latin typeface="Consolas" panose="020B0609020204030204" pitchFamily="49" charset="0"/>
              </a:rPr>
              <a:t>[</a:t>
            </a:r>
            <a:r>
              <a:rPr lang="ro-RO" sz="2000" b="1" noProof="0" dirty="0" err="1">
                <a:solidFill>
                  <a:srgbClr val="4EC9B0"/>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get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tmp</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if</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&gt;=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0</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&amp;&amp;</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&lt;=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size</a:t>
            </a:r>
            <a:r>
              <a:rPr lang="ro-RO" sz="2000" b="1" noProof="0" dirty="0">
                <a:solidFill>
                  <a:srgbClr val="D4D4D4"/>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1</a:t>
            </a:r>
            <a:r>
              <a:rPr lang="ro-RO" sz="2000" b="1" noProof="0" dirty="0">
                <a:solidFill>
                  <a:srgbClr val="CCCCCC"/>
                </a:solidFill>
                <a:effectLst/>
                <a:latin typeface="Consolas" panose="020B0609020204030204" pitchFamily="49" charset="0"/>
              </a:rPr>
              <a:t> )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tmp</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namelist</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 </a:t>
            </a:r>
            <a:r>
              <a:rPr lang="ro-RO" sz="2000" b="1" noProof="0" dirty="0" err="1">
                <a:solidFill>
                  <a:srgbClr val="C586C0"/>
                </a:solidFill>
                <a:effectLst/>
                <a:latin typeface="Consolas" panose="020B0609020204030204" pitchFamily="49" charset="0"/>
              </a:rPr>
              <a:t>else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tmp</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 </a:t>
            </a:r>
            <a:r>
              <a:rPr lang="ro-RO" sz="2000" b="1" noProof="0" dirty="0" err="1">
                <a:solidFill>
                  <a:srgbClr val="9CDCFE"/>
                </a:solidFill>
                <a:effectLst/>
                <a:latin typeface="Consolas" panose="020B0609020204030204" pitchFamily="49" charset="0"/>
              </a:rPr>
              <a:t>tmp</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set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if</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&gt;=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0</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&amp;&amp;</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&lt;=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size</a:t>
            </a:r>
            <a:r>
              <a:rPr lang="ro-RO" sz="2000" b="1" noProof="0" dirty="0">
                <a:solidFill>
                  <a:srgbClr val="D4D4D4"/>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1</a:t>
            </a:r>
            <a:r>
              <a:rPr lang="ro-RO" sz="2000" b="1" noProof="0" dirty="0">
                <a:solidFill>
                  <a:srgbClr val="CCCCCC"/>
                </a:solidFill>
                <a:effectLst/>
                <a:latin typeface="Consolas" panose="020B0609020204030204" pitchFamily="49" charset="0"/>
              </a:rPr>
              <a:t> )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namelist</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value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endParaRPr lang="ro-RO" sz="2800" noProof="0" dirty="0">
              <a:solidFill>
                <a:srgbClr val="00B0F0"/>
              </a:solidFill>
            </a:endParaRPr>
          </a:p>
        </p:txBody>
      </p:sp>
    </p:spTree>
    <p:extLst>
      <p:ext uri="{BB962C8B-B14F-4D97-AF65-F5344CB8AC3E}">
        <p14:creationId xmlns:p14="http://schemas.microsoft.com/office/powerpoint/2010/main" val="1439260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31273-C576-6414-3F4E-5AB1862939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1E6C6C-F087-A22D-3319-488B4F5AEBA7}"/>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AE5DD5D6-EA6E-6A21-FEB7-9C05E4FE337A}"/>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args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IndexedNames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IndexedNames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"Zara"</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"Riz"</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Nuha</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3</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Asif</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4</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Davinder</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5</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Sunil</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6</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Rubic</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for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i</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i</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IndexedNames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size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i</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i</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3490421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47B07-64A8-591F-AA4D-FF0DE85C16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EFBB4A8-8445-9870-FBC6-4F8D4BCD9BCC}"/>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EDBF494E-8E7E-C519-54E7-9B19BD08E5EC}"/>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Definirea unui indexator</a:t>
            </a:r>
          </a:p>
          <a:p>
            <a:pPr marL="34290" indent="0" algn="just">
              <a:buNone/>
            </a:pPr>
            <a:r>
              <a:rPr lang="ro-RO" sz="2800" noProof="0" dirty="0">
                <a:solidFill>
                  <a:srgbClr val="00B0F0"/>
                </a:solidFill>
              </a:rPr>
              <a:t>Puteți defini un indexator utilizând cuvântul cheie „</a:t>
            </a:r>
            <a:r>
              <a:rPr lang="ro-RO" sz="2800" noProof="0" dirty="0" err="1">
                <a:solidFill>
                  <a:srgbClr val="00B0F0"/>
                </a:solidFill>
              </a:rPr>
              <a:t>this</a:t>
            </a:r>
            <a:r>
              <a:rPr lang="ro-RO" sz="2800" noProof="0" dirty="0">
                <a:solidFill>
                  <a:srgbClr val="00B0F0"/>
                </a:solidFill>
              </a:rPr>
              <a:t>” urmat de o listă de parametri între paranteze pătrate. Rețineți că indexatorul trebuie să includă atât accesorii get, cât și/sau set pentru a prelua sau atribui valori.</a:t>
            </a:r>
          </a:p>
        </p:txBody>
      </p:sp>
    </p:spTree>
    <p:extLst>
      <p:ext uri="{BB962C8B-B14F-4D97-AF65-F5344CB8AC3E}">
        <p14:creationId xmlns:p14="http://schemas.microsoft.com/office/powerpoint/2010/main" val="31897924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DA18A-876C-D1D5-0F1C-FA02E6629AA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6F83108-6305-2EC9-A906-416D13A66433}"/>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97F1D966-8F57-CD00-9408-2CF89697E033}"/>
              </a:ext>
            </a:extLst>
          </p:cNvPr>
          <p:cNvSpPr>
            <a:spLocks noGrp="1"/>
          </p:cNvSpPr>
          <p:nvPr>
            <p:ph idx="1"/>
          </p:nvPr>
        </p:nvSpPr>
        <p:spPr>
          <a:xfrm>
            <a:off x="463925" y="1281952"/>
            <a:ext cx="8249770" cy="5074024"/>
          </a:xfrm>
        </p:spPr>
        <p:txBody>
          <a:bodyPr>
            <a:noAutofit/>
          </a:bodyPr>
          <a:lstStyle/>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SampleCollection</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arr</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5</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this</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get</a:t>
            </a:r>
            <a:r>
              <a:rPr lang="ro-RO" sz="2000" b="1" noProof="0" dirty="0">
                <a:solidFill>
                  <a:srgbClr val="CCCCCC"/>
                </a:solidFill>
                <a:effectLst/>
                <a:latin typeface="Consolas" panose="020B0609020204030204" pitchFamily="49" charset="0"/>
              </a:rPr>
              <a:t> {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arr</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set</a:t>
            </a:r>
            <a:r>
              <a:rPr lang="ro-RO" sz="2000" b="1" noProof="0" dirty="0">
                <a:solidFill>
                  <a:srgbClr val="CCCCCC"/>
                </a:solidFill>
                <a:effectLst/>
                <a:latin typeface="Consolas" panose="020B0609020204030204" pitchFamily="49" charset="0"/>
              </a:rPr>
              <a:t> { </a:t>
            </a:r>
            <a:r>
              <a:rPr lang="ro-RO" sz="2000" b="1" noProof="0" dirty="0" err="1">
                <a:solidFill>
                  <a:srgbClr val="9CDCFE"/>
                </a:solidFill>
                <a:effectLst/>
                <a:latin typeface="Consolas" panose="020B0609020204030204" pitchFamily="49" charset="0"/>
              </a:rPr>
              <a:t>arr</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value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Program</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Main</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SampleCollection</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sc</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SampleCollection</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sc</a:t>
            </a:r>
            <a:r>
              <a:rPr lang="ro-RO" sz="2000" b="1" noProof="0" dirty="0">
                <a:solidFill>
                  <a:srgbClr val="CCCCCC"/>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0</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10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sc</a:t>
            </a:r>
            <a:r>
              <a:rPr lang="ro-RO" sz="2000" b="1" noProof="0" dirty="0">
                <a:solidFill>
                  <a:srgbClr val="CCCCCC"/>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1</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20</a:t>
            </a:r>
            <a:r>
              <a:rPr lang="ro-RO" sz="2000" b="1" noProof="0" dirty="0">
                <a:solidFill>
                  <a:srgbClr val="CCCCCC"/>
                </a:solidFill>
                <a:effectLst/>
                <a:latin typeface="Consolas" panose="020B0609020204030204" pitchFamily="49" charset="0"/>
              </a:rPr>
              <a:t>;</a:t>
            </a:r>
          </a:p>
          <a:p>
            <a:pPr>
              <a:lnSpc>
                <a:spcPts val="1425"/>
              </a:lnSpc>
              <a:buNone/>
            </a:pP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Value</a:t>
            </a:r>
            <a:r>
              <a:rPr lang="ro-RO" sz="2000" b="1" noProof="0" dirty="0">
                <a:solidFill>
                  <a:srgbClr val="CE9178"/>
                </a:solidFill>
                <a:effectLst/>
                <a:latin typeface="Consolas" panose="020B0609020204030204" pitchFamily="49" charset="0"/>
              </a:rPr>
              <a:t> at index 0: "</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sc</a:t>
            </a:r>
            <a:r>
              <a:rPr lang="ro-RO" sz="2000" b="1" noProof="0" dirty="0">
                <a:solidFill>
                  <a:srgbClr val="CCCCCC"/>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Value</a:t>
            </a:r>
            <a:r>
              <a:rPr lang="ro-RO" sz="2000" b="1" noProof="0" dirty="0">
                <a:solidFill>
                  <a:srgbClr val="CE9178"/>
                </a:solidFill>
                <a:effectLst/>
                <a:latin typeface="Consolas" panose="020B0609020204030204" pitchFamily="49" charset="0"/>
              </a:rPr>
              <a:t> at index 1: "</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sc</a:t>
            </a:r>
            <a:r>
              <a:rPr lang="ro-RO" sz="2000" b="1" noProof="0" dirty="0">
                <a:solidFill>
                  <a:srgbClr val="CCCCCC"/>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1</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5887996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241CE-979C-1469-281B-374B186FD6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CF8ACD-D7D6-5827-0742-E1D945A58196}"/>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AA7DFA80-DB22-0BE3-FA2E-D8B1411AE915}"/>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Indexator cu cheie de tip șir de caractere (stil dicționar)</a:t>
            </a:r>
          </a:p>
          <a:p>
            <a:pPr marL="34290" indent="0" algn="just">
              <a:buNone/>
            </a:pPr>
            <a:r>
              <a:rPr lang="ro-RO" sz="2800" noProof="0" dirty="0">
                <a:solidFill>
                  <a:srgbClr val="00B0F0"/>
                </a:solidFill>
              </a:rPr>
              <a:t>Puteți defini indexatori la fel ca dicționarele, unde șirurile de caractere pot fi utilizate ca și chei. Acest tip de definiție este util atunci când doriți să recuperați sau să atribuiți valori folosind un identificator de tip șir de caractere.</a:t>
            </a:r>
          </a:p>
        </p:txBody>
      </p:sp>
    </p:spTree>
    <p:extLst>
      <p:ext uri="{BB962C8B-B14F-4D97-AF65-F5344CB8AC3E}">
        <p14:creationId xmlns:p14="http://schemas.microsoft.com/office/powerpoint/2010/main" val="3228421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C742C-2601-B0E0-0396-24166CF7FE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E8FC21B-0FC6-C8D4-9267-9483AE49739C}"/>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7EA0E99D-50C9-E498-91A4-FCAA9F29109B}"/>
              </a:ext>
            </a:extLst>
          </p:cNvPr>
          <p:cNvSpPr>
            <a:spLocks noGrp="1"/>
          </p:cNvSpPr>
          <p:nvPr>
            <p:ph idx="1"/>
          </p:nvPr>
        </p:nvSpPr>
        <p:spPr>
          <a:xfrm>
            <a:off x="463925" y="1281952"/>
            <a:ext cx="8249770" cy="5074024"/>
          </a:xfrm>
        </p:spPr>
        <p:txBody>
          <a:bodyPr>
            <a:noAutofit/>
          </a:bodyPr>
          <a:lstStyle/>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err="1">
                <a:solidFill>
                  <a:srgbClr val="CCCCCC"/>
                </a:solidFill>
                <a:effectLst/>
                <a:latin typeface="Consolas" panose="020B0609020204030204" pitchFamily="49" charset="0"/>
              </a:rPr>
              <a:t>.</a:t>
            </a:r>
            <a:r>
              <a:rPr lang="ro-RO" sz="2000" b="1" noProof="0" dirty="0" err="1">
                <a:solidFill>
                  <a:srgbClr val="4EC9B0"/>
                </a:solidFill>
                <a:effectLst/>
                <a:latin typeface="Consolas" panose="020B0609020204030204" pitchFamily="49" charset="0"/>
              </a:rPr>
              <a:t>Collections</a:t>
            </a:r>
            <a:r>
              <a:rPr lang="ro-RO" sz="2000" b="1" noProof="0" dirty="0" err="1">
                <a:solidFill>
                  <a:srgbClr val="CCCCCC"/>
                </a:solidFill>
                <a:effectLst/>
                <a:latin typeface="Consolas" panose="020B0609020204030204" pitchFamily="49" charset="0"/>
              </a:rPr>
              <a:t>.</a:t>
            </a:r>
            <a:r>
              <a:rPr lang="ro-RO" sz="2000" b="1" noProof="0" dirty="0" err="1">
                <a:solidFill>
                  <a:srgbClr val="4EC9B0"/>
                </a:solidFill>
                <a:effectLst/>
                <a:latin typeface="Consolas" panose="020B0609020204030204" pitchFamily="49" charset="0"/>
              </a:rPr>
              <a:t>Generic</a:t>
            </a:r>
            <a:r>
              <a:rPr lang="ro-RO" sz="2000" b="1" noProof="0" dirty="0">
                <a:solidFill>
                  <a:srgbClr val="CCCCCC"/>
                </a:solidFill>
                <a:effectLst/>
                <a:latin typeface="Consolas" panose="020B0609020204030204" pitchFamily="49" charset="0"/>
              </a:rPr>
              <a:t>;</a:t>
            </a:r>
          </a:p>
          <a:p>
            <a:pPr>
              <a:lnSpc>
                <a:spcPts val="1425"/>
              </a:lnSpc>
              <a:buNone/>
            </a:pP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Contacts</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Dictionary</a:t>
            </a:r>
            <a:r>
              <a:rPr lang="ro-RO" sz="2000" b="1" noProof="0" dirty="0">
                <a:solidFill>
                  <a:srgbClr val="CCCCCC"/>
                </a:solidFill>
                <a:effectLst/>
                <a:latin typeface="Consolas" panose="020B0609020204030204" pitchFamily="49" charset="0"/>
              </a:rPr>
              <a:t>&lt;</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&gt; </a:t>
            </a:r>
            <a:r>
              <a:rPr lang="ro-RO" sz="2000" b="1" noProof="0" dirty="0" err="1">
                <a:solidFill>
                  <a:srgbClr val="9CDCFE"/>
                </a:solidFill>
                <a:effectLst/>
                <a:latin typeface="Consolas" panose="020B0609020204030204" pitchFamily="49" charset="0"/>
              </a:rPr>
              <a:t>phoneBook</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Dictionary</a:t>
            </a:r>
            <a:r>
              <a:rPr lang="ro-RO" sz="2000" b="1" noProof="0" dirty="0">
                <a:solidFill>
                  <a:srgbClr val="CCCCCC"/>
                </a:solidFill>
                <a:effectLst/>
                <a:latin typeface="Consolas" panose="020B0609020204030204" pitchFamily="49" charset="0"/>
              </a:rPr>
              <a:t>&lt;</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&gt;();</a:t>
            </a:r>
          </a:p>
          <a:p>
            <a:pPr>
              <a:lnSpc>
                <a:spcPts val="1425"/>
              </a:lnSpc>
              <a:buNone/>
            </a:pP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this</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get</a:t>
            </a:r>
            <a:r>
              <a:rPr lang="ro-RO" sz="2000" b="1" noProof="0" dirty="0">
                <a:solidFill>
                  <a:srgbClr val="CCCCCC"/>
                </a:solidFill>
                <a:effectLst/>
                <a:latin typeface="Consolas" panose="020B0609020204030204" pitchFamily="49" charset="0"/>
              </a:rPr>
              <a:t> {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phoneBook</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ContainsKey</a:t>
            </a:r>
            <a:r>
              <a:rPr lang="ro-RO" sz="2000" b="1" noProof="0" dirty="0">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phoneBook</a:t>
            </a:r>
            <a:r>
              <a:rPr lang="ro-RO" sz="2000" b="1" noProof="0" dirty="0">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Not</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Found</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set</a:t>
            </a:r>
            <a:r>
              <a:rPr lang="ro-RO" sz="2000" b="1" noProof="0" dirty="0">
                <a:solidFill>
                  <a:srgbClr val="CCCCCC"/>
                </a:solidFill>
                <a:effectLst/>
                <a:latin typeface="Consolas" panose="020B0609020204030204" pitchFamily="49" charset="0"/>
              </a:rPr>
              <a:t> { </a:t>
            </a:r>
            <a:r>
              <a:rPr lang="ro-RO" sz="2000" b="1" noProof="0" dirty="0" err="1">
                <a:solidFill>
                  <a:srgbClr val="9CDCFE"/>
                </a:solidFill>
                <a:effectLst/>
                <a:latin typeface="Consolas" panose="020B0609020204030204" pitchFamily="49" charset="0"/>
              </a:rPr>
              <a:t>phoneBook</a:t>
            </a:r>
            <a:r>
              <a:rPr lang="ro-RO" sz="2000" b="1" noProof="0" dirty="0">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value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br>
              <a:rPr lang="ro-RO" sz="2000" b="1" noProof="0" dirty="0">
                <a:solidFill>
                  <a:srgbClr val="CCCCCC"/>
                </a:solidFill>
                <a:effectLst/>
                <a:latin typeface="Consolas" panose="020B0609020204030204" pitchFamily="49" charset="0"/>
              </a:rPr>
            </a:br>
            <a:endParaRPr lang="ro-RO" sz="2000" b="1" noProof="0" dirty="0">
              <a:solidFill>
                <a:srgbClr val="CCCCCC"/>
              </a:solidFill>
              <a:effectLst/>
              <a:latin typeface="Consolas" panose="020B0609020204030204" pitchFamily="49" charset="0"/>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7565668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64441-12D4-78B3-7179-F120BC6BD4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9500D7E-3D4E-61EA-A549-13B69F6F4E60}"/>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57AD8165-8BDB-AE83-B1CC-06DC8E781FDD}"/>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Program</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Contacts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Contacts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"Aman"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"1234567890"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Ravi</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"9876543210"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b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b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Aman's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Number</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"Aman"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Ravi's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Number</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Ravi</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Unknown</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Unknown</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3611678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611FD-F222-10F2-779D-1B7723FB4ED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333E47-AF93-4EA5-B097-9BC280789A3F}"/>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64E45DFD-5830-09D7-6529-0F3509755EAD}"/>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Indexatori cu modificatori de acces</a:t>
            </a:r>
          </a:p>
          <a:p>
            <a:pPr marL="34290" indent="0" algn="just">
              <a:buNone/>
            </a:pPr>
            <a:r>
              <a:rPr lang="ro-RO" sz="2800" noProof="0" dirty="0">
                <a:solidFill>
                  <a:srgbClr val="00B0F0"/>
                </a:solidFill>
              </a:rPr>
              <a:t>De asemenea, puteți specifica niveluri de acces diferite pentru accesorii get și set ai unui indexator folosind modificatori de acces.</a:t>
            </a:r>
          </a:p>
        </p:txBody>
      </p:sp>
    </p:spTree>
    <p:extLst>
      <p:ext uri="{BB962C8B-B14F-4D97-AF65-F5344CB8AC3E}">
        <p14:creationId xmlns:p14="http://schemas.microsoft.com/office/powerpoint/2010/main" val="14227897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B0970-4E00-32F8-2B82-60045DE9A88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7A92132-B25B-0CA2-387C-B97797D309C7}"/>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28126FC5-C9D5-97CE-E7B7-128D77C5A363}"/>
              </a:ext>
            </a:extLst>
          </p:cNvPr>
          <p:cNvSpPr>
            <a:spLocks noGrp="1"/>
          </p:cNvSpPr>
          <p:nvPr>
            <p:ph idx="1"/>
          </p:nvPr>
        </p:nvSpPr>
        <p:spPr>
          <a:xfrm>
            <a:off x="463925" y="1281952"/>
            <a:ext cx="8249770" cy="5074024"/>
          </a:xfrm>
        </p:spPr>
        <p:txBody>
          <a:bodyPr>
            <a:noAutofit/>
          </a:bodyPr>
          <a:lstStyle/>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br>
              <a:rPr lang="ro-RO" sz="2000" b="1" noProof="0" dirty="0">
                <a:solidFill>
                  <a:srgbClr val="CCCCCC"/>
                </a:solidFill>
                <a:effectLst/>
                <a:latin typeface="Consolas" panose="020B0609020204030204" pitchFamily="49" charset="0"/>
              </a:rPr>
            </a:b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MyCollection</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items</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3</a:t>
            </a:r>
            <a:r>
              <a:rPr lang="ro-RO" sz="2000" b="1" noProof="0" dirty="0">
                <a:solidFill>
                  <a:srgbClr val="CCCCCC"/>
                </a:solidFill>
                <a:effectLst/>
                <a:latin typeface="Consolas" panose="020B0609020204030204" pitchFamily="49" charset="0"/>
              </a:rPr>
              <a:t>] { </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One</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Two</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Three</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p>
          <a:p>
            <a:pPr>
              <a:lnSpc>
                <a:spcPts val="1425"/>
              </a:lnSpc>
              <a:buNone/>
            </a:pPr>
            <a:br>
              <a:rPr lang="ro-RO" sz="2000" b="1" noProof="0" dirty="0">
                <a:solidFill>
                  <a:srgbClr val="CCCCCC"/>
                </a:solidFill>
                <a:effectLst/>
                <a:latin typeface="Consolas" panose="020B0609020204030204" pitchFamily="49" charset="0"/>
              </a:rPr>
            </a:b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this</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get</a:t>
            </a:r>
            <a:r>
              <a:rPr lang="ro-RO" sz="2000" b="1" noProof="0" dirty="0">
                <a:solidFill>
                  <a:srgbClr val="CCCCCC"/>
                </a:solidFill>
                <a:effectLst/>
                <a:latin typeface="Consolas" panose="020B0609020204030204" pitchFamily="49" charset="0"/>
              </a:rPr>
              <a:t> {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items</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set</a:t>
            </a:r>
            <a:r>
              <a:rPr lang="ro-RO" sz="2000" b="1" noProof="0" dirty="0">
                <a:solidFill>
                  <a:srgbClr val="CCCCCC"/>
                </a:solidFill>
                <a:effectLst/>
                <a:latin typeface="Consolas" panose="020B0609020204030204" pitchFamily="49" charset="0"/>
              </a:rPr>
              <a:t> { </a:t>
            </a:r>
            <a:r>
              <a:rPr lang="ro-RO" sz="2000" b="1" noProof="0" dirty="0" err="1">
                <a:solidFill>
                  <a:srgbClr val="9CDCFE"/>
                </a:solidFill>
                <a:effectLst/>
                <a:latin typeface="Consolas" panose="020B0609020204030204" pitchFamily="49" charset="0"/>
              </a:rPr>
              <a:t>items</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value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br>
              <a:rPr lang="ro-RO" sz="2000" b="1" noProof="0" dirty="0">
                <a:solidFill>
                  <a:srgbClr val="CCCCCC"/>
                </a:solidFill>
                <a:effectLst/>
                <a:latin typeface="Consolas" panose="020B0609020204030204" pitchFamily="49" charset="0"/>
              </a:rPr>
            </a:b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UpdateItem</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newValue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this</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newValue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3890846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6915C-62B7-9560-EA87-69919FF4C81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9AB6E1-27E4-06C4-8ADF-9A64A56ACD76}"/>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0D196B2D-C6FB-0B25-566E-617E83EB2075}"/>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Program</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MyCollection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col</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MyCollection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b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b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Before</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col</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col</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UpdateItem</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Updated</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After</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col</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338053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9BBA0-6BC6-6860-EED5-3ECB503211A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C2D0613-2865-B461-4284-D37F45BE4930}"/>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7437D2BC-407F-5901-F4DA-DA78FA3E88DE}"/>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Indexatori supraîncărcați</a:t>
            </a:r>
          </a:p>
          <a:p>
            <a:pPr marL="34290" indent="0" algn="just">
              <a:buNone/>
            </a:pPr>
            <a:r>
              <a:rPr lang="ro-RO" sz="2800" noProof="0" dirty="0">
                <a:solidFill>
                  <a:srgbClr val="00B0F0"/>
                </a:solidFill>
              </a:rPr>
              <a:t>Indexatorii pot fi supraîncărcați. De asemenea, indexatorii pot fi declarați cu mai mulți parametri, iar fiecare parametru poate fi de un tip diferit. Nu este necesar ca indexurile să fie numere întregi. C# permite ca indexurile să fie de alte tipuri, de exemplu, un șir de caractere.</a:t>
            </a:r>
          </a:p>
        </p:txBody>
      </p:sp>
    </p:spTree>
    <p:extLst>
      <p:ext uri="{BB962C8B-B14F-4D97-AF65-F5344CB8AC3E}">
        <p14:creationId xmlns:p14="http://schemas.microsoft.com/office/powerpoint/2010/main" val="42846550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6B06F-78E7-7F00-1C11-888BFE53A20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10D2156-EC16-B435-0F44-A19C6273061B}"/>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D42BF4FA-D369-1F2A-BBC2-7FD47C797323}"/>
              </a:ext>
            </a:extLst>
          </p:cNvPr>
          <p:cNvSpPr>
            <a:spLocks noGrp="1"/>
          </p:cNvSpPr>
          <p:nvPr>
            <p:ph idx="1"/>
          </p:nvPr>
        </p:nvSpPr>
        <p:spPr>
          <a:xfrm>
            <a:off x="463925" y="1281952"/>
            <a:ext cx="8249770" cy="5074024"/>
          </a:xfrm>
        </p:spPr>
        <p:txBody>
          <a:bodyPr>
            <a:noAutofit/>
          </a:bodyPr>
          <a:lstStyle/>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IndexerApplication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IndexedNames</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namelist</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size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size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10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IndexedNames</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C586C0"/>
                </a:solidFill>
                <a:effectLst/>
                <a:latin typeface="Consolas" panose="020B0609020204030204" pitchFamily="49" charset="0"/>
              </a:rPr>
              <a:t>for</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0</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&lt;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size</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namelist</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i</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"N. A."</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this</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get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tmp</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if</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&gt;=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0</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&amp;&amp;</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&lt;=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size</a:t>
            </a:r>
            <a:r>
              <a:rPr lang="ro-RO" sz="2000" b="1" noProof="0" dirty="0">
                <a:solidFill>
                  <a:srgbClr val="D4D4D4"/>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1</a:t>
            </a:r>
            <a:r>
              <a:rPr lang="ro-RO" sz="2000" b="1" noProof="0" dirty="0">
                <a:solidFill>
                  <a:srgbClr val="CCCCCC"/>
                </a:solidFill>
                <a:effectLst/>
                <a:latin typeface="Consolas" panose="020B0609020204030204" pitchFamily="49" charset="0"/>
              </a:rPr>
              <a:t> )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tmp</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namelist</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 </a:t>
            </a:r>
            <a:r>
              <a:rPr lang="ro-RO" sz="2000" b="1" noProof="0" dirty="0" err="1">
                <a:solidFill>
                  <a:srgbClr val="C586C0"/>
                </a:solidFill>
                <a:effectLst/>
                <a:latin typeface="Consolas" panose="020B0609020204030204" pitchFamily="49" charset="0"/>
              </a:rPr>
              <a:t>else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tmp</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 </a:t>
            </a:r>
            <a:r>
              <a:rPr lang="ro-RO" sz="2000" b="1" noProof="0" dirty="0" err="1">
                <a:solidFill>
                  <a:srgbClr val="9CDCFE"/>
                </a:solidFill>
                <a:effectLst/>
                <a:latin typeface="Consolas" panose="020B0609020204030204" pitchFamily="49" charset="0"/>
              </a:rPr>
              <a:t>tmp</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set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if</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&gt;=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0</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&amp;&amp;</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&lt;=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size</a:t>
            </a:r>
            <a:r>
              <a:rPr lang="ro-RO" sz="2000" b="1" noProof="0" dirty="0">
                <a:solidFill>
                  <a:srgbClr val="D4D4D4"/>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1</a:t>
            </a:r>
            <a:r>
              <a:rPr lang="ro-RO" sz="2000" b="1" noProof="0" dirty="0">
                <a:solidFill>
                  <a:srgbClr val="CCCCCC"/>
                </a:solidFill>
                <a:effectLst/>
                <a:latin typeface="Consolas" panose="020B0609020204030204" pitchFamily="49" charset="0"/>
              </a:rPr>
              <a:t> )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namelist</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index</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value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endParaRPr lang="ro-RO" sz="2800" noProof="0" dirty="0">
              <a:solidFill>
                <a:srgbClr val="00B0F0"/>
              </a:solidFill>
            </a:endParaRPr>
          </a:p>
        </p:txBody>
      </p:sp>
    </p:spTree>
    <p:extLst>
      <p:ext uri="{BB962C8B-B14F-4D97-AF65-F5344CB8AC3E}">
        <p14:creationId xmlns:p14="http://schemas.microsoft.com/office/powerpoint/2010/main" val="37325694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41F09-D8BA-0D42-A98B-24BF599E338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7D8383-D4F1-BC14-D84D-4888CE28915A}"/>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B8632392-8F6C-7DC1-54F0-6C3F35546CFB}"/>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      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this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get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index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586C0"/>
                </a:solidFill>
                <a:effectLst/>
                <a:uLnTx/>
                <a:uFillTx/>
                <a:latin typeface="Consolas" panose="020B0609020204030204" pitchFamily="49" charset="0"/>
                <a:ea typeface="+mn-ea"/>
                <a:cs typeface="+mn-cs"/>
              </a:rPr>
              <a:t>while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index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size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586C0"/>
                </a:solidFill>
                <a:effectLst/>
                <a:uLnTx/>
                <a:uFillTx/>
                <a:latin typeface="Consolas" panose="020B0609020204030204" pitchFamily="49" charset="0"/>
                <a:ea typeface="+mn-ea"/>
                <a:cs typeface="+mn-cs"/>
              </a:rPr>
              <a:t>if</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namelist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index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586C0"/>
                </a:solidFill>
                <a:effectLst/>
                <a:uLnTx/>
                <a:uFillTx/>
                <a:latin typeface="Consolas" panose="020B0609020204030204" pitchFamily="49" charset="0"/>
                <a:ea typeface="+mn-ea"/>
                <a:cs typeface="+mn-cs"/>
              </a:rPr>
              <a:t>return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index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index</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586C0"/>
                </a:solidFill>
                <a:effectLst/>
                <a:uLnTx/>
                <a:uFillTx/>
                <a:latin typeface="Consolas" panose="020B0609020204030204" pitchFamily="49" charset="0"/>
                <a:ea typeface="+mn-ea"/>
                <a:cs typeface="+mn-cs"/>
              </a:rPr>
              <a:t>return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index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b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b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endParaRPr lang="ro-RO" sz="2800" noProof="0" dirty="0">
              <a:solidFill>
                <a:srgbClr val="00B0F0"/>
              </a:solidFill>
            </a:endParaRPr>
          </a:p>
        </p:txBody>
      </p:sp>
    </p:spTree>
    <p:extLst>
      <p:ext uri="{BB962C8B-B14F-4D97-AF65-F5344CB8AC3E}">
        <p14:creationId xmlns:p14="http://schemas.microsoft.com/office/powerpoint/2010/main" val="1392137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5769F-941E-F2C9-9269-415F72B09C8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9FF1394-5964-30B6-38FB-79795F811946}"/>
              </a:ext>
            </a:extLst>
          </p:cNvPr>
          <p:cNvSpPr>
            <a:spLocks noGrp="1"/>
          </p:cNvSpPr>
          <p:nvPr>
            <p:ph type="title"/>
          </p:nvPr>
        </p:nvSpPr>
        <p:spPr>
          <a:xfrm>
            <a:off x="463925" y="582705"/>
            <a:ext cx="7819465" cy="504265"/>
          </a:xfrm>
        </p:spPr>
        <p:txBody>
          <a:bodyPr>
            <a:noAutofit/>
          </a:bodyPr>
          <a:lstStyle/>
          <a:p>
            <a:r>
              <a:rPr lang="ro-RO" sz="3200" noProof="0" dirty="0"/>
              <a:t>C#POO - Cursul 3</a:t>
            </a:r>
          </a:p>
        </p:txBody>
      </p:sp>
      <p:sp>
        <p:nvSpPr>
          <p:cNvPr id="5" name="Content Placeholder 4">
            <a:extLst>
              <a:ext uri="{FF2B5EF4-FFF2-40B4-BE49-F238E27FC236}">
                <a16:creationId xmlns:a16="http://schemas.microsoft.com/office/drawing/2014/main" id="{9AF000F3-29FF-841C-2D4A-2A9C35D0538B}"/>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args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IndexedNames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IndexedNames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"Zara"</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"Riz"</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Nuha</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3</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Asif</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4</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Davinder</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5</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Sunil</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6</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Rubic</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using</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the</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first</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indexer</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with</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parameter</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586C0"/>
                </a:solidFill>
                <a:effectLst/>
                <a:uLnTx/>
                <a:uFillTx/>
                <a:latin typeface="Consolas" panose="020B0609020204030204" pitchFamily="49" charset="0"/>
                <a:ea typeface="+mn-ea"/>
                <a:cs typeface="+mn-cs"/>
              </a:rPr>
              <a:t>for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i</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i</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IndexedNames</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size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i</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i</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using</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the</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second</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indexer</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with</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the</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parameter</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names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Nuha</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091164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ldThem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oldTheme" id="{E044F4A2-B66D-45C2-96C7-FCDC24F4574A}" vid="{A3C9D0F2-0975-40A9-A9D7-E4850D5DE04F}"/>
    </a:ext>
  </a:extLst>
</a:theme>
</file>

<file path=docProps/app.xml><?xml version="1.0" encoding="utf-8"?>
<Properties xmlns="http://schemas.openxmlformats.org/officeDocument/2006/extended-properties" xmlns:vt="http://schemas.openxmlformats.org/officeDocument/2006/docPropsVTypes">
  <Template/>
  <TotalTime>2187</TotalTime>
  <Words>2753</Words>
  <Application>Microsoft Office PowerPoint</Application>
  <PresentationFormat>On-screen Show (4:3)</PresentationFormat>
  <Paragraphs>437</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Consolas</vt:lpstr>
      <vt:lpstr>Wingdings</vt:lpstr>
      <vt:lpstr>oldTheme</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lpstr>C#POO - Cursul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Licenta A3 - Facultatea de Informatica și Ştiinţe</dc:creator>
  <cp:lastModifiedBy>Licenta A3 - Facultatea de Informatica și Ştiinţe</cp:lastModifiedBy>
  <cp:revision>27</cp:revision>
  <dcterms:created xsi:type="dcterms:W3CDTF">2025-10-05T09:43:55Z</dcterms:created>
  <dcterms:modified xsi:type="dcterms:W3CDTF">2026-03-10T08:15:33Z</dcterms:modified>
</cp:coreProperties>
</file>
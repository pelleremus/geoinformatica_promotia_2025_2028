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300" r:id="rId3"/>
    <p:sldId id="319" r:id="rId4"/>
    <p:sldId id="320" r:id="rId5"/>
    <p:sldId id="321" r:id="rId6"/>
    <p:sldId id="322" r:id="rId7"/>
    <p:sldId id="323" r:id="rId8"/>
    <p:sldId id="324" r:id="rId9"/>
    <p:sldId id="325" r:id="rId10"/>
    <p:sldId id="326" r:id="rId11"/>
    <p:sldId id="327" r:id="rId12"/>
    <p:sldId id="329" r:id="rId13"/>
    <p:sldId id="328" r:id="rId14"/>
    <p:sldId id="330" r:id="rId15"/>
    <p:sldId id="331" r:id="rId16"/>
    <p:sldId id="332" r:id="rId17"/>
    <p:sldId id="333" r:id="rId18"/>
    <p:sldId id="334" r:id="rId19"/>
    <p:sldId id="335" r:id="rId20"/>
    <p:sldId id="336" r:id="rId21"/>
    <p:sldId id="337" r:id="rId22"/>
    <p:sldId id="338" r:id="rId23"/>
    <p:sldId id="339" r:id="rId24"/>
    <p:sldId id="340" r:id="rId25"/>
    <p:sldId id="341" r:id="rId26"/>
    <p:sldId id="342" r:id="rId27"/>
    <p:sldId id="343" r:id="rId28"/>
    <p:sldId id="344" r:id="rId29"/>
    <p:sldId id="318" r:id="rId30"/>
    <p:sldId id="346" r:id="rId31"/>
    <p:sldId id="347" r:id="rId32"/>
    <p:sldId id="348" r:id="rId33"/>
    <p:sldId id="349" r:id="rId34"/>
    <p:sldId id="350" r:id="rId35"/>
    <p:sldId id="351" r:id="rId36"/>
    <p:sldId id="352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34" autoAdjust="0"/>
    <p:restoredTop sz="94660"/>
  </p:normalViewPr>
  <p:slideViewPr>
    <p:cSldViewPr snapToGrid="0">
      <p:cViewPr>
        <p:scale>
          <a:sx n="110" d="100"/>
          <a:sy n="110" d="100"/>
        </p:scale>
        <p:origin x="1572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516625"/>
            <a:ext cx="7315200" cy="25950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5166530"/>
            <a:ext cx="7315200" cy="1144632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987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958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017572"/>
            <a:ext cx="7315200" cy="1293592"/>
          </a:xfrm>
        </p:spPr>
        <p:txBody>
          <a:bodyPr anchor="t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3865099"/>
            <a:ext cx="7315200" cy="1098439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426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914400" y="1544717"/>
            <a:ext cx="7315200" cy="115409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356616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81728" y="2743202"/>
            <a:ext cx="3566160" cy="3595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97313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6348" y="2743200"/>
            <a:ext cx="3364992" cy="621792"/>
          </a:xfrm>
        </p:spPr>
        <p:txBody>
          <a:bodyPr anchor="b">
            <a:noAutofit/>
          </a:bodyPr>
          <a:lstStyle>
            <a:lvl1pPr marL="0" indent="0">
              <a:buNone/>
              <a:defRPr sz="15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5145" y="2743200"/>
            <a:ext cx="3362062" cy="621792"/>
          </a:xfrm>
        </p:spPr>
        <p:txBody>
          <a:bodyPr anchor="b">
            <a:noAutofit/>
          </a:bodyPr>
          <a:lstStyle>
            <a:lvl1pPr marL="0" indent="0">
              <a:buNone/>
              <a:defRPr sz="15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914400" y="1544717"/>
            <a:ext cx="7315200" cy="115409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914400" y="3383280"/>
            <a:ext cx="3566160" cy="2953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81727" y="3383280"/>
            <a:ext cx="3566160" cy="2953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342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128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098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5364"/>
            <a:ext cx="2950936" cy="2173015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1752" y="1826709"/>
            <a:ext cx="4207848" cy="4476614"/>
          </a:xfrm>
        </p:spPr>
        <p:txBody>
          <a:bodyPr anchor="ctr"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61097"/>
            <a:ext cx="2950936" cy="224538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687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8800"/>
            <a:ext cx="2953512" cy="2176272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91000" y="2286000"/>
            <a:ext cx="4038600" cy="3352800"/>
          </a:xfrm>
          <a:solidFill>
            <a:schemeClr val="accent2"/>
          </a:solidFill>
          <a:ln w="12700">
            <a:noFill/>
          </a:ln>
          <a:effectLst>
            <a:reflection blurRad="12700" stA="30000" endPos="30000" dist="31750" dir="5400000" sy="-100000" algn="bl" rotWithShape="0"/>
          </a:effectLst>
          <a:scene3d>
            <a:camera prst="perspectiveRight" fov="2700000">
              <a:rot lat="240000" lon="900000" rev="0"/>
            </a:camera>
            <a:lightRig rig="threePt" dir="t">
              <a:rot lat="0" lon="0" rev="2700000"/>
            </a:lightRig>
          </a:scene3d>
          <a:sp3d/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59936"/>
            <a:ext cx="2953512" cy="2249424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268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162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48401" y="1826709"/>
            <a:ext cx="1492499" cy="448445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4524" y="1826709"/>
            <a:ext cx="5241476" cy="448445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627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435268" y="573807"/>
            <a:ext cx="86236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1" name="Rectangle 10"/>
          <p:cNvSpPr/>
          <p:nvPr/>
        </p:nvSpPr>
        <p:spPr>
          <a:xfrm>
            <a:off x="8569419" y="573807"/>
            <a:ext cx="576072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1544717"/>
            <a:ext cx="7315200" cy="11540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769835"/>
            <a:ext cx="7315200" cy="35395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07691" y="548797"/>
            <a:ext cx="1189132" cy="2979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C7856C7F-C199-47A3-AF94-EAE81E21E31B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14416" y="548797"/>
            <a:ext cx="941203" cy="3017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08689" y="855958"/>
            <a:ext cx="2246489" cy="301227"/>
          </a:xfrm>
          <a:prstGeom prst="rect">
            <a:avLst/>
          </a:prstGeom>
        </p:spPr>
        <p:txBody>
          <a:bodyPr vert="horz" lIns="91440" tIns="0" rIns="91440" bIns="45720" rtlCol="0" anchor="t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7921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spcBef>
          <a:spcPct val="0"/>
        </a:spcBef>
        <a:buNone/>
        <a:defRPr sz="30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17145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85725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02870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120015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271B79-AD63-DB37-67C7-C575BD375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2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0B65007-A43F-3FCE-F922-090075940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Programarea orientată pe obiecte</a:t>
            </a: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Structuri</a:t>
            </a: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Enumerări</a:t>
            </a:r>
          </a:p>
        </p:txBody>
      </p:sp>
    </p:spTree>
    <p:extLst>
      <p:ext uri="{BB962C8B-B14F-4D97-AF65-F5344CB8AC3E}">
        <p14:creationId xmlns:p14="http://schemas.microsoft.com/office/powerpoint/2010/main" val="689500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88D1B-34D2-8C11-5876-0F5D8147A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E18B50-FFF2-20F6-0EF4-A3BC571E2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2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CA4C17E-D401-99E3-A4B0-DFCE323F8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Structuri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În C#, o structură (</a:t>
            </a:r>
            <a:r>
              <a:rPr lang="ro-RO" sz="2800" noProof="0" dirty="0" err="1">
                <a:solidFill>
                  <a:srgbClr val="00B0F0"/>
                </a:solidFill>
              </a:rPr>
              <a:t>struct</a:t>
            </a:r>
            <a:r>
              <a:rPr lang="ro-RO" sz="2800" noProof="0" dirty="0">
                <a:solidFill>
                  <a:srgbClr val="00B0F0"/>
                </a:solidFill>
              </a:rPr>
              <a:t>) este un tip valoare. Ne ajută să creăm o singură variabilă care conține variabile corelate de diferite tipuri de date. Cuvântul cheie </a:t>
            </a:r>
            <a:r>
              <a:rPr lang="ro-RO" sz="2800" noProof="0" dirty="0" err="1">
                <a:solidFill>
                  <a:srgbClr val="00B0F0"/>
                </a:solidFill>
              </a:rPr>
              <a:t>struct</a:t>
            </a:r>
            <a:r>
              <a:rPr lang="ro-RO" sz="2800" noProof="0" dirty="0">
                <a:solidFill>
                  <a:srgbClr val="00B0F0"/>
                </a:solidFill>
              </a:rPr>
              <a:t> este utilizat pentru crearea unei structuri.</a:t>
            </a:r>
          </a:p>
        </p:txBody>
      </p:sp>
    </p:spTree>
    <p:extLst>
      <p:ext uri="{BB962C8B-B14F-4D97-AF65-F5344CB8AC3E}">
        <p14:creationId xmlns:p14="http://schemas.microsoft.com/office/powerpoint/2010/main" val="832168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E5A28-08A2-B97A-86DD-F78CFAC40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934E744-ECBD-90E1-07F4-997D243AD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2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F93A86B-AE61-5CB8-A4EA-03B9D5EC4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Structurile sunt folosite pentru a reprezenta o înregistrare. Să presupunem că doriți să țineți evidența cărților dvs. dintr-o bibliotecă. Ați putea dori să urmăriți următoarele atribute despre fiecare carte:</a:t>
            </a: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Titlu</a:t>
            </a: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Autor</a:t>
            </a: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Subiect</a:t>
            </a: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ID carte</a:t>
            </a:r>
          </a:p>
        </p:txBody>
      </p:sp>
    </p:spTree>
    <p:extLst>
      <p:ext uri="{BB962C8B-B14F-4D97-AF65-F5344CB8AC3E}">
        <p14:creationId xmlns:p14="http://schemas.microsoft.com/office/powerpoint/2010/main" val="1424042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FF2DB-33EA-ED20-18A8-631C395E9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11EA4B-CC8D-1C21-03B2-467E2E84F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2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FC58889-986F-1DED-C118-BE7097755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Definirea unei structuri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Pentru a defini o structură, trebuie să utilizați cuvântul cheie </a:t>
            </a:r>
            <a:r>
              <a:rPr lang="ro-RO" sz="2800" noProof="0" dirty="0" err="1">
                <a:solidFill>
                  <a:srgbClr val="00B0F0"/>
                </a:solidFill>
              </a:rPr>
              <a:t>struct</a:t>
            </a:r>
            <a:r>
              <a:rPr lang="ro-RO" sz="2800" noProof="0" dirty="0">
                <a:solidFill>
                  <a:srgbClr val="00B0F0"/>
                </a:solidFill>
              </a:rPr>
              <a:t>. Cuvântul cheie </a:t>
            </a:r>
            <a:r>
              <a:rPr lang="ro-RO" sz="2800" noProof="0" dirty="0" err="1">
                <a:solidFill>
                  <a:srgbClr val="00B0F0"/>
                </a:solidFill>
              </a:rPr>
              <a:t>struct</a:t>
            </a:r>
            <a:r>
              <a:rPr lang="ro-RO" sz="2800" noProof="0" dirty="0">
                <a:solidFill>
                  <a:srgbClr val="00B0F0"/>
                </a:solidFill>
              </a:rPr>
              <a:t> definește un nou tip de date, cu mai mult de un membru pentru programul dvs.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0661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E3AE4-50DD-9B47-A85B-042238E31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4339DBD-E26C-7F8E-133B-3B82790A4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2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E0CE44C-F2CB-93D4-9A35-9BA7F2CFC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De exemplu, iată cum puteți declara structura </a:t>
            </a:r>
            <a:r>
              <a:rPr lang="ro-RO" sz="2800" noProof="0" dirty="0" err="1">
                <a:solidFill>
                  <a:srgbClr val="00B0F0"/>
                </a:solidFill>
              </a:rPr>
              <a:t>Book</a:t>
            </a: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struct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Books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{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4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public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string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title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4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public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string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author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4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public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string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subject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4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public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book_id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</a:p>
          <a:p>
            <a:pPr marL="34290" indent="0" algn="just">
              <a:buNone/>
            </a:pP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}; </a:t>
            </a:r>
            <a:endParaRPr lang="ro-RO" sz="2400" b="1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096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48925-2E83-BA96-C1C5-9C51EC042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FF3BA7A-C9D5-748E-89CE-F00C38D88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2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8D3F5A2-F3C1-1CB1-CDD7-F51606039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Exemplu structuri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 err="1">
                <a:solidFill>
                  <a:srgbClr val="C586C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4EC9B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System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4EC9B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Books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</a:t>
            </a:r>
            <a:r>
              <a:rPr lang="ro-RO" sz="2000" b="1" noProof="0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title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</a:t>
            </a:r>
            <a:r>
              <a:rPr lang="ro-RO" sz="2000" b="1" noProof="0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author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</a:t>
            </a:r>
            <a:r>
              <a:rPr lang="ro-RO" sz="2000" b="1" noProof="0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subject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</a:t>
            </a:r>
            <a:r>
              <a:rPr lang="ro-RO" sz="2000" b="1" noProof="0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book_id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};  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4EC9B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testStructure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</a:t>
            </a:r>
            <a:r>
              <a:rPr lang="ro-RO" sz="2000" b="1" noProof="0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DCDC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[]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</a:t>
            </a:r>
            <a:r>
              <a:rPr lang="ro-RO" sz="2000" b="1" noProof="0" dirty="0" err="1">
                <a:solidFill>
                  <a:srgbClr val="4EC9B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Books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Book1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 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</a:t>
            </a:r>
            <a:r>
              <a:rPr lang="ro-RO" sz="2000" b="1" noProof="0" dirty="0" err="1">
                <a:solidFill>
                  <a:srgbClr val="4EC9B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Books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Book2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 </a:t>
            </a:r>
            <a:b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ro-RO" sz="2000" b="1" noProof="0" dirty="0">
              <a:solidFill>
                <a:srgbClr val="CCCCCC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Book1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title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"C </a:t>
            </a:r>
            <a:r>
              <a:rPr lang="ro-RO" sz="2000" b="1" noProof="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Programming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Book1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author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o-RO" sz="2000" b="1" noProof="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Nuha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Ali"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Book1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subject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"C </a:t>
            </a:r>
            <a:r>
              <a:rPr lang="ro-RO" sz="2000" b="1" noProof="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Programming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Tutorial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Book1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book_id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B5CEA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6495407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ro-RO" sz="2000" b="1" noProof="0" dirty="0">
              <a:solidFill>
                <a:srgbClr val="CCCCCC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Book2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title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"Telecom </a:t>
            </a:r>
            <a:r>
              <a:rPr lang="ro-RO" sz="2000" b="1" noProof="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Billing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Book2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author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"Zara Ali"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Book2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subject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 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"Telecom </a:t>
            </a:r>
            <a:r>
              <a:rPr lang="ro-RO" sz="2000" b="1" noProof="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Billing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Tutorial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Book2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book_id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B5CEA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6495700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b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ro-RO" sz="2000" b="1" noProof="0" dirty="0">
              <a:solidFill>
                <a:srgbClr val="CCCCCC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</a:t>
            </a:r>
            <a:endParaRPr lang="ro-RO" sz="2000" b="1" i="0" noProof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5379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92B3B-4FA1-2720-AE19-8CA169D89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721C22-C279-C8D1-1D6D-9C0A87998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2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46F36F5-AC93-92ED-1D71-745B62384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  </a:t>
            </a:r>
            <a:r>
              <a:rPr lang="ro-RO" sz="2000" b="1" noProof="0" dirty="0" err="1">
                <a:solidFill>
                  <a:srgbClr val="9CDCF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Console</a:t>
            </a:r>
            <a:r>
              <a:rPr lang="ro-RO" sz="2000" b="1" noProof="0" dirty="0" err="1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 err="1">
                <a:solidFill>
                  <a:srgbClr val="DCDCA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WriteLine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ro-RO" sz="2000" b="1" noProof="0" dirty="0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o-RO" sz="2000" b="1" noProof="0" dirty="0" err="1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</a:t>
            </a:r>
            <a:r>
              <a:rPr lang="ro-RO" sz="2000" b="1" noProof="0" dirty="0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 </a:t>
            </a:r>
            <a:r>
              <a:rPr lang="ro-RO" sz="2000" b="1" noProof="0" dirty="0" err="1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title</a:t>
            </a:r>
            <a:r>
              <a:rPr lang="ro-RO" sz="2000" b="1" noProof="0" dirty="0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: {0}"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   </a:t>
            </a:r>
            <a:r>
              <a:rPr lang="ro-RO" sz="2000" b="1" noProof="0" dirty="0">
                <a:solidFill>
                  <a:srgbClr val="9CDCF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Book1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>
                <a:solidFill>
                  <a:srgbClr val="9CDCF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title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  </a:t>
            </a:r>
            <a:r>
              <a:rPr lang="ro-RO" sz="2000" b="1" noProof="0" dirty="0" err="1">
                <a:solidFill>
                  <a:srgbClr val="9CDCF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Console</a:t>
            </a:r>
            <a:r>
              <a:rPr lang="ro-RO" sz="2000" b="1" noProof="0" dirty="0" err="1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 err="1">
                <a:solidFill>
                  <a:srgbClr val="DCDCA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WriteLine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o-RO" sz="2000" b="1" noProof="0" dirty="0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o-RO" sz="2000" b="1" noProof="0" dirty="0" err="1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</a:t>
            </a:r>
            <a:r>
              <a:rPr lang="ro-RO" sz="2000" b="1" noProof="0" dirty="0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 </a:t>
            </a:r>
            <a:r>
              <a:rPr lang="ro-RO" sz="2000" b="1" noProof="0" dirty="0" err="1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author</a:t>
            </a:r>
            <a:r>
              <a:rPr lang="ro-RO" sz="2000" b="1" noProof="0" dirty="0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: {0}"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o-RO" sz="2000" b="1" noProof="0" dirty="0">
                <a:solidFill>
                  <a:srgbClr val="9CDCF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Book1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>
                <a:solidFill>
                  <a:srgbClr val="9CDCF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author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  </a:t>
            </a:r>
            <a:r>
              <a:rPr lang="ro-RO" sz="2000" b="1" noProof="0" dirty="0" err="1">
                <a:solidFill>
                  <a:srgbClr val="9CDCF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Console</a:t>
            </a:r>
            <a:r>
              <a:rPr lang="ro-RO" sz="2000" b="1" noProof="0" dirty="0" err="1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 err="1">
                <a:solidFill>
                  <a:srgbClr val="DCDCA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WriteLine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o-RO" sz="2000" b="1" noProof="0" dirty="0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o-RO" sz="2000" b="1" noProof="0" dirty="0" err="1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</a:t>
            </a:r>
            <a:r>
              <a:rPr lang="ro-RO" sz="2000" b="1" noProof="0" dirty="0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 </a:t>
            </a:r>
            <a:r>
              <a:rPr lang="ro-RO" sz="2000" b="1" noProof="0" dirty="0" err="1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subject</a:t>
            </a:r>
            <a:r>
              <a:rPr lang="ro-RO" sz="2000" b="1" noProof="0" dirty="0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: {0}"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o-RO" sz="2000" b="1" noProof="0" dirty="0">
                <a:solidFill>
                  <a:srgbClr val="9CDCF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Book1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>
                <a:solidFill>
                  <a:srgbClr val="9CDCF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subject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  </a:t>
            </a:r>
            <a:r>
              <a:rPr lang="ro-RO" sz="2000" b="1" noProof="0" dirty="0" err="1">
                <a:solidFill>
                  <a:srgbClr val="9CDCF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Console</a:t>
            </a:r>
            <a:r>
              <a:rPr lang="ro-RO" sz="2000" b="1" noProof="0" dirty="0" err="1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 err="1">
                <a:solidFill>
                  <a:srgbClr val="DCDCA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WriteLine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o-RO" sz="2000" b="1" noProof="0" dirty="0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o-RO" sz="2000" b="1" noProof="0" dirty="0" err="1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</a:t>
            </a:r>
            <a:r>
              <a:rPr lang="ro-RO" sz="2000" b="1" noProof="0" dirty="0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 </a:t>
            </a:r>
            <a:r>
              <a:rPr lang="ro-RO" sz="2000" b="1" noProof="0" dirty="0" err="1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book_id</a:t>
            </a:r>
            <a:r>
              <a:rPr lang="ro-RO" sz="2000" b="1" noProof="0" dirty="0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:{0}"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o-RO" sz="2000" b="1" noProof="0" dirty="0">
                <a:solidFill>
                  <a:srgbClr val="9CDCF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Book1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>
                <a:solidFill>
                  <a:srgbClr val="9CDCF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book_id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b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  </a:t>
            </a:r>
            <a:r>
              <a:rPr lang="ro-RO" sz="2000" b="1" noProof="0" dirty="0" err="1">
                <a:solidFill>
                  <a:srgbClr val="9CDCF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Console</a:t>
            </a:r>
            <a:r>
              <a:rPr lang="ro-RO" sz="2000" b="1" noProof="0" dirty="0" err="1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 err="1">
                <a:solidFill>
                  <a:srgbClr val="DCDCA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WriteLine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o-RO" sz="2000" b="1" noProof="0" dirty="0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o-RO" sz="2000" b="1" noProof="0" dirty="0" err="1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</a:t>
            </a:r>
            <a:r>
              <a:rPr lang="ro-RO" sz="2000" b="1" noProof="0" dirty="0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2 </a:t>
            </a:r>
            <a:r>
              <a:rPr lang="ro-RO" sz="2000" b="1" noProof="0" dirty="0" err="1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title</a:t>
            </a:r>
            <a:r>
              <a:rPr lang="ro-RO" sz="2000" b="1" noProof="0" dirty="0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: {0}"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o-RO" sz="2000" b="1" noProof="0" dirty="0">
                <a:solidFill>
                  <a:srgbClr val="9CDCF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Book2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>
                <a:solidFill>
                  <a:srgbClr val="9CDCF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title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  </a:t>
            </a:r>
            <a:r>
              <a:rPr lang="ro-RO" sz="2000" b="1" noProof="0" dirty="0" err="1">
                <a:solidFill>
                  <a:srgbClr val="9CDCF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Console</a:t>
            </a:r>
            <a:r>
              <a:rPr lang="ro-RO" sz="2000" b="1" noProof="0" dirty="0" err="1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 err="1">
                <a:solidFill>
                  <a:srgbClr val="DCDCA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WriteLine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o-RO" sz="2000" b="1" noProof="0" dirty="0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o-RO" sz="2000" b="1" noProof="0" dirty="0" err="1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</a:t>
            </a:r>
            <a:r>
              <a:rPr lang="ro-RO" sz="2000" b="1" noProof="0" dirty="0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2 </a:t>
            </a:r>
            <a:r>
              <a:rPr lang="ro-RO" sz="2000" b="1" noProof="0" dirty="0" err="1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author</a:t>
            </a:r>
            <a:r>
              <a:rPr lang="ro-RO" sz="2000" b="1" noProof="0" dirty="0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: {0}"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o-RO" sz="2000" b="1" noProof="0" dirty="0">
                <a:solidFill>
                  <a:srgbClr val="9CDCF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Book2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>
                <a:solidFill>
                  <a:srgbClr val="9CDCF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author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  </a:t>
            </a:r>
            <a:r>
              <a:rPr lang="ro-RO" sz="2000" b="1" noProof="0" dirty="0" err="1">
                <a:solidFill>
                  <a:srgbClr val="9CDCF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Console</a:t>
            </a:r>
            <a:r>
              <a:rPr lang="ro-RO" sz="2000" b="1" noProof="0" dirty="0" err="1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 err="1">
                <a:solidFill>
                  <a:srgbClr val="DCDCA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WriteLine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o-RO" sz="2000" b="1" noProof="0" dirty="0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o-RO" sz="2000" b="1" noProof="0" dirty="0" err="1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</a:t>
            </a:r>
            <a:r>
              <a:rPr lang="ro-RO" sz="2000" b="1" noProof="0" dirty="0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2 </a:t>
            </a:r>
            <a:r>
              <a:rPr lang="ro-RO" sz="2000" b="1" noProof="0" dirty="0" err="1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subject</a:t>
            </a:r>
            <a:r>
              <a:rPr lang="ro-RO" sz="2000" b="1" noProof="0" dirty="0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: {0}"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o-RO" sz="2000" b="1" noProof="0" dirty="0">
                <a:solidFill>
                  <a:srgbClr val="9CDCF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Book2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>
                <a:solidFill>
                  <a:srgbClr val="9CDCF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subject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  </a:t>
            </a:r>
            <a:r>
              <a:rPr lang="ro-RO" sz="2000" b="1" noProof="0" dirty="0" err="1">
                <a:solidFill>
                  <a:srgbClr val="9CDCF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Console</a:t>
            </a:r>
            <a:r>
              <a:rPr lang="ro-RO" sz="2000" b="1" noProof="0" dirty="0" err="1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 err="1">
                <a:solidFill>
                  <a:srgbClr val="DCDCA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WriteLine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o-RO" sz="2000" b="1" noProof="0" dirty="0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o-RO" sz="2000" b="1" noProof="0" dirty="0" err="1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</a:t>
            </a:r>
            <a:r>
              <a:rPr lang="ro-RO" sz="2000" b="1" noProof="0" dirty="0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2 </a:t>
            </a:r>
            <a:r>
              <a:rPr lang="ro-RO" sz="2000" b="1" noProof="0" dirty="0" err="1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book_id</a:t>
            </a:r>
            <a:r>
              <a:rPr lang="ro-RO" sz="2000" b="1" noProof="0" dirty="0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: {0}"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o-RO" sz="2000" b="1" noProof="0" dirty="0">
                <a:solidFill>
                  <a:srgbClr val="9CDCF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Book2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>
                <a:solidFill>
                  <a:srgbClr val="9CDCF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book_id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      </a:t>
            </a:r>
          </a:p>
          <a:p>
            <a:pPr>
              <a:lnSpc>
                <a:spcPts val="1425"/>
              </a:lnSpc>
              <a:buNone/>
            </a:pPr>
            <a:b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  </a:t>
            </a:r>
            <a:r>
              <a:rPr lang="ro-RO" sz="2000" b="1" noProof="0" dirty="0" err="1">
                <a:solidFill>
                  <a:srgbClr val="9CDCF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Console</a:t>
            </a:r>
            <a:r>
              <a:rPr lang="ro-RO" sz="2000" b="1" noProof="0" dirty="0" err="1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 err="1">
                <a:solidFill>
                  <a:srgbClr val="DCDCA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ReadKey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}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2606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56AC9-4E5F-A634-A090-D3BEF2F90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9C5211-C701-B003-B0DB-8C4AF90E8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2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52D9D9B-C8B7-C088-C65B-2051526F58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Inițializarea unei structuri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Pot exista mai multe modalități de a inițializa o structură în C#:</a:t>
            </a:r>
          </a:p>
          <a:p>
            <a:pPr marL="548640" indent="-514350" algn="just">
              <a:buFont typeface="+mj-lt"/>
              <a:buAutoNum type="arabicPeriod"/>
            </a:pPr>
            <a:r>
              <a:rPr lang="ro-RO" sz="2800" noProof="0" dirty="0">
                <a:solidFill>
                  <a:srgbClr val="00B0F0"/>
                </a:solidFill>
              </a:rPr>
              <a:t>Folosind constructori parametrizați</a:t>
            </a:r>
          </a:p>
          <a:p>
            <a:pPr marL="548640" indent="-514350" algn="just">
              <a:buFont typeface="+mj-lt"/>
              <a:buAutoNum type="arabicPeriod"/>
            </a:pPr>
            <a:r>
              <a:rPr lang="ro-RO" sz="2800" noProof="0" dirty="0">
                <a:solidFill>
                  <a:srgbClr val="00B0F0"/>
                </a:solidFill>
              </a:rPr>
              <a:t>Folosind inițializarea implicită (cuvântul cheie </a:t>
            </a:r>
            <a:r>
              <a:rPr lang="ro-RO" sz="2800" noProof="0" dirty="0" err="1">
                <a:solidFill>
                  <a:srgbClr val="00B0F0"/>
                </a:solidFill>
              </a:rPr>
              <a:t>new</a:t>
            </a:r>
            <a:r>
              <a:rPr lang="ro-RO" sz="2800" noProof="0" dirty="0">
                <a:solidFill>
                  <a:srgbClr val="00B0F0"/>
                </a:solidFill>
              </a:rPr>
              <a:t>)</a:t>
            </a:r>
          </a:p>
          <a:p>
            <a:pPr marL="548640" indent="-514350" algn="just">
              <a:buFont typeface="+mj-lt"/>
              <a:buAutoNum type="arabicPeriod"/>
            </a:pPr>
            <a:r>
              <a:rPr lang="ro-RO" sz="2800" noProof="0" dirty="0">
                <a:solidFill>
                  <a:srgbClr val="00B0F0"/>
                </a:solidFill>
              </a:rPr>
              <a:t>Folosind atribuirea manuală a valorilor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7033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AEA6A-787C-4043-F2FA-1BE714B6A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479B63-A52B-9F07-21CA-48EDBD4F4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2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A6AF801-E27D-98F2-C319-E20F483E5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1. Utilizarea unui constructor parametrizat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Puteți inițializa o structură folosind constructorii parametrizați în timp ce creați </a:t>
            </a:r>
            <a:r>
              <a:rPr lang="en-US" sz="2800" dirty="0">
                <a:solidFill>
                  <a:srgbClr val="00B0F0"/>
                </a:solidFill>
              </a:rPr>
              <a:t>o </a:t>
            </a:r>
            <a:r>
              <a:rPr lang="en-US" sz="2800" dirty="0" err="1">
                <a:solidFill>
                  <a:srgbClr val="00B0F0"/>
                </a:solidFill>
              </a:rPr>
              <a:t>variabil</a:t>
            </a:r>
            <a:r>
              <a:rPr lang="ro-RO" sz="2800" dirty="0">
                <a:solidFill>
                  <a:srgbClr val="00B0F0"/>
                </a:solidFill>
              </a:rPr>
              <a:t>ă de tip </a:t>
            </a:r>
            <a:r>
              <a:rPr lang="ro-RO" sz="2800" noProof="0" dirty="0">
                <a:solidFill>
                  <a:srgbClr val="00B0F0"/>
                </a:solidFill>
              </a:rPr>
              <a:t> structură.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 err="1">
                <a:solidFill>
                  <a:srgbClr val="C586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4EC9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ro-RO" sz="2000" b="1" noProof="0" dirty="0">
              <a:solidFill>
                <a:srgbClr val="CCCC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 err="1">
                <a:solidFill>
                  <a:srgbClr val="569CD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4EC9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Person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ro-RO" sz="2000" b="1" noProof="0" dirty="0">
                <a:solidFill>
                  <a:srgbClr val="569CD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569CD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ro-RO" sz="2000" b="1" noProof="0" dirty="0">
                <a:solidFill>
                  <a:srgbClr val="569CD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569CD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ro-RO" sz="2000" b="1" noProof="0" dirty="0">
                <a:solidFill>
                  <a:srgbClr val="569CD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569CD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empid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ro-RO" sz="2000" b="1" noProof="0" dirty="0">
              <a:solidFill>
                <a:srgbClr val="CCCC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6A99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// </a:t>
            </a:r>
            <a:r>
              <a:rPr lang="ro-RO" sz="2000" b="1" noProof="0" dirty="0" err="1">
                <a:solidFill>
                  <a:srgbClr val="6A99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Parameterized</a:t>
            </a:r>
            <a:r>
              <a:rPr lang="ro-RO" sz="2000" b="1" noProof="0" dirty="0">
                <a:solidFill>
                  <a:srgbClr val="6A99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Constructor</a:t>
            </a:r>
            <a:endParaRPr lang="ro-RO" sz="2000" b="1" noProof="0" dirty="0">
              <a:solidFill>
                <a:srgbClr val="CCCC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ro-RO" sz="2000" b="1" noProof="0" dirty="0">
                <a:solidFill>
                  <a:srgbClr val="569CD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DCDCA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Person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o-RO" sz="2000" b="1" noProof="0" dirty="0" err="1">
                <a:solidFill>
                  <a:srgbClr val="569CD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o-RO" sz="2000" b="1" noProof="0" dirty="0" err="1">
                <a:solidFill>
                  <a:srgbClr val="569CD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o-RO" sz="2000" b="1" noProof="0" dirty="0" err="1">
                <a:solidFill>
                  <a:srgbClr val="569CD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empid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ro-RO" sz="2000" b="1" noProof="0" dirty="0">
                <a:solidFill>
                  <a:srgbClr val="569CD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>
                <a:solidFill>
                  <a:srgbClr val="9CDCF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ro-RO" sz="2000" b="1" noProof="0" dirty="0" err="1">
                <a:solidFill>
                  <a:srgbClr val="569CD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ro-RO" sz="2000" b="1" noProof="0" dirty="0" err="1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 err="1">
                <a:solidFill>
                  <a:srgbClr val="9CDCF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ro-RO" sz="2000" b="1" noProof="0" dirty="0" err="1">
                <a:solidFill>
                  <a:srgbClr val="569CD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ro-RO" sz="2000" b="1" noProof="0" dirty="0" err="1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 err="1">
                <a:solidFill>
                  <a:srgbClr val="9CDCF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empid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empid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b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3082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BBBAC-E0B1-9732-5FE6-62D1FCA01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1891AB-26BF-3922-1C0C-A227FAB29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2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F10F4E5-7910-BBED-71D0-9EF8E4BF07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>
              <a:lnSpc>
                <a:spcPts val="1425"/>
              </a:lnSpc>
              <a:buNone/>
            </a:pPr>
            <a:endParaRPr lang="ro-RO" sz="2000" b="1" noProof="0" dirty="0">
              <a:solidFill>
                <a:srgbClr val="CCCC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 err="1">
                <a:solidFill>
                  <a:srgbClr val="569CD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4EC9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Program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ro-RO" sz="2000" b="1" noProof="0" dirty="0">
                <a:solidFill>
                  <a:srgbClr val="569CD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569CD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DCDCA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ro-RO" sz="2000" b="1" noProof="0" dirty="0" err="1">
                <a:solidFill>
                  <a:srgbClr val="4EC9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Person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9CDCF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p1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569CD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4EC9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Person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o-RO" sz="2000" b="1" noProof="0" dirty="0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o-RO" sz="2000" b="1" noProof="0" dirty="0" err="1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Sudhir</a:t>
            </a:r>
            <a:r>
              <a:rPr lang="ro-RO" sz="2000" b="1" noProof="0" dirty="0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Sharma</a:t>
            </a:r>
            <a:r>
              <a:rPr lang="ro-RO" sz="2000" b="1" noProof="0" dirty="0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o-RO" sz="2000" b="1" noProof="0" dirty="0">
                <a:solidFill>
                  <a:srgbClr val="B5CE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27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o-RO" sz="2000" b="1" noProof="0" dirty="0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"SEO01"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ro-RO" sz="2000" b="1" noProof="0" dirty="0" err="1">
                <a:solidFill>
                  <a:srgbClr val="9CDCF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Console</a:t>
            </a:r>
            <a:r>
              <a:rPr lang="ro-RO" sz="2000" b="1" noProof="0" dirty="0" err="1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 err="1">
                <a:solidFill>
                  <a:srgbClr val="DCDCA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WriteLine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o-RO" sz="2000" b="1" noProof="0" dirty="0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$"</a:t>
            </a:r>
            <a:r>
              <a:rPr lang="ro-RO" sz="2000" b="1" noProof="0" dirty="0" err="1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ro-RO" sz="2000" b="1" noProof="0" dirty="0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ro-RO" sz="2000" b="1" noProof="0" dirty="0">
                <a:solidFill>
                  <a:srgbClr val="D4D4D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ro-RO" sz="2000" b="1" noProof="0" dirty="0">
                <a:solidFill>
                  <a:srgbClr val="9CDCF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p1</a:t>
            </a:r>
            <a:r>
              <a:rPr lang="ro-RO" sz="2000" b="1" noProof="0" dirty="0">
                <a:solidFill>
                  <a:srgbClr val="D4D4D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>
                <a:solidFill>
                  <a:srgbClr val="9CDCF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ro-RO" sz="2000" b="1" noProof="0" dirty="0">
                <a:solidFill>
                  <a:srgbClr val="D4D4D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ro-RO" sz="2000" b="1" noProof="0" dirty="0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o-RO" sz="2000" b="1" noProof="0" dirty="0" err="1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lang="ro-RO" sz="2000" b="1" noProof="0" dirty="0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ro-RO" sz="2000" b="1" noProof="0" dirty="0">
                <a:solidFill>
                  <a:srgbClr val="D4D4D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ro-RO" sz="2000" b="1" noProof="0" dirty="0">
                <a:solidFill>
                  <a:srgbClr val="9CDCF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p1</a:t>
            </a:r>
            <a:r>
              <a:rPr lang="ro-RO" sz="2000" b="1" noProof="0" dirty="0">
                <a:solidFill>
                  <a:srgbClr val="D4D4D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>
                <a:solidFill>
                  <a:srgbClr val="9CDCF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lang="ro-RO" sz="2000" b="1" noProof="0" dirty="0">
                <a:solidFill>
                  <a:srgbClr val="D4D4D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ro-RO" sz="2000" b="1" noProof="0" dirty="0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o-RO" sz="2000" b="1" noProof="0" dirty="0" err="1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Employee</a:t>
            </a:r>
            <a:r>
              <a:rPr lang="ro-RO" sz="2000" b="1" noProof="0" dirty="0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ID: </a:t>
            </a:r>
            <a:r>
              <a:rPr lang="ro-RO" sz="2000" b="1" noProof="0" dirty="0">
                <a:solidFill>
                  <a:srgbClr val="D4D4D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ro-RO" sz="2000" b="1" noProof="0" dirty="0">
                <a:solidFill>
                  <a:srgbClr val="9CDCF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p1</a:t>
            </a:r>
            <a:r>
              <a:rPr lang="ro-RO" sz="2000" b="1" noProof="0" dirty="0">
                <a:solidFill>
                  <a:srgbClr val="D4D4D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>
                <a:solidFill>
                  <a:srgbClr val="9CDCF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empid</a:t>
            </a:r>
            <a:r>
              <a:rPr lang="ro-RO" sz="2000" b="1" noProof="0" dirty="0">
                <a:solidFill>
                  <a:srgbClr val="D4D4D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ro-RO" sz="2000" b="1" noProof="0" dirty="0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0531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20FB0-44B5-0878-C947-E7DD94433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6432E7C-0337-E668-EAD8-92A8F7BE3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2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350D0D-9749-B388-AC56-2747BCC4C7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2. Utilizarea inițializării implicite (cuvântul cheie </a:t>
            </a:r>
            <a:r>
              <a:rPr lang="ro-RO" sz="2800" noProof="0" dirty="0" err="1">
                <a:solidFill>
                  <a:srgbClr val="00B0F0"/>
                </a:solidFill>
              </a:rPr>
              <a:t>new</a:t>
            </a:r>
            <a:r>
              <a:rPr lang="ro-RO" sz="2800" noProof="0" dirty="0">
                <a:solidFill>
                  <a:srgbClr val="00B0F0"/>
                </a:solidFill>
              </a:rPr>
              <a:t>)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Dacă doriți să furnizați valorile implicite câmpurilor structurii (de exemplu, 0 pentru numere, </a:t>
            </a:r>
            <a:r>
              <a:rPr lang="ro-RO" sz="2800" noProof="0" dirty="0" err="1">
                <a:solidFill>
                  <a:srgbClr val="00B0F0"/>
                </a:solidFill>
              </a:rPr>
              <a:t>null</a:t>
            </a:r>
            <a:r>
              <a:rPr lang="ro-RO" sz="2800" noProof="0" dirty="0">
                <a:solidFill>
                  <a:srgbClr val="00B0F0"/>
                </a:solidFill>
              </a:rPr>
              <a:t> pentru tipurile care acceptă valori NULL, </a:t>
            </a:r>
            <a:r>
              <a:rPr lang="ro-RO" sz="2800" noProof="0" dirty="0" err="1">
                <a:solidFill>
                  <a:srgbClr val="00B0F0"/>
                </a:solidFill>
              </a:rPr>
              <a:t>empty</a:t>
            </a:r>
            <a:r>
              <a:rPr lang="ro-RO" sz="2800" noProof="0" dirty="0">
                <a:solidFill>
                  <a:srgbClr val="00B0F0"/>
                </a:solidFill>
              </a:rPr>
              <a:t> pentru șiruri de caractere), puteți utiliza cuvântul cheie „</a:t>
            </a:r>
            <a:r>
              <a:rPr lang="ro-RO" sz="2800" noProof="0" dirty="0" err="1">
                <a:solidFill>
                  <a:srgbClr val="00B0F0"/>
                </a:solidFill>
              </a:rPr>
              <a:t>new</a:t>
            </a:r>
            <a:r>
              <a:rPr lang="ro-RO" sz="2800" noProof="0" dirty="0">
                <a:solidFill>
                  <a:srgbClr val="00B0F0"/>
                </a:solidFill>
              </a:rPr>
              <a:t>”.</a:t>
            </a:r>
          </a:p>
        </p:txBody>
      </p:sp>
    </p:spTree>
    <p:extLst>
      <p:ext uri="{BB962C8B-B14F-4D97-AF65-F5344CB8AC3E}">
        <p14:creationId xmlns:p14="http://schemas.microsoft.com/office/powerpoint/2010/main" val="41395446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403E6-C59C-E87C-5DA9-96A49E5D2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6019E14-AC63-2EC0-B2A6-C20D960B1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2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AA445D-7180-BFA7-9F0A-CB856971F2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>
              <a:lnSpc>
                <a:spcPts val="1425"/>
              </a:lnSpc>
              <a:buNone/>
            </a:pPr>
            <a:r>
              <a:rPr lang="ro-RO" sz="2000" b="1" noProof="0" dirty="0" err="1">
                <a:solidFill>
                  <a:srgbClr val="C586C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4EC9B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System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ro-RO" sz="2000" b="1" noProof="0" dirty="0">
              <a:solidFill>
                <a:srgbClr val="CCCCCC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4EC9B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Person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ro-RO" sz="2000" b="1" noProof="0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ro-RO" sz="2000" b="1" noProof="0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ro-RO" sz="2000" b="1" noProof="0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empid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endParaRPr lang="ro-RO" sz="2000" b="1" noProof="0" dirty="0">
              <a:solidFill>
                <a:srgbClr val="CCCCCC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4EC9B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Program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ro-RO" sz="2000" b="1" noProof="0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DCDC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ro-RO" sz="2000" b="1" noProof="0" dirty="0" err="1">
                <a:solidFill>
                  <a:srgbClr val="4EC9B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Person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p1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4EC9B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Person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  <a:r>
              <a:rPr lang="ro-RO" sz="2000" b="1" noProof="0" dirty="0">
                <a:solidFill>
                  <a:srgbClr val="6A99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ro-RO" sz="2000" b="1" noProof="0" dirty="0" err="1">
                <a:solidFill>
                  <a:srgbClr val="6A99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Default</a:t>
            </a:r>
            <a:r>
              <a:rPr lang="ro-RO" sz="2000" b="1" noProof="0" dirty="0">
                <a:solidFill>
                  <a:srgbClr val="6A99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6A99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initialization</a:t>
            </a:r>
            <a:endParaRPr lang="ro-RO" sz="2000" b="1" noProof="0" dirty="0">
              <a:solidFill>
                <a:srgbClr val="CCCCCC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p1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o-RO" sz="2000" b="1" noProof="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Sudhir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Sharma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p1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B5CEA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27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p1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empid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"SEO01"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b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ro-RO" sz="2000" b="1" noProof="0" dirty="0">
              <a:solidFill>
                <a:srgbClr val="CCCCCC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</a:t>
            </a:r>
            <a:r>
              <a:rPr lang="ro-RO" sz="2000" b="1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 err="1">
                <a:solidFill>
                  <a:srgbClr val="DCDC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WriteLine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$"</a:t>
            </a:r>
            <a:r>
              <a:rPr lang="ro-RO" sz="2000" b="1" noProof="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p1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o-RO" sz="2000" b="1" noProof="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p1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o-RO" sz="2000" b="1" noProof="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Employee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ID: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p1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empid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81888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29912-1162-1AD1-BF49-56DEB862D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4E8AE98-DB6C-E7AA-1BB1-A0EE98ACB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2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C5936C5-0EDF-05AA-AD1A-905C600DB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3. Fără utilizarea cuvântului „</a:t>
            </a:r>
            <a:r>
              <a:rPr lang="ro-RO" sz="2800" noProof="0" dirty="0" err="1">
                <a:solidFill>
                  <a:srgbClr val="00B0F0"/>
                </a:solidFill>
              </a:rPr>
              <a:t>new</a:t>
            </a:r>
            <a:r>
              <a:rPr lang="ro-RO" sz="2800" noProof="0" dirty="0">
                <a:solidFill>
                  <a:srgbClr val="00B0F0"/>
                </a:solidFill>
              </a:rPr>
              <a:t>” (atribuirea manuală a valorilor)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Deoarece structurile C# nu necesită </a:t>
            </a:r>
            <a:r>
              <a:rPr lang="ro-RO" sz="2800" noProof="0" dirty="0" err="1">
                <a:solidFill>
                  <a:srgbClr val="00B0F0"/>
                </a:solidFill>
              </a:rPr>
              <a:t>instanțierea</a:t>
            </a:r>
            <a:r>
              <a:rPr lang="ro-RO" sz="2800" noProof="0" dirty="0">
                <a:solidFill>
                  <a:srgbClr val="00B0F0"/>
                </a:solidFill>
              </a:rPr>
              <a:t> cuvântului cheie </a:t>
            </a:r>
            <a:r>
              <a:rPr lang="ro-RO" sz="2800" noProof="0" dirty="0" err="1">
                <a:solidFill>
                  <a:srgbClr val="00B0F0"/>
                </a:solidFill>
              </a:rPr>
              <a:t>new</a:t>
            </a:r>
            <a:r>
              <a:rPr lang="ro-RO" sz="2800" noProof="0" dirty="0">
                <a:solidFill>
                  <a:srgbClr val="00B0F0"/>
                </a:solidFill>
              </a:rPr>
              <a:t>. De asemenea, puteți inițializa toate câmpurile înainte de utilizare.</a:t>
            </a:r>
          </a:p>
        </p:txBody>
      </p:sp>
    </p:spTree>
    <p:extLst>
      <p:ext uri="{BB962C8B-B14F-4D97-AF65-F5344CB8AC3E}">
        <p14:creationId xmlns:p14="http://schemas.microsoft.com/office/powerpoint/2010/main" val="16760241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F2B41-513F-C096-9D37-71DE66C2C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7BC0D1-16AF-8FF0-BD7F-961C21BA8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2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D67C24F-EB78-7B69-B780-7396843BF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>
              <a:lnSpc>
                <a:spcPts val="1425"/>
              </a:lnSpc>
              <a:buNone/>
            </a:pPr>
            <a:r>
              <a:rPr lang="ro-RO" sz="2000" b="1" noProof="0" dirty="0" err="1">
                <a:solidFill>
                  <a:srgbClr val="C586C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4EC9B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System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b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ro-RO" sz="2000" b="1" noProof="0" dirty="0">
              <a:solidFill>
                <a:srgbClr val="CCCCCC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4EC9B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Person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ro-RO" sz="2000" b="1" noProof="0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ro-RO" sz="2000" b="1" noProof="0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ro-RO" sz="2000" b="1" noProof="0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empid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endParaRPr lang="ro-RO" sz="2000" b="1" noProof="0" dirty="0">
              <a:solidFill>
                <a:srgbClr val="CCCCCC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4EC9B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Program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ro-RO" sz="2000" b="1" noProof="0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DCDC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ro-RO" sz="2000" b="1" noProof="0" dirty="0" err="1">
                <a:solidFill>
                  <a:srgbClr val="4EC9B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Person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p1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p1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o-RO" sz="2000" b="1" noProof="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Sudhir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Sharma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p1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B5CEA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27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p1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empid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"SEO01"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ro-RO" sz="2000" b="1" noProof="0" dirty="0">
              <a:solidFill>
                <a:srgbClr val="CCCCCC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</a:t>
            </a:r>
            <a:r>
              <a:rPr lang="ro-RO" sz="2000" b="1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 err="1">
                <a:solidFill>
                  <a:srgbClr val="DCDC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WriteLine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$"</a:t>
            </a:r>
            <a:r>
              <a:rPr lang="ro-RO" sz="2000" b="1" noProof="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p1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o-RO" sz="2000" b="1" noProof="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p1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o-RO" sz="2000" b="1" noProof="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Employee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ID: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p1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empid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06271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234DF-47EB-FF48-424D-DABD0DFDE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E70F30-7ADB-DDA9-763D-81CA3A642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2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427BC12-8D36-B258-CFE2-538EAC64B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Structuri imuabile (structuri)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Puteți face câmpurile structurilor imutabile (doar pentru citire) utilizând cuvântul cheie </a:t>
            </a:r>
            <a:r>
              <a:rPr lang="ro-RO" sz="2800" noProof="0" dirty="0" err="1">
                <a:solidFill>
                  <a:srgbClr val="00B0F0"/>
                </a:solidFill>
              </a:rPr>
              <a:t>readonly</a:t>
            </a:r>
            <a:r>
              <a:rPr lang="ro-RO" sz="2800" noProof="0" dirty="0">
                <a:solidFill>
                  <a:srgbClr val="00B0F0"/>
                </a:solidFill>
              </a:rPr>
              <a:t>.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 err="1">
                <a:solidFill>
                  <a:srgbClr val="C586C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4EC9B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System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ro-RO" sz="2000" b="1" noProof="0" dirty="0">
              <a:solidFill>
                <a:srgbClr val="CCCCCC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4EC9B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Person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ro-RO" sz="2000" b="1" noProof="0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readonly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ro-RO" sz="2000" b="1" noProof="0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readonly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ro-RO" sz="2000" b="1" noProof="0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readonly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empid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ro-RO" sz="2000" b="1" noProof="0" dirty="0">
              <a:solidFill>
                <a:srgbClr val="CCCCCC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ro-RO" sz="2000" b="1" noProof="0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DCDC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Person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empid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ro-RO" sz="2000" b="1" noProof="0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ro-RO" sz="2000" b="1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ro-RO" sz="2000" b="1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empid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empid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endParaRPr lang="ro-RO" sz="2000" b="1" noProof="0" dirty="0">
              <a:solidFill>
                <a:srgbClr val="CCCCCC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63624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9AFA0-F63D-0A5D-8483-FB024463C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DD75EB6-BA22-1C3C-5A9C-B26F5C40E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2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E5B6A26-237F-51B9-0332-23FA9FE10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    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endParaRPr lang="ro-RO" sz="2000" b="1" noProof="0" dirty="0">
              <a:solidFill>
                <a:srgbClr val="CCCC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endParaRPr kumimoji="0" lang="ro-RO" sz="2000" b="1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	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public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void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Display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() {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       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Console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.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WriteLine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$"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Name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: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{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name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Age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: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{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age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Employee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ID: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{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empid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);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    }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b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</a:br>
            <a:endParaRPr kumimoji="0" lang="ro-RO" sz="2000" b="1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class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Program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{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   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static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void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Main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() {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       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Person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p1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=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new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Person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Sudhir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Sharma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27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"SEO01"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);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       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p1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.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Display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();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    }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02342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47922-1589-9A59-7E66-E5CA18CE6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D407F2E-B188-9457-E617-D699028F1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2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65394C3-E603-2C10-B6E1-98DD368F4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Caracteristici ale structurilor C#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Am folosit deja o structură simplă numită </a:t>
            </a:r>
            <a:r>
              <a:rPr lang="ro-RO" sz="2800" noProof="0" dirty="0" err="1">
                <a:solidFill>
                  <a:srgbClr val="00B0F0"/>
                </a:solidFill>
              </a:rPr>
              <a:t>Books</a:t>
            </a:r>
            <a:r>
              <a:rPr lang="ro-RO" sz="2800" noProof="0" dirty="0">
                <a:solidFill>
                  <a:srgbClr val="00B0F0"/>
                </a:solidFill>
              </a:rPr>
              <a:t>. Structurile din C# sunt destul de diferite de cele din C sau C++ tradiționale. Structurile C# au următoarele caracteristici:</a:t>
            </a: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Structurile pot avea metode, câmpuri, indexatori, proprietăți, metode operator și evenimente.</a:t>
            </a: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Structurile pot avea constructori definiți, dar nu și destructori. Cu toate acestea, nu puteți defini un constructor implicit pentru o structură. Constructorul implicit este definit automat și nu poate fi modificat.</a:t>
            </a:r>
          </a:p>
        </p:txBody>
      </p:sp>
    </p:spTree>
    <p:extLst>
      <p:ext uri="{BB962C8B-B14F-4D97-AF65-F5344CB8AC3E}">
        <p14:creationId xmlns:p14="http://schemas.microsoft.com/office/powerpoint/2010/main" val="42518811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2612C-A6D0-EFDE-F22B-6D1E575A4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BE8B71-FFAA-4D87-97A2-D0D41D497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2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B126F0C-0E6C-D4A7-C3D8-7A4B63BCE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Caracteristici ale structurilor C#</a:t>
            </a: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Spre deosebire de clase, structurile nu pot moșteni alte structuri sau clase.</a:t>
            </a: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Structurile nu pot fi utilizate ca bază pentru alte structuri sau clase.</a:t>
            </a: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O structură poate implementa una sau mai multe interfețe.</a:t>
            </a: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Membrii structurii nu pot fi specificați ca abstract, virtual sau </a:t>
            </a:r>
            <a:r>
              <a:rPr lang="ro-RO" sz="2800" noProof="0" dirty="0" err="1">
                <a:solidFill>
                  <a:srgbClr val="00B0F0"/>
                </a:solidFill>
              </a:rPr>
              <a:t>protected</a:t>
            </a:r>
            <a:r>
              <a:rPr lang="ro-RO" sz="2800" noProof="0" dirty="0">
                <a:solidFill>
                  <a:srgbClr val="00B0F0"/>
                </a:solidFill>
              </a:rPr>
              <a:t>.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20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64365-BCAB-A2E0-B789-1DA759DAE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AD9728-63EB-94A5-51C7-04AD25F98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2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90D512D-0311-69D9-8799-78C9BCCF8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Caracteristici ale structurilor C#</a:t>
            </a: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Când creați </a:t>
            </a:r>
            <a:r>
              <a:rPr lang="ro-RO" sz="2800" dirty="0">
                <a:solidFill>
                  <a:srgbClr val="00B0F0"/>
                </a:solidFill>
              </a:rPr>
              <a:t>o variabila </a:t>
            </a:r>
            <a:r>
              <a:rPr lang="ro-RO" sz="2800" noProof="0" dirty="0" err="1">
                <a:solidFill>
                  <a:srgbClr val="00B0F0"/>
                </a:solidFill>
              </a:rPr>
              <a:t>struct</a:t>
            </a:r>
            <a:r>
              <a:rPr lang="ro-RO" sz="2800" noProof="0" dirty="0">
                <a:solidFill>
                  <a:srgbClr val="00B0F0"/>
                </a:solidFill>
              </a:rPr>
              <a:t> folosind operatorul </a:t>
            </a:r>
            <a:r>
              <a:rPr lang="ro-RO" sz="2800" noProof="0" dirty="0" err="1">
                <a:solidFill>
                  <a:srgbClr val="00B0F0"/>
                </a:solidFill>
              </a:rPr>
              <a:t>new</a:t>
            </a:r>
            <a:r>
              <a:rPr lang="ro-RO" sz="2800" noProof="0" dirty="0">
                <a:solidFill>
                  <a:srgbClr val="00B0F0"/>
                </a:solidFill>
              </a:rPr>
              <a:t>, acesta este creat și este apelat constructorul corespunzător. Spre deosebire de clase, structurile pot fi </a:t>
            </a:r>
            <a:r>
              <a:rPr lang="ro-RO" sz="2800" noProof="0" dirty="0" err="1">
                <a:solidFill>
                  <a:srgbClr val="00B0F0"/>
                </a:solidFill>
              </a:rPr>
              <a:t>instanțiate</a:t>
            </a:r>
            <a:r>
              <a:rPr lang="ro-RO" sz="2800" noProof="0" dirty="0">
                <a:solidFill>
                  <a:srgbClr val="00B0F0"/>
                </a:solidFill>
              </a:rPr>
              <a:t> fără a utiliza operatorul </a:t>
            </a:r>
            <a:r>
              <a:rPr lang="ro-RO" sz="2800" noProof="0" dirty="0" err="1">
                <a:solidFill>
                  <a:srgbClr val="00B0F0"/>
                </a:solidFill>
              </a:rPr>
              <a:t>new</a:t>
            </a:r>
            <a:r>
              <a:rPr lang="ro-RO" sz="2800" noProof="0" dirty="0">
                <a:solidFill>
                  <a:srgbClr val="00B0F0"/>
                </a:solidFill>
              </a:rPr>
              <a:t>.</a:t>
            </a: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Dacă operatorul </a:t>
            </a:r>
            <a:r>
              <a:rPr lang="ro-RO" sz="2800" noProof="0" dirty="0" err="1">
                <a:solidFill>
                  <a:srgbClr val="00B0F0"/>
                </a:solidFill>
              </a:rPr>
              <a:t>new</a:t>
            </a:r>
            <a:r>
              <a:rPr lang="ro-RO" sz="2800" noProof="0" dirty="0">
                <a:solidFill>
                  <a:srgbClr val="00B0F0"/>
                </a:solidFill>
              </a:rPr>
              <a:t> nu este utilizat(la clase), câmpurile rămân neatribuite și obiectul nu poate fi utilizat până când toate câmpurile nu sunt inițializate.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92250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49B09-5362-C5AD-0303-7E445C05B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416B1C-D8E4-C99C-8B6A-225F3DCD4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2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63FBD3-F060-6013-0883-38A7BB175F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Clasă versus Structură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Clasele și structurile au următoarele diferențe de bază</a:t>
            </a:r>
            <a:r>
              <a:rPr lang="en-US" sz="2800" dirty="0">
                <a:solidFill>
                  <a:srgbClr val="00B0F0"/>
                </a:solidFill>
              </a:rPr>
              <a:t>:</a:t>
            </a: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clasele sunt tipuri referință, iar structurile sunt tipuri valoare</a:t>
            </a: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structurile nu acceptă moștenirea</a:t>
            </a: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structurile nu pot avea un constructor implicit</a:t>
            </a:r>
          </a:p>
        </p:txBody>
      </p:sp>
    </p:spTree>
    <p:extLst>
      <p:ext uri="{BB962C8B-B14F-4D97-AF65-F5344CB8AC3E}">
        <p14:creationId xmlns:p14="http://schemas.microsoft.com/office/powerpoint/2010/main" val="29957845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822BE-DFDB-D93D-E996-81F479682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3A00487-D73C-D164-BADC-21AEE3AE6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2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E99E692-BDE9-F76E-4331-DAEAD2A4E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Structuri și metode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Books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ro-RO" sz="2000" b="1" noProof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ro-RO" sz="2000" b="1" noProof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author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ro-RO" sz="2000" b="1" noProof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subject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ro-RO" sz="2000" b="1" noProof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book_id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ro-RO" sz="2000" b="1" noProof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DCDCAA"/>
                </a:solidFill>
                <a:latin typeface="Consolas" panose="020B0609020204030204" pitchFamily="49" charset="0"/>
              </a:rPr>
              <a:t>s</a:t>
            </a:r>
            <a:r>
              <a:rPr lang="ro-RO" sz="2000" b="1" noProof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etValues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author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subject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book_id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}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ro-RO" sz="2000" b="1" noProof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ro-RO" sz="2000" b="1" noProof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ro-RO" sz="2000" b="1" noProof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WriteLine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o-RO" sz="2000" b="1" noProof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: {0}"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ro-RO" sz="2000" b="1" noProof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ro-RO" sz="2000" b="1" noProof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WriteLine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o-RO" sz="2000" b="1" noProof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Author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: {0}"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author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ro-RO" sz="2000" b="1" noProof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ro-RO" sz="2000" b="1" noProof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WriteLine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o-RO" sz="2000" b="1" noProof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Subject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: {0}"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subject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ro-RO" sz="2000" b="1" noProof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ro-RO" sz="2000" b="1" noProof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WriteLine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o-RO" sz="2000" b="1" noProof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Book_id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:{0}"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book_id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}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};  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07207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2DC8D-3529-7D60-5CBA-3867EAC76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9A05C8E-616C-2CC2-BF59-1EBEF19EB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2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05BB383-48D3-1DC2-C7A1-4801BF333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public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class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testStructure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{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public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static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void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Main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string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[]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args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{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Books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Book1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new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Books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();   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Books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Book2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new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Books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();  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endParaRPr kumimoji="0" lang="ro-RO" sz="2000" b="1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Book1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lang="ro-RO" sz="2000" b="1" noProof="0" dirty="0">
                <a:solidFill>
                  <a:srgbClr val="DCDCAA"/>
                </a:solidFill>
                <a:latin typeface="Consolas" panose="020B0609020204030204" pitchFamily="49" charset="0"/>
              </a:rPr>
              <a:t>s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etValues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"C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Programming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Nuha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Ali"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"C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Programming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Tutorial"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6495407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endParaRPr kumimoji="0" lang="ro-RO" sz="2000" b="1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Book2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lang="ro-RO" sz="2000" b="1" noProof="0" dirty="0">
                <a:solidFill>
                  <a:srgbClr val="DCDCAA"/>
                </a:solidFill>
                <a:latin typeface="Consolas" panose="020B0609020204030204" pitchFamily="49" charset="0"/>
              </a:rPr>
              <a:t>s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etValues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"Telecom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Billing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"Zara Ali"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"Telecom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Billing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Tutorial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6495700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b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   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Book1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display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();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b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   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Book2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display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(); 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b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}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26117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37E52-AC01-42EF-088C-94FB11DC7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735C673-559D-9152-2FF0-306C55ADB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2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E8080D0-47F2-16B3-62BA-13F9E63C6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Structuri cu metode și interfețe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Interfețele definesc proprietăți, metode și evenimente, care sunt membrii interfeței. Interfețele conțin doar declarația membrilor. Este responsabilitatea structurii/clasei derivate să definească membrii. Interfețele pot fi implementate folosind structurile din C#.</a:t>
            </a:r>
          </a:p>
        </p:txBody>
      </p:sp>
    </p:spTree>
    <p:extLst>
      <p:ext uri="{BB962C8B-B14F-4D97-AF65-F5344CB8AC3E}">
        <p14:creationId xmlns:p14="http://schemas.microsoft.com/office/powerpoint/2010/main" val="1982431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EFA1C-6306-EF3E-8988-A6506107B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72DEF7-867F-2FEB-335D-E6BD24062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2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4E27D8-05CE-806C-4C91-DF85C2C16F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Structuri cu metode și interfețe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 err="1">
                <a:solidFill>
                  <a:srgbClr val="C586C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4EC9B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System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ro-RO" sz="2000" b="1" noProof="0" dirty="0">
              <a:solidFill>
                <a:srgbClr val="CCCCCC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interface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4EC9B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IPerson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DCDC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GetDetails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endParaRPr lang="ro-RO" sz="2000" b="1" noProof="0" dirty="0">
              <a:solidFill>
                <a:srgbClr val="CCCCCC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4EC9B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Person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: </a:t>
            </a:r>
            <a:r>
              <a:rPr lang="ro-RO" sz="2000" b="1" noProof="0" dirty="0" err="1">
                <a:solidFill>
                  <a:srgbClr val="4EC9B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IPerson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ro-RO" sz="2000" b="1" noProof="0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ro-RO" sz="2000" b="1" noProof="0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ro-RO" sz="2000" b="1" noProof="0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empid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ro-RO" sz="2000" b="1" noProof="0" dirty="0">
              <a:solidFill>
                <a:srgbClr val="CCCC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ro-RO" sz="2000" b="1" noProof="0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DCDC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Person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empid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ro-RO" sz="2000" b="1" noProof="0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ro-RO" sz="2000" b="1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ro-RO" sz="2000" b="1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empid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empid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6A99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// </a:t>
            </a:r>
            <a:r>
              <a:rPr lang="ro-RO" sz="2000" b="1" noProof="0" dirty="0" err="1">
                <a:solidFill>
                  <a:srgbClr val="6A99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Implementing</a:t>
            </a:r>
            <a:r>
              <a:rPr lang="ro-RO" sz="2000" b="1" noProof="0" dirty="0">
                <a:solidFill>
                  <a:srgbClr val="6A99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6A99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lang="ro-RO" sz="2000" b="1" noProof="0" dirty="0">
                <a:solidFill>
                  <a:srgbClr val="6A99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6A99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interface</a:t>
            </a:r>
            <a:r>
              <a:rPr lang="ro-RO" sz="2000" b="1" noProof="0" dirty="0">
                <a:solidFill>
                  <a:srgbClr val="6A99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6A99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method</a:t>
            </a:r>
            <a:endParaRPr lang="ro-RO" sz="2000" b="1" noProof="0" dirty="0">
              <a:solidFill>
                <a:srgbClr val="CCCCCC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ro-RO" sz="2000" b="1" noProof="0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DCDC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GetDetails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=&gt;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$"</a:t>
            </a:r>
            <a:r>
              <a:rPr lang="ro-RO" sz="2000" b="1" noProof="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o-RO" sz="2000" b="1" noProof="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o-RO" sz="2000" b="1" noProof="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Employee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ID: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empid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351182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20F58-D224-7603-6853-0C20E7EBF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FD37F56-32C3-AF5D-E2CF-2FA1266EE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2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A88D723-73FC-E1D0-CFBD-8C2A1F42F2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b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</a:br>
            <a:endParaRPr kumimoji="0" lang="ro-RO" sz="2000" b="1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class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Program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{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   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static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void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Main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() {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        //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Creating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an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instance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of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Person</a:t>
            </a:r>
            <a:endParaRPr kumimoji="0" lang="ro-RO" sz="2000" b="1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       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Person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p1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=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new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Person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Sudhir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Sharma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27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"SEO01"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);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       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Console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.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WriteLine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p1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.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GetDetails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());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    }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endParaRPr kumimoji="0" lang="ro-RO" sz="28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2748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6E652-8145-71DC-78B0-89A432D2C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3A83692-FC7E-C33E-0DD7-AB59B4B40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2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E7173C5-F437-765C-BB2C-FBF65FB26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Enumerări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O enumerare (</a:t>
            </a:r>
            <a:r>
              <a:rPr lang="ro-RO" sz="2800" noProof="0" dirty="0" err="1">
                <a:solidFill>
                  <a:srgbClr val="00B0F0"/>
                </a:solidFill>
              </a:rPr>
              <a:t>enum</a:t>
            </a:r>
            <a:r>
              <a:rPr lang="ro-RO" sz="2800" noProof="0" dirty="0">
                <a:solidFill>
                  <a:srgbClr val="00B0F0"/>
                </a:solidFill>
              </a:rPr>
              <a:t>) este un tip special de valoare care definește un set de constante întregi denumite. Un tip enumerat este declarat folosind cuvântul cheie </a:t>
            </a:r>
            <a:r>
              <a:rPr lang="ro-RO" sz="2800" noProof="0" dirty="0" err="1">
                <a:solidFill>
                  <a:srgbClr val="00B0F0"/>
                </a:solidFill>
              </a:rPr>
              <a:t>enum</a:t>
            </a:r>
            <a:r>
              <a:rPr lang="ro-RO" sz="2800" noProof="0" dirty="0">
                <a:solidFill>
                  <a:srgbClr val="00B0F0"/>
                </a:solidFill>
              </a:rPr>
              <a:t>.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r>
              <a:rPr lang="ro-RO" sz="2800" noProof="0" dirty="0" err="1">
                <a:solidFill>
                  <a:srgbClr val="00B0F0"/>
                </a:solidFill>
              </a:rPr>
              <a:t>Enumer</a:t>
            </a:r>
            <a:r>
              <a:rPr lang="ro-RO" sz="2800" dirty="0">
                <a:solidFill>
                  <a:srgbClr val="00B0F0"/>
                </a:solidFill>
              </a:rPr>
              <a:t>ă</a:t>
            </a:r>
            <a:r>
              <a:rPr lang="en-US" sz="2800" noProof="0" dirty="0">
                <a:solidFill>
                  <a:srgbClr val="00B0F0"/>
                </a:solidFill>
              </a:rPr>
              <a:t>rile</a:t>
            </a:r>
            <a:r>
              <a:rPr lang="ro-RO" sz="2800" noProof="0" dirty="0">
                <a:solidFill>
                  <a:srgbClr val="00B0F0"/>
                </a:solidFill>
              </a:rPr>
              <a:t> C# sunt de tip valoare. Cu alte cuvinte, enumerarea conține propriile valori și nu poate moșteni sau nu poate transmite moștenirea.</a:t>
            </a:r>
          </a:p>
        </p:txBody>
      </p:sp>
    </p:spTree>
    <p:extLst>
      <p:ext uri="{BB962C8B-B14F-4D97-AF65-F5344CB8AC3E}">
        <p14:creationId xmlns:p14="http://schemas.microsoft.com/office/powerpoint/2010/main" val="40430521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1E269-720C-0524-8C92-19F965DBD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1F48982-1CCF-2B61-CE4A-B94570180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2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B315CB9-D46C-BE0F-8BEC-24864C97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Declararea unei variabile enumerare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Sintaxa generală pentru declararea unei enumerări: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enum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enum_name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&gt;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{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enumeration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list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};</a:t>
            </a:r>
          </a:p>
          <a:p>
            <a:pPr marL="34290" indent="0" algn="just">
              <a:buNone/>
            </a:pPr>
            <a:r>
              <a:rPr lang="ro-RO" sz="2800" noProof="0" dirty="0" err="1">
                <a:solidFill>
                  <a:srgbClr val="00B0F0"/>
                </a:solidFill>
              </a:rPr>
              <a:t>enum_name</a:t>
            </a:r>
            <a:r>
              <a:rPr lang="ro-RO" sz="2800" noProof="0" dirty="0">
                <a:solidFill>
                  <a:srgbClr val="00B0F0"/>
                </a:solidFill>
              </a:rPr>
              <a:t> specifică numele tipului de enumerare.</a:t>
            </a:r>
          </a:p>
          <a:p>
            <a:pPr marL="34290" indent="0" algn="just">
              <a:buNone/>
            </a:pPr>
            <a:r>
              <a:rPr lang="ro-RO" sz="2800" noProof="0" dirty="0" err="1">
                <a:solidFill>
                  <a:srgbClr val="00B0F0"/>
                </a:solidFill>
              </a:rPr>
              <a:t>enumeration_list</a:t>
            </a:r>
            <a:r>
              <a:rPr lang="ro-RO" sz="2800" noProof="0" dirty="0">
                <a:solidFill>
                  <a:srgbClr val="00B0F0"/>
                </a:solidFill>
              </a:rPr>
              <a:t> este o listă de identificatori separați prin virgulă.</a:t>
            </a:r>
          </a:p>
        </p:txBody>
      </p:sp>
    </p:spTree>
    <p:extLst>
      <p:ext uri="{BB962C8B-B14F-4D97-AF65-F5344CB8AC3E}">
        <p14:creationId xmlns:p14="http://schemas.microsoft.com/office/powerpoint/2010/main" val="14307128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A5FAA-77F3-5C90-918E-136F63D3D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1DF9D44-8124-2F5A-E46E-223F3908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2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F49B775-18D6-866A-E706-4F33021C35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Fiecare dintre simbolurile din lista de enumerare reprezintă o valoare întreagă, cu una mai mare decât simbolul care îl </a:t>
            </a:r>
            <a:r>
              <a:rPr lang="ro-RO" sz="2800" noProof="0" dirty="0" err="1">
                <a:solidFill>
                  <a:srgbClr val="00B0F0"/>
                </a:solidFill>
              </a:rPr>
              <a:t>precede</a:t>
            </a:r>
            <a:r>
              <a:rPr lang="ro-RO" sz="2800" noProof="0" dirty="0">
                <a:solidFill>
                  <a:srgbClr val="00B0F0"/>
                </a:solidFill>
              </a:rPr>
              <a:t>. În mod implicit, valoarea primului simbol de enumerare este 0. De exemplu:</a:t>
            </a:r>
          </a:p>
          <a:p>
            <a:pPr marL="34290" indent="0" algn="just">
              <a:buNone/>
            </a:pP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enum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Days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{ Sun,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Mon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tue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Wed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thu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Fri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, Sat };</a:t>
            </a:r>
          </a:p>
          <a:p>
            <a:pPr marL="34290" indent="0" algn="just">
              <a:buNone/>
            </a:pPr>
            <a:endParaRPr lang="ro-RO" sz="2800" b="1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3497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F8FA0-B855-90DD-176C-67306F972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A3B485-1862-0933-F771-911A12914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2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D195DD1-1044-277D-B2CD-C7BFCC6BE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Exemplu de enumerare (</a:t>
            </a:r>
            <a:r>
              <a:rPr lang="ro-RO" sz="2800" noProof="0" dirty="0" err="1">
                <a:solidFill>
                  <a:srgbClr val="00B0F0"/>
                </a:solidFill>
              </a:rPr>
              <a:t>Enum</a:t>
            </a:r>
            <a:r>
              <a:rPr lang="ro-RO" sz="2800" noProof="0" dirty="0">
                <a:solidFill>
                  <a:srgbClr val="00B0F0"/>
                </a:solidFill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ro-RO" sz="2000" b="1" noProof="0" dirty="0">
              <a:solidFill>
                <a:srgbClr val="C586C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 err="1">
                <a:solidFill>
                  <a:srgbClr val="C586C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4EC9B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System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namespace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4EC9B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EnumApplication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 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4EC9B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EnumProgram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   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4EC9B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Days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Sun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Mon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tue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Wed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thu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Fri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Sat 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>
              <a:lnSpc>
                <a:spcPts val="1425"/>
              </a:lnSpc>
              <a:buNone/>
            </a:pPr>
            <a:b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  </a:t>
            </a:r>
            <a:r>
              <a:rPr lang="ro-RO" sz="2000" b="1" noProof="0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DCDC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[]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     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WeekdayStart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Days</a:t>
            </a:r>
            <a:r>
              <a:rPr lang="ro-RO" sz="2000" b="1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Mon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     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WeekdayEnd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Days</a:t>
            </a:r>
            <a:r>
              <a:rPr lang="ro-RO" sz="2000" b="1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Fri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    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    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</a:t>
            </a:r>
            <a:r>
              <a:rPr lang="ro-RO" sz="2000" b="1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 err="1">
                <a:solidFill>
                  <a:srgbClr val="DCDC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WriteLine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o-RO" sz="2000" b="1" noProof="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Monday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{0}"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WeekdayStart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    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</a:t>
            </a:r>
            <a:r>
              <a:rPr lang="ro-RO" sz="2000" b="1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 err="1">
                <a:solidFill>
                  <a:srgbClr val="DCDC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WriteLine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o-RO" sz="2000" b="1" noProof="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Friday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{0}"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WeekdayEnd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     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</a:t>
            </a:r>
            <a:r>
              <a:rPr lang="ro-RO" sz="2000" b="1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 err="1">
                <a:solidFill>
                  <a:srgbClr val="DCDC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ReadKey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  }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 }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endParaRPr lang="ro-RO" sz="2000" b="1" noProof="0" dirty="0">
              <a:solidFill>
                <a:srgbClr val="CCCC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ro-RO" sz="2000" b="1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Monday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1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ro-RO" sz="2000" b="1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Friday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5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94732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80F13-15ED-D23D-16C7-906B5E9F3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2E181B-71AF-E18E-D7AF-D93B626C0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2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BB923B0-D445-2A30-E135-3565A461B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Specificarea valorilor </a:t>
            </a:r>
            <a:r>
              <a:rPr lang="ro-RO" sz="2800" noProof="0" dirty="0" err="1">
                <a:solidFill>
                  <a:srgbClr val="00B0F0"/>
                </a:solidFill>
              </a:rPr>
              <a:t>enum</a:t>
            </a: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Prima constantă </a:t>
            </a:r>
            <a:r>
              <a:rPr lang="ro-RO" sz="2800" noProof="0" dirty="0" err="1">
                <a:solidFill>
                  <a:srgbClr val="00B0F0"/>
                </a:solidFill>
              </a:rPr>
              <a:t>enum</a:t>
            </a:r>
            <a:r>
              <a:rPr lang="ro-RO" sz="2800" noProof="0" dirty="0">
                <a:solidFill>
                  <a:srgbClr val="00B0F0"/>
                </a:solidFill>
              </a:rPr>
              <a:t> începe cu 0, iar constantele următoare cresc secvențial. Cu toate acestea, putem specifica și valori personalizate pentru constantele </a:t>
            </a:r>
            <a:r>
              <a:rPr lang="ro-RO" sz="2800" noProof="0" dirty="0" err="1">
                <a:solidFill>
                  <a:srgbClr val="00B0F0"/>
                </a:solidFill>
              </a:rPr>
              <a:t>enum</a:t>
            </a:r>
            <a:r>
              <a:rPr lang="ro-RO" sz="2800" noProof="0" dirty="0">
                <a:solidFill>
                  <a:srgbClr val="00B0F0"/>
                </a:solidFill>
              </a:rPr>
              <a:t> în timpul declarării acestora.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12399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617A0-F4A4-F67B-16BE-A1FE41B45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6E10281-2214-7864-744A-F4065FC8B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2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4662BB-6221-6202-48B2-D3C747981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>
              <a:lnSpc>
                <a:spcPts val="1425"/>
              </a:lnSpc>
              <a:buNone/>
            </a:pPr>
            <a:r>
              <a:rPr lang="ro-RO" sz="2000" b="1" noProof="0" dirty="0" err="1">
                <a:solidFill>
                  <a:srgbClr val="C586C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4EC9B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System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ro-RO" sz="2000" b="1" noProof="0" dirty="0">
              <a:solidFill>
                <a:srgbClr val="CCCCCC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4EC9B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StatusCode</a:t>
            </a:r>
            <a:endParaRPr lang="ro-RO" sz="2000" b="1" noProof="0" dirty="0">
              <a:solidFill>
                <a:srgbClr val="CCCCCC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Success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B5CEA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200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NotFound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B5CEA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404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ServerError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B5CEA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500</a:t>
            </a:r>
            <a:endParaRPr lang="ro-RO" sz="2000" b="1" noProof="0" dirty="0">
              <a:solidFill>
                <a:srgbClr val="CCCCCC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4EC9B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Program</a:t>
            </a:r>
            <a:endParaRPr lang="ro-RO" sz="2000" b="1" noProof="0" dirty="0">
              <a:solidFill>
                <a:srgbClr val="CCCCCC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</a:t>
            </a:r>
            <a:r>
              <a:rPr lang="ro-RO" sz="2000" b="1" noProof="0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DCDC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{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</a:t>
            </a:r>
            <a:r>
              <a:rPr lang="ro-RO" sz="2000" b="1" noProof="0" dirty="0" err="1">
                <a:solidFill>
                  <a:srgbClr val="4EC9B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StatusCode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status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StatusCode</a:t>
            </a:r>
            <a:r>
              <a:rPr lang="ro-RO" sz="2000" b="1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NotFound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</a:t>
            </a:r>
            <a:r>
              <a:rPr lang="ro-RO" sz="2000" b="1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 err="1">
                <a:solidFill>
                  <a:srgbClr val="DCDC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WriteLine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"Status: "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status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</a:t>
            </a:r>
            <a:r>
              <a:rPr lang="ro-RO" sz="2000" b="1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 err="1">
                <a:solidFill>
                  <a:srgbClr val="DCDC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WriteLine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"Numeric </a:t>
            </a:r>
            <a:r>
              <a:rPr lang="ro-RO" sz="2000" b="1" noProof="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"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status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}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endParaRPr lang="ro-RO" sz="2000" b="1" noProof="0" dirty="0">
              <a:solidFill>
                <a:srgbClr val="CCCC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Status: </a:t>
            </a:r>
            <a:r>
              <a:rPr lang="ro-RO" sz="2000" b="1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NotFound</a:t>
            </a:r>
            <a:endParaRPr lang="ro-RO" sz="2000" b="1" noProof="0" dirty="0">
              <a:solidFill>
                <a:srgbClr val="CCCCCC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Numeric </a:t>
            </a:r>
            <a:r>
              <a:rPr lang="ro-RO" sz="2000" b="1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404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15612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36EF1-5516-C19B-C3CE-2780EF1AE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E3AE11C-A8E5-5EAA-219C-A6394329D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2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AD93F7B-3E24-F211-D53B-4ABA4401D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Combinarea mai multor valori folosind indicatori </a:t>
            </a:r>
            <a:r>
              <a:rPr lang="ro-RO" sz="2800" noProof="0" dirty="0" err="1">
                <a:solidFill>
                  <a:srgbClr val="00B0F0"/>
                </a:solidFill>
              </a:rPr>
              <a:t>Enum</a:t>
            </a: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Utilizând atributul [</a:t>
            </a:r>
            <a:r>
              <a:rPr lang="ro-RO" sz="2800" noProof="0" dirty="0" err="1">
                <a:solidFill>
                  <a:srgbClr val="00B0F0"/>
                </a:solidFill>
              </a:rPr>
              <a:t>Flags</a:t>
            </a:r>
            <a:r>
              <a:rPr lang="ro-RO" sz="2800" noProof="0" dirty="0">
                <a:solidFill>
                  <a:srgbClr val="00B0F0"/>
                </a:solidFill>
              </a:rPr>
              <a:t>], puteți combina mai multe valori </a:t>
            </a:r>
            <a:r>
              <a:rPr lang="ro-RO" sz="2800" noProof="0" dirty="0" err="1">
                <a:solidFill>
                  <a:srgbClr val="00B0F0"/>
                </a:solidFill>
              </a:rPr>
              <a:t>enum</a:t>
            </a:r>
            <a:r>
              <a:rPr lang="ro-RO" sz="2800" noProof="0" dirty="0">
                <a:solidFill>
                  <a:srgbClr val="00B0F0"/>
                </a:solidFill>
              </a:rPr>
              <a:t> folosind operatori pe biți, ceea ce este util pentru programele în care trebuie să gestionați permisiuni sau setări.</a:t>
            </a:r>
          </a:p>
        </p:txBody>
      </p:sp>
    </p:spTree>
    <p:extLst>
      <p:ext uri="{BB962C8B-B14F-4D97-AF65-F5344CB8AC3E}">
        <p14:creationId xmlns:p14="http://schemas.microsoft.com/office/powerpoint/2010/main" val="37717712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C7552-A991-0EDB-80A2-8BD1500B1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A57CA99-6B09-A643-0FB4-BD140159A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2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7C61093-A48E-E631-F0C5-45B46A2E6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>
              <a:lnSpc>
                <a:spcPts val="1425"/>
              </a:lnSpc>
              <a:buNone/>
            </a:pPr>
            <a:r>
              <a:rPr lang="ro-RO" sz="2000" b="1" noProof="0" dirty="0" err="1">
                <a:solidFill>
                  <a:srgbClr val="C586C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4EC9B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System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ro-RO" sz="2000" b="1" noProof="0" dirty="0">
              <a:solidFill>
                <a:srgbClr val="CCCCCC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ro-RO" sz="2000" b="1" noProof="0" dirty="0" err="1">
                <a:solidFill>
                  <a:srgbClr val="4EC9B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Flags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6A99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ro-RO" sz="2000" b="1" noProof="0" dirty="0" err="1">
                <a:solidFill>
                  <a:srgbClr val="6A99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Defining</a:t>
            </a:r>
            <a:r>
              <a:rPr lang="ro-RO" sz="2000" b="1" noProof="0" dirty="0">
                <a:solidFill>
                  <a:srgbClr val="6A99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an </a:t>
            </a:r>
            <a:r>
              <a:rPr lang="ro-RO" sz="2000" b="1" noProof="0" dirty="0" err="1">
                <a:solidFill>
                  <a:srgbClr val="6A99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ro-RO" sz="2000" b="1" noProof="0" dirty="0">
                <a:solidFill>
                  <a:srgbClr val="6A99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6A99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lang="ro-RO" sz="2000" b="1" noProof="0" dirty="0">
                <a:solidFill>
                  <a:srgbClr val="6A99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6A99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bitwise</a:t>
            </a:r>
            <a:r>
              <a:rPr lang="ro-RO" sz="2000" b="1" noProof="0" dirty="0">
                <a:solidFill>
                  <a:srgbClr val="6A99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6A99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flags</a:t>
            </a:r>
            <a:r>
              <a:rPr lang="ro-RO" sz="2000" b="1" noProof="0" dirty="0">
                <a:solidFill>
                  <a:srgbClr val="6A99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for </a:t>
            </a:r>
            <a:r>
              <a:rPr lang="ro-RO" sz="2000" b="1" noProof="0" dirty="0" err="1">
                <a:solidFill>
                  <a:srgbClr val="6A99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permissions</a:t>
            </a:r>
            <a:endParaRPr lang="ro-RO" sz="2000" b="1" noProof="0" dirty="0">
              <a:solidFill>
                <a:srgbClr val="CCCCCC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4EC9B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Permissions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B5CEA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Read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B5CEA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Write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B5CEA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Execute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B5CEA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FullControl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Read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|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Write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|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Execute</a:t>
            </a:r>
            <a:endParaRPr lang="ro-RO" sz="2000" b="1" noProof="0" dirty="0">
              <a:solidFill>
                <a:srgbClr val="CCCCCC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endParaRPr lang="ro-RO" sz="2000" b="1" noProof="0" dirty="0">
              <a:solidFill>
                <a:srgbClr val="CCCCCC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4EC9B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Program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ro-RO" sz="2000" b="1" noProof="0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DCDC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6A99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// </a:t>
            </a:r>
            <a:r>
              <a:rPr lang="ro-RO" sz="2000" b="1" noProof="0" dirty="0" err="1">
                <a:solidFill>
                  <a:srgbClr val="6A99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Assigning</a:t>
            </a:r>
            <a:endParaRPr lang="ro-RO" sz="2000" b="1" noProof="0" dirty="0">
              <a:solidFill>
                <a:srgbClr val="CCCCCC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ro-RO" sz="2000" b="1" noProof="0" dirty="0" err="1">
                <a:solidFill>
                  <a:srgbClr val="4EC9B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Permissions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userPermissions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Permissions</a:t>
            </a:r>
            <a:r>
              <a:rPr lang="ro-RO" sz="2000" b="1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Read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|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Permissions</a:t>
            </a:r>
            <a:r>
              <a:rPr lang="ro-RO" sz="2000" b="1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Write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ro-RO" sz="2000" b="1" noProof="0" dirty="0">
              <a:solidFill>
                <a:srgbClr val="CCCCCC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6A99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// </a:t>
            </a:r>
            <a:r>
              <a:rPr lang="ro-RO" sz="2000" b="1" noProof="0" dirty="0" err="1">
                <a:solidFill>
                  <a:srgbClr val="6A99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Displaying</a:t>
            </a:r>
            <a:endParaRPr lang="ro-RO" sz="2000" b="1" noProof="0" dirty="0">
              <a:solidFill>
                <a:srgbClr val="CCCCCC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</a:t>
            </a:r>
            <a:r>
              <a:rPr lang="ro-RO" sz="2000" b="1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 err="1">
                <a:solidFill>
                  <a:srgbClr val="DCDC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WriteLine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$"</a:t>
            </a:r>
            <a:r>
              <a:rPr lang="ro-RO" sz="2000" b="1" noProof="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User's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Permissions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userPermissions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b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ro-RO" sz="2000" b="1" noProof="0" dirty="0">
              <a:solidFill>
                <a:srgbClr val="CCCCCC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90194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6BF92-775E-633E-43AB-8074B72BB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B2E8251-F993-EDC8-D8F3-4ED91441B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2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5ED60A3-060E-15F0-8FA5-7D5159632A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6A99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6A99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    // </a:t>
            </a:r>
            <a:r>
              <a:rPr lang="ro-RO" sz="2000" b="1" noProof="0" dirty="0" err="1">
                <a:solidFill>
                  <a:srgbClr val="6A99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Checking</a:t>
            </a:r>
            <a:endParaRPr lang="ro-RO" sz="2000" b="1" noProof="0" dirty="0">
              <a:solidFill>
                <a:srgbClr val="CCCC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ro-RO" sz="2000" b="1" noProof="0" dirty="0" err="1">
                <a:solidFill>
                  <a:srgbClr val="9CDCF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Console</a:t>
            </a:r>
            <a:r>
              <a:rPr lang="ro-RO" sz="2000" b="1" noProof="0" dirty="0" err="1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 err="1">
                <a:solidFill>
                  <a:srgbClr val="DCDCA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WriteLine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o-RO" sz="2000" b="1" noProof="0" dirty="0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$"</a:t>
            </a:r>
            <a:r>
              <a:rPr lang="ro-RO" sz="2000" b="1" noProof="0" dirty="0" err="1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You</a:t>
            </a:r>
            <a:r>
              <a:rPr lang="ro-RO" sz="2000" b="1" noProof="0" dirty="0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Have</a:t>
            </a:r>
            <a:r>
              <a:rPr lang="ro-RO" sz="2000" b="1" noProof="0" dirty="0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</a:t>
            </a:r>
            <a:r>
              <a:rPr lang="ro-RO" sz="2000" b="1" noProof="0" dirty="0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Permission</a:t>
            </a:r>
            <a:r>
              <a:rPr lang="ro-RO" sz="2000" b="1" noProof="0" dirty="0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? </a:t>
            </a:r>
            <a:r>
              <a:rPr lang="ro-RO" sz="2000" b="1" noProof="0" dirty="0">
                <a:solidFill>
                  <a:srgbClr val="D4D4D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ro-RO" sz="2000" b="1" noProof="0" dirty="0" err="1">
                <a:solidFill>
                  <a:srgbClr val="9CDCF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userPermissions</a:t>
            </a:r>
            <a:r>
              <a:rPr lang="ro-RO" sz="2000" b="1" noProof="0" dirty="0" err="1">
                <a:solidFill>
                  <a:srgbClr val="D4D4D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 err="1">
                <a:solidFill>
                  <a:srgbClr val="DCDCA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HasFlag</a:t>
            </a:r>
            <a:r>
              <a:rPr lang="ro-RO" sz="2000" b="1" noProof="0" dirty="0">
                <a:solidFill>
                  <a:srgbClr val="D4D4D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o-RO" sz="2000" b="1" noProof="0" dirty="0" err="1">
                <a:solidFill>
                  <a:srgbClr val="9CDCF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Permissions</a:t>
            </a:r>
            <a:r>
              <a:rPr lang="ro-RO" sz="2000" b="1" noProof="0" dirty="0" err="1">
                <a:solidFill>
                  <a:srgbClr val="D4D4D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 err="1">
                <a:solidFill>
                  <a:srgbClr val="9CDCF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</a:t>
            </a:r>
            <a:r>
              <a:rPr lang="ro-RO" sz="2000" b="1" noProof="0" dirty="0">
                <a:solidFill>
                  <a:srgbClr val="D4D4D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)}</a:t>
            </a:r>
            <a:r>
              <a:rPr lang="ro-RO" sz="2000" b="1" noProof="0" dirty="0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ro-RO" sz="2000" b="1" noProof="0" dirty="0" err="1">
                <a:solidFill>
                  <a:srgbClr val="9CDCF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Console</a:t>
            </a:r>
            <a:r>
              <a:rPr lang="ro-RO" sz="2000" b="1" noProof="0" dirty="0" err="1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 err="1">
                <a:solidFill>
                  <a:srgbClr val="DCDCA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WriteLine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o-RO" sz="2000" b="1" noProof="0" dirty="0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$"</a:t>
            </a:r>
            <a:r>
              <a:rPr lang="ro-RO" sz="2000" b="1" noProof="0" dirty="0" err="1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You</a:t>
            </a:r>
            <a:r>
              <a:rPr lang="ro-RO" sz="2000" b="1" noProof="0" dirty="0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Have</a:t>
            </a:r>
            <a:r>
              <a:rPr lang="ro-RO" sz="2000" b="1" noProof="0" dirty="0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Execute </a:t>
            </a:r>
            <a:r>
              <a:rPr lang="ro-RO" sz="2000" b="1" noProof="0" dirty="0" err="1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Permission</a:t>
            </a:r>
            <a:r>
              <a:rPr lang="ro-RO" sz="2000" b="1" noProof="0" dirty="0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? </a:t>
            </a:r>
            <a:r>
              <a:rPr lang="ro-RO" sz="2000" b="1" noProof="0" dirty="0">
                <a:solidFill>
                  <a:srgbClr val="D4D4D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ro-RO" sz="2000" b="1" noProof="0" dirty="0" err="1">
                <a:solidFill>
                  <a:srgbClr val="9CDCF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userPermissions</a:t>
            </a:r>
            <a:r>
              <a:rPr lang="ro-RO" sz="2000" b="1" noProof="0" dirty="0" err="1">
                <a:solidFill>
                  <a:srgbClr val="D4D4D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 err="1">
                <a:solidFill>
                  <a:srgbClr val="DCDCA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HasFlag</a:t>
            </a:r>
            <a:r>
              <a:rPr lang="ro-RO" sz="2000" b="1" noProof="0" dirty="0">
                <a:solidFill>
                  <a:srgbClr val="D4D4D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o-RO" sz="2000" b="1" noProof="0" dirty="0" err="1">
                <a:solidFill>
                  <a:srgbClr val="9CDCF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Permissions</a:t>
            </a:r>
            <a:r>
              <a:rPr lang="ro-RO" sz="2000" b="1" noProof="0" dirty="0" err="1">
                <a:solidFill>
                  <a:srgbClr val="D4D4D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 err="1">
                <a:solidFill>
                  <a:srgbClr val="9CDCF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Execute</a:t>
            </a:r>
            <a:r>
              <a:rPr lang="ro-RO" sz="2000" b="1" noProof="0" dirty="0">
                <a:solidFill>
                  <a:srgbClr val="D4D4D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)}</a:t>
            </a:r>
            <a:r>
              <a:rPr lang="ro-RO" sz="2000" b="1" noProof="0" dirty="0">
                <a:solidFill>
                  <a:srgbClr val="CE91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31537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99633-5C32-B01E-0FB3-4C97E2A23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0F8361-1B0D-8424-175B-6397CA67F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2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566A517-08EE-2A10-27E6-E25019D48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Conversia in enumerări din șiruri de caractere sau numere întregi</a:t>
            </a:r>
            <a:endParaRPr lang="en-US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Pute</a:t>
            </a:r>
            <a:r>
              <a:rPr lang="en-US" sz="2800" noProof="0" dirty="0">
                <a:solidFill>
                  <a:srgbClr val="00B0F0"/>
                </a:solidFill>
              </a:rPr>
              <a:t>m</a:t>
            </a:r>
            <a:r>
              <a:rPr lang="ro-RO" sz="2800" noProof="0" dirty="0">
                <a:solidFill>
                  <a:srgbClr val="00B0F0"/>
                </a:solidFill>
              </a:rPr>
              <a:t> converti enumerările atât din valori de tip șir de caractere, cât și din valori întregi. Pentru a converti dintr-un șir de caractere într-o enumerare, utilizați metoda </a:t>
            </a:r>
            <a:r>
              <a:rPr lang="ro-RO" sz="2800" noProof="0" dirty="0" err="1">
                <a:solidFill>
                  <a:srgbClr val="00B0F0"/>
                </a:solidFill>
              </a:rPr>
              <a:t>Enum.Parse</a:t>
            </a:r>
            <a:r>
              <a:rPr lang="ro-RO" sz="2800" noProof="0" dirty="0">
                <a:solidFill>
                  <a:srgbClr val="00B0F0"/>
                </a:solidFill>
              </a:rPr>
              <a:t>(). Pentru a converti dintr-un număr întreg într-un șir de caractere, utilizați pur și simplu numele enumerării.</a:t>
            </a:r>
          </a:p>
        </p:txBody>
      </p:sp>
    </p:spTree>
    <p:extLst>
      <p:ext uri="{BB962C8B-B14F-4D97-AF65-F5344CB8AC3E}">
        <p14:creationId xmlns:p14="http://schemas.microsoft.com/office/powerpoint/2010/main" val="39899114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FBB03-DF1F-F5A9-1AA5-CCC6EFBC0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D5FA61B-2B92-F60D-B7C3-97C36EE15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2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B614C0-36A8-FDD0-0271-5AA6BD017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>
              <a:lnSpc>
                <a:spcPts val="1425"/>
              </a:lnSpc>
              <a:buNone/>
            </a:pPr>
            <a:r>
              <a:rPr lang="ro-RO" sz="2000" b="1" noProof="0" dirty="0" err="1">
                <a:solidFill>
                  <a:srgbClr val="C586C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4EC9B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System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ro-RO" sz="2000" b="1" noProof="0" dirty="0">
              <a:solidFill>
                <a:srgbClr val="CCCCCC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4EC9B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OrderStatus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Pending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B5CEA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Processing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B5CEA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Shipped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B5CEA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Delivered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B5CEA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endParaRPr lang="ro-RO" sz="2000" b="1" noProof="0" dirty="0">
              <a:solidFill>
                <a:srgbClr val="CCCCCC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endParaRPr lang="ro-RO" sz="2000" b="1" noProof="0" dirty="0">
              <a:solidFill>
                <a:srgbClr val="CCCCCC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4EC9B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Program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ro-RO" sz="2000" b="1" noProof="0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DCDC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6A99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// </a:t>
            </a:r>
            <a:r>
              <a:rPr lang="ro-RO" sz="2000" b="1" noProof="0" dirty="0" err="1">
                <a:solidFill>
                  <a:srgbClr val="6A99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Convert</a:t>
            </a:r>
            <a:r>
              <a:rPr lang="ro-RO" sz="2000" b="1" noProof="0" dirty="0">
                <a:solidFill>
                  <a:srgbClr val="6A99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6A99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ro-RO" sz="2000" b="1" noProof="0" dirty="0">
                <a:solidFill>
                  <a:srgbClr val="6A99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6A99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lang="ro-RO" sz="2000" b="1" noProof="0" dirty="0">
                <a:solidFill>
                  <a:srgbClr val="6A99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6A99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endParaRPr lang="ro-RO" sz="2000" b="1" noProof="0" dirty="0">
              <a:solidFill>
                <a:srgbClr val="CCCCCC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o-RO" sz="2000" b="1" noProof="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Processing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ro-RO" sz="2000" b="1" noProof="0" dirty="0" err="1">
                <a:solidFill>
                  <a:srgbClr val="4EC9B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OrderStatus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statusFromString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ro-RO" sz="2000" b="1" noProof="0" dirty="0" err="1">
                <a:solidFill>
                  <a:srgbClr val="4EC9B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OrderStatus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ro-RO" sz="2000" b="1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 err="1">
                <a:solidFill>
                  <a:srgbClr val="DCDC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Parse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typeof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o-RO" sz="2000" b="1" noProof="0" dirty="0" err="1">
                <a:solidFill>
                  <a:srgbClr val="4EC9B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OrderStatus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), 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</a:t>
            </a:r>
            <a:r>
              <a:rPr lang="ro-RO" sz="2000" b="1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 err="1">
                <a:solidFill>
                  <a:srgbClr val="DCDC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WriteLine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$"</a:t>
            </a:r>
            <a:r>
              <a:rPr lang="ro-RO" sz="2000" b="1" noProof="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Converted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statusFromString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6A99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// </a:t>
            </a:r>
            <a:r>
              <a:rPr lang="ro-RO" sz="2000" b="1" noProof="0" dirty="0" err="1">
                <a:solidFill>
                  <a:srgbClr val="6A99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Convert</a:t>
            </a:r>
            <a:r>
              <a:rPr lang="ro-RO" sz="2000" b="1" noProof="0" dirty="0">
                <a:solidFill>
                  <a:srgbClr val="6A99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6A99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lang="ro-RO" sz="2000" b="1" noProof="0" dirty="0">
                <a:solidFill>
                  <a:srgbClr val="6A99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6A99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lang="ro-RO" sz="2000" b="1" noProof="0" dirty="0">
                <a:solidFill>
                  <a:srgbClr val="6A99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6A99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endParaRPr lang="ro-RO" sz="2000" b="1" noProof="0" dirty="0">
              <a:solidFill>
                <a:srgbClr val="CCCCCC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B5CEA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ro-RO" sz="2000" b="1" noProof="0" dirty="0" err="1">
                <a:solidFill>
                  <a:srgbClr val="4EC9B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OrderStatus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statusFromInt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ro-RO" sz="2000" b="1" noProof="0" dirty="0" err="1">
                <a:solidFill>
                  <a:srgbClr val="4EC9B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OrderStatus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</a:t>
            </a:r>
            <a:r>
              <a:rPr lang="ro-RO" sz="2000" b="1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o-RO" sz="2000" b="1" noProof="0" dirty="0" err="1">
                <a:solidFill>
                  <a:srgbClr val="DCDC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WriteLine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$"</a:t>
            </a:r>
            <a:r>
              <a:rPr lang="ro-RO" sz="2000" b="1" noProof="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Converted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sz="2000" b="1" noProof="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statusFromInt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22254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ldTheme">
  <a:themeElements>
    <a:clrScheme name="Perspective">
      <a:dk1>
        <a:sysClr val="windowText" lastClr="000000"/>
      </a:dk1>
      <a:lt1>
        <a:sysClr val="window" lastClr="FFFFFF"/>
      </a:lt1>
      <a:dk2>
        <a:srgbClr val="283138"/>
      </a:dk2>
      <a:lt2>
        <a:srgbClr val="FF8600"/>
      </a:lt2>
      <a:accent1>
        <a:srgbClr val="838D9B"/>
      </a:accent1>
      <a:accent2>
        <a:srgbClr val="D2610C"/>
      </a:accent2>
      <a:accent3>
        <a:srgbClr val="80716A"/>
      </a:accent3>
      <a:accent4>
        <a:srgbClr val="94147C"/>
      </a:accent4>
      <a:accent5>
        <a:srgbClr val="5D5AD2"/>
      </a:accent5>
      <a:accent6>
        <a:srgbClr val="6F6C7D"/>
      </a:accent6>
      <a:hlink>
        <a:srgbClr val="6187E3"/>
      </a:hlink>
      <a:folHlink>
        <a:srgbClr val="7B8EB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erspec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60000"/>
                <a:lumMod val="105000"/>
              </a:schemeClr>
            </a:gs>
            <a:gs pos="41000">
              <a:schemeClr val="phClr">
                <a:tint val="57000"/>
                <a:satMod val="180000"/>
                <a:lumMod val="99000"/>
              </a:schemeClr>
            </a:gs>
            <a:gs pos="100000">
              <a:schemeClr val="phClr">
                <a:tint val="80000"/>
                <a:satMod val="20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6000"/>
                <a:satMod val="130000"/>
                <a:lumMod val="114000"/>
              </a:schemeClr>
            </a:gs>
            <a:gs pos="60000">
              <a:schemeClr val="phClr">
                <a:tint val="100000"/>
                <a:satMod val="106000"/>
                <a:lumMod val="110000"/>
              </a:schemeClr>
            </a:gs>
            <a:gs pos="100000">
              <a:schemeClr val="phClr"/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47625" dist="38100" dir="5400000" sy="98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woPt" dir="br">
              <a:rot lat="0" lon="0" rev="8700000"/>
            </a:lightRig>
          </a:scene3d>
          <a:sp3d prstMaterial="matte">
            <a:bevelT w="25400" h="53975"/>
          </a:sp3d>
        </a:effectStyle>
        <a:effectStyle>
          <a:effectLst>
            <a:reflection blurRad="12700" stA="24000" endPos="28000" dist="50800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6985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00000"/>
                <a:lumMod val="100000"/>
              </a:schemeClr>
            </a:gs>
            <a:gs pos="65000">
              <a:schemeClr val="phClr">
                <a:tint val="100000"/>
                <a:shade val="95000"/>
                <a:satMod val="100000"/>
                <a:lumMod val="100000"/>
              </a:schemeClr>
            </a:gs>
            <a:gs pos="100000">
              <a:schemeClr val="phClr">
                <a:tint val="88000"/>
                <a:shade val="100000"/>
                <a:satMod val="400000"/>
                <a:lumMod val="1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  <a:satMod val="90000"/>
              </a:schemeClr>
              <a:schemeClr val="phClr">
                <a:shade val="92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ldTheme" id="{E044F4A2-B66D-45C2-96C7-FCDC24F4574A}" vid="{A3C9D0F2-0975-40A9-A9D7-E4850D5DE04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1979</TotalTime>
  <Words>2614</Words>
  <Application>Microsoft Office PowerPoint</Application>
  <PresentationFormat>On-screen Show (4:3)</PresentationFormat>
  <Paragraphs>377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Consolas</vt:lpstr>
      <vt:lpstr>Courier New</vt:lpstr>
      <vt:lpstr>Wingdings</vt:lpstr>
      <vt:lpstr>oldTheme</vt:lpstr>
      <vt:lpstr>C#POO - Cursul 2</vt:lpstr>
      <vt:lpstr>C#POO - Cursul 2</vt:lpstr>
      <vt:lpstr>C#POO - Cursul 2</vt:lpstr>
      <vt:lpstr>C#POO - Cursul 2</vt:lpstr>
      <vt:lpstr>C#POO - Cursul 2</vt:lpstr>
      <vt:lpstr>C#POO - Cursul 2</vt:lpstr>
      <vt:lpstr>C#POO - Cursul 2</vt:lpstr>
      <vt:lpstr>C#POO - Cursul 2</vt:lpstr>
      <vt:lpstr>C#POO - Cursul 2</vt:lpstr>
      <vt:lpstr>C#POO - Cursul 2</vt:lpstr>
      <vt:lpstr>C#POO - Cursul 2</vt:lpstr>
      <vt:lpstr>C#POO - Cursul 2</vt:lpstr>
      <vt:lpstr>C#POO - Cursul 2</vt:lpstr>
      <vt:lpstr>C#POO - Cursul 2</vt:lpstr>
      <vt:lpstr>C#POO - Cursul 2</vt:lpstr>
      <vt:lpstr>C#POO - Cursul 2</vt:lpstr>
      <vt:lpstr>C#POO - Cursul 2</vt:lpstr>
      <vt:lpstr>C#POO - Cursul 2</vt:lpstr>
      <vt:lpstr>C#POO - Cursul 2</vt:lpstr>
      <vt:lpstr>C#POO - Cursul 2</vt:lpstr>
      <vt:lpstr>C#POO - Cursul 2</vt:lpstr>
      <vt:lpstr>C#POO - Cursul 2</vt:lpstr>
      <vt:lpstr>C#POO - Cursul 2</vt:lpstr>
      <vt:lpstr>C#POO - Cursul 2</vt:lpstr>
      <vt:lpstr>C#POO - Cursul 2</vt:lpstr>
      <vt:lpstr>C#POO - Cursul 2</vt:lpstr>
      <vt:lpstr>C#POO - Cursul 2</vt:lpstr>
      <vt:lpstr>C#POO - Cursul 2</vt:lpstr>
      <vt:lpstr>C#POO - Cursul 2</vt:lpstr>
      <vt:lpstr>C#POO - Cursul 2</vt:lpstr>
      <vt:lpstr>C#POO - Cursul 2</vt:lpstr>
      <vt:lpstr>C#POO - Cursul 2</vt:lpstr>
      <vt:lpstr>C#POO - Cursul 2</vt:lpstr>
      <vt:lpstr>C#POO - Cursul 2</vt:lpstr>
      <vt:lpstr>C#POO - Cursul 2</vt:lpstr>
      <vt:lpstr>C#POO - Cursul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Licenta A3 - Facultatea de Informatica și Ştiinţe</dc:creator>
  <cp:lastModifiedBy>Licenta A3 - Facultatea de Informatica și Ştiinţe</cp:lastModifiedBy>
  <cp:revision>21</cp:revision>
  <dcterms:created xsi:type="dcterms:W3CDTF">2025-10-05T09:43:55Z</dcterms:created>
  <dcterms:modified xsi:type="dcterms:W3CDTF">2026-03-03T07:57:06Z</dcterms:modified>
</cp:coreProperties>
</file>
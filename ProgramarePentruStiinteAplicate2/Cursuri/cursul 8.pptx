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21" r:id="rId3"/>
    <p:sldId id="326" r:id="rId4"/>
    <p:sldId id="322" r:id="rId5"/>
    <p:sldId id="323" r:id="rId6"/>
    <p:sldId id="324" r:id="rId7"/>
    <p:sldId id="325" r:id="rId8"/>
    <p:sldId id="327" r:id="rId9"/>
    <p:sldId id="328" r:id="rId10"/>
    <p:sldId id="329" r:id="rId11"/>
    <p:sldId id="330" r:id="rId12"/>
    <p:sldId id="331" r:id="rId13"/>
    <p:sldId id="333" r:id="rId14"/>
    <p:sldId id="334" r:id="rId15"/>
    <p:sldId id="335" r:id="rId16"/>
    <p:sldId id="336" r:id="rId17"/>
    <p:sldId id="337" r:id="rId18"/>
    <p:sldId id="338" r:id="rId19"/>
    <p:sldId id="339" r:id="rId20"/>
    <p:sldId id="340" r:id="rId21"/>
    <p:sldId id="341" r:id="rId22"/>
    <p:sldId id="342" r:id="rId23"/>
    <p:sldId id="34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43" autoAdjust="0"/>
    <p:restoredTop sz="94660"/>
  </p:normalViewPr>
  <p:slideViewPr>
    <p:cSldViewPr snapToGrid="0">
      <p:cViewPr varScale="1">
        <p:scale>
          <a:sx n="107" d="100"/>
          <a:sy n="107" d="100"/>
        </p:scale>
        <p:origin x="15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4/18/2026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4/18/2026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Programarea orientată pe obiecte</a:t>
            </a:r>
          </a:p>
          <a:p>
            <a:pPr algn="just"/>
            <a:r>
              <a:rPr lang="ro-RO" sz="2800" noProof="0" dirty="0">
                <a:solidFill>
                  <a:srgbClr val="00B0F0"/>
                </a:solidFill>
              </a:rPr>
              <a:t> </a:t>
            </a:r>
            <a:r>
              <a:rPr lang="ro-RO" sz="2800" noProof="0" dirty="0" err="1">
                <a:solidFill>
                  <a:schemeClr val="tx2"/>
                </a:solidFill>
              </a:rPr>
              <a:t>suparaîncărcarea</a:t>
            </a:r>
            <a:r>
              <a:rPr lang="ro-RO" sz="2800" noProof="0" dirty="0">
                <a:solidFill>
                  <a:schemeClr val="tx2"/>
                </a:solidFill>
              </a:rPr>
              <a:t> operatorilor</a:t>
            </a:r>
          </a:p>
          <a:p>
            <a:pPr algn="just"/>
            <a:r>
              <a:rPr lang="ro-RO" sz="2800" noProof="0" dirty="0">
                <a:solidFill>
                  <a:schemeClr val="tx2"/>
                </a:solidFill>
              </a:rPr>
              <a:t> operatori </a:t>
            </a:r>
            <a:r>
              <a:rPr lang="ro-RO" sz="2800" noProof="0" dirty="0" err="1">
                <a:solidFill>
                  <a:schemeClr val="tx2"/>
                </a:solidFill>
              </a:rPr>
              <a:t>supraincarcabili</a:t>
            </a:r>
            <a:r>
              <a:rPr lang="ro-RO" sz="2800" noProof="0" dirty="0">
                <a:solidFill>
                  <a:schemeClr val="tx2"/>
                </a:solidFill>
              </a:rPr>
              <a:t> si </a:t>
            </a:r>
            <a:r>
              <a:rPr lang="ro-RO" sz="2800" noProof="0" dirty="0" err="1">
                <a:solidFill>
                  <a:schemeClr val="tx2"/>
                </a:solidFill>
              </a:rPr>
              <a:t>nesupraincarcabili</a:t>
            </a:r>
            <a:endParaRPr lang="ro-RO" sz="2650" noProof="0" dirty="0">
              <a:solidFill>
                <a:srgbClr val="00B0F0"/>
              </a:solidFill>
            </a:endParaRPr>
          </a:p>
          <a:p>
            <a:pPr algn="just"/>
            <a:endParaRPr lang="ro-RO" sz="2800" noProof="0" dirty="0">
              <a:solidFill>
                <a:srgbClr val="00B0F0"/>
              </a:solidFill>
            </a:endParaRP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2083-9218-959D-088C-9F562AAAAF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3686E0-AD59-D7BA-F184-7154722D2DF7}"/>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B6D4DFB8-43CB-6E8D-ABE6-B776D408A6B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 - Supraîncărcarea operatorilor</a:t>
            </a:r>
          </a:p>
          <a:p>
            <a:pPr marL="34290" indent="0" algn="just">
              <a:buNone/>
            </a:pPr>
            <a:r>
              <a:rPr lang="ro-RO" sz="2800" noProof="0" dirty="0">
                <a:solidFill>
                  <a:srgbClr val="00B0F0"/>
                </a:solidFill>
              </a:rPr>
              <a:t>Putem redefini sau supraîncărca majoritatea operatorilor încorporați disponibili în C#. </a:t>
            </a:r>
          </a:p>
          <a:p>
            <a:pPr marL="34290" indent="0" algn="just">
              <a:buNone/>
            </a:pPr>
            <a:r>
              <a:rPr lang="ro-RO" sz="2800" noProof="0" dirty="0">
                <a:solidFill>
                  <a:srgbClr val="00B0F0"/>
                </a:solidFill>
              </a:rPr>
              <a:t>Astfel, un programator poate utiliza operatori și cu tipuri definite de utilizator. Operatorii supraîncărcați sunt funcții cu nume speciale, cuvântul cheie operator urmat de simbolul operatorului definit. Similar oricărei alte funcții, un operator supraîncărcat are un tip de returnare și o listă de parametri.</a:t>
            </a:r>
          </a:p>
        </p:txBody>
      </p:sp>
    </p:spTree>
    <p:extLst>
      <p:ext uri="{BB962C8B-B14F-4D97-AF65-F5344CB8AC3E}">
        <p14:creationId xmlns:p14="http://schemas.microsoft.com/office/powerpoint/2010/main" val="304466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5ACD9-0820-2056-78F4-99E85D3183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246CED-442A-13C7-CA60-0E89615F9C55}"/>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9E89B467-031E-022E-3983-ACE2E1055EB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Sintaxa:</a:t>
            </a:r>
          </a:p>
          <a:p>
            <a:pPr marL="34290" indent="0" algn="just">
              <a:buNone/>
            </a:pPr>
            <a:endParaRPr lang="ro-RO" sz="2800" noProof="0" dirty="0">
              <a:solidFill>
                <a:srgbClr val="00B0F0"/>
              </a:solidFill>
            </a:endParaRPr>
          </a:p>
          <a:p>
            <a:pPr>
              <a:lnSpc>
                <a:spcPts val="1425"/>
              </a:lnSpc>
              <a:buNone/>
            </a:pPr>
            <a:r>
              <a:rPr lang="ro-RO" sz="2800" b="1" noProof="0" dirty="0" err="1">
                <a:solidFill>
                  <a:srgbClr val="9CDCFE"/>
                </a:solidFill>
                <a:effectLst/>
                <a:latin typeface="Consolas" panose="020B0609020204030204" pitchFamily="49" charset="0"/>
              </a:rPr>
              <a:t>access</a:t>
            </a:r>
            <a:r>
              <a:rPr lang="ro-RO" sz="2800" b="1" noProof="0" dirty="0">
                <a:solidFill>
                  <a:srgbClr val="CCCCCC"/>
                </a:solidFill>
                <a:effectLst/>
                <a:latin typeface="Consolas" panose="020B0609020204030204" pitchFamily="49" charset="0"/>
              </a:rPr>
              <a:t> </a:t>
            </a:r>
            <a:r>
              <a:rPr lang="ro-RO" sz="2800" b="1" noProof="0" dirty="0" err="1">
                <a:solidFill>
                  <a:srgbClr val="9CDCFE"/>
                </a:solidFill>
                <a:effectLst/>
                <a:latin typeface="Consolas" panose="020B0609020204030204" pitchFamily="49" charset="0"/>
              </a:rPr>
              <a:t>specifier</a:t>
            </a:r>
            <a:r>
              <a:rPr lang="ro-RO" sz="2800" b="1" noProof="0" dirty="0">
                <a:solidFill>
                  <a:srgbClr val="CCCCCC"/>
                </a:solidFill>
                <a:effectLst/>
                <a:latin typeface="Consolas" panose="020B0609020204030204" pitchFamily="49" charset="0"/>
              </a:rPr>
              <a:t> </a:t>
            </a:r>
            <a:r>
              <a:rPr lang="ro-RO" sz="2800" b="1" noProof="0" dirty="0" err="1">
                <a:solidFill>
                  <a:srgbClr val="9CDCFE"/>
                </a:solidFill>
                <a:effectLst/>
                <a:latin typeface="Consolas" panose="020B0609020204030204" pitchFamily="49" charset="0"/>
              </a:rPr>
              <a:t>className</a:t>
            </a:r>
            <a:r>
              <a:rPr lang="ro-RO" sz="2800" b="1" noProof="0" dirty="0">
                <a:solidFill>
                  <a:srgbClr val="CCCCCC"/>
                </a:solidFill>
                <a:effectLst/>
                <a:latin typeface="Consolas" panose="020B0609020204030204" pitchFamily="49" charset="0"/>
              </a:rPr>
              <a:t> </a:t>
            </a:r>
            <a:r>
              <a:rPr lang="ro-RO" sz="2800" b="1" noProof="0" dirty="0">
                <a:solidFill>
                  <a:srgbClr val="4EC9B0"/>
                </a:solidFill>
                <a:effectLst/>
                <a:latin typeface="Consolas" panose="020B0609020204030204" pitchFamily="49" charset="0"/>
              </a:rPr>
              <a:t>operator</a:t>
            </a:r>
            <a:endParaRPr lang="ro-RO" sz="2800" b="1" noProof="0" dirty="0">
              <a:solidFill>
                <a:srgbClr val="CCCCCC"/>
              </a:solidFill>
              <a:latin typeface="Consolas" panose="020B0609020204030204" pitchFamily="49" charset="0"/>
            </a:endParaRPr>
          </a:p>
          <a:p>
            <a:pPr>
              <a:lnSpc>
                <a:spcPts val="1425"/>
              </a:lnSpc>
              <a:buNone/>
            </a:pPr>
            <a:r>
              <a:rPr lang="ro-RO" sz="2800" b="1" noProof="0" dirty="0" err="1">
                <a:solidFill>
                  <a:srgbClr val="DCDCAA"/>
                </a:solidFill>
                <a:effectLst/>
                <a:latin typeface="Consolas" panose="020B0609020204030204" pitchFamily="49" charset="0"/>
              </a:rPr>
              <a:t>Operator_symbol</a:t>
            </a:r>
            <a:r>
              <a:rPr lang="ro-RO" sz="2800" b="1" noProof="0" dirty="0">
                <a:solidFill>
                  <a:srgbClr val="CCCCCC"/>
                </a:solidFill>
                <a:effectLst/>
                <a:latin typeface="Consolas" panose="020B0609020204030204" pitchFamily="49" charset="0"/>
              </a:rPr>
              <a:t>(</a:t>
            </a:r>
            <a:r>
              <a:rPr lang="ro-RO" sz="2800" b="1" noProof="0" dirty="0" err="1">
                <a:solidFill>
                  <a:srgbClr val="CCCCCC"/>
                </a:solidFill>
                <a:effectLst/>
                <a:latin typeface="Consolas" panose="020B0609020204030204" pitchFamily="49" charset="0"/>
              </a:rPr>
              <a:t>parameters</a:t>
            </a:r>
            <a:r>
              <a:rPr lang="ro-RO" sz="2800" b="1" noProof="0" dirty="0">
                <a:solidFill>
                  <a:srgbClr val="CCCCCC"/>
                </a:solidFill>
                <a:effectLst/>
                <a:latin typeface="Consolas" panose="020B0609020204030204" pitchFamily="49" charset="0"/>
              </a:rPr>
              <a:t>)</a:t>
            </a:r>
          </a:p>
          <a:p>
            <a:pPr>
              <a:lnSpc>
                <a:spcPts val="1425"/>
              </a:lnSpc>
              <a:buNone/>
            </a:pPr>
            <a:r>
              <a:rPr lang="ro-RO" sz="2800" b="1" noProof="0" dirty="0">
                <a:solidFill>
                  <a:srgbClr val="CCCCCC"/>
                </a:solidFill>
                <a:effectLst/>
                <a:latin typeface="Consolas" panose="020B0609020204030204" pitchFamily="49" charset="0"/>
              </a:rPr>
              <a:t>{</a:t>
            </a:r>
          </a:p>
          <a:p>
            <a:pPr>
              <a:lnSpc>
                <a:spcPts val="1425"/>
              </a:lnSpc>
              <a:buNone/>
            </a:pPr>
            <a:r>
              <a:rPr lang="ro-RO" sz="2800" b="1" noProof="0" dirty="0">
                <a:solidFill>
                  <a:srgbClr val="6A9955"/>
                </a:solidFill>
                <a:effectLst/>
                <a:latin typeface="Consolas" panose="020B0609020204030204" pitchFamily="49" charset="0"/>
              </a:rPr>
              <a:t>    // Code</a:t>
            </a:r>
            <a:endParaRPr lang="ro-RO" sz="2800" b="1" noProof="0" dirty="0">
              <a:solidFill>
                <a:srgbClr val="CCCCCC"/>
              </a:solidFill>
              <a:effectLst/>
              <a:latin typeface="Consolas" panose="020B0609020204030204" pitchFamily="49" charset="0"/>
            </a:endParaRPr>
          </a:p>
          <a:p>
            <a:pPr>
              <a:lnSpc>
                <a:spcPts val="1425"/>
              </a:lnSpc>
              <a:buNone/>
            </a:pPr>
            <a:r>
              <a:rPr lang="ro-RO" sz="28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10293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83B64-A638-865B-C1EE-858A504800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B21E6A-7FCE-7674-6B70-22555C6C8D63}"/>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38BE7BB2-2C32-51F9-9CB6-7C10122AE6E8}"/>
              </a:ext>
            </a:extLst>
          </p:cNvPr>
          <p:cNvSpPr>
            <a:spLocks noGrp="1"/>
          </p:cNvSpPr>
          <p:nvPr>
            <p:ph idx="1"/>
          </p:nvPr>
        </p:nvSpPr>
        <p:spPr>
          <a:xfrm>
            <a:off x="463925" y="1281952"/>
            <a:ext cx="8249770" cy="5074024"/>
          </a:xfrm>
        </p:spPr>
        <p:txBody>
          <a:bodyPr>
            <a:noAutofit/>
          </a:bodyPr>
          <a:lstStyle/>
          <a:p>
            <a:pPr>
              <a:lnSpc>
                <a:spcPts val="1425"/>
              </a:lnSpc>
              <a:buNone/>
            </a:pPr>
            <a:endParaRPr lang="ro-RO" sz="2400" b="0" noProof="0" dirty="0">
              <a:solidFill>
                <a:srgbClr val="569CD6"/>
              </a:solidFill>
              <a:effectLst/>
              <a:latin typeface="Consolas" panose="020B0609020204030204" pitchFamily="49" charset="0"/>
            </a:endParaRPr>
          </a:p>
          <a:p>
            <a:pPr>
              <a:lnSpc>
                <a:spcPts val="1425"/>
              </a:lnSpc>
              <a:buNone/>
            </a:pPr>
            <a:endParaRPr lang="ro-RO" sz="2400" noProof="0" dirty="0">
              <a:solidFill>
                <a:srgbClr val="569CD6"/>
              </a:solidFill>
              <a:latin typeface="Consolas" panose="020B0609020204030204" pitchFamily="49" charset="0"/>
            </a:endParaRPr>
          </a:p>
          <a:p>
            <a:pPr>
              <a:lnSpc>
                <a:spcPts val="1425"/>
              </a:lnSpc>
              <a:buNone/>
            </a:pPr>
            <a:r>
              <a:rPr lang="ro-RO" sz="2400" b="1" noProof="0" dirty="0">
                <a:solidFill>
                  <a:srgbClr val="569CD6"/>
                </a:solidFill>
                <a:latin typeface="Consolas" panose="020B0609020204030204" pitchFamily="49" charset="0"/>
              </a:rPr>
              <a:t>p</a:t>
            </a:r>
            <a:r>
              <a:rPr lang="ro-RO" sz="2400" b="1" noProof="0" dirty="0">
                <a:solidFill>
                  <a:srgbClr val="569CD6"/>
                </a:solidFill>
                <a:effectLst/>
                <a:latin typeface="Consolas" panose="020B0609020204030204" pitchFamily="49" charset="0"/>
              </a:rPr>
              <a:t>ublic</a:t>
            </a:r>
            <a:r>
              <a:rPr lang="ro-RO" sz="2400" b="1" noProof="0" dirty="0">
                <a:solidFill>
                  <a:srgbClr val="CCCCCC"/>
                </a:solidFill>
                <a:effectLst/>
                <a:latin typeface="Consolas" panose="020B0609020204030204" pitchFamily="49" charset="0"/>
              </a:rPr>
              <a:t> </a:t>
            </a:r>
            <a:r>
              <a:rPr lang="ro-RO" sz="2400" b="1" noProof="0" dirty="0">
                <a:solidFill>
                  <a:srgbClr val="569CD6"/>
                </a:solidFill>
                <a:effectLst/>
                <a:latin typeface="Consolas" panose="020B0609020204030204" pitchFamily="49" charset="0"/>
              </a:rPr>
              <a:t>static</a:t>
            </a:r>
            <a:r>
              <a:rPr lang="ro-RO" sz="2400" b="1" noProof="0" dirty="0">
                <a:solidFill>
                  <a:srgbClr val="CCCCCC"/>
                </a:solidFill>
                <a:effectLst/>
                <a:latin typeface="Consolas" panose="020B0609020204030204" pitchFamily="49" charset="0"/>
              </a:rPr>
              <a:t> </a:t>
            </a:r>
            <a:r>
              <a:rPr lang="ro-RO" sz="2400" b="1" noProof="0" dirty="0">
                <a:solidFill>
                  <a:srgbClr val="4EC9B0"/>
                </a:solidFill>
                <a:effectLst/>
                <a:latin typeface="Consolas" panose="020B0609020204030204" pitchFamily="49" charset="0"/>
              </a:rPr>
              <a:t>Box</a:t>
            </a:r>
            <a:r>
              <a:rPr lang="ro-RO" sz="2400" b="1" noProof="0" dirty="0">
                <a:solidFill>
                  <a:srgbClr val="CCCCCC"/>
                </a:solidFill>
                <a:effectLst/>
                <a:latin typeface="Consolas" panose="020B0609020204030204" pitchFamily="49" charset="0"/>
              </a:rPr>
              <a:t> operator</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a:solidFill>
                  <a:srgbClr val="4EC9B0"/>
                </a:solidFill>
                <a:effectLst/>
                <a:latin typeface="Consolas" panose="020B0609020204030204" pitchFamily="49" charset="0"/>
              </a:rPr>
              <a:t>Box</a:t>
            </a:r>
            <a:r>
              <a:rPr lang="ro-RO" sz="2400" b="1" noProof="0" dirty="0">
                <a:solidFill>
                  <a:srgbClr val="CCCCCC"/>
                </a:solidFill>
                <a:effectLst/>
                <a:latin typeface="Consolas" panose="020B0609020204030204" pitchFamily="49" charset="0"/>
              </a:rPr>
              <a:t> b, </a:t>
            </a:r>
            <a:r>
              <a:rPr lang="ro-RO" sz="2400" b="1" noProof="0" dirty="0">
                <a:solidFill>
                  <a:srgbClr val="4EC9B0"/>
                </a:solidFill>
                <a:effectLst/>
                <a:latin typeface="Consolas" panose="020B0609020204030204" pitchFamily="49" charset="0"/>
              </a:rPr>
              <a:t>Box</a:t>
            </a:r>
            <a:r>
              <a:rPr lang="ro-RO" sz="2400" b="1" noProof="0" dirty="0">
                <a:solidFill>
                  <a:srgbClr val="CCCCCC"/>
                </a:solidFill>
                <a:effectLst/>
                <a:latin typeface="Consolas" panose="020B0609020204030204" pitchFamily="49" charset="0"/>
              </a:rPr>
              <a:t> c)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a:solidFill>
                  <a:srgbClr val="4EC9B0"/>
                </a:solidFill>
                <a:effectLst/>
                <a:latin typeface="Consolas" panose="020B0609020204030204" pitchFamily="49" charset="0"/>
              </a:rPr>
              <a:t>Box</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box</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C586C0"/>
                </a:solidFill>
                <a:effectLst/>
                <a:latin typeface="Consolas" panose="020B0609020204030204" pitchFamily="49" charset="0"/>
              </a:rPr>
              <a:t>new</a:t>
            </a:r>
            <a:r>
              <a:rPr lang="ro-RO" sz="2400" b="1" noProof="0" dirty="0">
                <a:solidFill>
                  <a:srgbClr val="CCCCCC"/>
                </a:solidFill>
                <a:effectLst/>
                <a:latin typeface="Consolas" panose="020B0609020204030204" pitchFamily="49" charset="0"/>
              </a:rPr>
              <a:t> </a:t>
            </a:r>
            <a:r>
              <a:rPr lang="ro-RO" sz="2400" b="1" noProof="0" dirty="0">
                <a:solidFill>
                  <a:srgbClr val="DCDCAA"/>
                </a:solidFill>
                <a:effectLst/>
                <a:latin typeface="Consolas" panose="020B0609020204030204" pitchFamily="49" charset="0"/>
              </a:rPr>
              <a:t>Box</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box</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length</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length</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c</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length</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box</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breadth</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breadth</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c</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breadth</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box</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height</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b</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height</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c</a:t>
            </a:r>
            <a:r>
              <a:rPr lang="ro-RO" sz="2400" b="1" noProof="0" dirty="0" err="1">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height</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C586C0"/>
                </a:solidFill>
                <a:effectLst/>
                <a:latin typeface="Consolas" panose="020B0609020204030204" pitchFamily="49" charset="0"/>
              </a:rPr>
              <a:t>return</a:t>
            </a:r>
            <a:r>
              <a:rPr lang="ro-RO" sz="2400" b="1" noProof="0" dirty="0">
                <a:solidFill>
                  <a:srgbClr val="CCCCCC"/>
                </a:solidFill>
                <a:effectLst/>
                <a:latin typeface="Consolas" panose="020B0609020204030204" pitchFamily="49" charset="0"/>
              </a:rPr>
              <a:t> box;</a:t>
            </a:r>
          </a:p>
          <a:p>
            <a:pPr>
              <a:lnSpc>
                <a:spcPts val="1425"/>
              </a:lnSpc>
              <a:buNone/>
            </a:pPr>
            <a:r>
              <a:rPr lang="ro-RO" sz="2400" b="1" noProof="0" dirty="0">
                <a:solidFill>
                  <a:srgbClr val="CCCCCC"/>
                </a:solidFill>
                <a:effectLst/>
                <a:latin typeface="Consolas" panose="020B0609020204030204" pitchFamily="49" charset="0"/>
              </a:rPr>
              <a:t>}</a:t>
            </a:r>
          </a:p>
          <a:p>
            <a:pPr marL="34290" indent="0" algn="just">
              <a:buNone/>
            </a:pPr>
            <a:r>
              <a:rPr lang="ro-RO" sz="2800" noProof="0" dirty="0">
                <a:solidFill>
                  <a:srgbClr val="00B0F0"/>
                </a:solidFill>
              </a:rPr>
              <a:t>Funcția de mai sus implementează operatorul de adunare (+) pentru o clasă Box definită de utilizator. Aceasta adună atributele: lungime, lățime și înălțime a două obiecte Box și va returna obiectul Box rezultat.</a:t>
            </a:r>
          </a:p>
        </p:txBody>
      </p:sp>
    </p:spTree>
    <p:extLst>
      <p:ext uri="{BB962C8B-B14F-4D97-AF65-F5344CB8AC3E}">
        <p14:creationId xmlns:p14="http://schemas.microsoft.com/office/powerpoint/2010/main" val="1449510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AEFB4-E321-8ED6-955B-0CAA584C53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7AAAA8-2E6E-0CEC-64BD-A240281C4ED1}"/>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6FA3E98D-9B82-73CC-4A8D-EBC90F10E47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Implementarea supraîncărcării operatorilor</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OperatorOvlApplication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getVolume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setBreadth</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bre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bre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setHeight</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hei</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hei</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operator</a:t>
            </a:r>
            <a:r>
              <a:rPr lang="ro-RO" sz="2000" b="1" noProof="0" dirty="0">
                <a:solidFill>
                  <a:srgbClr val="DCDCAA"/>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box</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box</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box</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96379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95092-0D9A-C209-CC4E-1B211D885E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717182-4AB8-D2EB-E0E0-999CA356AE56}"/>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8CA5D493-E966-550A-D500-8E8E9943AD45}"/>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Tester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6.0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lang="ro-RO" sz="2000" b="1" noProof="0" dirty="0">
                <a:solidFill>
                  <a:srgbClr val="CCCCCC"/>
                </a:solidFill>
                <a:latin typeface="Consolas" panose="020B0609020204030204" pitchFamily="49" charset="0"/>
              </a:rPr>
              <a:t>         </a:t>
            </a:r>
            <a:r>
              <a:rPr lang="ro-RO" sz="2000" b="1" noProof="0" dirty="0">
                <a:solidFill>
                  <a:srgbClr val="9CDCFE"/>
                </a:solidFill>
                <a:latin typeface="Consolas" panose="020B0609020204030204" pitchFamily="49" charset="0"/>
              </a:rPr>
              <a:t>volume</a:t>
            </a:r>
            <a:r>
              <a:rPr lang="ro-RO" sz="2000" b="1" noProof="0" dirty="0">
                <a:solidFill>
                  <a:srgbClr val="CCCCCC"/>
                </a:solidFill>
                <a:latin typeface="Consolas" panose="020B0609020204030204" pitchFamily="49" charset="0"/>
              </a:rPr>
              <a:t> </a:t>
            </a:r>
            <a:r>
              <a:rPr lang="ro-RO" sz="2000" b="1" noProof="0" dirty="0">
                <a:solidFill>
                  <a:srgbClr val="D4D4D4"/>
                </a:solidFill>
                <a:latin typeface="Consolas" panose="020B0609020204030204" pitchFamily="49" charset="0"/>
              </a:rPr>
              <a:t>=</a:t>
            </a:r>
            <a:r>
              <a:rPr lang="ro-RO" sz="2000" b="1" noProof="0" dirty="0">
                <a:solidFill>
                  <a:srgbClr val="CCCCCC"/>
                </a:solidFill>
                <a:latin typeface="Consolas" panose="020B0609020204030204" pitchFamily="49" charset="0"/>
              </a:rPr>
              <a:t> </a:t>
            </a:r>
            <a:r>
              <a:rPr lang="ro-RO" sz="2000" b="1" noProof="0" dirty="0">
                <a:solidFill>
                  <a:srgbClr val="9CDCFE"/>
                </a:solidFill>
                <a:latin typeface="Consolas" panose="020B0609020204030204" pitchFamily="49" charset="0"/>
              </a:rPr>
              <a:t>Box1</a:t>
            </a:r>
            <a:r>
              <a:rPr lang="ro-RO" sz="2000" b="1" noProof="0" dirty="0">
                <a:solidFill>
                  <a:srgbClr val="CCCCCC"/>
                </a:solidFill>
                <a:latin typeface="Consolas" panose="020B0609020204030204" pitchFamily="49" charset="0"/>
              </a:rPr>
              <a:t>.</a:t>
            </a:r>
            <a:r>
              <a:rPr lang="ro-RO" sz="2000" b="1" noProof="0" dirty="0">
                <a:solidFill>
                  <a:srgbClr val="DCDCAA"/>
                </a:solidFill>
                <a:latin typeface="Consolas" panose="020B0609020204030204" pitchFamily="49" charset="0"/>
              </a:rPr>
              <a:t>getVolume</a:t>
            </a:r>
            <a:r>
              <a:rPr lang="ro-RO" sz="2000" b="1" noProof="0" dirty="0">
                <a:solidFill>
                  <a:srgbClr val="CCCCCC"/>
                </a:solidFill>
                <a:latin typeface="Consolas" panose="020B0609020204030204" pitchFamily="49" charset="0"/>
              </a:rPr>
              <a:t>();</a:t>
            </a:r>
          </a:p>
          <a:p>
            <a:pPr lvl="0">
              <a:lnSpc>
                <a:spcPts val="1425"/>
              </a:lnSpc>
              <a:buClr>
                <a:srgbClr val="FF8600"/>
              </a:buClr>
              <a:buNone/>
              <a:defRPr/>
            </a:pP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Console</a:t>
            </a:r>
            <a:r>
              <a:rPr lang="ro-RO" sz="2000" b="1" noProof="0" dirty="0" err="1">
                <a:solidFill>
                  <a:srgbClr val="CCCCCC"/>
                </a:solidFill>
                <a:latin typeface="Consolas" panose="020B0609020204030204" pitchFamily="49" charset="0"/>
              </a:rPr>
              <a:t>.</a:t>
            </a:r>
            <a:r>
              <a:rPr lang="ro-RO" sz="2000" b="1" noProof="0" dirty="0" err="1">
                <a:solidFill>
                  <a:srgbClr val="DCDCAA"/>
                </a:solidFill>
                <a:latin typeface="Consolas" panose="020B0609020204030204" pitchFamily="49" charset="0"/>
              </a:rPr>
              <a:t>WriteLine</a:t>
            </a:r>
            <a:r>
              <a:rPr lang="ro-RO" sz="2000" b="1" noProof="0" dirty="0">
                <a:solidFill>
                  <a:srgbClr val="CCCCCC"/>
                </a:solidFill>
                <a:latin typeface="Consolas" panose="020B0609020204030204" pitchFamily="49" charset="0"/>
              </a:rPr>
              <a:t>(</a:t>
            </a:r>
            <a:r>
              <a:rPr lang="ro-RO" sz="2000" b="1" noProof="0" dirty="0">
                <a:solidFill>
                  <a:srgbClr val="CE9178"/>
                </a:solidFill>
                <a:latin typeface="Consolas" panose="020B0609020204030204" pitchFamily="49" charset="0"/>
              </a:rPr>
              <a:t>"Volume of Box1: {0}"</a:t>
            </a:r>
            <a:r>
              <a:rPr lang="ro-RO" sz="2000" b="1" noProof="0" dirty="0">
                <a:solidFill>
                  <a:srgbClr val="CCCCCC"/>
                </a:solidFill>
                <a:latin typeface="Consolas" panose="020B0609020204030204" pitchFamily="49" charset="0"/>
              </a:rPr>
              <a:t>,</a:t>
            </a:r>
            <a:r>
              <a:rPr lang="ro-RO" sz="2000" b="1" noProof="0" dirty="0">
                <a:solidFill>
                  <a:srgbClr val="9CDCFE"/>
                </a:solidFill>
                <a:latin typeface="Consolas" panose="020B0609020204030204" pitchFamily="49" charset="0"/>
              </a:rPr>
              <a:t>volume</a:t>
            </a:r>
            <a:r>
              <a:rPr lang="ro-RO" sz="2000" b="1" noProof="0" dirty="0">
                <a:solidFill>
                  <a:srgbClr val="CCCCCC"/>
                </a:solidFill>
                <a:latin typeface="Consolas" panose="020B0609020204030204" pitchFamily="49" charset="0"/>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12.0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13.0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10.0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         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Box2: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lang="ro-RO" sz="2000" b="1" noProof="0" dirty="0">
              <a:solidFill>
                <a:srgbClr val="CCCCCC"/>
              </a:solidFill>
              <a:latin typeface="Consolas" panose="020B0609020204030204" pitchFamily="49" charset="0"/>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Box3: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071873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6B3DF-6C15-9883-E6D7-4F2EC252DF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51D638-8280-C1FA-DDC2-17C1939BEFDD}"/>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D48DE49B-1F22-9591-F6EF-A0ECA6DE18F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Operatori ce pot fi supraîncărcați și operatori care nu pot fi supraîncărcați</a:t>
            </a:r>
          </a:p>
          <a:p>
            <a:pPr marL="34290" indent="0" algn="just">
              <a:buNone/>
            </a:pPr>
            <a:endParaRPr lang="ro-RO" sz="2800" noProof="0" dirty="0">
              <a:solidFill>
                <a:srgbClr val="00B0F0"/>
              </a:solidFill>
            </a:endParaRPr>
          </a:p>
        </p:txBody>
      </p:sp>
      <p:graphicFrame>
        <p:nvGraphicFramePr>
          <p:cNvPr id="2" name="Table 1">
            <a:extLst>
              <a:ext uri="{FF2B5EF4-FFF2-40B4-BE49-F238E27FC236}">
                <a16:creationId xmlns:a16="http://schemas.microsoft.com/office/drawing/2014/main" id="{041221B1-0158-9F46-C357-9A0AA5193B44}"/>
              </a:ext>
            </a:extLst>
          </p:cNvPr>
          <p:cNvGraphicFramePr>
            <a:graphicFrameLocks noGrp="1"/>
          </p:cNvGraphicFramePr>
          <p:nvPr>
            <p:extLst>
              <p:ext uri="{D42A27DB-BD31-4B8C-83A1-F6EECF244321}">
                <p14:modId xmlns:p14="http://schemas.microsoft.com/office/powerpoint/2010/main" val="2057228796"/>
              </p:ext>
            </p:extLst>
          </p:nvPr>
        </p:nvGraphicFramePr>
        <p:xfrm>
          <a:off x="636493" y="2383118"/>
          <a:ext cx="7989899" cy="2727960"/>
        </p:xfrm>
        <a:graphic>
          <a:graphicData uri="http://schemas.openxmlformats.org/drawingml/2006/table">
            <a:tbl>
              <a:tblPr firstRow="1" bandRow="1">
                <a:tableStyleId>{5C22544A-7EE6-4342-B048-85BDC9FD1C3A}</a:tableStyleId>
              </a:tblPr>
              <a:tblGrid>
                <a:gridCol w="1664018">
                  <a:extLst>
                    <a:ext uri="{9D8B030D-6E8A-4147-A177-3AD203B41FA5}">
                      <a16:colId xmlns:a16="http://schemas.microsoft.com/office/drawing/2014/main" val="1527391525"/>
                    </a:ext>
                  </a:extLst>
                </a:gridCol>
                <a:gridCol w="6325881">
                  <a:extLst>
                    <a:ext uri="{9D8B030D-6E8A-4147-A177-3AD203B41FA5}">
                      <a16:colId xmlns:a16="http://schemas.microsoft.com/office/drawing/2014/main" val="1314223811"/>
                    </a:ext>
                  </a:extLst>
                </a:gridCol>
              </a:tblGrid>
              <a:tr h="370840">
                <a:tc>
                  <a:txBody>
                    <a:bodyPr/>
                    <a:lstStyle/>
                    <a:p>
                      <a:r>
                        <a:rPr lang="ro-RO" noProof="0" dirty="0"/>
                        <a:t>Operatori</a:t>
                      </a:r>
                    </a:p>
                  </a:txBody>
                  <a:tcPr/>
                </a:tc>
                <a:tc>
                  <a:txBody>
                    <a:bodyPr/>
                    <a:lstStyle/>
                    <a:p>
                      <a:r>
                        <a:rPr lang="ro-RO" noProof="0" dirty="0"/>
                        <a:t>Descriere</a:t>
                      </a:r>
                    </a:p>
                  </a:txBody>
                  <a:tcPr/>
                </a:tc>
                <a:extLst>
                  <a:ext uri="{0D108BD9-81ED-4DB2-BD59-A6C34878D82A}">
                    <a16:rowId xmlns:a16="http://schemas.microsoft.com/office/drawing/2014/main" val="2234762258"/>
                  </a:ext>
                </a:extLst>
              </a:tr>
              <a:tr h="370840">
                <a:tc>
                  <a:txBody>
                    <a:bodyPr/>
                    <a:lstStyle/>
                    <a:p>
                      <a:r>
                        <a:rPr lang="ro-RO" sz="1350" b="1" i="0" kern="1200" noProof="0" dirty="0">
                          <a:solidFill>
                            <a:schemeClr val="dk1"/>
                          </a:solidFill>
                          <a:effectLst/>
                          <a:latin typeface="+mn-lt"/>
                          <a:ea typeface="+mn-ea"/>
                          <a:cs typeface="+mn-cs"/>
                        </a:rPr>
                        <a:t>+, -, !, ~, ++, --</a:t>
                      </a:r>
                      <a:endParaRPr lang="ro-RO" noProof="0" dirty="0"/>
                    </a:p>
                  </a:txBody>
                  <a:tcPr/>
                </a:tc>
                <a:tc>
                  <a:txBody>
                    <a:bodyPr/>
                    <a:lstStyle/>
                    <a:p>
                      <a:r>
                        <a:rPr lang="ro-RO" noProof="0" dirty="0"/>
                        <a:t>Acești operatori unari acceptă un singur operand și pot fi supraîncărcați.</a:t>
                      </a:r>
                    </a:p>
                  </a:txBody>
                  <a:tcPr/>
                </a:tc>
                <a:extLst>
                  <a:ext uri="{0D108BD9-81ED-4DB2-BD59-A6C34878D82A}">
                    <a16:rowId xmlns:a16="http://schemas.microsoft.com/office/drawing/2014/main" val="945133045"/>
                  </a:ext>
                </a:extLst>
              </a:tr>
              <a:tr h="370840">
                <a:tc>
                  <a:txBody>
                    <a:bodyPr/>
                    <a:lstStyle/>
                    <a:p>
                      <a:r>
                        <a:rPr lang="ro-RO" sz="1350" b="1" i="0" kern="1200" noProof="0" dirty="0">
                          <a:solidFill>
                            <a:schemeClr val="dk1"/>
                          </a:solidFill>
                          <a:effectLst/>
                          <a:latin typeface="+mn-lt"/>
                          <a:ea typeface="+mn-ea"/>
                          <a:cs typeface="+mn-cs"/>
                        </a:rPr>
                        <a:t>+, -, *, /, %</a:t>
                      </a:r>
                      <a:endParaRPr lang="ro-RO" noProof="0" dirty="0"/>
                    </a:p>
                  </a:txBody>
                  <a:tcPr/>
                </a:tc>
                <a:tc>
                  <a:txBody>
                    <a:bodyPr/>
                    <a:lstStyle/>
                    <a:p>
                      <a:r>
                        <a:rPr lang="ro-RO" noProof="0" dirty="0"/>
                        <a:t>Acești operatori binari acceptă un singur operand și pot fi supraîncărcați.</a:t>
                      </a:r>
                    </a:p>
                  </a:txBody>
                  <a:tcPr/>
                </a:tc>
                <a:extLst>
                  <a:ext uri="{0D108BD9-81ED-4DB2-BD59-A6C34878D82A}">
                    <a16:rowId xmlns:a16="http://schemas.microsoft.com/office/drawing/2014/main" val="3472503851"/>
                  </a:ext>
                </a:extLst>
              </a:tr>
              <a:tr h="370840">
                <a:tc>
                  <a:txBody>
                    <a:bodyPr/>
                    <a:lstStyle/>
                    <a:p>
                      <a:r>
                        <a:rPr lang="ro-RO" sz="1350" b="1" i="0" kern="1200" noProof="0" dirty="0">
                          <a:solidFill>
                            <a:schemeClr val="dk1"/>
                          </a:solidFill>
                          <a:effectLst/>
                          <a:latin typeface="+mn-lt"/>
                          <a:ea typeface="+mn-ea"/>
                          <a:cs typeface="+mn-cs"/>
                        </a:rPr>
                        <a:t>==, !=, &lt;, &gt;, &lt;=, &gt;=</a:t>
                      </a:r>
                      <a:endParaRPr lang="ro-RO" noProof="0" dirty="0"/>
                    </a:p>
                  </a:txBody>
                  <a:tcPr/>
                </a:tc>
                <a:tc>
                  <a:txBody>
                    <a:bodyPr/>
                    <a:lstStyle/>
                    <a:p>
                      <a:r>
                        <a:rPr lang="ro-RO" noProof="0" dirty="0"/>
                        <a:t>Operatorii de comparație pot fi supraîncărcați.</a:t>
                      </a:r>
                    </a:p>
                  </a:txBody>
                  <a:tcPr/>
                </a:tc>
                <a:extLst>
                  <a:ext uri="{0D108BD9-81ED-4DB2-BD59-A6C34878D82A}">
                    <a16:rowId xmlns:a16="http://schemas.microsoft.com/office/drawing/2014/main" val="2529548505"/>
                  </a:ext>
                </a:extLst>
              </a:tr>
              <a:tr h="370840">
                <a:tc>
                  <a:txBody>
                    <a:bodyPr/>
                    <a:lstStyle/>
                    <a:p>
                      <a:r>
                        <a:rPr lang="ro-RO" sz="1350" b="1" i="0" kern="1200" noProof="0" dirty="0">
                          <a:solidFill>
                            <a:schemeClr val="dk1"/>
                          </a:solidFill>
                          <a:effectLst/>
                          <a:latin typeface="+mn-lt"/>
                          <a:ea typeface="+mn-ea"/>
                          <a:cs typeface="+mn-cs"/>
                        </a:rPr>
                        <a:t>&amp;&amp;, ||</a:t>
                      </a:r>
                      <a:endParaRPr lang="ro-RO" noProof="0" dirty="0"/>
                    </a:p>
                  </a:txBody>
                  <a:tcPr/>
                </a:tc>
                <a:tc>
                  <a:txBody>
                    <a:bodyPr/>
                    <a:lstStyle/>
                    <a:p>
                      <a:r>
                        <a:rPr lang="ro-RO" noProof="0" dirty="0"/>
                        <a:t>Operatorii logici condiționali nu pot fi supraîncărcați direct.</a:t>
                      </a:r>
                    </a:p>
                  </a:txBody>
                  <a:tcPr/>
                </a:tc>
                <a:extLst>
                  <a:ext uri="{0D108BD9-81ED-4DB2-BD59-A6C34878D82A}">
                    <a16:rowId xmlns:a16="http://schemas.microsoft.com/office/drawing/2014/main" val="2452107793"/>
                  </a:ext>
                </a:extLst>
              </a:tr>
              <a:tr h="370840">
                <a:tc>
                  <a:txBody>
                    <a:bodyPr/>
                    <a:lstStyle/>
                    <a:p>
                      <a:r>
                        <a:rPr lang="ro-RO" sz="1350" b="1" i="0" kern="1200" noProof="0" dirty="0">
                          <a:solidFill>
                            <a:schemeClr val="dk1"/>
                          </a:solidFill>
                          <a:effectLst/>
                          <a:latin typeface="+mn-lt"/>
                          <a:ea typeface="+mn-ea"/>
                          <a:cs typeface="+mn-cs"/>
                        </a:rPr>
                        <a:t>+=, -=, *=, /=, %=</a:t>
                      </a:r>
                      <a:endParaRPr lang="ro-RO" noProof="0" dirty="0"/>
                    </a:p>
                  </a:txBody>
                  <a:tcPr/>
                </a:tc>
                <a:tc>
                  <a:txBody>
                    <a:bodyPr/>
                    <a:lstStyle/>
                    <a:p>
                      <a:r>
                        <a:rPr lang="ro-RO" noProof="0" dirty="0"/>
                        <a:t>Operatorii de atribuire nu pot fi supraîncărcați </a:t>
                      </a:r>
                      <a:r>
                        <a:rPr lang="ro-RO" noProof="0" dirty="0" err="1"/>
                        <a:t>decat</a:t>
                      </a:r>
                      <a:r>
                        <a:rPr lang="ro-RO" noProof="0" dirty="0"/>
                        <a:t> in VS2026 C#14</a:t>
                      </a:r>
                    </a:p>
                  </a:txBody>
                  <a:tcPr/>
                </a:tc>
                <a:extLst>
                  <a:ext uri="{0D108BD9-81ED-4DB2-BD59-A6C34878D82A}">
                    <a16:rowId xmlns:a16="http://schemas.microsoft.com/office/drawing/2014/main" val="1027458314"/>
                  </a:ext>
                </a:extLst>
              </a:tr>
              <a:tr h="370840">
                <a:tc>
                  <a:txBody>
                    <a:bodyPr/>
                    <a:lstStyle/>
                    <a:p>
                      <a:r>
                        <a:rPr lang="ro-RO" sz="1350" b="1" i="0" kern="1200" noProof="0" dirty="0">
                          <a:solidFill>
                            <a:schemeClr val="dk1"/>
                          </a:solidFill>
                          <a:effectLst/>
                          <a:latin typeface="+mn-lt"/>
                          <a:ea typeface="+mn-ea"/>
                          <a:cs typeface="+mn-cs"/>
                        </a:rPr>
                        <a:t>=, ., ?:, -&gt;, </a:t>
                      </a:r>
                      <a:r>
                        <a:rPr lang="ro-RO" sz="1350" b="1" i="0" kern="1200" noProof="0" dirty="0" err="1">
                          <a:solidFill>
                            <a:schemeClr val="dk1"/>
                          </a:solidFill>
                          <a:effectLst/>
                          <a:latin typeface="+mn-lt"/>
                          <a:ea typeface="+mn-ea"/>
                          <a:cs typeface="+mn-cs"/>
                        </a:rPr>
                        <a:t>new</a:t>
                      </a:r>
                      <a:r>
                        <a:rPr lang="ro-RO" sz="1350" b="1" i="0" kern="1200" noProof="0" dirty="0">
                          <a:solidFill>
                            <a:schemeClr val="dk1"/>
                          </a:solidFill>
                          <a:effectLst/>
                          <a:latin typeface="+mn-lt"/>
                          <a:ea typeface="+mn-ea"/>
                          <a:cs typeface="+mn-cs"/>
                        </a:rPr>
                        <a:t>, </a:t>
                      </a:r>
                      <a:r>
                        <a:rPr lang="ro-RO" sz="1350" b="1" i="0" kern="1200" noProof="0" dirty="0" err="1">
                          <a:solidFill>
                            <a:schemeClr val="dk1"/>
                          </a:solidFill>
                          <a:effectLst/>
                          <a:latin typeface="+mn-lt"/>
                          <a:ea typeface="+mn-ea"/>
                          <a:cs typeface="+mn-cs"/>
                        </a:rPr>
                        <a:t>is</a:t>
                      </a:r>
                      <a:r>
                        <a:rPr lang="ro-RO" sz="1350" b="1" i="0" kern="1200" noProof="0" dirty="0">
                          <a:solidFill>
                            <a:schemeClr val="dk1"/>
                          </a:solidFill>
                          <a:effectLst/>
                          <a:latin typeface="+mn-lt"/>
                          <a:ea typeface="+mn-ea"/>
                          <a:cs typeface="+mn-cs"/>
                        </a:rPr>
                        <a:t>, </a:t>
                      </a:r>
                      <a:r>
                        <a:rPr lang="ro-RO" sz="1350" b="1" i="0" kern="1200" noProof="0" dirty="0" err="1">
                          <a:solidFill>
                            <a:schemeClr val="dk1"/>
                          </a:solidFill>
                          <a:effectLst/>
                          <a:latin typeface="+mn-lt"/>
                          <a:ea typeface="+mn-ea"/>
                          <a:cs typeface="+mn-cs"/>
                        </a:rPr>
                        <a:t>sizeof</a:t>
                      </a:r>
                      <a:r>
                        <a:rPr lang="ro-RO" sz="1350" b="1" i="0" kern="1200" noProof="0" dirty="0">
                          <a:solidFill>
                            <a:schemeClr val="dk1"/>
                          </a:solidFill>
                          <a:effectLst/>
                          <a:latin typeface="+mn-lt"/>
                          <a:ea typeface="+mn-ea"/>
                          <a:cs typeface="+mn-cs"/>
                        </a:rPr>
                        <a:t>, </a:t>
                      </a:r>
                      <a:r>
                        <a:rPr lang="ro-RO" sz="1350" b="1" i="0" kern="1200" noProof="0" dirty="0" err="1">
                          <a:solidFill>
                            <a:schemeClr val="dk1"/>
                          </a:solidFill>
                          <a:effectLst/>
                          <a:latin typeface="+mn-lt"/>
                          <a:ea typeface="+mn-ea"/>
                          <a:cs typeface="+mn-cs"/>
                        </a:rPr>
                        <a:t>typeof</a:t>
                      </a:r>
                      <a:endParaRPr lang="ro-RO" noProof="0" dirty="0"/>
                    </a:p>
                  </a:txBody>
                  <a:tcPr/>
                </a:tc>
                <a:tc>
                  <a:txBody>
                    <a:bodyPr/>
                    <a:lstStyle/>
                    <a:p>
                      <a:r>
                        <a:rPr lang="ro-RO" noProof="0" dirty="0"/>
                        <a:t>Acești operatori nu pot fi supraîncărcați.</a:t>
                      </a:r>
                    </a:p>
                  </a:txBody>
                  <a:tcPr/>
                </a:tc>
                <a:extLst>
                  <a:ext uri="{0D108BD9-81ED-4DB2-BD59-A6C34878D82A}">
                    <a16:rowId xmlns:a16="http://schemas.microsoft.com/office/drawing/2014/main" val="2947378198"/>
                  </a:ext>
                </a:extLst>
              </a:tr>
            </a:tbl>
          </a:graphicData>
        </a:graphic>
      </p:graphicFrame>
    </p:spTree>
    <p:extLst>
      <p:ext uri="{BB962C8B-B14F-4D97-AF65-F5344CB8AC3E}">
        <p14:creationId xmlns:p14="http://schemas.microsoft.com/office/powerpoint/2010/main" val="1894174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E19FE-31C9-3E09-B550-18425C6C05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AA6EE5-BFA0-5BA9-C70C-30157469FDD3}"/>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1B33198B-1650-1852-40DA-CE2ADE54AFE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a:t>
            </a:r>
            <a:r>
              <a:rPr lang="ro-RO" sz="2800" noProof="0" dirty="0" err="1">
                <a:solidFill>
                  <a:srgbClr val="00B0F0"/>
                </a:solidFill>
              </a:rPr>
              <a:t>supraîncarcare</a:t>
            </a:r>
            <a:r>
              <a:rPr lang="ro-RO" sz="2800" noProof="0" dirty="0">
                <a:solidFill>
                  <a:srgbClr val="00B0F0"/>
                </a:solidFill>
              </a:rPr>
              <a:t> operator unar</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number1</a:t>
            </a:r>
            <a:r>
              <a:rPr lang="ro-RO" sz="2000" b="1" noProof="0" dirty="0">
                <a:solidFill>
                  <a:srgbClr val="CCCCCC"/>
                </a:solidFill>
                <a:effectLst/>
                <a:latin typeface="Consolas" panose="020B0609020204030204" pitchFamily="49" charset="0"/>
              </a:rPr>
              <a:t> , </a:t>
            </a:r>
            <a:r>
              <a:rPr lang="ro-RO" sz="2000" b="1" noProof="0" dirty="0">
                <a:solidFill>
                  <a:srgbClr val="9CDCFE"/>
                </a:solidFill>
                <a:effectLst/>
                <a:latin typeface="Consolas" panose="020B0609020204030204" pitchFamily="49" charset="0"/>
              </a:rPr>
              <a:t>number2</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num1</a:t>
            </a:r>
            <a:r>
              <a:rPr lang="ro-RO" sz="2000" b="1" noProof="0" dirty="0">
                <a:solidFill>
                  <a:srgbClr val="CCCCCC"/>
                </a:solidFill>
                <a:effectLst/>
                <a:latin typeface="Consolas" panose="020B0609020204030204" pitchFamily="49" charset="0"/>
              </a:rPr>
              <a:t> ,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num2</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number1</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num1</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number2</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num2</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operator</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c1</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number1</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c1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number1</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number2</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c1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number2</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c1</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Print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"Number1 = "</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number1</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"Number2 = "</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number2</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2767881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B6B0D-E6F1-5707-B738-A152B8155B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C52975-9A7D-ED58-5338-F7947B303402}"/>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EFCC6E70-FC6E-1978-7345-F4FA04DCDCCE}"/>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lang="ro-RO" sz="2000" b="1" noProof="0" dirty="0">
                <a:solidFill>
                  <a:srgbClr val="569CD6"/>
                </a:solidFill>
                <a:latin typeface="Consolas" panose="020B0609020204030204" pitchFamily="49" charset="0"/>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EntryPoint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calc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calc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calc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calc</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Print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3458990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D6B99-1527-D7F8-4B9C-5E3737F6F1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5300CA-6806-1150-19B4-873AA6046103}"/>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5BEE87C0-060D-942A-26B7-241B9309DBE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a:t>
            </a:r>
            <a:r>
              <a:rPr lang="ro-RO" sz="2800" noProof="0" dirty="0" err="1">
                <a:solidFill>
                  <a:srgbClr val="00B0F0"/>
                </a:solidFill>
              </a:rPr>
              <a:t>supraîncarcare</a:t>
            </a:r>
            <a:r>
              <a:rPr lang="ro-RO" sz="2800" noProof="0" dirty="0">
                <a:solidFill>
                  <a:srgbClr val="00B0F0"/>
                </a:solidFill>
              </a:rPr>
              <a:t> operator binar</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BinaryOverload</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number</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number</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operator</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Calc1</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Calc2</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Calc3</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Calculator</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Calc3</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Calc2</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number</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Calc3</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number</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br>
              <a:rPr lang="ro-RO" sz="2000" b="1" noProof="0" dirty="0">
                <a:solidFill>
                  <a:srgbClr val="CCCCCC"/>
                </a:solidFill>
                <a:effectLst/>
                <a:latin typeface="Consolas" panose="020B0609020204030204" pitchFamily="49" charset="0"/>
              </a:rPr>
            </a:b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211089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71158-8013-35EF-F198-013D742A78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E55863-54B4-7D30-7667-D793A3A53F85}"/>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82AE4575-E2F5-EDCB-4B1A-6AEBF1077F4A}"/>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lang="ro-RO" sz="2000" b="1" noProof="0" dirty="0">
                <a:solidFill>
                  <a:srgbClr val="569CD6"/>
                </a:solidFill>
                <a:latin typeface="Consolas" panose="020B0609020204030204" pitchFamily="49" charset="0"/>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CalNum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200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40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Calculator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Displays</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200</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Displays</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40</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num3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Displays</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240</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049486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AF80A-EC13-1FF2-E95F-D4CD68D163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C625F7-7CF3-4FFA-E39E-C6FD44DA2C81}"/>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F5CF1D87-E7E3-606E-7C38-26F83BCC305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supraîncărcare operatori binari de comparație</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operator_overloading</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getVolume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=&gt;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setBreadth</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bre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D4D4D4"/>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bre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setHeight</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hei</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D4D4D4"/>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hei</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3137551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899C-3A18-4F93-DEFA-863C8F3187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C16881-B906-8C07-4E4C-4D669C9D111E}"/>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02C82C81-C9FD-B653-A3E4-CEDC25E6805D}"/>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true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true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Equals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object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obj</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if</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obj</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null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obj</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else</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this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obj</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this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obj</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this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obj</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GetHashCode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base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GetHashCode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endParaRPr lang="ro-RO" sz="2800" noProof="0" dirty="0">
              <a:solidFill>
                <a:srgbClr val="00B0F0"/>
              </a:solidFill>
            </a:endParaRPr>
          </a:p>
        </p:txBody>
      </p:sp>
    </p:spTree>
    <p:extLst>
      <p:ext uri="{BB962C8B-B14F-4D97-AF65-F5344CB8AC3E}">
        <p14:creationId xmlns:p14="http://schemas.microsoft.com/office/powerpoint/2010/main" val="3046580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5900D-1627-E900-5727-A20BA1DFEC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BB9510-6BED-929E-7D03-0D4E1827176D}"/>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2CAAEB28-640B-50E9-219C-280D18C17844}"/>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true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true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true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bool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operator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&amp;&amp;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rhs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true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false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ToString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Format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"({0}, {1}, {2})"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endParaRPr lang="ro-RO" sz="2800" noProof="0" dirty="0">
              <a:solidFill>
                <a:srgbClr val="00B0F0"/>
              </a:solidFill>
            </a:endParaRPr>
          </a:p>
        </p:txBody>
      </p:sp>
    </p:spTree>
    <p:extLst>
      <p:ext uri="{BB962C8B-B14F-4D97-AF65-F5344CB8AC3E}">
        <p14:creationId xmlns:p14="http://schemas.microsoft.com/office/powerpoint/2010/main" val="989180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0A78-0603-C09C-70EA-D9F7BA4F19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ECC38F-50C4-D4BF-15BC-231A0CD7797F}"/>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1197739B-B1A5-369C-9EC0-061D0DB30A3B}"/>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internal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Program</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6</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 1: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ToString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Box1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 2: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ToString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Box2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 3: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ToString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Box3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endParaRPr lang="ro-RO" sz="2800" noProof="0" dirty="0">
              <a:solidFill>
                <a:srgbClr val="00B0F0"/>
              </a:solidFill>
            </a:endParaRPr>
          </a:p>
        </p:txBody>
      </p:sp>
    </p:spTree>
    <p:extLst>
      <p:ext uri="{BB962C8B-B14F-4D97-AF65-F5344CB8AC3E}">
        <p14:creationId xmlns:p14="http://schemas.microsoft.com/office/powerpoint/2010/main" val="1320350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F8585-BE22-29BC-B981-CEF4146BE0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862919-4ECB-93C5-7F26-03B25A4C81AC}"/>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69771BFF-B163-E46B-1A61-08B98792C691}"/>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greater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than</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greater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than</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less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than</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less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than</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greater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or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greater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or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less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or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less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or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"Box1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greater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or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"Box3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"Box3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equal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Box4"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948712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3A949-9F1B-7241-591A-9CD0C09AF3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FA5ABB-F740-638A-04D4-8E1A74007053}"/>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B945968A-DF02-4C46-D947-71AA9CA5D97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Începând cu versiunea C#14 .NET10 se pot supraîncărca si operatorii membri de instanță(care modifica instanța unui clase(obiect) și nu returnează un obiect nou)</a:t>
            </a:r>
          </a:p>
          <a:p>
            <a:pPr marL="34290" indent="0" algn="just">
              <a:buNone/>
            </a:pPr>
            <a:r>
              <a:rPr lang="ro-RO" sz="2800" noProof="0" dirty="0">
                <a:solidFill>
                  <a:srgbClr val="00B0F0"/>
                </a:solidFill>
              </a:rPr>
              <a:t>Această versiune aduce optimizări de performanță prin evitarea alocărilor inutile de memorie. Cele mai importante modificări sunt: </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962163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67554-17BD-DB6E-D7AB-D6EA5ABFFD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9B6106-641A-155F-6D21-4DC52DEEF2FC}"/>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F46D75EB-7A2F-2628-836F-945379535923}"/>
              </a:ext>
            </a:extLst>
          </p:cNvPr>
          <p:cNvSpPr>
            <a:spLocks noGrp="1"/>
          </p:cNvSpPr>
          <p:nvPr>
            <p:ph idx="1"/>
          </p:nvPr>
        </p:nvSpPr>
        <p:spPr>
          <a:xfrm>
            <a:off x="463925" y="1281952"/>
            <a:ext cx="8249770" cy="5074024"/>
          </a:xfrm>
        </p:spPr>
        <p:txBody>
          <a:bodyPr>
            <a:noAutofit/>
          </a:bodyPr>
          <a:lstStyle/>
          <a:p>
            <a:pPr algn="just"/>
            <a:r>
              <a:rPr lang="ro-RO" sz="2800" dirty="0">
                <a:solidFill>
                  <a:srgbClr val="00B0F0"/>
                </a:solidFill>
              </a:rPr>
              <a:t> Operatori de instanță: Poți supraîncărca operatorii de incrementare (++) și decrementare (--) ca metode de instanță. Aceștia pot modifica starea obiectului curent în loc să returneze o instanță nouă.</a:t>
            </a:r>
          </a:p>
          <a:p>
            <a:pPr algn="just"/>
            <a:r>
              <a:rPr lang="ro-RO" sz="2800" dirty="0">
                <a:solidFill>
                  <a:srgbClr val="00B0F0"/>
                </a:solidFill>
              </a:rPr>
              <a:t> Atribuire compusă (Compound </a:t>
            </a:r>
            <a:r>
              <a:rPr lang="ro-RO" sz="2800" dirty="0" err="1">
                <a:solidFill>
                  <a:srgbClr val="00B0F0"/>
                </a:solidFill>
              </a:rPr>
              <a:t>Assignment</a:t>
            </a:r>
            <a:r>
              <a:rPr lang="ro-RO" sz="2800" dirty="0">
                <a:solidFill>
                  <a:srgbClr val="00B0F0"/>
                </a:solidFill>
              </a:rPr>
              <a:t>): Operatorii precum +=, -=, *=, /= pot fi acum supraîncărcați direct.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667050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AB28-5AD9-F4BF-2416-7345D109CA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F5FC45-B42F-E67F-E159-36A8D2E42A60}"/>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B97FC4A0-4CF6-0E9C-78F4-19301746D49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supraîncărcare operatori de instanță</a:t>
            </a:r>
          </a:p>
          <a:p>
            <a:pPr>
              <a:lnSpc>
                <a:spcPts val="1425"/>
              </a:lnSpc>
              <a:buNone/>
            </a:pP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class</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private</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int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private</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int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a:solidFill>
                  <a:srgbClr val="569CD6"/>
                </a:solidFill>
                <a:effectLst/>
                <a:latin typeface="Consolas" panose="020B0609020204030204" pitchFamily="49" charset="0"/>
              </a:rPr>
              <a:t>int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int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if</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0</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throw</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err="1">
                <a:solidFill>
                  <a:srgbClr val="4EC9B0"/>
                </a:solidFill>
                <a:effectLst/>
                <a:latin typeface="Consolas" panose="020B0609020204030204" pitchFamily="49" charset="0"/>
              </a:rPr>
              <a:t>ArgumentException</a:t>
            </a:r>
            <a:r>
              <a:rPr lang="en-US" sz="2000" b="1" dirty="0">
                <a:solidFill>
                  <a:srgbClr val="CCCCCC"/>
                </a:solidFill>
                <a:effectLst/>
                <a:latin typeface="Consolas" panose="020B0609020204030204" pitchFamily="49" charset="0"/>
              </a:rPr>
              <a:t>(</a:t>
            </a:r>
            <a:r>
              <a:rPr lang="en-US" sz="2000" b="1" dirty="0">
                <a:solidFill>
                  <a:srgbClr val="CE9178"/>
                </a:solidFill>
                <a:effectLst/>
                <a:latin typeface="Consolas" panose="020B0609020204030204" pitchFamily="49" charset="0"/>
              </a:rPr>
              <a:t>"Denominator cannot be zero."</a:t>
            </a:r>
            <a:r>
              <a:rPr lang="en-US" sz="2000" b="1" dirty="0">
                <a:solidFill>
                  <a:srgbClr val="CCCCCC"/>
                </a:solidFill>
                <a:effectLst/>
                <a:latin typeface="Consolas" panose="020B0609020204030204" pitchFamily="49" charset="0"/>
              </a:rPr>
              <a:t>, </a:t>
            </a:r>
            <a:r>
              <a:rPr lang="en-US" sz="2000" b="1" dirty="0" err="1">
                <a:solidFill>
                  <a:srgbClr val="569CD6"/>
                </a:solidFill>
                <a:effectLst/>
                <a:latin typeface="Consolas" panose="020B0609020204030204" pitchFamily="49" charset="0"/>
              </a:rPr>
              <a:t>nameof</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569CD6"/>
                </a:solidFill>
                <a:effectLst/>
                <a:latin typeface="Consolas" panose="020B0609020204030204" pitchFamily="49" charset="0"/>
              </a:rPr>
              <a:t>this</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569CD6"/>
                </a:solidFill>
                <a:effectLst/>
                <a:latin typeface="Consolas" panose="020B0609020204030204" pitchFamily="49" charset="0"/>
              </a:rPr>
              <a:t>this</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32870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CFC6-E113-A709-77B4-CBCD5D1EFC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858EDC-5E03-D1F1-4E33-962BE8928C51}"/>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ABB4F6EE-3B35-921B-4FF9-E05ABD3B468C}"/>
              </a:ext>
            </a:extLst>
          </p:cNvPr>
          <p:cNvSpPr>
            <a:spLocks noGrp="1"/>
          </p:cNvSpPr>
          <p:nvPr>
            <p:ph idx="1"/>
          </p:nvPr>
        </p:nvSpPr>
        <p:spPr>
          <a:xfrm>
            <a:off x="463925" y="1281952"/>
            <a:ext cx="8249770" cy="5074024"/>
          </a:xfrm>
        </p:spPr>
        <p:txBody>
          <a:bodyPr>
            <a:noAutofit/>
          </a:bodyPr>
          <a:lstStyle/>
          <a:p>
            <a:pPr>
              <a:lnSpc>
                <a:spcPts val="1425"/>
              </a:lnSpc>
              <a:buNone/>
            </a:pPr>
            <a:r>
              <a:rPr lang="ro-RO" sz="2000" b="1" dirty="0">
                <a:solidFill>
                  <a:srgbClr val="569CD6"/>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a:solidFill>
                  <a:srgbClr val="D4D4D4"/>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left</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right</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left</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right</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left</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9CDCFE"/>
                </a:solidFill>
                <a:effectLst/>
                <a:latin typeface="Consolas" panose="020B0609020204030204" pitchFamily="49" charset="0"/>
              </a:rPr>
              <a:t>right</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left</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right</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left</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right</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if</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0</a:t>
            </a: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throw</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err="1">
                <a:solidFill>
                  <a:srgbClr val="4EC9B0"/>
                </a:solidFill>
                <a:effectLst/>
                <a:latin typeface="Consolas" panose="020B0609020204030204" pitchFamily="49" charset="0"/>
              </a:rPr>
              <a:t>DivideByZeroException</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return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left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right</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1556252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4AB20-4964-1AC8-48F1-838783B518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C72233-0A92-D2E2-D462-FDDA62DFC206}"/>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5190BC97-1EB0-2DE2-2C2A-40326678965E}"/>
              </a:ext>
            </a:extLst>
          </p:cNvPr>
          <p:cNvSpPr>
            <a:spLocks noGrp="1"/>
          </p:cNvSpPr>
          <p:nvPr>
            <p:ph idx="1"/>
          </p:nvPr>
        </p:nvSpPr>
        <p:spPr>
          <a:xfrm>
            <a:off x="463925" y="1281952"/>
            <a:ext cx="8249770" cy="5074024"/>
          </a:xfrm>
        </p:spPr>
        <p:txBody>
          <a:bodyPr>
            <a:noAutofit/>
          </a:bodyPr>
          <a:lstStyle/>
          <a:p>
            <a:pPr>
              <a:lnSpc>
                <a:spcPts val="1425"/>
              </a:lnSpc>
              <a:buNone/>
            </a:pP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Definim</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incrementarea</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si</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decrementarea</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prin</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adunarea</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lui</a:t>
            </a:r>
            <a:r>
              <a:rPr lang="en-US" sz="2000" b="1" dirty="0">
                <a:solidFill>
                  <a:srgbClr val="6A9955"/>
                </a:solidFill>
                <a:effectLst/>
                <a:latin typeface="Consolas" panose="020B0609020204030204" pitchFamily="49" charset="0"/>
              </a:rPr>
              <a:t> 1/den, </a:t>
            </a:r>
            <a:r>
              <a:rPr lang="en-US" sz="2000" b="1" dirty="0" err="1">
                <a:solidFill>
                  <a:srgbClr val="6A9955"/>
                </a:solidFill>
                <a:effectLst/>
                <a:latin typeface="Consolas" panose="020B0609020204030204" pitchFamily="49" charset="0"/>
              </a:rPr>
              <a:t>decat</a:t>
            </a:r>
            <a:r>
              <a:rPr lang="en-US" sz="2000" b="1" dirty="0">
                <a:solidFill>
                  <a:srgbClr val="6A9955"/>
                </a:solidFill>
                <a:effectLst/>
                <a:latin typeface="Consolas" panose="020B0609020204030204" pitchFamily="49" charset="0"/>
              </a:rPr>
              <a:t> 1/1.</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1</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1</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override</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string</a:t>
            </a:r>
            <a:r>
              <a:rPr lang="en-US" sz="2000" b="1" dirty="0">
                <a:solidFill>
                  <a:srgbClr val="CCCCCC"/>
                </a:solidFill>
                <a:effectLst/>
                <a:latin typeface="Consolas" panose="020B0609020204030204" pitchFamily="49" charset="0"/>
              </a:rPr>
              <a:t> </a:t>
            </a:r>
            <a:r>
              <a:rPr lang="en-US" sz="2000" b="1" dirty="0" err="1">
                <a:solidFill>
                  <a:srgbClr val="DCDCAA"/>
                </a:solidFill>
                <a:effectLst/>
                <a:latin typeface="Consolas" panose="020B0609020204030204" pitchFamily="49" charset="0"/>
              </a:rPr>
              <a:t>ToString</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CE9178"/>
                </a:solidFill>
                <a:effectLst/>
                <a:latin typeface="Consolas" panose="020B0609020204030204" pitchFamily="49" charset="0"/>
              </a:rPr>
              <a:t>$"</a:t>
            </a:r>
            <a:r>
              <a:rPr lang="en-US" sz="2000" b="1" dirty="0">
                <a:solidFill>
                  <a:srgbClr val="D4D4D4"/>
                </a:solidFill>
                <a:effectLst/>
                <a:latin typeface="Consolas" panose="020B0609020204030204" pitchFamily="49" charset="0"/>
              </a:rPr>
              <a:t>{</a:t>
            </a:r>
            <a:r>
              <a:rPr lang="en-US" sz="2000" b="1" dirty="0">
                <a:solidFill>
                  <a:srgbClr val="9CDCFE"/>
                </a:solidFill>
                <a:effectLst/>
                <a:latin typeface="Consolas" panose="020B0609020204030204" pitchFamily="49" charset="0"/>
              </a:rPr>
              <a:t>numerator</a:t>
            </a:r>
            <a:r>
              <a:rPr lang="en-US" sz="2000" b="1" dirty="0">
                <a:solidFill>
                  <a:srgbClr val="D4D4D4"/>
                </a:solidFill>
                <a:effectLst/>
                <a:latin typeface="Consolas" panose="020B0609020204030204" pitchFamily="49" charset="0"/>
              </a:rPr>
              <a:t>}</a:t>
            </a:r>
            <a:r>
              <a:rPr lang="en-US" sz="2000" b="1" dirty="0">
                <a:solidFill>
                  <a:srgbClr val="CE9178"/>
                </a:solidFill>
                <a:effectLst/>
                <a:latin typeface="Consolas" panose="020B0609020204030204" pitchFamily="49" charset="0"/>
              </a:rPr>
              <a:t> / </a:t>
            </a:r>
            <a:r>
              <a:rPr lang="en-US" sz="2000" b="1" dirty="0">
                <a:solidFill>
                  <a:srgbClr val="D4D4D4"/>
                </a:solidFill>
                <a:effectLst/>
                <a:latin typeface="Consolas" panose="020B0609020204030204" pitchFamily="49" charset="0"/>
              </a:rPr>
              <a:t>{</a:t>
            </a:r>
            <a:r>
              <a:rPr lang="en-US" sz="2000" b="1" dirty="0">
                <a:solidFill>
                  <a:srgbClr val="9CDCFE"/>
                </a:solidFill>
                <a:effectLst/>
                <a:latin typeface="Consolas" panose="020B0609020204030204" pitchFamily="49" charset="0"/>
              </a:rPr>
              <a:t>denominator</a:t>
            </a:r>
            <a:r>
              <a:rPr lang="en-US" sz="2000" b="1" dirty="0">
                <a:solidFill>
                  <a:srgbClr val="D4D4D4"/>
                </a:solidFill>
                <a:effectLst/>
                <a:latin typeface="Consolas" panose="020B0609020204030204" pitchFamily="49" charset="0"/>
              </a:rPr>
              <a:t>}</a:t>
            </a:r>
            <a:r>
              <a:rPr lang="en-US" sz="2000" b="1" dirty="0">
                <a:solidFill>
                  <a:srgbClr val="CE9178"/>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743870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74952-EC8F-EC6B-D3F8-8097091B94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545EFC-E09E-364D-75E3-5FD6CC967FD1}"/>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98651FC9-0125-2257-2077-F567C2E2E231}"/>
              </a:ext>
            </a:extLst>
          </p:cNvPr>
          <p:cNvSpPr>
            <a:spLocks noGrp="1"/>
          </p:cNvSpPr>
          <p:nvPr>
            <p:ph idx="1"/>
          </p:nvPr>
        </p:nvSpPr>
        <p:spPr>
          <a:xfrm>
            <a:off x="463925" y="1281952"/>
            <a:ext cx="8249770" cy="5074024"/>
          </a:xfrm>
        </p:spPr>
        <p:txBody>
          <a:bodyPr>
            <a:noAutofit/>
          </a:bodyPr>
          <a:lstStyle/>
          <a:p>
            <a:pPr>
              <a:lnSpc>
                <a:spcPts val="1425"/>
              </a:lnSpc>
              <a:buNone/>
            </a:pP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Operatori</a:t>
            </a:r>
            <a:r>
              <a:rPr lang="en-US" sz="2000" b="1" dirty="0">
                <a:solidFill>
                  <a:srgbClr val="6A9955"/>
                </a:solidFill>
                <a:effectLst/>
                <a:latin typeface="Consolas" panose="020B0609020204030204" pitchFamily="49" charset="0"/>
              </a:rPr>
              <a:t> </a:t>
            </a:r>
            <a:r>
              <a:rPr lang="en-US" sz="2000" b="1" dirty="0" err="1">
                <a:solidFill>
                  <a:srgbClr val="6A9955"/>
                </a:solidFill>
                <a:effectLst/>
                <a:latin typeface="Consolas" panose="020B0609020204030204" pitchFamily="49" charset="0"/>
              </a:rPr>
              <a:t>permisi</a:t>
            </a:r>
            <a:r>
              <a:rPr lang="en-US" sz="2000" b="1" dirty="0">
                <a:solidFill>
                  <a:srgbClr val="6A9955"/>
                </a:solidFill>
                <a:effectLst/>
                <a:latin typeface="Consolas" panose="020B0609020204030204" pitchFamily="49" charset="0"/>
              </a:rPr>
              <a:t> la </a:t>
            </a:r>
            <a:r>
              <a:rPr lang="en-US" sz="2000" b="1" dirty="0" err="1">
                <a:solidFill>
                  <a:srgbClr val="6A9955"/>
                </a:solidFill>
                <a:effectLst/>
                <a:latin typeface="Consolas" panose="020B0609020204030204" pitchFamily="49" charset="0"/>
              </a:rPr>
              <a:t>supraincarcare</a:t>
            </a:r>
            <a:r>
              <a:rPr lang="en-US" sz="2000" b="1" dirty="0">
                <a:solidFill>
                  <a:srgbClr val="6A9955"/>
                </a:solidFill>
                <a:effectLst/>
                <a:latin typeface="Consolas" panose="020B0609020204030204" pitchFamily="49" charset="0"/>
              </a:rPr>
              <a:t> in C# 14:</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operand</a:t>
            </a:r>
            <a:r>
              <a:rPr lang="en-US" sz="2000" b="1" dirty="0">
                <a:solidFill>
                  <a:srgbClr val="CCCCCC"/>
                </a:solidFill>
                <a:effectLst/>
                <a:latin typeface="Consolas" panose="020B0609020204030204" pitchFamily="49" charset="0"/>
              </a:rPr>
              <a:t>)</a:t>
            </a:r>
            <a:r>
              <a:rPr lang="ro-RO" sz="2000" b="1" dirty="0">
                <a:solidFill>
                  <a:srgbClr val="CCCCCC"/>
                </a:solidFill>
                <a:latin typeface="Consolas" panose="020B0609020204030204" pitchFamily="49" charset="0"/>
              </a:rPr>
              <a:t> </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if</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0</a:t>
            </a:r>
            <a:r>
              <a:rPr lang="en-US" sz="2000" b="1" dirty="0">
                <a:solidFill>
                  <a:srgbClr val="CCCCCC"/>
                </a:solidFill>
                <a:effectLst/>
                <a:latin typeface="Consolas" panose="020B0609020204030204" pitchFamily="49" charset="0"/>
              </a:rPr>
              <a:t>)</a:t>
            </a:r>
            <a:r>
              <a:rPr lang="ro-RO" sz="2000" b="1" dirty="0">
                <a:solidFill>
                  <a:srgbClr val="CCCCCC"/>
                </a:solidFill>
                <a:effectLst/>
                <a:latin typeface="Consolas" panose="020B0609020204030204" pitchFamily="49" charset="0"/>
              </a:rPr>
              <a:t> </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C586C0"/>
                </a:solidFill>
                <a:effectLst/>
                <a:latin typeface="Consolas" panose="020B0609020204030204" pitchFamily="49" charset="0"/>
              </a:rPr>
              <a:t>throw</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err="1">
                <a:solidFill>
                  <a:srgbClr val="4EC9B0"/>
                </a:solidFill>
                <a:effectLst/>
                <a:latin typeface="Consolas" panose="020B0609020204030204" pitchFamily="49" charset="0"/>
              </a:rPr>
              <a:t>DivideByZeroException</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 </a:t>
            </a:r>
            <a:r>
              <a:rPr lang="en-US" sz="2000" b="1" dirty="0">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denominator</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operand</a:t>
            </a:r>
            <a:r>
              <a:rPr lang="en-US" sz="2000" b="1" dirty="0" err="1">
                <a:solidFill>
                  <a:srgbClr val="CCCCCC"/>
                </a:solidFill>
                <a:effectLst/>
                <a:latin typeface="Consolas" panose="020B0609020204030204" pitchFamily="49" charset="0"/>
              </a:rPr>
              <a:t>.</a:t>
            </a:r>
            <a:r>
              <a:rPr lang="en-US" sz="2000" b="1" dirty="0" err="1">
                <a:solidFill>
                  <a:srgbClr val="9CDCFE"/>
                </a:solidFill>
                <a:effectLst/>
                <a:latin typeface="Consolas" panose="020B0609020204030204" pitchFamily="49" charset="0"/>
              </a:rPr>
              <a:t>numerator</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operator</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=&gt;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numerator</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endParaRPr lang="ro-RO"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latin typeface="Consolas" panose="020B0609020204030204" pitchFamily="49" charset="0"/>
              </a:rPr>
              <a:t>}</a:t>
            </a:r>
          </a:p>
          <a:p>
            <a:pPr>
              <a:lnSpc>
                <a:spcPts val="1425"/>
              </a:lnSpc>
              <a:buNone/>
            </a:pPr>
            <a:endParaRPr lang="en-US" sz="2000" b="1"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256596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9A23B-9268-8C86-5152-A5FE14D102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3FBCD6-6A2D-FD37-9DC2-E974B7520734}"/>
              </a:ext>
            </a:extLst>
          </p:cNvPr>
          <p:cNvSpPr>
            <a:spLocks noGrp="1"/>
          </p:cNvSpPr>
          <p:nvPr>
            <p:ph type="title"/>
          </p:nvPr>
        </p:nvSpPr>
        <p:spPr>
          <a:xfrm>
            <a:off x="463925" y="582705"/>
            <a:ext cx="7819465" cy="504265"/>
          </a:xfrm>
        </p:spPr>
        <p:txBody>
          <a:bodyPr>
            <a:noAutofit/>
          </a:bodyPr>
          <a:lstStyle/>
          <a:p>
            <a:r>
              <a:rPr lang="ro-RO" sz="3200" noProof="0" dirty="0"/>
              <a:t>C#POO - Cursul 8</a:t>
            </a:r>
          </a:p>
        </p:txBody>
      </p:sp>
      <p:sp>
        <p:nvSpPr>
          <p:cNvPr id="5" name="Content Placeholder 4">
            <a:extLst>
              <a:ext uri="{FF2B5EF4-FFF2-40B4-BE49-F238E27FC236}">
                <a16:creationId xmlns:a16="http://schemas.microsoft.com/office/drawing/2014/main" id="{FC17E202-EE5B-B40D-0FB2-9B43C0E67152}"/>
              </a:ext>
            </a:extLst>
          </p:cNvPr>
          <p:cNvSpPr>
            <a:spLocks noGrp="1"/>
          </p:cNvSpPr>
          <p:nvPr>
            <p:ph idx="1"/>
          </p:nvPr>
        </p:nvSpPr>
        <p:spPr>
          <a:xfrm>
            <a:off x="463925" y="1281952"/>
            <a:ext cx="8249770" cy="5074024"/>
          </a:xfrm>
        </p:spPr>
        <p:txBody>
          <a:bodyPr>
            <a:noAutofit/>
          </a:bodyPr>
          <a:lstStyle/>
          <a:p>
            <a:pPr>
              <a:lnSpc>
                <a:spcPts val="1425"/>
              </a:lnSpc>
              <a:buNone/>
            </a:pP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class</a:t>
            </a:r>
            <a:r>
              <a:rPr lang="en-US" sz="2000" b="1" dirty="0">
                <a:solidFill>
                  <a:srgbClr val="CCCCCC"/>
                </a:solidFill>
                <a:effectLst/>
                <a:latin typeface="Consolas" panose="020B0609020204030204" pitchFamily="49" charset="0"/>
              </a:rPr>
              <a:t> </a:t>
            </a:r>
            <a:r>
              <a:rPr lang="en-US" sz="2000" b="1" dirty="0" err="1">
                <a:solidFill>
                  <a:srgbClr val="4EC9B0"/>
                </a:solidFill>
                <a:effectLst/>
                <a:latin typeface="Consolas" panose="020B0609020204030204" pitchFamily="49" charset="0"/>
              </a:rPr>
              <a:t>OperatorOverloading</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public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static</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void</a:t>
            </a:r>
            <a:r>
              <a:rPr lang="en-US" sz="2000" b="1" dirty="0">
                <a:solidFill>
                  <a:srgbClr val="CCCCCC"/>
                </a:solidFill>
                <a:effectLst/>
                <a:latin typeface="Consolas" panose="020B0609020204030204" pitchFamily="49" charset="0"/>
              </a:rPr>
              <a:t> </a:t>
            </a:r>
            <a:r>
              <a:rPr lang="en-US" sz="2000" b="1" dirty="0">
                <a:solidFill>
                  <a:srgbClr val="DCDCAA"/>
                </a:solidFill>
                <a:effectLst/>
                <a:latin typeface="Consolas" panose="020B0609020204030204" pitchFamily="49" charset="0"/>
              </a:rPr>
              <a:t>Main</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var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a:solidFill>
                  <a:srgbClr val="B5CEA8"/>
                </a:solidFill>
                <a:effectLst/>
                <a:latin typeface="Consolas" panose="020B0609020204030204" pitchFamily="49" charset="0"/>
              </a:rPr>
              <a:t>5</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4</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var</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a:solidFill>
                  <a:srgbClr val="B5CEA8"/>
                </a:solidFill>
                <a:effectLst/>
                <a:latin typeface="Consolas" panose="020B0609020204030204" pitchFamily="49" charset="0"/>
              </a:rPr>
              <a:t>1</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2</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D4D4D4"/>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-5 / 4</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14 / 8</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6 / 8</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5 / 8</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10 / 4</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a:solidFill>
                  <a:srgbClr val="B5CEA8"/>
                </a:solidFill>
                <a:effectLst/>
                <a:latin typeface="Consolas" panose="020B0609020204030204" pitchFamily="49" charset="0"/>
              </a:rPr>
              <a:t>1</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2</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14/8</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a</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15/8</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a</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 output: 14/8</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D4D4D4"/>
                </a:solidFill>
                <a:effectLst/>
                <a:latin typeface="Consolas" panose="020B0609020204030204" pitchFamily="49" charset="0"/>
              </a:rPr>
              <a:t>/=</a:t>
            </a:r>
            <a:r>
              <a:rPr lang="en-US" sz="2000" b="1" dirty="0">
                <a:solidFill>
                  <a:srgbClr val="CCCCCC"/>
                </a:solidFill>
                <a:effectLst/>
                <a:latin typeface="Consolas" panose="020B0609020204030204" pitchFamily="49" charset="0"/>
              </a:rPr>
              <a:t> </a:t>
            </a:r>
            <a:r>
              <a:rPr lang="en-US" sz="2000" b="1" dirty="0">
                <a:solidFill>
                  <a:srgbClr val="569CD6"/>
                </a:solidFill>
                <a:effectLst/>
                <a:latin typeface="Consolas" panose="020B0609020204030204" pitchFamily="49" charset="0"/>
              </a:rPr>
              <a:t>new</a:t>
            </a:r>
            <a:r>
              <a:rPr lang="en-US" sz="2000" b="1" dirty="0">
                <a:solidFill>
                  <a:srgbClr val="CCCCCC"/>
                </a:solidFill>
                <a:effectLst/>
                <a:latin typeface="Consolas" panose="020B0609020204030204" pitchFamily="49" charset="0"/>
              </a:rPr>
              <a:t> </a:t>
            </a:r>
            <a:r>
              <a:rPr lang="en-US" sz="2000" b="1" dirty="0">
                <a:solidFill>
                  <a:srgbClr val="4EC9B0"/>
                </a:solidFill>
                <a:effectLst/>
                <a:latin typeface="Consolas" panose="020B0609020204030204" pitchFamily="49" charset="0"/>
              </a:rPr>
              <a:t>Fraction</a:t>
            </a:r>
            <a:r>
              <a:rPr lang="en-US" sz="2000" b="1" dirty="0">
                <a:solidFill>
                  <a:srgbClr val="CCCCCC"/>
                </a:solidFill>
                <a:effectLst/>
                <a:latin typeface="Consolas" panose="020B0609020204030204" pitchFamily="49" charset="0"/>
              </a:rPr>
              <a:t>(</a:t>
            </a:r>
            <a:r>
              <a:rPr lang="en-US" sz="2000" b="1" dirty="0">
                <a:solidFill>
                  <a:srgbClr val="B5CEA8"/>
                </a:solidFill>
                <a:effectLst/>
                <a:latin typeface="Consolas" panose="020B0609020204030204" pitchFamily="49" charset="0"/>
              </a:rPr>
              <a:t>1</a:t>
            </a:r>
            <a:r>
              <a:rPr lang="en-US" sz="2000" b="1" dirty="0">
                <a:solidFill>
                  <a:srgbClr val="CCCCCC"/>
                </a:solidFill>
                <a:effectLst/>
                <a:latin typeface="Consolas" panose="020B0609020204030204" pitchFamily="49" charset="0"/>
              </a:rPr>
              <a:t>, </a:t>
            </a:r>
            <a:r>
              <a:rPr lang="en-US" sz="2000" b="1" dirty="0">
                <a:solidFill>
                  <a:srgbClr val="B5CEA8"/>
                </a:solidFill>
                <a:effectLst/>
                <a:latin typeface="Consolas" panose="020B0609020204030204" pitchFamily="49" charset="0"/>
              </a:rPr>
              <a:t>2</a:t>
            </a:r>
            <a:r>
              <a:rPr lang="en-US" sz="2000" b="1" dirty="0">
                <a:solidFill>
                  <a:srgbClr val="CCCCCC"/>
                </a:solidFill>
                <a:effectLst/>
                <a:latin typeface="Consolas" panose="020B0609020204030204" pitchFamily="49" charset="0"/>
              </a:rPr>
              <a:t>);</a:t>
            </a:r>
          </a:p>
          <a:p>
            <a:pPr>
              <a:lnSpc>
                <a:spcPts val="1425"/>
              </a:lnSpc>
              <a:buNone/>
            </a:pPr>
            <a:r>
              <a:rPr lang="en-US" sz="2000" b="1" dirty="0">
                <a:solidFill>
                  <a:srgbClr val="CCCCCC"/>
                </a:solidFill>
                <a:effectLst/>
                <a:latin typeface="Consolas" panose="020B0609020204030204" pitchFamily="49" charset="0"/>
              </a:rPr>
              <a:t>        </a:t>
            </a:r>
            <a:r>
              <a:rPr lang="en-US" sz="2000" b="1" dirty="0" err="1">
                <a:solidFill>
                  <a:srgbClr val="9CDCFE"/>
                </a:solidFill>
                <a:effectLst/>
                <a:latin typeface="Consolas" panose="020B0609020204030204" pitchFamily="49" charset="0"/>
              </a:rPr>
              <a:t>Console</a:t>
            </a:r>
            <a:r>
              <a:rPr lang="en-US" sz="2000" b="1" dirty="0" err="1">
                <a:solidFill>
                  <a:srgbClr val="CCCCCC"/>
                </a:solidFill>
                <a:effectLst/>
                <a:latin typeface="Consolas" panose="020B0609020204030204" pitchFamily="49" charset="0"/>
              </a:rPr>
              <a:t>.</a:t>
            </a:r>
            <a:r>
              <a:rPr lang="en-US" sz="2000" b="1" dirty="0" err="1">
                <a:solidFill>
                  <a:srgbClr val="DCDCAA"/>
                </a:solidFill>
                <a:effectLst/>
                <a:latin typeface="Consolas" panose="020B0609020204030204" pitchFamily="49" charset="0"/>
              </a:rPr>
              <a:t>WriteLine</a:t>
            </a:r>
            <a:r>
              <a:rPr lang="en-US" sz="2000" b="1" dirty="0">
                <a:solidFill>
                  <a:srgbClr val="CCCCCC"/>
                </a:solidFill>
                <a:effectLst/>
                <a:latin typeface="Consolas" panose="020B0609020204030204" pitchFamily="49" charset="0"/>
              </a:rPr>
              <a:t>(</a:t>
            </a:r>
            <a:r>
              <a:rPr lang="en-US" sz="2000" b="1" dirty="0">
                <a:solidFill>
                  <a:srgbClr val="9CDCFE"/>
                </a:solidFill>
                <a:effectLst/>
                <a:latin typeface="Consolas" panose="020B0609020204030204" pitchFamily="49" charset="0"/>
              </a:rPr>
              <a:t>b</a:t>
            </a:r>
            <a:r>
              <a:rPr lang="en-US" sz="2000" b="1" dirty="0">
                <a:solidFill>
                  <a:srgbClr val="CCCCCC"/>
                </a:solidFill>
                <a:effectLst/>
                <a:latin typeface="Consolas" panose="020B0609020204030204" pitchFamily="49" charset="0"/>
              </a:rPr>
              <a:t>); </a:t>
            </a:r>
            <a:r>
              <a:rPr lang="en-US" sz="2000" b="1" dirty="0">
                <a:solidFill>
                  <a:srgbClr val="6A9955"/>
                </a:solidFill>
                <a:effectLst/>
                <a:latin typeface="Consolas" panose="020B0609020204030204" pitchFamily="49" charset="0"/>
              </a:rPr>
              <a:t>//output: 2/2</a:t>
            </a:r>
            <a:endParaRPr lang="en-US" sz="2000" b="1" dirty="0">
              <a:solidFill>
                <a:srgbClr val="CCCCCC"/>
              </a:solidFill>
              <a:effectLst/>
              <a:latin typeface="Consolas" panose="020B0609020204030204" pitchFamily="49" charset="0"/>
            </a:endParaRPr>
          </a:p>
          <a:p>
            <a:pPr>
              <a:lnSpc>
                <a:spcPts val="1425"/>
              </a:lnSpc>
              <a:buNone/>
            </a:pPr>
            <a:r>
              <a:rPr lang="en-US" sz="2000" b="1" dirty="0">
                <a:solidFill>
                  <a:srgbClr val="CCCCCC"/>
                </a:solidFill>
                <a:effectLst/>
                <a:latin typeface="Consolas" panose="020B0609020204030204" pitchFamily="49" charset="0"/>
              </a:rPr>
              <a:t>    }</a:t>
            </a:r>
          </a:p>
          <a:p>
            <a:pPr>
              <a:lnSpc>
                <a:spcPts val="1425"/>
              </a:lnSpc>
              <a:buNone/>
            </a:pPr>
            <a:r>
              <a:rPr lang="en-US" sz="2000" b="1"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3776037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5088</TotalTime>
  <Words>2754</Words>
  <Application>Microsoft Office PowerPoint</Application>
  <PresentationFormat>On-screen Show (4:3)</PresentationFormat>
  <Paragraphs>336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Consolas</vt:lpstr>
      <vt:lpstr>Wingdings</vt:lpstr>
      <vt:lpstr>oldTheme</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lpstr>C#POO - Cursul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57</cp:revision>
  <dcterms:created xsi:type="dcterms:W3CDTF">2025-10-05T09:43:55Z</dcterms:created>
  <dcterms:modified xsi:type="dcterms:W3CDTF">2026-04-18T16:01:56Z</dcterms:modified>
</cp:coreProperties>
</file>
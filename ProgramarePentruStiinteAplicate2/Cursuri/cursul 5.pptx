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00" r:id="rId3"/>
    <p:sldId id="301" r:id="rId4"/>
    <p:sldId id="302"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34" autoAdjust="0"/>
    <p:restoredTop sz="94660"/>
  </p:normalViewPr>
  <p:slideViewPr>
    <p:cSldViewPr snapToGrid="0">
      <p:cViewPr varScale="1">
        <p:scale>
          <a:sx n="107" d="100"/>
          <a:sy n="107"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3/17/2026</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3/17/2026</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71B79-AD63-DB37-67C7-C575BD375C76}"/>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80B65007-A43F-3FCE-F922-090075940A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Programarea orientată pe obiecte</a:t>
            </a:r>
          </a:p>
          <a:p>
            <a:pPr algn="just"/>
            <a:r>
              <a:rPr lang="ro-RO" sz="2800" noProof="0" dirty="0">
                <a:solidFill>
                  <a:srgbClr val="00B0F0"/>
                </a:solidFill>
              </a:rPr>
              <a:t> Clase</a:t>
            </a:r>
          </a:p>
          <a:p>
            <a:pPr algn="just"/>
            <a:r>
              <a:rPr lang="ro-RO" sz="2800" noProof="0" dirty="0">
                <a:solidFill>
                  <a:srgbClr val="00B0F0"/>
                </a:solidFill>
              </a:rPr>
              <a:t> Obiecte</a:t>
            </a:r>
          </a:p>
          <a:p>
            <a:pPr algn="just"/>
            <a:r>
              <a:rPr lang="ro-RO" sz="2800" noProof="0" dirty="0">
                <a:solidFill>
                  <a:srgbClr val="00B0F0"/>
                </a:solidFill>
              </a:rPr>
              <a:t> Constructori</a:t>
            </a:r>
          </a:p>
          <a:p>
            <a:pPr algn="just"/>
            <a:r>
              <a:rPr lang="ro-RO" sz="2800" noProof="0" dirty="0">
                <a:solidFill>
                  <a:srgbClr val="00B0F0"/>
                </a:solidFill>
              </a:rPr>
              <a:t> Destructori</a:t>
            </a:r>
          </a:p>
          <a:p>
            <a:pPr algn="just"/>
            <a:r>
              <a:rPr lang="ro-RO" sz="2800" noProof="0" dirty="0">
                <a:solidFill>
                  <a:srgbClr val="00B0F0"/>
                </a:solidFill>
              </a:rPr>
              <a:t> Membri statici</a:t>
            </a:r>
          </a:p>
          <a:p>
            <a:pPr algn="just"/>
            <a:endParaRPr lang="ro-RO" sz="2800" noProof="0" dirty="0">
              <a:solidFill>
                <a:srgbClr val="00B0F0"/>
              </a:solidFill>
            </a:endParaRPr>
          </a:p>
        </p:txBody>
      </p:sp>
    </p:spTree>
    <p:extLst>
      <p:ext uri="{BB962C8B-B14F-4D97-AF65-F5344CB8AC3E}">
        <p14:creationId xmlns:p14="http://schemas.microsoft.com/office/powerpoint/2010/main" val="68950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8D1B-34D2-8C11-5876-0F5D8147AE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E18B50-FFF2-20F6-0EF4-A3BC571E2288}"/>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4CA4C17E-D401-99E3-A4B0-DFCE323F85C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Clasele</a:t>
            </a:r>
            <a:r>
              <a:rPr lang="ro-RO" sz="2800" noProof="0" dirty="0">
                <a:solidFill>
                  <a:srgbClr val="00B0F0"/>
                </a:solidFill>
              </a:rPr>
              <a:t> sunt fundamentul programării orientate pe obiecte (POO), care promovează reutilizarea și organizarea codului. O clasă este un șablon pentru a crea un obiect cu atribute, comportament și metode specifice.</a:t>
            </a:r>
          </a:p>
        </p:txBody>
      </p:sp>
    </p:spTree>
    <p:extLst>
      <p:ext uri="{BB962C8B-B14F-4D97-AF65-F5344CB8AC3E}">
        <p14:creationId xmlns:p14="http://schemas.microsoft.com/office/powerpoint/2010/main" val="832168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4F717-86E0-B127-D406-1D179A9299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4C947D-E9E2-95AF-AFEB-54ECB3039589}"/>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93DC8E27-2CC8-287B-0CA2-DAE584BF0CE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Când definiți o clasă, creați un plan pentru un tip de date. Acesta nu definește nicio dată, ci specifică ce reprezintă numele clasei. Adică din ce este alcătuit un obiect al clasei și ce operațiuni pot fi efectuate asupra acelui obiect. (Obiectele sunt instanțe ale unei clase). Metodele și variabilele care constituie o clasă se numesc </a:t>
            </a:r>
            <a:r>
              <a:rPr lang="ro-RO" sz="2800" noProof="0" dirty="0">
                <a:solidFill>
                  <a:schemeClr val="tx2"/>
                </a:solidFill>
              </a:rPr>
              <a:t>membri</a:t>
            </a:r>
            <a:r>
              <a:rPr lang="ro-RO" sz="2800" noProof="0" dirty="0">
                <a:solidFill>
                  <a:srgbClr val="00B0F0"/>
                </a:solidFill>
              </a:rPr>
              <a:t> ai clasei.</a:t>
            </a:r>
          </a:p>
        </p:txBody>
      </p:sp>
    </p:spTree>
    <p:extLst>
      <p:ext uri="{BB962C8B-B14F-4D97-AF65-F5344CB8AC3E}">
        <p14:creationId xmlns:p14="http://schemas.microsoft.com/office/powerpoint/2010/main" val="2625946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39558-DBBB-92F0-2301-650486F231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B094D3D-38B1-4D2B-7331-1C52B2C7EA37}"/>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DE284F84-C04F-14EA-BA23-35DD5E30E5C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Clase C#</a:t>
            </a:r>
          </a:p>
          <a:p>
            <a:pPr marL="34290" indent="0" algn="just">
              <a:buNone/>
            </a:pPr>
            <a:r>
              <a:rPr lang="ro-RO" sz="2800" noProof="0" dirty="0">
                <a:solidFill>
                  <a:srgbClr val="00B0F0"/>
                </a:solidFill>
              </a:rPr>
              <a:t>O clasă este ca un plan pentru crearea de obiecte. Este unul dintre conceptele importante ale programării orientate pe obiecte pentru a realiza </a:t>
            </a:r>
            <a:r>
              <a:rPr lang="ro-RO" sz="2800" noProof="0" dirty="0">
                <a:solidFill>
                  <a:schemeClr val="tx2"/>
                </a:solidFill>
              </a:rPr>
              <a:t>încapsularea</a:t>
            </a:r>
            <a:r>
              <a:rPr lang="ro-RO" sz="2800" noProof="0" dirty="0">
                <a:solidFill>
                  <a:srgbClr val="00B0F0"/>
                </a:solidFill>
              </a:rPr>
              <a:t>. O clasă încapsulează împreună datele și metodele aferente.</a:t>
            </a:r>
          </a:p>
          <a:p>
            <a:pPr marL="34290" indent="0" algn="just">
              <a:buNone/>
            </a:pPr>
            <a:r>
              <a:rPr lang="ro-RO" sz="2800" noProof="0" dirty="0">
                <a:solidFill>
                  <a:srgbClr val="00B0F0"/>
                </a:solidFill>
              </a:rPr>
              <a:t>Declararea unei clase</a:t>
            </a:r>
          </a:p>
          <a:p>
            <a:pPr marL="34290" indent="0" algn="just">
              <a:buNone/>
            </a:pPr>
            <a:r>
              <a:rPr lang="ro-RO" sz="2800" noProof="0" dirty="0">
                <a:solidFill>
                  <a:srgbClr val="00B0F0"/>
                </a:solidFill>
              </a:rPr>
              <a:t>O definiție de clasă începe cu cuvântul cheie </a:t>
            </a:r>
            <a:r>
              <a:rPr lang="ro-RO" sz="2800" noProof="0" dirty="0" err="1">
                <a:solidFill>
                  <a:schemeClr val="tx2"/>
                </a:solidFill>
              </a:rPr>
              <a:t>class</a:t>
            </a:r>
            <a:r>
              <a:rPr lang="ro-RO" sz="2800" noProof="0" dirty="0">
                <a:solidFill>
                  <a:srgbClr val="00B0F0"/>
                </a:solidFill>
              </a:rPr>
              <a:t> urmat de numele clasei și corpul clasei cuprins între acolade.</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452581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3BDE8-BD41-C9A4-6EF0-7A2BB4E87B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9B6F2B-A109-1612-E5D6-872A8103279A}"/>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FEAC55D6-9787-6D02-3045-55C5387CEC8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Sintaxa:</a:t>
            </a:r>
          </a:p>
          <a:p>
            <a:pPr>
              <a:lnSpc>
                <a:spcPts val="1425"/>
              </a:lnSpc>
              <a:buNone/>
            </a:pP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access</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specifier</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err="1">
                <a:solidFill>
                  <a:srgbClr val="CCCCCC"/>
                </a:solidFill>
                <a:latin typeface="Consolas" panose="020B0609020204030204" pitchFamily="49" charset="0"/>
              </a:rPr>
              <a:t>class</a:t>
            </a:r>
            <a:r>
              <a:rPr lang="ro-RO" sz="2000" b="1" noProof="0" dirty="0">
                <a:solidFill>
                  <a:srgbClr val="CCCCCC"/>
                </a:solidFill>
                <a:latin typeface="Consolas" panose="020B0609020204030204" pitchFamily="49" charset="0"/>
              </a:rPr>
              <a:t>  </a:t>
            </a:r>
            <a:r>
              <a:rPr lang="ro-RO" sz="2000" b="1" noProof="0" dirty="0" err="1">
                <a:solidFill>
                  <a:srgbClr val="CCCCCC"/>
                </a:solidFill>
                <a:latin typeface="Consolas" panose="020B0609020204030204" pitchFamily="49" charset="0"/>
              </a:rPr>
              <a:t>class_name</a:t>
            </a: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00B050"/>
                </a:solidFill>
                <a:latin typeface="Consolas" panose="020B0609020204030204" pitchFamily="49" charset="0"/>
              </a:rPr>
              <a:t>// </a:t>
            </a:r>
            <a:r>
              <a:rPr lang="ro-RO" sz="2000" b="1" noProof="0" dirty="0" err="1">
                <a:solidFill>
                  <a:srgbClr val="00B050"/>
                </a:solidFill>
                <a:latin typeface="Consolas" panose="020B0609020204030204" pitchFamily="49" charset="0"/>
              </a:rPr>
              <a:t>member</a:t>
            </a:r>
            <a:r>
              <a:rPr lang="ro-RO" sz="2000" b="1" noProof="0" dirty="0">
                <a:solidFill>
                  <a:srgbClr val="00B050"/>
                </a:solidFill>
                <a:latin typeface="Consolas" panose="020B0609020204030204" pitchFamily="49" charset="0"/>
              </a:rPr>
              <a:t> </a:t>
            </a:r>
            <a:r>
              <a:rPr lang="ro-RO" sz="2000" b="1" noProof="0" dirty="0" err="1">
                <a:solidFill>
                  <a:srgbClr val="00B050"/>
                </a:solidFill>
                <a:latin typeface="Consolas" panose="020B0609020204030204" pitchFamily="49" charset="0"/>
              </a:rPr>
              <a:t>variables</a:t>
            </a:r>
            <a:endParaRPr lang="ro-RO" sz="2000" b="1" noProof="0" dirty="0">
              <a:solidFill>
                <a:srgbClr val="00B050"/>
              </a:solidFill>
              <a:latin typeface="Consolas" panose="020B0609020204030204" pitchFamily="49" charset="0"/>
            </a:endParaRP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access</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specifier</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a:solidFill>
                  <a:srgbClr val="569CD6"/>
                </a:solidFill>
                <a:latin typeface="Consolas" panose="020B0609020204030204" pitchFamily="49" charset="0"/>
              </a:rPr>
              <a:t>data</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type</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variable1;</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access</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specifier</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a:solidFill>
                  <a:srgbClr val="569CD6"/>
                </a:solidFill>
                <a:latin typeface="Consolas" panose="020B0609020204030204" pitchFamily="49" charset="0"/>
              </a:rPr>
              <a:t>data</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type</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variable2;</a:t>
            </a:r>
          </a:p>
          <a:p>
            <a:pPr>
              <a:lnSpc>
                <a:spcPts val="1425"/>
              </a:lnSpc>
              <a:buNone/>
            </a:pP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access</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specifier</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a:solidFill>
                  <a:srgbClr val="569CD6"/>
                </a:solidFill>
                <a:latin typeface="Consolas" panose="020B0609020204030204" pitchFamily="49" charset="0"/>
              </a:rPr>
              <a:t>data</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type</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err="1">
                <a:solidFill>
                  <a:srgbClr val="CCCCCC"/>
                </a:solidFill>
                <a:latin typeface="Consolas" panose="020B0609020204030204" pitchFamily="49" charset="0"/>
              </a:rPr>
              <a:t>variableN</a:t>
            </a:r>
            <a:r>
              <a:rPr lang="ro-RO" sz="2000" b="1" noProof="0" dirty="0">
                <a:solidFill>
                  <a:srgbClr val="CCCCCC"/>
                </a:solidFill>
                <a:latin typeface="Consolas" panose="020B0609020204030204" pitchFamily="49" charset="0"/>
              </a:rPr>
              <a:t>;</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00B050"/>
                </a:solidFill>
                <a:latin typeface="Consolas" panose="020B0609020204030204" pitchFamily="49" charset="0"/>
              </a:rPr>
              <a:t>// </a:t>
            </a:r>
            <a:r>
              <a:rPr lang="ro-RO" sz="2000" b="1" noProof="0" dirty="0" err="1">
                <a:solidFill>
                  <a:srgbClr val="00B050"/>
                </a:solidFill>
                <a:latin typeface="Consolas" panose="020B0609020204030204" pitchFamily="49" charset="0"/>
              </a:rPr>
              <a:t>member</a:t>
            </a:r>
            <a:r>
              <a:rPr lang="ro-RO" sz="2000" b="1" noProof="0" dirty="0">
                <a:solidFill>
                  <a:srgbClr val="00B050"/>
                </a:solidFill>
                <a:latin typeface="Consolas" panose="020B0609020204030204" pitchFamily="49" charset="0"/>
              </a:rPr>
              <a:t> </a:t>
            </a:r>
            <a:r>
              <a:rPr lang="ro-RO" sz="2000" b="1" noProof="0" dirty="0" err="1">
                <a:solidFill>
                  <a:srgbClr val="00B050"/>
                </a:solidFill>
                <a:latin typeface="Consolas" panose="020B0609020204030204" pitchFamily="49" charset="0"/>
              </a:rPr>
              <a:t>methods</a:t>
            </a:r>
            <a:endParaRPr lang="ro-RO" sz="2000" b="1" noProof="0" dirty="0">
              <a:solidFill>
                <a:srgbClr val="00B050"/>
              </a:solidFill>
              <a:latin typeface="Consolas" panose="020B0609020204030204" pitchFamily="49" charset="0"/>
            </a:endParaRP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access</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specifier</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return</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type</a:t>
            </a:r>
            <a:r>
              <a:rPr lang="ro-RO" sz="2000" b="1" noProof="0" dirty="0">
                <a:solidFill>
                  <a:srgbClr val="808080"/>
                </a:solidFill>
                <a:latin typeface="Consolas" panose="020B0609020204030204" pitchFamily="49" charset="0"/>
              </a:rPr>
              <a:t>&gt; </a:t>
            </a:r>
            <a:r>
              <a:rPr lang="ro-RO" sz="2000" b="1" noProof="0" dirty="0">
                <a:solidFill>
                  <a:srgbClr val="CCCCCC"/>
                </a:solidFill>
                <a:latin typeface="Consolas" panose="020B0609020204030204" pitchFamily="49" charset="0"/>
              </a:rPr>
              <a:t>method1(</a:t>
            </a:r>
            <a:r>
              <a:rPr lang="ro-RO" sz="2000" b="1" noProof="0" dirty="0" err="1">
                <a:solidFill>
                  <a:srgbClr val="CCCCCC"/>
                </a:solidFill>
                <a:latin typeface="Consolas" panose="020B0609020204030204" pitchFamily="49" charset="0"/>
              </a:rPr>
              <a:t>parameter_list</a:t>
            </a: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00B050"/>
                </a:solidFill>
                <a:latin typeface="Consolas" panose="020B0609020204030204" pitchFamily="49" charset="0"/>
              </a:rPr>
              <a:t>// </a:t>
            </a:r>
            <a:r>
              <a:rPr lang="ro-RO" sz="2000" b="1" noProof="0" dirty="0" err="1">
                <a:solidFill>
                  <a:srgbClr val="00B050"/>
                </a:solidFill>
                <a:latin typeface="Consolas" panose="020B0609020204030204" pitchFamily="49" charset="0"/>
              </a:rPr>
              <a:t>method</a:t>
            </a:r>
            <a:r>
              <a:rPr lang="ro-RO" sz="2000" b="1" noProof="0" dirty="0">
                <a:solidFill>
                  <a:srgbClr val="00B050"/>
                </a:solidFill>
                <a:latin typeface="Consolas" panose="020B0609020204030204" pitchFamily="49" charset="0"/>
              </a:rPr>
              <a:t> body</a:t>
            </a:r>
          </a:p>
          <a:p>
            <a:pPr>
              <a:lnSpc>
                <a:spcPts val="1425"/>
              </a:lnSpc>
              <a:buNone/>
            </a:pP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access</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specifier</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return</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type</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method2(</a:t>
            </a:r>
            <a:r>
              <a:rPr lang="ro-RO" sz="2000" b="1" noProof="0" dirty="0" err="1">
                <a:solidFill>
                  <a:srgbClr val="CCCCCC"/>
                </a:solidFill>
                <a:latin typeface="Consolas" panose="020B0609020204030204" pitchFamily="49" charset="0"/>
              </a:rPr>
              <a:t>parameter_list</a:t>
            </a: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00B050"/>
                </a:solidFill>
                <a:latin typeface="Consolas" panose="020B0609020204030204" pitchFamily="49" charset="0"/>
              </a:rPr>
              <a:t>// </a:t>
            </a:r>
            <a:r>
              <a:rPr lang="ro-RO" sz="2000" b="1" noProof="0" dirty="0" err="1">
                <a:solidFill>
                  <a:srgbClr val="00B050"/>
                </a:solidFill>
                <a:latin typeface="Consolas" panose="020B0609020204030204" pitchFamily="49" charset="0"/>
              </a:rPr>
              <a:t>method</a:t>
            </a:r>
            <a:r>
              <a:rPr lang="ro-RO" sz="2000" b="1" noProof="0" dirty="0">
                <a:solidFill>
                  <a:srgbClr val="00B050"/>
                </a:solidFill>
                <a:latin typeface="Consolas" panose="020B0609020204030204" pitchFamily="49" charset="0"/>
              </a:rPr>
              <a:t> body</a:t>
            </a:r>
          </a:p>
          <a:p>
            <a:pPr>
              <a:lnSpc>
                <a:spcPts val="1425"/>
              </a:lnSpc>
              <a:buNone/>
            </a:pP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access</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specifier</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a:solidFill>
                  <a:srgbClr val="808080"/>
                </a:solidFill>
                <a:latin typeface="Consolas" panose="020B0609020204030204" pitchFamily="49" charset="0"/>
              </a:rPr>
              <a:t>&lt;</a:t>
            </a:r>
            <a:r>
              <a:rPr lang="ro-RO" sz="2000" b="1" noProof="0" dirty="0" err="1">
                <a:solidFill>
                  <a:srgbClr val="569CD6"/>
                </a:solidFill>
                <a:latin typeface="Consolas" panose="020B0609020204030204" pitchFamily="49" charset="0"/>
              </a:rPr>
              <a:t>return</a:t>
            </a:r>
            <a:r>
              <a:rPr lang="ro-RO" sz="2000" b="1" noProof="0" dirty="0">
                <a:solidFill>
                  <a:srgbClr val="CCCCCC"/>
                </a:solidFill>
                <a:latin typeface="Consolas" panose="020B0609020204030204" pitchFamily="49" charset="0"/>
              </a:rPr>
              <a:t> </a:t>
            </a:r>
            <a:r>
              <a:rPr lang="ro-RO" sz="2000" b="1" noProof="0" dirty="0" err="1">
                <a:solidFill>
                  <a:srgbClr val="9CDCFE"/>
                </a:solidFill>
                <a:latin typeface="Consolas" panose="020B0609020204030204" pitchFamily="49" charset="0"/>
              </a:rPr>
              <a:t>type</a:t>
            </a:r>
            <a:r>
              <a:rPr lang="ro-RO" sz="2000" b="1" noProof="0" dirty="0">
                <a:solidFill>
                  <a:srgbClr val="808080"/>
                </a:solidFill>
                <a:latin typeface="Consolas" panose="020B0609020204030204" pitchFamily="49" charset="0"/>
              </a:rPr>
              <a:t>&gt;</a:t>
            </a:r>
            <a:r>
              <a:rPr lang="ro-RO" sz="2000" b="1" noProof="0" dirty="0">
                <a:solidFill>
                  <a:srgbClr val="CCCCCC"/>
                </a:solidFill>
                <a:latin typeface="Consolas" panose="020B0609020204030204" pitchFamily="49" charset="0"/>
              </a:rPr>
              <a:t> </a:t>
            </a:r>
            <a:r>
              <a:rPr lang="ro-RO" sz="2000" b="1" noProof="0" dirty="0" err="1">
                <a:solidFill>
                  <a:srgbClr val="CCCCCC"/>
                </a:solidFill>
                <a:latin typeface="Consolas" panose="020B0609020204030204" pitchFamily="49" charset="0"/>
              </a:rPr>
              <a:t>methodN</a:t>
            </a:r>
            <a:r>
              <a:rPr lang="ro-RO" sz="2000" b="1" noProof="0" dirty="0">
                <a:solidFill>
                  <a:srgbClr val="CCCCCC"/>
                </a:solidFill>
                <a:latin typeface="Consolas" panose="020B0609020204030204" pitchFamily="49" charset="0"/>
              </a:rPr>
              <a:t>(</a:t>
            </a:r>
            <a:r>
              <a:rPr lang="ro-RO" sz="2000" b="1" noProof="0" dirty="0" err="1">
                <a:solidFill>
                  <a:srgbClr val="CCCCCC"/>
                </a:solidFill>
                <a:latin typeface="Consolas" panose="020B0609020204030204" pitchFamily="49" charset="0"/>
              </a:rPr>
              <a:t>parameter_list</a:t>
            </a: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00B050"/>
                </a:solidFill>
                <a:latin typeface="Consolas" panose="020B0609020204030204" pitchFamily="49" charset="0"/>
              </a:rPr>
              <a:t>// </a:t>
            </a:r>
            <a:r>
              <a:rPr lang="ro-RO" sz="2000" b="1" noProof="0" dirty="0" err="1">
                <a:solidFill>
                  <a:srgbClr val="00B050"/>
                </a:solidFill>
                <a:latin typeface="Consolas" panose="020B0609020204030204" pitchFamily="49" charset="0"/>
              </a:rPr>
              <a:t>method</a:t>
            </a:r>
            <a:r>
              <a:rPr lang="ro-RO" sz="2000" b="1" noProof="0" dirty="0">
                <a:solidFill>
                  <a:srgbClr val="00B050"/>
                </a:solidFill>
                <a:latin typeface="Consolas" panose="020B0609020204030204" pitchFamily="49" charset="0"/>
              </a:rPr>
              <a:t> body</a:t>
            </a:r>
          </a:p>
          <a:p>
            <a:pPr>
              <a:lnSpc>
                <a:spcPts val="1425"/>
              </a:lnSpc>
              <a:buNone/>
            </a:pPr>
            <a:r>
              <a:rPr lang="ro-RO" sz="2000" b="1" noProof="0" dirty="0">
                <a:solidFill>
                  <a:srgbClr val="CCCCCC"/>
                </a:solidFill>
                <a:latin typeface="Consolas" panose="020B0609020204030204" pitchFamily="49" charset="0"/>
              </a:rPr>
              <a:t>   }</a:t>
            </a:r>
          </a:p>
          <a:p>
            <a:pPr>
              <a:lnSpc>
                <a:spcPts val="1425"/>
              </a:lnSpc>
              <a:buNone/>
            </a:pPr>
            <a:r>
              <a:rPr lang="ro-RO" sz="2000" b="1" noProof="0" dirty="0">
                <a:solidFill>
                  <a:srgbClr val="CCCCCC"/>
                </a:solidFill>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311074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7AF93-49B3-3FE1-E58C-79EBCF16F5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8C7DDD-78AC-B6C8-475A-95A958D6DA34}"/>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15748A8B-FE0B-C01D-0126-E43506D5E5EF}"/>
              </a:ext>
            </a:extLst>
          </p:cNvPr>
          <p:cNvSpPr>
            <a:spLocks noGrp="1"/>
          </p:cNvSpPr>
          <p:nvPr>
            <p:ph idx="1"/>
          </p:nvPr>
        </p:nvSpPr>
        <p:spPr>
          <a:xfrm>
            <a:off x="463925" y="1281952"/>
            <a:ext cx="8249770" cy="5074024"/>
          </a:xfrm>
        </p:spPr>
        <p:txBody>
          <a:bodyPr>
            <a:noAutofit/>
          </a:bodyPr>
          <a:lstStyle/>
          <a:p>
            <a:pPr algn="just"/>
            <a:r>
              <a:rPr lang="ro-RO" sz="2800" noProof="0" dirty="0">
                <a:solidFill>
                  <a:srgbClr val="00B0F0"/>
                </a:solidFill>
              </a:rPr>
              <a:t>Specificatorii de acces specifică regulile de acces pentru membri, precum și pentru clasa în sine. Dacă nu sunt menționați, atunci specificatorul de acces implicit pentru un tip de clasă este </a:t>
            </a:r>
            <a:r>
              <a:rPr lang="ro-RO" sz="2800" noProof="0" dirty="0" err="1">
                <a:solidFill>
                  <a:schemeClr val="tx2"/>
                </a:solidFill>
              </a:rPr>
              <a:t>internal</a:t>
            </a:r>
            <a:r>
              <a:rPr lang="ro-RO" sz="2800" noProof="0" dirty="0">
                <a:solidFill>
                  <a:srgbClr val="00B0F0"/>
                </a:solidFill>
              </a:rPr>
              <a:t>. Accesul implicit pentru membri este </a:t>
            </a:r>
            <a:r>
              <a:rPr lang="ro-RO" sz="2800" noProof="0" dirty="0">
                <a:solidFill>
                  <a:schemeClr val="tx2"/>
                </a:solidFill>
              </a:rPr>
              <a:t>private</a:t>
            </a:r>
            <a:r>
              <a:rPr lang="ro-RO" sz="2800" noProof="0" dirty="0">
                <a:solidFill>
                  <a:srgbClr val="00B0F0"/>
                </a:solidFill>
              </a:rPr>
              <a:t>.</a:t>
            </a:r>
          </a:p>
          <a:p>
            <a:pPr algn="just"/>
            <a:r>
              <a:rPr lang="ro-RO" sz="2800" noProof="0" dirty="0">
                <a:solidFill>
                  <a:srgbClr val="00B0F0"/>
                </a:solidFill>
              </a:rPr>
              <a:t>Tipul de date specifică tipul de variabilă, iar tipul returnat specifică tipul de date al datelor returnate de metodă, dacă există.</a:t>
            </a:r>
          </a:p>
          <a:p>
            <a:pPr algn="just"/>
            <a:r>
              <a:rPr lang="ro-RO" sz="2800" noProof="0" dirty="0">
                <a:solidFill>
                  <a:srgbClr val="00B0F0"/>
                </a:solidFill>
              </a:rPr>
              <a:t>Pentru a accesa membrii clasei, utilizați operatorul punct (</a:t>
            </a:r>
            <a:r>
              <a:rPr lang="ro-RO" sz="2800" noProof="0" dirty="0">
                <a:solidFill>
                  <a:schemeClr val="tx2"/>
                </a:solidFill>
              </a:rPr>
              <a:t>.</a:t>
            </a:r>
            <a:r>
              <a:rPr lang="ro-RO" sz="2800" noProof="0" dirty="0">
                <a:solidFill>
                  <a:srgbClr val="00B0F0"/>
                </a:solidFill>
              </a:rPr>
              <a:t>).</a:t>
            </a:r>
          </a:p>
          <a:p>
            <a:pPr algn="just"/>
            <a:r>
              <a:rPr lang="ro-RO" sz="2800" noProof="0" dirty="0">
                <a:solidFill>
                  <a:srgbClr val="00B0F0"/>
                </a:solidFill>
              </a:rPr>
              <a:t>Operatorul </a:t>
            </a:r>
            <a:r>
              <a:rPr lang="ro-RO" sz="2800" noProof="0" dirty="0">
                <a:solidFill>
                  <a:schemeClr val="tx2"/>
                </a:solidFill>
              </a:rPr>
              <a:t>.</a:t>
            </a:r>
            <a:r>
              <a:rPr lang="ro-RO" sz="2800" noProof="0" dirty="0">
                <a:solidFill>
                  <a:srgbClr val="00B0F0"/>
                </a:solidFill>
              </a:rPr>
              <a:t> leagă numele unui obiect cu numele unui membru.</a:t>
            </a:r>
          </a:p>
        </p:txBody>
      </p:sp>
    </p:spTree>
    <p:extLst>
      <p:ext uri="{BB962C8B-B14F-4D97-AF65-F5344CB8AC3E}">
        <p14:creationId xmlns:p14="http://schemas.microsoft.com/office/powerpoint/2010/main" val="1792490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51B59-C330-D183-280B-B775FA0403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F488CC-6784-904A-D454-25D9F22A4C98}"/>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E418178B-739D-5098-D71C-46298074F26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Obiecte</a:t>
            </a:r>
            <a:r>
              <a:rPr lang="ro-RO" sz="2800" noProof="0" dirty="0">
                <a:solidFill>
                  <a:srgbClr val="00B0F0"/>
                </a:solidFill>
              </a:rPr>
              <a:t> C#</a:t>
            </a:r>
          </a:p>
          <a:p>
            <a:pPr marL="34290" indent="0" algn="just">
              <a:buNone/>
            </a:pPr>
            <a:r>
              <a:rPr lang="ro-RO" sz="2800" noProof="0" dirty="0">
                <a:solidFill>
                  <a:schemeClr val="tx2"/>
                </a:solidFill>
              </a:rPr>
              <a:t>Obiectul</a:t>
            </a:r>
            <a:r>
              <a:rPr lang="ro-RO" sz="2800" noProof="0" dirty="0">
                <a:solidFill>
                  <a:srgbClr val="00B0F0"/>
                </a:solidFill>
              </a:rPr>
              <a:t> este, de asemenea, un concept de bază al unei abordări de programare orientată pe obiecte. Un obiect este o variabilă de tip clasă; poate fi cunoscut și ca o instanță a acelei clase. Un obiect stochează date și poate accesa metode și proprietățile acestora.</a:t>
            </a:r>
          </a:p>
        </p:txBody>
      </p:sp>
    </p:spTree>
    <p:extLst>
      <p:ext uri="{BB962C8B-B14F-4D97-AF65-F5344CB8AC3E}">
        <p14:creationId xmlns:p14="http://schemas.microsoft.com/office/powerpoint/2010/main" val="2262654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DE090-98C8-FAE7-AAAF-7346082028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2A2943-857D-229A-AEE9-929B62D3CC5B}"/>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C88FA951-514D-23DD-78E9-4C952358B8B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Declararea și </a:t>
            </a:r>
            <a:r>
              <a:rPr lang="ro-RO" sz="2800" noProof="0" dirty="0" err="1">
                <a:solidFill>
                  <a:srgbClr val="00B0F0"/>
                </a:solidFill>
              </a:rPr>
              <a:t>instanțierea</a:t>
            </a:r>
            <a:r>
              <a:rPr lang="ro-RO" sz="2800" noProof="0" dirty="0">
                <a:solidFill>
                  <a:srgbClr val="00B0F0"/>
                </a:solidFill>
              </a:rPr>
              <a:t> obiectelor</a:t>
            </a:r>
          </a:p>
          <a:p>
            <a:pPr marL="34290" indent="0" algn="just">
              <a:buNone/>
            </a:pPr>
            <a:r>
              <a:rPr lang="ro-RO" sz="2800" noProof="0" dirty="0">
                <a:solidFill>
                  <a:srgbClr val="00B0F0"/>
                </a:solidFill>
              </a:rPr>
              <a:t>Odată ce o clasă este definită, puteți crea obiecte ale acelei clase. Un obiect este o instanță a unei clase și este creat folosind cuvântul cheie </a:t>
            </a:r>
            <a:r>
              <a:rPr lang="ro-RO" sz="2800" noProof="0" dirty="0" err="1">
                <a:solidFill>
                  <a:schemeClr val="tx2"/>
                </a:solidFill>
              </a:rPr>
              <a:t>new</a:t>
            </a:r>
            <a:r>
              <a:rPr lang="ro-RO" sz="2800" noProof="0" dirty="0">
                <a:solidFill>
                  <a:srgbClr val="00B0F0"/>
                </a:solidFill>
              </a:rPr>
              <a:t>.</a:t>
            </a:r>
          </a:p>
          <a:p>
            <a:pPr marL="34290" indent="0" algn="just">
              <a:buNone/>
            </a:pPr>
            <a:r>
              <a:rPr lang="ro-RO" sz="2800" noProof="0" dirty="0">
                <a:solidFill>
                  <a:srgbClr val="00B0F0"/>
                </a:solidFill>
              </a:rPr>
              <a:t>Sintaxă</a:t>
            </a:r>
          </a:p>
          <a:p>
            <a:pPr marL="34290" indent="0" algn="just">
              <a:buNone/>
            </a:pPr>
            <a:r>
              <a:rPr lang="ro-RO" sz="2800" noProof="0" dirty="0">
                <a:solidFill>
                  <a:srgbClr val="00B0F0"/>
                </a:solidFill>
              </a:rPr>
              <a:t>Sintaxa generală pentru declararea și inițializarea unui obiect este următoarea:</a:t>
            </a:r>
          </a:p>
          <a:p>
            <a:pPr marL="34290" indent="0" algn="just">
              <a:buNone/>
            </a:pPr>
            <a:endParaRPr lang="ro-RO" sz="2800" noProof="0" dirty="0">
              <a:solidFill>
                <a:srgbClr val="00B0F0"/>
              </a:solidFill>
            </a:endParaRPr>
          </a:p>
          <a:p>
            <a:pPr marL="34290" indent="0" algn="just">
              <a:buNone/>
            </a:pPr>
            <a:r>
              <a:rPr lang="ro-RO" sz="2400" b="1" i="0" noProof="0" dirty="0" err="1">
                <a:solidFill>
                  <a:srgbClr val="CCCCCC"/>
                </a:solidFill>
                <a:effectLst/>
                <a:latin typeface="Courier New" panose="02070309020205020404" pitchFamily="49" charset="0"/>
              </a:rPr>
              <a:t>class_name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object_name</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class_name</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396605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3F5A3-04C0-A6DE-A712-83F79507FE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8D30A2-CA71-6B70-4B89-01CE8ED91AEA}"/>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B62339AF-4325-5D30-281E-374100E88E9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de clasa in C#</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BoxApplication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Length</a:t>
            </a:r>
            <a:r>
              <a:rPr lang="ro-RO" sz="2000" b="1" noProof="0" dirty="0">
                <a:solidFill>
                  <a:srgbClr val="6A9955"/>
                </a:solidFill>
                <a:effectLst/>
                <a:latin typeface="Consolas" panose="020B0609020204030204" pitchFamily="49" charset="0"/>
              </a:rPr>
              <a:t> of a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Breadth</a:t>
            </a:r>
            <a:r>
              <a:rPr lang="ro-RO" sz="2000" b="1" noProof="0" dirty="0">
                <a:solidFill>
                  <a:srgbClr val="6A9955"/>
                </a:solidFill>
                <a:effectLst/>
                <a:latin typeface="Consolas" panose="020B0609020204030204" pitchFamily="49" charset="0"/>
              </a:rPr>
              <a:t> of a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Height</a:t>
            </a:r>
            <a:r>
              <a:rPr lang="ro-RO" sz="2000" b="1" noProof="0" dirty="0">
                <a:solidFill>
                  <a:srgbClr val="6A9955"/>
                </a:solidFill>
                <a:effectLst/>
                <a:latin typeface="Consolas" panose="020B0609020204030204" pitchFamily="49" charset="0"/>
              </a:rPr>
              <a:t> of a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Boxtester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args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Box1</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a:t>
            </a:r>
            <a:r>
              <a:rPr lang="ro-RO" sz="2000" b="1" noProof="0" dirty="0">
                <a:solidFill>
                  <a:srgbClr val="6A9955"/>
                </a:solidFill>
                <a:effectLst/>
                <a:latin typeface="Consolas" panose="020B0609020204030204" pitchFamily="49" charset="0"/>
              </a:rPr>
              <a:t>// Declare Box1 of </a:t>
            </a:r>
            <a:r>
              <a:rPr lang="ro-RO" sz="2000" b="1" noProof="0" dirty="0" err="1">
                <a:solidFill>
                  <a:srgbClr val="6A9955"/>
                </a:solidFill>
                <a:effectLst/>
                <a:latin typeface="Consolas" panose="020B0609020204030204" pitchFamily="49" charset="0"/>
              </a:rPr>
              <a:t>type</a:t>
            </a:r>
            <a:r>
              <a:rPr lang="ro-RO" sz="2000" b="1" noProof="0" dirty="0">
                <a:solidFill>
                  <a:srgbClr val="6A9955"/>
                </a:solidFill>
                <a:effectLst/>
                <a:latin typeface="Consolas" panose="020B0609020204030204" pitchFamily="49" charset="0"/>
              </a:rPr>
              <a:t>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Box2</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a:t>
            </a:r>
            <a:r>
              <a:rPr lang="ro-RO" sz="2000" b="1" noProof="0" dirty="0">
                <a:solidFill>
                  <a:srgbClr val="6A9955"/>
                </a:solidFill>
                <a:effectLst/>
                <a:latin typeface="Consolas" panose="020B0609020204030204" pitchFamily="49" charset="0"/>
              </a:rPr>
              <a:t>// Declare Box2 of </a:t>
            </a:r>
            <a:r>
              <a:rPr lang="ro-RO" sz="2000" b="1" noProof="0" dirty="0" err="1">
                <a:solidFill>
                  <a:srgbClr val="6A9955"/>
                </a:solidFill>
                <a:effectLst/>
                <a:latin typeface="Consolas" panose="020B0609020204030204" pitchFamily="49" charset="0"/>
              </a:rPr>
              <a:t>type</a:t>
            </a:r>
            <a:r>
              <a:rPr lang="ro-RO" sz="2000" b="1" noProof="0" dirty="0">
                <a:solidFill>
                  <a:srgbClr val="6A9955"/>
                </a:solidFill>
                <a:effectLst/>
                <a:latin typeface="Consolas" panose="020B0609020204030204" pitchFamily="49" charset="0"/>
              </a:rPr>
              <a:t>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6A9955"/>
                </a:solidFill>
                <a:effectLst/>
                <a:latin typeface="Consolas" panose="020B0609020204030204" pitchFamily="49" charset="0"/>
              </a:rPr>
              <a:t>         // box 1 </a:t>
            </a:r>
            <a:r>
              <a:rPr lang="ro-RO" sz="2000" b="1" noProof="0" dirty="0" err="1">
                <a:solidFill>
                  <a:srgbClr val="6A9955"/>
                </a:solidFill>
                <a:effectLst/>
                <a:latin typeface="Consolas" panose="020B0609020204030204" pitchFamily="49" charset="0"/>
              </a:rPr>
              <a:t>specification</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5.0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6.0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Box1</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7.0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6A9955"/>
                </a:solidFill>
                <a:effectLst/>
                <a:latin typeface="Consolas" panose="020B0609020204030204" pitchFamily="49" charset="0"/>
              </a:rPr>
              <a:t>         // box 2 </a:t>
            </a:r>
            <a:r>
              <a:rPr lang="ro-RO" sz="2000" b="1" noProof="0" dirty="0" err="1">
                <a:solidFill>
                  <a:srgbClr val="6A9955"/>
                </a:solidFill>
                <a:effectLst/>
                <a:latin typeface="Consolas" panose="020B0609020204030204" pitchFamily="49" charset="0"/>
              </a:rPr>
              <a:t>specification</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Box2</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10.0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Box2</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12.0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Box2</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13.0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6A9955"/>
                </a:solidFill>
                <a:effectLst/>
                <a:latin typeface="Consolas" panose="020B0609020204030204" pitchFamily="49" charset="0"/>
              </a:rPr>
              <a:t>         </a:t>
            </a:r>
            <a:endParaRPr lang="ro-RO" sz="2800" noProof="0" dirty="0">
              <a:solidFill>
                <a:srgbClr val="00B0F0"/>
              </a:solidFill>
            </a:endParaRPr>
          </a:p>
        </p:txBody>
      </p:sp>
    </p:spTree>
    <p:extLst>
      <p:ext uri="{BB962C8B-B14F-4D97-AF65-F5344CB8AC3E}">
        <p14:creationId xmlns:p14="http://schemas.microsoft.com/office/powerpoint/2010/main" val="2569833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E63CE-F73C-FE2F-5A48-C26D4D2D61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15A219-2C88-46DA-C6DD-077CCF459B50}"/>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39B3E087-CF5F-1E09-B33E-DF496BA10682}"/>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endParaRPr>
          </a:p>
          <a:p>
            <a:pPr lvl="0">
              <a:lnSpc>
                <a:spcPts val="1425"/>
              </a:lnSpc>
              <a:buClr>
                <a:srgbClr val="FF8600"/>
              </a:buClr>
              <a:buNone/>
              <a:defRPr/>
            </a:pPr>
            <a:r>
              <a:rPr lang="ro-RO" sz="2000" b="1" noProof="0" dirty="0">
                <a:solidFill>
                  <a:srgbClr val="6A9955"/>
                </a:solidFill>
                <a:latin typeface="Consolas" panose="020B0609020204030204" pitchFamily="49" charset="0"/>
              </a:rPr>
              <a:t>         // </a:t>
            </a:r>
            <a:r>
              <a:rPr lang="ro-RO" sz="2000" b="1" noProof="0" dirty="0" err="1">
                <a:solidFill>
                  <a:srgbClr val="6A9955"/>
                </a:solidFill>
                <a:latin typeface="Consolas" panose="020B0609020204030204" pitchFamily="49" charset="0"/>
              </a:rPr>
              <a:t>Store</a:t>
            </a:r>
            <a:r>
              <a:rPr lang="ro-RO" sz="2000" b="1" noProof="0" dirty="0">
                <a:solidFill>
                  <a:srgbClr val="6A9955"/>
                </a:solidFill>
                <a:latin typeface="Consolas" panose="020B0609020204030204" pitchFamily="49" charset="0"/>
              </a:rPr>
              <a:t> </a:t>
            </a:r>
            <a:r>
              <a:rPr lang="ro-RO" sz="2000" b="1" noProof="0" dirty="0" err="1">
                <a:solidFill>
                  <a:srgbClr val="6A9955"/>
                </a:solidFill>
                <a:latin typeface="Consolas" panose="020B0609020204030204" pitchFamily="49" charset="0"/>
              </a:rPr>
              <a:t>the</a:t>
            </a:r>
            <a:r>
              <a:rPr lang="ro-RO" sz="2000" b="1" noProof="0" dirty="0">
                <a:solidFill>
                  <a:srgbClr val="6A9955"/>
                </a:solidFill>
                <a:latin typeface="Consolas" panose="020B0609020204030204" pitchFamily="49" charset="0"/>
              </a:rPr>
              <a:t> volume of a box </a:t>
            </a:r>
            <a:r>
              <a:rPr lang="ro-RO" sz="2000" b="1" noProof="0" dirty="0" err="1">
                <a:solidFill>
                  <a:srgbClr val="6A9955"/>
                </a:solidFill>
                <a:latin typeface="Consolas" panose="020B0609020204030204" pitchFamily="49" charset="0"/>
              </a:rPr>
              <a:t>here</a:t>
            </a:r>
            <a:endParaRPr lang="ro-RO" sz="2000" b="1" noProof="0" dirty="0">
              <a:solidFill>
                <a:srgbClr val="6A9955"/>
              </a:solidFill>
              <a:latin typeface="Consolas" panose="020B0609020204030204" pitchFamily="49" charset="0"/>
            </a:endParaRPr>
          </a:p>
          <a:p>
            <a:pPr lvl="0">
              <a:lnSpc>
                <a:spcPts val="1425"/>
              </a:lnSpc>
              <a:buClr>
                <a:srgbClr val="FF8600"/>
              </a:buClr>
              <a:buNone/>
              <a:defRPr/>
            </a:pPr>
            <a:r>
              <a:rPr lang="ro-RO" sz="2000" b="1" noProof="0" dirty="0">
                <a:solidFill>
                  <a:srgbClr val="6A9955"/>
                </a:solidFill>
                <a:latin typeface="Consolas" panose="020B0609020204030204" pitchFamily="49" charset="0"/>
              </a:rPr>
              <a:t>		     </a:t>
            </a:r>
            <a:r>
              <a:rPr lang="ro-RO" sz="2000" b="1" noProof="0" dirty="0" err="1">
                <a:solidFill>
                  <a:srgbClr val="569CD6"/>
                </a:solidFill>
                <a:latin typeface="Consolas" panose="020B0609020204030204" pitchFamily="49" charset="0"/>
              </a:rPr>
              <a:t>double</a:t>
            </a:r>
            <a:r>
              <a:rPr lang="ro-RO" sz="2000" b="1" noProof="0" dirty="0">
                <a:solidFill>
                  <a:srgbClr val="CCCCCC"/>
                </a:solidFill>
                <a:latin typeface="Consolas" panose="020B0609020204030204" pitchFamily="49" charset="0"/>
              </a:rPr>
              <a:t> </a:t>
            </a:r>
            <a:r>
              <a:rPr lang="ro-RO" sz="2000" b="1" noProof="0" dirty="0">
                <a:solidFill>
                  <a:srgbClr val="9CDCFE"/>
                </a:solidFill>
                <a:latin typeface="Consolas" panose="020B0609020204030204" pitchFamily="49" charset="0"/>
              </a:rPr>
              <a:t>volume</a:t>
            </a:r>
            <a:r>
              <a:rPr lang="ro-RO" sz="2000" b="1" noProof="0" dirty="0">
                <a:solidFill>
                  <a:srgbClr val="CCCCCC"/>
                </a:solidFill>
                <a:latin typeface="Consolas" panose="020B0609020204030204" pitchFamily="49" charset="0"/>
              </a:rPr>
              <a:t> </a:t>
            </a:r>
            <a:r>
              <a:rPr lang="ro-RO" sz="2000" b="1" noProof="0" dirty="0">
                <a:solidFill>
                  <a:srgbClr val="D4D4D4"/>
                </a:solidFill>
                <a:latin typeface="Consolas" panose="020B0609020204030204" pitchFamily="49" charset="0"/>
              </a:rPr>
              <a:t>=</a:t>
            </a:r>
            <a:r>
              <a:rPr lang="ro-RO" sz="2000" b="1" noProof="0" dirty="0">
                <a:solidFill>
                  <a:srgbClr val="CCCCCC"/>
                </a:solidFill>
                <a:latin typeface="Consolas" panose="020B0609020204030204" pitchFamily="49" charset="0"/>
              </a:rPr>
              <a:t> </a:t>
            </a:r>
            <a:r>
              <a:rPr lang="ro-RO" sz="2000" b="1" noProof="0" dirty="0">
                <a:solidFill>
                  <a:srgbClr val="B5CEA8"/>
                </a:solidFill>
                <a:latin typeface="Consolas" panose="020B0609020204030204" pitchFamily="49" charset="0"/>
              </a:rPr>
              <a:t>0.0</a:t>
            </a:r>
            <a:r>
              <a:rPr lang="ro-RO" sz="2000" b="1" noProof="0" dirty="0">
                <a:solidFill>
                  <a:srgbClr val="CCCCCC"/>
                </a:solidFill>
                <a:latin typeface="Consolas" panose="020B0609020204030204" pitchFamily="49" charset="0"/>
              </a:rPr>
              <a:t>;</a:t>
            </a:r>
            <a:endParaRPr lang="ro-RO" sz="2000" b="1" noProof="0" dirty="0">
              <a:solidFill>
                <a:srgbClr val="6A9955"/>
              </a:solidFill>
              <a:latin typeface="Consolas" panose="020B0609020204030204" pitchFamily="49" charset="0"/>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volume of box 1</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Box1 :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volume of box 2</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Box2 :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ReadKey</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1878961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6A26-D3DB-4B2F-762C-96005DB09D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686D7C-5947-66AD-D8B0-AD19865C25DE}"/>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F53670BC-12E6-D60F-FB78-4E9785C3A15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Funcții membru și încapsularea</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O </a:t>
            </a:r>
            <a:r>
              <a:rPr lang="ro-RO" sz="2800" noProof="0" dirty="0">
                <a:solidFill>
                  <a:schemeClr val="tx2"/>
                </a:solidFill>
              </a:rPr>
              <a:t>funcție membru </a:t>
            </a:r>
            <a:r>
              <a:rPr lang="ro-RO" sz="2800" noProof="0" dirty="0">
                <a:solidFill>
                  <a:srgbClr val="00B0F0"/>
                </a:solidFill>
              </a:rPr>
              <a:t>a unei clase este o funcție care are definiția sau prototipul său în cadrul definiției clasei, similar oricărei alte variabile. Aceasta operează asupra oricărui obiect din clasa din care face parte și are acces la toți membrii unei clase pentru acel obiect.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31541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B8613-141F-AEA7-BDD6-D01E60D202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BD4E52-2C2E-8116-2ACD-B2E32B7BCC81}"/>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7E137441-AE12-7BBA-2873-B784BAC6CEA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Atribute(variabile membru) și încapsularea</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Variabilele membru sunt </a:t>
            </a:r>
            <a:r>
              <a:rPr lang="ro-RO" sz="2800" noProof="0" dirty="0">
                <a:solidFill>
                  <a:schemeClr val="tx2"/>
                </a:solidFill>
              </a:rPr>
              <a:t>atributele</a:t>
            </a:r>
            <a:r>
              <a:rPr lang="ro-RO" sz="2800" noProof="0" dirty="0">
                <a:solidFill>
                  <a:srgbClr val="00B0F0"/>
                </a:solidFill>
              </a:rPr>
              <a:t> unui obiect (din perspectiva designului) și sunt păstrate private pentru a implementa </a:t>
            </a:r>
            <a:r>
              <a:rPr lang="ro-RO" sz="2800" noProof="0" dirty="0">
                <a:solidFill>
                  <a:schemeClr val="tx2"/>
                </a:solidFill>
              </a:rPr>
              <a:t>încapsularea</a:t>
            </a:r>
            <a:r>
              <a:rPr lang="ro-RO" sz="2800" noProof="0" dirty="0">
                <a:solidFill>
                  <a:srgbClr val="00B0F0"/>
                </a:solidFill>
              </a:rPr>
              <a:t>. Aceste variabile pot fi accesate doar folosind funcțiile membre publice sau proprietăți.</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805398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E3F52-472E-F6E7-EC3D-A33E7A8CED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B25469-AAA7-FFD2-2696-FF8DEC965559}"/>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54AA1728-B423-AA08-3469-9090000EEF22}"/>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BoxApplication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Box</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Length</a:t>
            </a:r>
            <a:r>
              <a:rPr lang="ro-RO" sz="2000" b="1" noProof="0" dirty="0">
                <a:solidFill>
                  <a:srgbClr val="6A9955"/>
                </a:solidFill>
                <a:effectLst/>
                <a:latin typeface="Consolas" panose="020B0609020204030204" pitchFamily="49" charset="0"/>
              </a:rPr>
              <a:t> of a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Breadth</a:t>
            </a:r>
            <a:r>
              <a:rPr lang="ro-RO" sz="2000" b="1" noProof="0" dirty="0">
                <a:solidFill>
                  <a:srgbClr val="6A9955"/>
                </a:solidFill>
                <a:effectLst/>
                <a:latin typeface="Consolas" panose="020B0609020204030204" pitchFamily="49" charset="0"/>
              </a:rPr>
              <a:t> of a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Height</a:t>
            </a:r>
            <a:r>
              <a:rPr lang="ro-RO" sz="2000" b="1" noProof="0" dirty="0">
                <a:solidFill>
                  <a:srgbClr val="6A9955"/>
                </a:solidFill>
                <a:effectLst/>
                <a:latin typeface="Consolas" panose="020B0609020204030204" pitchFamily="49" charset="0"/>
              </a:rPr>
              <a:t> of a box</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setBreadth</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bre</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bre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setHeight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hei</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hei</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getVolume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breadth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4064432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01A36-81EB-DC1C-4F2F-29946E3781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7AA141-69EC-5644-953C-84C8D271EBBB}"/>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4B318D78-4ABC-9DAB-D26C-BDB441BA1B7C}"/>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Boxtester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Declare Box1 of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type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Box</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a:lnSpc>
                <a:spcPts val="1425"/>
              </a:lnSpc>
              <a:buClr>
                <a:srgbClr val="FF8600"/>
              </a:buClr>
              <a:buNone/>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Box</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lang="ro-RO" sz="2000" b="1" noProof="0" dirty="0">
                <a:solidFill>
                  <a:srgbClr val="6A9955"/>
                </a:solidFill>
                <a:latin typeface="Consolas" panose="020B0609020204030204" pitchFamily="49" charset="0"/>
              </a:rPr>
              <a:t>// Declare Box2 of </a:t>
            </a:r>
            <a:r>
              <a:rPr lang="ro-RO" sz="2000" b="1" noProof="0" dirty="0" err="1">
                <a:solidFill>
                  <a:srgbClr val="6A9955"/>
                </a:solidFill>
                <a:latin typeface="Consolas" panose="020B0609020204030204" pitchFamily="49" charset="0"/>
              </a:rPr>
              <a:t>type</a:t>
            </a:r>
            <a:r>
              <a:rPr lang="ro-RO" sz="2000" b="1" noProof="0" dirty="0">
                <a:solidFill>
                  <a:srgbClr val="6A9955"/>
                </a:solidFill>
                <a:latin typeface="Consolas" panose="020B0609020204030204" pitchFamily="49" charset="0"/>
              </a:rPr>
              <a:t> Box</a:t>
            </a:r>
            <a:endParaRPr lang="ro-RO" sz="2000" b="1" noProof="0" dirty="0">
              <a:solidFill>
                <a:srgbClr val="CCCCCC"/>
              </a:solidFill>
              <a:latin typeface="Consolas" panose="020B0609020204030204" pitchFamily="49" charset="0"/>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double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box 1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specification</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6.0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box 2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specification</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setLength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12.0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setBreadth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13.0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setHeight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10.0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volume of box 1</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getVolume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Box1 :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volume of box 2</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Box2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getVolume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"Volume of Box2 :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volume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endParaRPr lang="ro-RO" sz="2800" noProof="0" dirty="0">
              <a:solidFill>
                <a:srgbClr val="00B0F0"/>
              </a:solidFill>
            </a:endParaRPr>
          </a:p>
        </p:txBody>
      </p:sp>
    </p:spTree>
    <p:extLst>
      <p:ext uri="{BB962C8B-B14F-4D97-AF65-F5344CB8AC3E}">
        <p14:creationId xmlns:p14="http://schemas.microsoft.com/office/powerpoint/2010/main" val="910478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49BD-DD36-2CF7-1FFE-9913636A0B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C1BA0E-5BDB-FAB0-CA7C-CC8AECE6C447}"/>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DB0B0CA7-6DE1-57DF-C47C-5F6BB6846A9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Modificatori de acces la clasele C#</a:t>
            </a:r>
          </a:p>
          <a:p>
            <a:pPr marL="34290" indent="0" algn="just">
              <a:buNone/>
            </a:pPr>
            <a:r>
              <a:rPr lang="ro-RO" sz="2800" noProof="0" dirty="0">
                <a:solidFill>
                  <a:srgbClr val="00B0F0"/>
                </a:solidFill>
              </a:rPr>
              <a:t>Modificatorii de acces definesc domeniul de aplicare și vizibilitatea unei clase și a membrilor acesteia.</a:t>
            </a:r>
          </a:p>
          <a:p>
            <a:pPr marL="34290" indent="0" algn="just">
              <a:buNone/>
            </a:pPr>
            <a:r>
              <a:rPr lang="ro-RO" sz="2800" noProof="0" dirty="0">
                <a:solidFill>
                  <a:srgbClr val="00B0F0"/>
                </a:solidFill>
              </a:rPr>
              <a:t>C# oferă următorii modificatori de acces:</a:t>
            </a:r>
          </a:p>
          <a:p>
            <a:pPr algn="just"/>
            <a:r>
              <a:rPr lang="ro-RO" sz="2800" noProof="0" dirty="0">
                <a:solidFill>
                  <a:schemeClr val="tx2"/>
                </a:solidFill>
              </a:rPr>
              <a:t>public</a:t>
            </a:r>
            <a:r>
              <a:rPr lang="ro-RO" sz="2800" noProof="0" dirty="0">
                <a:solidFill>
                  <a:srgbClr val="00B0F0"/>
                </a:solidFill>
              </a:rPr>
              <a:t> − Membrul este accesibil de oriunde din program.</a:t>
            </a:r>
          </a:p>
          <a:p>
            <a:pPr algn="just"/>
            <a:r>
              <a:rPr lang="ro-RO" sz="2800" noProof="0" dirty="0">
                <a:solidFill>
                  <a:schemeClr val="tx2"/>
                </a:solidFill>
              </a:rPr>
              <a:t>private</a:t>
            </a:r>
            <a:r>
              <a:rPr lang="ro-RO" sz="2800" noProof="0" dirty="0">
                <a:solidFill>
                  <a:srgbClr val="00B0F0"/>
                </a:solidFill>
              </a:rPr>
              <a:t> − Membrul este accesibil numai în cadrul aceleiași clase.</a:t>
            </a:r>
          </a:p>
          <a:p>
            <a:pPr algn="just"/>
            <a:r>
              <a:rPr lang="ro-RO" sz="2800" noProof="0" dirty="0" err="1">
                <a:solidFill>
                  <a:schemeClr val="tx2"/>
                </a:solidFill>
              </a:rPr>
              <a:t>protected</a:t>
            </a:r>
            <a:r>
              <a:rPr lang="ro-RO" sz="2800" noProof="0" dirty="0">
                <a:solidFill>
                  <a:srgbClr val="00B0F0"/>
                </a:solidFill>
              </a:rPr>
              <a:t> − Membrul este accesibil în cadrul aceleiași clase și al claselor derivate.</a:t>
            </a:r>
          </a:p>
        </p:txBody>
      </p:sp>
    </p:spTree>
    <p:extLst>
      <p:ext uri="{BB962C8B-B14F-4D97-AF65-F5344CB8AC3E}">
        <p14:creationId xmlns:p14="http://schemas.microsoft.com/office/powerpoint/2010/main" val="3284853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F9C1B-D94A-E4AE-50A3-C820F2AF5C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DED21C-05F6-2CEE-0B28-DF100291EB13}"/>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20FC96E8-F358-FC82-8675-E7AA4968575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Modificatori de acces la clasele C#</a:t>
            </a:r>
          </a:p>
          <a:p>
            <a:pPr marL="34290" indent="0" algn="just">
              <a:buNone/>
            </a:pPr>
            <a:r>
              <a:rPr lang="ro-RO" sz="2800" noProof="0" dirty="0">
                <a:solidFill>
                  <a:srgbClr val="00B0F0"/>
                </a:solidFill>
              </a:rPr>
              <a:t>C# oferă următorii modificatori de acces:</a:t>
            </a:r>
          </a:p>
          <a:p>
            <a:pPr marL="34290" indent="0" algn="just">
              <a:buNone/>
            </a:pPr>
            <a:r>
              <a:rPr lang="ro-RO" sz="2800" noProof="0" dirty="0" err="1">
                <a:solidFill>
                  <a:schemeClr val="tx2"/>
                </a:solidFill>
              </a:rPr>
              <a:t>internal</a:t>
            </a:r>
            <a:r>
              <a:rPr lang="ro-RO" sz="2800" noProof="0" dirty="0">
                <a:solidFill>
                  <a:srgbClr val="00B0F0"/>
                </a:solidFill>
              </a:rPr>
              <a:t> − Membrul este accesibil în cadrul aceluiași ansamblu, dar nu dintr-un alt ansamblu.</a:t>
            </a:r>
          </a:p>
          <a:p>
            <a:pPr marL="34290" indent="0" algn="just">
              <a:buNone/>
            </a:pPr>
            <a:r>
              <a:rPr lang="ro-RO" sz="2800" noProof="0" dirty="0" err="1">
                <a:solidFill>
                  <a:schemeClr val="tx2"/>
                </a:solidFill>
              </a:rPr>
              <a:t>protected</a:t>
            </a:r>
            <a:r>
              <a:rPr lang="ro-RO" sz="2800" noProof="0" dirty="0">
                <a:solidFill>
                  <a:schemeClr val="tx2"/>
                </a:solidFill>
              </a:rPr>
              <a:t> </a:t>
            </a:r>
            <a:r>
              <a:rPr lang="ro-RO" sz="2800" noProof="0" dirty="0" err="1">
                <a:solidFill>
                  <a:schemeClr val="tx2"/>
                </a:solidFill>
              </a:rPr>
              <a:t>internal</a:t>
            </a:r>
            <a:r>
              <a:rPr lang="ro-RO" sz="2800" noProof="0" dirty="0">
                <a:solidFill>
                  <a:schemeClr val="tx2"/>
                </a:solidFill>
              </a:rPr>
              <a:t> </a:t>
            </a:r>
            <a:r>
              <a:rPr lang="ro-RO" sz="2800" noProof="0" dirty="0">
                <a:solidFill>
                  <a:srgbClr val="00B0F0"/>
                </a:solidFill>
              </a:rPr>
              <a:t>− Membrul este accesibil în cadrul aceluiași ansamblu și prin clasele derivate.</a:t>
            </a:r>
          </a:p>
          <a:p>
            <a:pPr marL="34290" indent="0" algn="just">
              <a:buNone/>
            </a:pPr>
            <a:r>
              <a:rPr lang="ro-RO" sz="2800" noProof="0" dirty="0">
                <a:solidFill>
                  <a:schemeClr val="tx2"/>
                </a:solidFill>
              </a:rPr>
              <a:t>private </a:t>
            </a:r>
            <a:r>
              <a:rPr lang="ro-RO" sz="2800" noProof="0" dirty="0" err="1">
                <a:solidFill>
                  <a:schemeClr val="tx2"/>
                </a:solidFill>
              </a:rPr>
              <a:t>protected</a:t>
            </a:r>
            <a:r>
              <a:rPr lang="ro-RO" sz="2800" noProof="0" dirty="0">
                <a:solidFill>
                  <a:schemeClr val="tx2"/>
                </a:solidFill>
              </a:rPr>
              <a:t> </a:t>
            </a:r>
            <a:r>
              <a:rPr lang="ro-RO" sz="2800" noProof="0" dirty="0">
                <a:solidFill>
                  <a:srgbClr val="00B0F0"/>
                </a:solidFill>
              </a:rPr>
              <a:t>− Membrul este accesibil numai în cadrul aceleiași clase și al claselor derivate din cadrul aceluiași ansamblu.</a:t>
            </a:r>
          </a:p>
        </p:txBody>
      </p:sp>
    </p:spTree>
    <p:extLst>
      <p:ext uri="{BB962C8B-B14F-4D97-AF65-F5344CB8AC3E}">
        <p14:creationId xmlns:p14="http://schemas.microsoft.com/office/powerpoint/2010/main" val="3337758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9C917-0455-DDD4-B9A3-9D39E97B04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108B7E-6B5A-DEDA-87FF-A8E8FE083CA7}"/>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B2ECB15B-9905-D540-50C1-854D6DCBE26A}"/>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Person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Accessible</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everywhere</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Only</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accessible</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within</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this</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class</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protected</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Address</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Accessible</a:t>
            </a:r>
            <a:r>
              <a:rPr lang="ro-RO" sz="2000" b="1" noProof="0" dirty="0">
                <a:solidFill>
                  <a:srgbClr val="6A9955"/>
                </a:solidFill>
                <a:effectLst/>
                <a:latin typeface="Consolas" panose="020B0609020204030204" pitchFamily="49" charset="0"/>
              </a:rPr>
              <a:t> in </a:t>
            </a:r>
            <a:r>
              <a:rPr lang="ro-RO" sz="2000" b="1" noProof="0" dirty="0" err="1">
                <a:solidFill>
                  <a:srgbClr val="6A9955"/>
                </a:solidFill>
                <a:effectLst/>
                <a:latin typeface="Consolas" panose="020B0609020204030204" pitchFamily="49" charset="0"/>
              </a:rPr>
              <a:t>derived</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classes</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internal</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Email</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a:t>
            </a:r>
            <a:r>
              <a:rPr lang="ro-RO" sz="2000" b="1" noProof="0" dirty="0" err="1">
                <a:solidFill>
                  <a:srgbClr val="6A9955"/>
                </a:solidFill>
                <a:effectLst/>
                <a:latin typeface="Consolas" panose="020B0609020204030204" pitchFamily="49" charset="0"/>
              </a:rPr>
              <a:t>Accessible</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within</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the</a:t>
            </a:r>
            <a:r>
              <a:rPr lang="ro-RO" sz="2000" b="1" noProof="0" dirty="0">
                <a:solidFill>
                  <a:srgbClr val="6A9955"/>
                </a:solidFill>
                <a:effectLst/>
                <a:latin typeface="Consolas" panose="020B0609020204030204" pitchFamily="49" charset="0"/>
              </a:rPr>
              <a:t> same </a:t>
            </a:r>
            <a:r>
              <a:rPr lang="ro-RO" sz="2000" b="1" noProof="0" dirty="0" err="1">
                <a:solidFill>
                  <a:srgbClr val="6A9955"/>
                </a:solidFill>
                <a:effectLst/>
                <a:latin typeface="Consolas" panose="020B0609020204030204" pitchFamily="49" charset="0"/>
              </a:rPr>
              <a:t>assembly</a:t>
            </a:r>
            <a:endParaRPr lang="ro-RO" sz="2000" b="1" noProof="0" dirty="0">
              <a:solidFill>
                <a:srgbClr val="CCCCCC"/>
              </a:solidFill>
              <a:effectLst/>
              <a:latin typeface="Consolas" panose="020B0609020204030204" pitchFamily="49" charset="0"/>
            </a:endParaRP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Person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address</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email</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this</a:t>
            </a:r>
            <a:r>
              <a:rPr lang="ro-RO" sz="2000" b="1" noProof="0" dirty="0" err="1">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age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Address</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address</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Email</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email</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Name</a:t>
            </a:r>
            <a:r>
              <a:rPr lang="ro-RO" sz="2000" b="1" noProof="0" dirty="0">
                <a:solidFill>
                  <a:srgbClr val="CE9178"/>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D4D4D4"/>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Age</a:t>
            </a:r>
            <a:r>
              <a:rPr lang="ro-RO" sz="2000" b="1" noProof="0" dirty="0">
                <a:solidFill>
                  <a:srgbClr val="CE9178"/>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age</a:t>
            </a:r>
            <a:r>
              <a:rPr lang="ro-RO" sz="2000" b="1" noProof="0" dirty="0">
                <a:solidFill>
                  <a:srgbClr val="D4D4D4"/>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 Email: </a:t>
            </a:r>
            <a:r>
              <a:rPr lang="ro-RO" sz="2000" b="1" noProof="0" dirty="0">
                <a:solidFill>
                  <a:srgbClr val="D4D4D4"/>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Email</a:t>
            </a:r>
            <a:r>
              <a:rPr lang="ro-RO" sz="2000" b="1" noProof="0" dirty="0">
                <a:solidFill>
                  <a:srgbClr val="D4D4D4"/>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900117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7296-594F-700C-8B30-31D402BA91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65AC99-E5CA-FF5A-162B-9BF3C8050446}"/>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296C6DFA-40DB-1C8C-E5AB-1B6B49800582}"/>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lang="ro-RO" sz="2000" b="1" noProof="0" dirty="0">
              <a:solidFill>
                <a:srgbClr val="569CD6"/>
              </a:solidFill>
              <a:latin typeface="Consolas" panose="020B0609020204030204" pitchFamily="49" charset="0"/>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Program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Person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p1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Person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Sudhir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Sharma</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27</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"New Delhi"</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"test@email.com"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p1</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Name</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Accessible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(public)</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$"Email: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p1</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Email</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Accessible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internal</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p1.age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and</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p1.Address are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not</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accessible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due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to</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private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and</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protected</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access</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794680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C5CDA-E455-E1F6-D9D2-DD23E257FA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9948D0-BA1F-21E2-A10E-62683DFECB61}"/>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6BBBA815-959D-400F-B5BC-4515A880EAA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Constructori C#</a:t>
            </a:r>
          </a:p>
          <a:p>
            <a:pPr marL="34290" indent="0" algn="just">
              <a:buNone/>
            </a:pPr>
            <a:r>
              <a:rPr lang="ro-RO" sz="2800" noProof="0" dirty="0">
                <a:solidFill>
                  <a:srgbClr val="00B0F0"/>
                </a:solidFill>
              </a:rPr>
              <a:t>Un </a:t>
            </a:r>
            <a:r>
              <a:rPr lang="ro-RO" sz="2800" noProof="0" dirty="0">
                <a:solidFill>
                  <a:schemeClr val="tx2"/>
                </a:solidFill>
              </a:rPr>
              <a:t>constructor</a:t>
            </a:r>
            <a:r>
              <a:rPr lang="ro-RO" sz="2800" noProof="0" dirty="0">
                <a:solidFill>
                  <a:srgbClr val="00B0F0"/>
                </a:solidFill>
              </a:rPr>
              <a:t> de clasă este o funcție membru specială a unei clase care este executată de fiecare dată când creăm obiecte noi </a:t>
            </a:r>
            <a:r>
              <a:rPr lang="en-US" sz="2800" dirty="0">
                <a:solidFill>
                  <a:srgbClr val="00B0F0"/>
                </a:solidFill>
              </a:rPr>
              <a:t>din</a:t>
            </a:r>
            <a:r>
              <a:rPr lang="ro-RO" sz="2800" noProof="0" dirty="0">
                <a:solidFill>
                  <a:srgbClr val="00B0F0"/>
                </a:solidFill>
              </a:rPr>
              <a:t> acea clasă.</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Un </a:t>
            </a:r>
            <a:r>
              <a:rPr lang="ro-RO" sz="2800" noProof="0" dirty="0">
                <a:solidFill>
                  <a:schemeClr val="tx2"/>
                </a:solidFill>
              </a:rPr>
              <a:t>constructor</a:t>
            </a:r>
            <a:r>
              <a:rPr lang="ro-RO" sz="2800" noProof="0" dirty="0">
                <a:solidFill>
                  <a:srgbClr val="00B0F0"/>
                </a:solidFill>
              </a:rPr>
              <a:t> are exact </a:t>
            </a:r>
            <a:r>
              <a:rPr lang="ro-RO" sz="2800" noProof="0" dirty="0">
                <a:solidFill>
                  <a:schemeClr val="tx2"/>
                </a:solidFill>
              </a:rPr>
              <a:t>același nume</a:t>
            </a:r>
            <a:r>
              <a:rPr lang="ro-RO" sz="2800" noProof="0" dirty="0">
                <a:solidFill>
                  <a:srgbClr val="00B0F0"/>
                </a:solidFill>
              </a:rPr>
              <a:t> ca și cel al </a:t>
            </a:r>
            <a:r>
              <a:rPr lang="ro-RO" sz="2800" noProof="0" dirty="0">
                <a:solidFill>
                  <a:schemeClr val="tx2"/>
                </a:solidFill>
              </a:rPr>
              <a:t>clasei</a:t>
            </a:r>
            <a:r>
              <a:rPr lang="ro-RO" sz="2800" noProof="0" dirty="0">
                <a:solidFill>
                  <a:srgbClr val="00B0F0"/>
                </a:solidFill>
              </a:rPr>
              <a:t> și nu are niciun tip de </a:t>
            </a:r>
            <a:r>
              <a:rPr lang="ro-RO" sz="2800" noProof="0" dirty="0" err="1">
                <a:solidFill>
                  <a:srgbClr val="00B0F0"/>
                </a:solidFill>
              </a:rPr>
              <a:t>return</a:t>
            </a:r>
            <a:r>
              <a:rPr lang="ro-RO" sz="2800" noProof="0" dirty="0">
                <a:solidFill>
                  <a:srgbClr val="00B0F0"/>
                </a:solidFill>
              </a:rPr>
              <a:t>. Următorul exemplu explică conceptul de constructor.</a:t>
            </a:r>
          </a:p>
        </p:txBody>
      </p:sp>
    </p:spTree>
    <p:extLst>
      <p:ext uri="{BB962C8B-B14F-4D97-AF65-F5344CB8AC3E}">
        <p14:creationId xmlns:p14="http://schemas.microsoft.com/office/powerpoint/2010/main" val="3062873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D5E0D-F138-3ADD-055C-E475594E26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71639A-81F5-9514-58D2-377CE9BF74BE}"/>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AD651E95-482C-82E4-3FF0-FD53B488EEE8}"/>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LineApplication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Length</a:t>
            </a:r>
            <a:r>
              <a:rPr lang="ro-RO" sz="2000" b="1" noProof="0" dirty="0">
                <a:solidFill>
                  <a:srgbClr val="6A9955"/>
                </a:solidFill>
                <a:effectLst/>
                <a:latin typeface="Consolas" panose="020B0609020204030204" pitchFamily="49" charset="0"/>
              </a:rPr>
              <a:t> of a line</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Object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being</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created</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getLength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args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set line </a:t>
            </a:r>
            <a:r>
              <a:rPr lang="ro-RO" sz="2000" b="1" noProof="0" dirty="0" err="1">
                <a:solidFill>
                  <a:srgbClr val="6A9955"/>
                </a:solidFill>
                <a:effectLst/>
                <a:latin typeface="Consolas" panose="020B0609020204030204" pitchFamily="49" charset="0"/>
              </a:rPr>
              <a:t>length</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6.0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Length</a:t>
            </a:r>
            <a:r>
              <a:rPr lang="ro-RO" sz="2000" b="1" noProof="0" dirty="0">
                <a:solidFill>
                  <a:srgbClr val="CE9178"/>
                </a:solidFill>
                <a:effectLst/>
                <a:latin typeface="Consolas" panose="020B0609020204030204" pitchFamily="49" charset="0"/>
              </a:rPr>
              <a:t> of line :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getLength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819491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73BD7-2578-24AC-50E4-705A4F7F932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D64B0B-CAA8-C53B-C0DD-20DCB8B8D272}"/>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7D44D467-B151-9DD8-D7A3-644EB6D7631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Un </a:t>
            </a:r>
            <a:r>
              <a:rPr lang="ro-RO" sz="2800" noProof="0" dirty="0">
                <a:solidFill>
                  <a:schemeClr val="tx2"/>
                </a:solidFill>
              </a:rPr>
              <a:t>constructor implicit </a:t>
            </a:r>
            <a:r>
              <a:rPr lang="ro-RO" sz="2800" noProof="0" dirty="0">
                <a:solidFill>
                  <a:srgbClr val="00B0F0"/>
                </a:solidFill>
              </a:rPr>
              <a:t>nu are niciun parametru, dar dacă este nevoie, un constructor poate avea parametri, astfel de constructori fiind numiți </a:t>
            </a:r>
            <a:r>
              <a:rPr lang="ro-RO" sz="2800" noProof="0" dirty="0">
                <a:solidFill>
                  <a:schemeClr val="tx2"/>
                </a:solidFill>
              </a:rPr>
              <a:t>constructori parametrizați</a:t>
            </a:r>
            <a:r>
              <a:rPr lang="ro-RO" sz="2800" noProof="0" dirty="0">
                <a:solidFill>
                  <a:srgbClr val="00B0F0"/>
                </a:solidFill>
              </a:rPr>
              <a:t>. Această tehnică vă ajută să atribuiți o valoare inițială unui obiect în momentul creării sale, așa cum se arată în exemplul următor:</a:t>
            </a:r>
          </a:p>
        </p:txBody>
      </p:sp>
    </p:spTree>
    <p:extLst>
      <p:ext uri="{BB962C8B-B14F-4D97-AF65-F5344CB8AC3E}">
        <p14:creationId xmlns:p14="http://schemas.microsoft.com/office/powerpoint/2010/main" val="3969447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80F5C-97B8-1990-A749-4C7AA58E41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952A55-AACF-E35E-4B0E-F5F82106F852}"/>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13966AD6-2CCB-7BC8-5457-9D097189A7B4}"/>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LineApplication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Length</a:t>
            </a:r>
            <a:r>
              <a:rPr lang="ro-RO" sz="2000" b="1" noProof="0" dirty="0">
                <a:solidFill>
                  <a:srgbClr val="6A9955"/>
                </a:solidFill>
                <a:effectLst/>
                <a:latin typeface="Consolas" panose="020B0609020204030204" pitchFamily="49" charset="0"/>
              </a:rPr>
              <a:t> of a line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a:t>
            </a:r>
            <a:r>
              <a:rPr lang="ro-RO" sz="2000" b="1" noProof="0" dirty="0" err="1">
                <a:solidFill>
                  <a:srgbClr val="6A9955"/>
                </a:solidFill>
                <a:effectLst/>
                <a:latin typeface="Consolas" panose="020B0609020204030204" pitchFamily="49" charset="0"/>
              </a:rPr>
              <a:t>Parametrized</a:t>
            </a:r>
            <a:r>
              <a:rPr lang="ro-RO" sz="2000" b="1" noProof="0" dirty="0">
                <a:solidFill>
                  <a:srgbClr val="6A9955"/>
                </a:solidFill>
                <a:effectLst/>
                <a:latin typeface="Consolas" panose="020B0609020204030204" pitchFamily="49" charset="0"/>
              </a:rPr>
              <a:t> constructor</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Object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being</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created</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length</a:t>
            </a:r>
            <a:r>
              <a:rPr lang="ro-RO" sz="2000" b="1" noProof="0" dirty="0">
                <a:solidFill>
                  <a:srgbClr val="CE9178"/>
                </a:solidFill>
                <a:effectLst/>
                <a:latin typeface="Consolas" panose="020B0609020204030204" pitchFamily="49" charset="0"/>
              </a:rPr>
              <a:t> =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getLength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args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10.0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Length</a:t>
            </a:r>
            <a:r>
              <a:rPr lang="ro-RO" sz="2000" b="1" noProof="0" dirty="0">
                <a:solidFill>
                  <a:srgbClr val="CE9178"/>
                </a:solidFill>
                <a:effectLst/>
                <a:latin typeface="Consolas" panose="020B0609020204030204" pitchFamily="49" charset="0"/>
              </a:rPr>
              <a:t> of line :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getLength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6.0</a:t>
            </a:r>
            <a:r>
              <a:rPr lang="ro-RO" sz="2000" b="1" noProof="0" dirty="0">
                <a:solidFill>
                  <a:srgbClr val="CCCCCC"/>
                </a:solidFill>
                <a:effectLst/>
                <a:latin typeface="Consolas" panose="020B0609020204030204" pitchFamily="49" charset="0"/>
              </a:rPr>
              <a:t>);</a:t>
            </a:r>
            <a:r>
              <a:rPr lang="ro-RO" sz="2000" b="1" noProof="0" dirty="0">
                <a:solidFill>
                  <a:srgbClr val="6A9955"/>
                </a:solidFill>
                <a:latin typeface="Consolas" panose="020B0609020204030204" pitchFamily="49" charset="0"/>
              </a:rPr>
              <a:t> // set line </a:t>
            </a:r>
            <a:r>
              <a:rPr lang="ro-RO" sz="2000" b="1" noProof="0" dirty="0" err="1">
                <a:solidFill>
                  <a:srgbClr val="6A9955"/>
                </a:solidFill>
                <a:latin typeface="Consolas" panose="020B0609020204030204" pitchFamily="49" charset="0"/>
              </a:rPr>
              <a:t>length</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Length</a:t>
            </a:r>
            <a:r>
              <a:rPr lang="ro-RO" sz="2000" b="1" noProof="0" dirty="0">
                <a:solidFill>
                  <a:srgbClr val="CE9178"/>
                </a:solidFill>
                <a:effectLst/>
                <a:latin typeface="Consolas" panose="020B0609020204030204" pitchFamily="49" charset="0"/>
              </a:rPr>
              <a:t> of line :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getLength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863658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EC586-5E1A-D801-FAE6-934791CACC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08E34F-99B6-CC8C-D894-E00414A317F4}"/>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B77AD109-13D0-C51C-E1B0-F91E506C23E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Destructori C#</a:t>
            </a:r>
          </a:p>
          <a:p>
            <a:pPr marL="34290" indent="0" algn="just">
              <a:buNone/>
            </a:pPr>
            <a:r>
              <a:rPr lang="ro-RO" sz="2800" noProof="0" dirty="0">
                <a:solidFill>
                  <a:srgbClr val="00B0F0"/>
                </a:solidFill>
              </a:rPr>
              <a:t>Un </a:t>
            </a:r>
            <a:r>
              <a:rPr lang="ro-RO" sz="2800" noProof="0" dirty="0">
                <a:solidFill>
                  <a:schemeClr val="tx2"/>
                </a:solidFill>
              </a:rPr>
              <a:t>destructor</a:t>
            </a:r>
            <a:r>
              <a:rPr lang="ro-RO" sz="2800" noProof="0" dirty="0">
                <a:solidFill>
                  <a:srgbClr val="00B0F0"/>
                </a:solidFill>
              </a:rPr>
              <a:t> este o funcție membru specială a unei clase care este executată ori de câte ori un obiect al clasei sale iese din domeniul de aplicare. Un destructor are exact același nume ca și cel al clasei, cu o tildă prefixată (</a:t>
            </a:r>
            <a:r>
              <a:rPr lang="ro-RO" sz="2800" noProof="0" dirty="0">
                <a:solidFill>
                  <a:schemeClr val="tx2"/>
                </a:solidFill>
              </a:rPr>
              <a:t>~</a:t>
            </a:r>
            <a:r>
              <a:rPr lang="ro-RO" sz="2800" noProof="0" dirty="0">
                <a:solidFill>
                  <a:srgbClr val="00B0F0"/>
                </a:solidFill>
              </a:rPr>
              <a:t>) și nu poate returna o valoare și nici nu poate lua parametri.</a:t>
            </a:r>
          </a:p>
          <a:p>
            <a:pPr marL="34290" indent="0" algn="just">
              <a:buNone/>
            </a:pPr>
            <a:r>
              <a:rPr lang="ro-RO" sz="2800" noProof="0" dirty="0">
                <a:solidFill>
                  <a:srgbClr val="00B0F0"/>
                </a:solidFill>
              </a:rPr>
              <a:t>Un </a:t>
            </a:r>
            <a:r>
              <a:rPr lang="ro-RO" sz="2800" noProof="0" dirty="0">
                <a:solidFill>
                  <a:schemeClr val="tx2"/>
                </a:solidFill>
              </a:rPr>
              <a:t>destructor</a:t>
            </a:r>
            <a:r>
              <a:rPr lang="ro-RO" sz="2800" noProof="0" dirty="0">
                <a:solidFill>
                  <a:srgbClr val="00B0F0"/>
                </a:solidFill>
              </a:rPr>
              <a:t> poate fi foarte util pentru eliberarea resurselor de memorie înainte de ieșirea din program. Destructorii nu pot fi moșteniți sau supraîncărcați.</a:t>
            </a:r>
          </a:p>
        </p:txBody>
      </p:sp>
    </p:spTree>
    <p:extLst>
      <p:ext uri="{BB962C8B-B14F-4D97-AF65-F5344CB8AC3E}">
        <p14:creationId xmlns:p14="http://schemas.microsoft.com/office/powerpoint/2010/main" val="1515207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0F667-DC68-AAAE-83C4-6567071AA0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CCA049-D420-D299-A093-0AEEC5683C90}"/>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68CFB4C1-2490-F126-EBB2-41028E65B735}"/>
              </a:ext>
            </a:extLst>
          </p:cNvPr>
          <p:cNvSpPr>
            <a:spLocks noGrp="1"/>
          </p:cNvSpPr>
          <p:nvPr>
            <p:ph idx="1"/>
          </p:nvPr>
        </p:nvSpPr>
        <p:spPr>
          <a:xfrm>
            <a:off x="463925" y="1281952"/>
            <a:ext cx="8249770" cy="5074024"/>
          </a:xfrm>
        </p:spPr>
        <p:txBody>
          <a:bodyPr>
            <a:noAutofit/>
          </a:bodyPr>
          <a:lstStyle/>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LineApplication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private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Length</a:t>
            </a:r>
            <a:r>
              <a:rPr lang="ro-RO" sz="2000" b="1" noProof="0" dirty="0">
                <a:solidFill>
                  <a:srgbClr val="6A9955"/>
                </a:solidFill>
                <a:effectLst/>
                <a:latin typeface="Consolas" panose="020B0609020204030204" pitchFamily="49" charset="0"/>
              </a:rPr>
              <a:t> of a line</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   </a:t>
            </a:r>
            <a:r>
              <a:rPr lang="ro-RO" sz="2000" b="1" noProof="0" dirty="0">
                <a:solidFill>
                  <a:srgbClr val="6A9955"/>
                </a:solidFill>
                <a:effectLst/>
                <a:latin typeface="Consolas" panose="020B0609020204030204" pitchFamily="49" charset="0"/>
              </a:rPr>
              <a:t>// constructor</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Object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being</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created</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   </a:t>
            </a:r>
            <a:r>
              <a:rPr lang="ro-RO" sz="2000" b="1" noProof="0" dirty="0">
                <a:solidFill>
                  <a:srgbClr val="6A9955"/>
                </a:solidFill>
                <a:effectLst/>
                <a:latin typeface="Consolas" panose="020B0609020204030204" pitchFamily="49" charset="0"/>
              </a:rPr>
              <a:t>//destructor</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Object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being</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deleted</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getLength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args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Line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6A9955"/>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setLength</a:t>
            </a:r>
            <a:r>
              <a:rPr lang="ro-RO" sz="2000" b="1" noProof="0" dirty="0">
                <a:solidFill>
                  <a:srgbClr val="CCCCCC"/>
                </a:solidFill>
                <a:effectLst/>
                <a:latin typeface="Consolas" panose="020B0609020204030204" pitchFamily="49" charset="0"/>
              </a:rPr>
              <a:t>(</a:t>
            </a:r>
            <a:r>
              <a:rPr lang="ro-RO" sz="2000" b="1" noProof="0" dirty="0">
                <a:solidFill>
                  <a:srgbClr val="B5CEA8"/>
                </a:solidFill>
                <a:effectLst/>
                <a:latin typeface="Consolas" panose="020B0609020204030204" pitchFamily="49" charset="0"/>
              </a:rPr>
              <a:t>6.0</a:t>
            </a:r>
            <a:r>
              <a:rPr lang="ro-RO" sz="2000" b="1" noProof="0" dirty="0">
                <a:solidFill>
                  <a:srgbClr val="CCCCCC"/>
                </a:solidFill>
                <a:effectLst/>
                <a:latin typeface="Consolas" panose="020B0609020204030204" pitchFamily="49" charset="0"/>
              </a:rPr>
              <a:t>);</a:t>
            </a:r>
            <a:r>
              <a:rPr lang="ro-RO" sz="2000" b="1" noProof="0" dirty="0">
                <a:solidFill>
                  <a:srgbClr val="6A9955"/>
                </a:solidFill>
                <a:latin typeface="Consolas" panose="020B0609020204030204" pitchFamily="49" charset="0"/>
              </a:rPr>
              <a:t> // set line </a:t>
            </a:r>
            <a:r>
              <a:rPr lang="ro-RO" sz="2000" b="1" noProof="0" dirty="0" err="1">
                <a:solidFill>
                  <a:srgbClr val="6A9955"/>
                </a:solidFill>
                <a:latin typeface="Consolas" panose="020B0609020204030204" pitchFamily="49" charset="0"/>
              </a:rPr>
              <a:t>length</a:t>
            </a:r>
            <a:endParaRPr lang="ro-RO" sz="2000" b="1" noProof="0" dirty="0">
              <a:solidFill>
                <a:srgbClr val="CCCCCC"/>
              </a:solidFill>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Length</a:t>
            </a:r>
            <a:r>
              <a:rPr lang="ro-RO" sz="2000" b="1" noProof="0" dirty="0">
                <a:solidFill>
                  <a:srgbClr val="CE9178"/>
                </a:solidFill>
                <a:effectLst/>
                <a:latin typeface="Consolas" panose="020B0609020204030204" pitchFamily="49" charset="0"/>
              </a:rPr>
              <a:t> of line :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line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getLength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303493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3668-39DF-5DE7-44F9-52270CBFFBD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AAD1DF-52FD-F970-D3B4-E678EB8F010B}"/>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911A43E9-95BD-6154-84DE-5077003EA94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Membri statici ai unei clase C#</a:t>
            </a:r>
          </a:p>
          <a:p>
            <a:pPr marL="34290" indent="0" algn="just">
              <a:buNone/>
            </a:pPr>
            <a:r>
              <a:rPr lang="ro-RO" sz="2800" noProof="0" dirty="0">
                <a:solidFill>
                  <a:srgbClr val="00B0F0"/>
                </a:solidFill>
              </a:rPr>
              <a:t>Putem defini membrii clasei ca </a:t>
            </a:r>
            <a:r>
              <a:rPr lang="ro-RO" sz="2800" noProof="0" dirty="0">
                <a:solidFill>
                  <a:schemeClr val="tx2"/>
                </a:solidFill>
              </a:rPr>
              <a:t>static</a:t>
            </a:r>
            <a:r>
              <a:rPr lang="ro-RO" sz="2800" noProof="0" dirty="0">
                <a:solidFill>
                  <a:srgbClr val="00B0F0"/>
                </a:solidFill>
              </a:rPr>
              <a:t> folosind cuvântul cheie </a:t>
            </a:r>
            <a:r>
              <a:rPr lang="ro-RO" sz="2800" noProof="0" dirty="0">
                <a:solidFill>
                  <a:schemeClr val="tx2"/>
                </a:solidFill>
              </a:rPr>
              <a:t>static</a:t>
            </a:r>
            <a:r>
              <a:rPr lang="ro-RO" sz="2800" noProof="0" dirty="0">
                <a:solidFill>
                  <a:srgbClr val="00B0F0"/>
                </a:solidFill>
              </a:rPr>
              <a:t>. Când declarăm un membru al unei clase ca static, înseamnă că, indiferent de câte obiecte ale clasei sunt create, există o singură copie a membrului static.</a:t>
            </a:r>
          </a:p>
        </p:txBody>
      </p:sp>
    </p:spTree>
    <p:extLst>
      <p:ext uri="{BB962C8B-B14F-4D97-AF65-F5344CB8AC3E}">
        <p14:creationId xmlns:p14="http://schemas.microsoft.com/office/powerpoint/2010/main" val="1649694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1A23D-4B08-4344-AC6A-B37A0AD60D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EE61C2-8882-E148-E2F8-0412E81EE301}"/>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A79C4BB6-2A05-4527-31C3-BA8A0EE8F53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Cuvântul cheie </a:t>
            </a:r>
            <a:r>
              <a:rPr lang="ro-RO" sz="2800" noProof="0" dirty="0">
                <a:solidFill>
                  <a:schemeClr val="tx2"/>
                </a:solidFill>
              </a:rPr>
              <a:t>static</a:t>
            </a:r>
            <a:r>
              <a:rPr lang="ro-RO" sz="2800" noProof="0" dirty="0">
                <a:solidFill>
                  <a:srgbClr val="00B0F0"/>
                </a:solidFill>
              </a:rPr>
              <a:t> implică faptul că există o singură instanță a membrului pentru o clasă. Variabilele statice sunt utilizate pentru definirea constantelor, deoarece valorile lor pot fi recuperate prin invocarea clasei fără a crea o instanță a acesteia. Variabilele statice pot fi inițializate în afara funcției membrului sau a definiției clasei. De asemenea, puteți inițializa variabile statice în interiorul definiției clasei.</a:t>
            </a:r>
          </a:p>
        </p:txBody>
      </p:sp>
    </p:spTree>
    <p:extLst>
      <p:ext uri="{BB962C8B-B14F-4D97-AF65-F5344CB8AC3E}">
        <p14:creationId xmlns:p14="http://schemas.microsoft.com/office/powerpoint/2010/main" val="1146047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BFC2A-1519-E977-5E4C-C347F328A9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501A3A-DC85-5402-9682-94A397B4D1D5}"/>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45F32B14-F5FE-71FE-E519-4E3AF497A53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variabila statica</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getNum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StaticTester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args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s1</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s2</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s1</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s1</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s1</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s2</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s2</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r>
              <a:rPr lang="ro-RO" sz="2000" b="1" noProof="0" dirty="0">
                <a:solidFill>
                  <a:srgbClr val="9CDCFE"/>
                </a:solidFill>
                <a:effectLst/>
                <a:latin typeface="Consolas" panose="020B0609020204030204" pitchFamily="49" charset="0"/>
              </a:rPr>
              <a:t>s2</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Variable</a:t>
            </a:r>
            <a:r>
              <a:rPr lang="ro-RO" sz="2000" b="1" noProof="0" dirty="0">
                <a:solidFill>
                  <a:srgbClr val="CE9178"/>
                </a:solidFill>
                <a:effectLst/>
                <a:latin typeface="Consolas" panose="020B0609020204030204" pitchFamily="49" charset="0"/>
              </a:rPr>
              <a:t> num for s1: {0}"</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s1</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getNum</a:t>
            </a:r>
            <a:r>
              <a:rPr lang="ro-RO" sz="2000" b="1" noProof="0" dirty="0">
                <a:solidFill>
                  <a:srgbClr val="CCCCCC"/>
                </a:solidFill>
                <a:effectLst/>
                <a:latin typeface="Consolas" panose="020B0609020204030204" pitchFamily="49" charset="0"/>
              </a:rPr>
              <a:t>());</a:t>
            </a:r>
            <a:r>
              <a:rPr lang="en-US" sz="2000" b="1" noProof="0" dirty="0">
                <a:solidFill>
                  <a:srgbClr val="CCCCCC"/>
                </a:solidFill>
                <a:effectLst/>
                <a:latin typeface="Consolas" panose="020B0609020204030204" pitchFamily="49" charset="0"/>
              </a:rPr>
              <a:t> </a:t>
            </a:r>
            <a:r>
              <a:rPr lang="en-US" sz="2000" b="1" noProof="0" dirty="0">
                <a:solidFill>
                  <a:srgbClr val="00B050"/>
                </a:solidFill>
                <a:effectLst/>
                <a:latin typeface="Consolas" panose="020B0609020204030204" pitchFamily="49" charset="0"/>
              </a:rPr>
              <a:t>//6</a:t>
            </a:r>
            <a:endParaRPr lang="ro-RO" sz="2000" b="1" noProof="0" dirty="0">
              <a:solidFill>
                <a:srgbClr val="00B050"/>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Variable</a:t>
            </a:r>
            <a:r>
              <a:rPr lang="ro-RO" sz="2000" b="1" noProof="0" dirty="0">
                <a:solidFill>
                  <a:srgbClr val="CE9178"/>
                </a:solidFill>
                <a:effectLst/>
                <a:latin typeface="Consolas" panose="020B0609020204030204" pitchFamily="49" charset="0"/>
              </a:rPr>
              <a:t> num for s2: {0}"</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s2</a:t>
            </a:r>
            <a:r>
              <a:rPr lang="ro-RO" sz="2000" b="1" noProof="0" dirty="0">
                <a:solidFill>
                  <a:srgbClr val="CCCCCC"/>
                </a:solidFill>
                <a:effectLst/>
                <a:latin typeface="Consolas" panose="020B0609020204030204" pitchFamily="49" charset="0"/>
              </a:rPr>
              <a:t>.</a:t>
            </a:r>
            <a:r>
              <a:rPr lang="ro-RO" sz="2000" b="1" noProof="0" dirty="0">
                <a:solidFill>
                  <a:srgbClr val="DCDCAA"/>
                </a:solidFill>
                <a:effectLst/>
                <a:latin typeface="Consolas" panose="020B0609020204030204" pitchFamily="49" charset="0"/>
              </a:rPr>
              <a:t>getNum</a:t>
            </a:r>
            <a:r>
              <a:rPr lang="ro-RO" sz="2000" b="1" noProof="0" dirty="0">
                <a:solidFill>
                  <a:srgbClr val="CCCCCC"/>
                </a:solidFill>
                <a:effectLst/>
                <a:latin typeface="Consolas" panose="020B0609020204030204" pitchFamily="49" charset="0"/>
              </a:rPr>
              <a:t>());</a:t>
            </a:r>
            <a:r>
              <a:rPr lang="en-US" sz="2000" b="1" noProof="0" dirty="0">
                <a:solidFill>
                  <a:srgbClr val="CCCCCC"/>
                </a:solidFill>
                <a:effectLst/>
                <a:latin typeface="Consolas" panose="020B0609020204030204" pitchFamily="49" charset="0"/>
              </a:rPr>
              <a:t> </a:t>
            </a:r>
            <a:r>
              <a:rPr lang="en-US" sz="2000" b="1" dirty="0">
                <a:solidFill>
                  <a:srgbClr val="00B050"/>
                </a:solidFill>
                <a:latin typeface="Consolas" panose="020B0609020204030204" pitchFamily="49" charset="0"/>
              </a:rPr>
              <a:t>//6</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062899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B73D4-901F-61D3-A51D-F5C87A428B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F739B5-C945-C4B3-D595-A127E9DE1F3E}"/>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A8525BEF-0627-856B-6B9A-FCCA53FEB8F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De asemenea, putem declara o funcție membru ca fiind statică. Astfel de funcții pot accesa doar variabile statice. Funcțiile statice există chiar înainte de crearea obiectului.</a:t>
            </a:r>
          </a:p>
        </p:txBody>
      </p:sp>
    </p:spTree>
    <p:extLst>
      <p:ext uri="{BB962C8B-B14F-4D97-AF65-F5344CB8AC3E}">
        <p14:creationId xmlns:p14="http://schemas.microsoft.com/office/powerpoint/2010/main" val="3494320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F7C61-A7CC-A5D7-DB44-37E97AA51B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8BFE96-F637-325D-C409-E47A65ADD98E}"/>
              </a:ext>
            </a:extLst>
          </p:cNvPr>
          <p:cNvSpPr>
            <a:spLocks noGrp="1"/>
          </p:cNvSpPr>
          <p:nvPr>
            <p:ph type="title"/>
          </p:nvPr>
        </p:nvSpPr>
        <p:spPr>
          <a:xfrm>
            <a:off x="463925" y="582705"/>
            <a:ext cx="7819465" cy="504265"/>
          </a:xfrm>
        </p:spPr>
        <p:txBody>
          <a:bodyPr>
            <a:noAutofit/>
          </a:bodyPr>
          <a:lstStyle/>
          <a:p>
            <a:r>
              <a:rPr lang="ro-RO" sz="3200" noProof="0" dirty="0"/>
              <a:t>C#POO - Cursul 5</a:t>
            </a:r>
          </a:p>
        </p:txBody>
      </p:sp>
      <p:sp>
        <p:nvSpPr>
          <p:cNvPr id="5" name="Content Placeholder 4">
            <a:extLst>
              <a:ext uri="{FF2B5EF4-FFF2-40B4-BE49-F238E27FC236}">
                <a16:creationId xmlns:a16="http://schemas.microsoft.com/office/drawing/2014/main" id="{063777EF-2BFB-685C-4FFC-A959BC6A3F3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a:t>
            </a:r>
            <a:r>
              <a:rPr lang="ro-RO" sz="2800" noProof="0" dirty="0" err="1">
                <a:solidFill>
                  <a:srgbClr val="00B0F0"/>
                </a:solidFill>
              </a:rPr>
              <a:t>functie</a:t>
            </a:r>
            <a:r>
              <a:rPr lang="ro-RO" sz="2800" noProof="0" dirty="0">
                <a:solidFill>
                  <a:srgbClr val="00B0F0"/>
                </a:solidFill>
              </a:rPr>
              <a:t> membru statica</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getNum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StaticTester</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args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s</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StaticVar</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count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Variable</a:t>
            </a:r>
            <a:r>
              <a:rPr lang="ro-RO" sz="2000" b="1" noProof="0" dirty="0">
                <a:solidFill>
                  <a:srgbClr val="CE9178"/>
                </a:solidFill>
                <a:effectLst/>
                <a:latin typeface="Consolas" panose="020B0609020204030204" pitchFamily="49" charset="0"/>
              </a:rPr>
              <a:t> num: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StaticVar</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getNum</a:t>
            </a:r>
            <a:r>
              <a:rPr lang="ro-RO" sz="2000" b="1" noProof="0" dirty="0">
                <a:solidFill>
                  <a:srgbClr val="CCCCCC"/>
                </a:solidFill>
                <a:effectLst/>
                <a:latin typeface="Consolas" panose="020B0609020204030204" pitchFamily="49" charset="0"/>
              </a:rPr>
              <a:t>()); </a:t>
            </a:r>
            <a:r>
              <a:rPr lang="en-US" sz="2000" b="1" noProof="0" dirty="0">
                <a:solidFill>
                  <a:srgbClr val="00B050"/>
                </a:solidFill>
                <a:effectLst/>
                <a:latin typeface="Consolas" panose="020B0609020204030204" pitchFamily="49" charset="0"/>
              </a:rPr>
              <a:t>//3</a:t>
            </a:r>
            <a:r>
              <a:rPr lang="ro-RO" sz="2000" b="1" noProof="0" dirty="0">
                <a:solidFill>
                  <a:srgbClr val="00B050"/>
                </a:solidFill>
                <a:effectLst/>
                <a:latin typeface="Consolas" panose="020B0609020204030204" pitchFamily="49" charset="0"/>
              </a:rPr>
              <a:t>  </a:t>
            </a:r>
            <a:endParaRPr lang="en-US" sz="2000" b="1" noProof="0" dirty="0">
              <a:solidFill>
                <a:srgbClr val="00B050"/>
              </a:solidFill>
              <a:effectLst/>
              <a:latin typeface="Consolas" panose="020B0609020204030204" pitchFamily="49" charset="0"/>
            </a:endParaRPr>
          </a:p>
          <a:p>
            <a:pPr>
              <a:lnSpc>
                <a:spcPts val="1425"/>
              </a:lnSpc>
              <a:buNone/>
            </a:pPr>
            <a:r>
              <a:rPr lang="en-US" sz="2000" b="1" dirty="0">
                <a:solidFill>
                  <a:srgbClr val="CCCCCC"/>
                </a:solidFill>
                <a:latin typeface="Consolas" panose="020B0609020204030204" pitchFamily="49" charset="0"/>
              </a:rPr>
              <a:t>		</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1719181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2391</TotalTime>
  <Words>2588</Words>
  <Application>Microsoft Office PowerPoint</Application>
  <PresentationFormat>On-screen Show (4:3)</PresentationFormat>
  <Paragraphs>324</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Consolas</vt:lpstr>
      <vt:lpstr>Courier New</vt:lpstr>
      <vt:lpstr>Wingdings</vt:lpstr>
      <vt:lpstr>oldTheme</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lpstr>C#POO - Cursul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34</cp:revision>
  <dcterms:created xsi:type="dcterms:W3CDTF">2025-10-05T09:43:55Z</dcterms:created>
  <dcterms:modified xsi:type="dcterms:W3CDTF">2026-03-17T08:14:06Z</dcterms:modified>
</cp:coreProperties>
</file>
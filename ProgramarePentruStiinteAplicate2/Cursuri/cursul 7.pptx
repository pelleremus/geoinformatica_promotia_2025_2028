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321" r:id="rId3"/>
    <p:sldId id="322" r:id="rId4"/>
    <p:sldId id="323" r:id="rId5"/>
    <p:sldId id="324" r:id="rId6"/>
    <p:sldId id="325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311" r:id="rId19"/>
    <p:sldId id="312" r:id="rId20"/>
    <p:sldId id="313" r:id="rId21"/>
    <p:sldId id="314" r:id="rId22"/>
    <p:sldId id="315" r:id="rId23"/>
    <p:sldId id="316" r:id="rId24"/>
    <p:sldId id="317" r:id="rId25"/>
    <p:sldId id="319" r:id="rId26"/>
    <p:sldId id="320" r:id="rId27"/>
    <p:sldId id="318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2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6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16625"/>
            <a:ext cx="7315200" cy="25950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166530"/>
            <a:ext cx="7315200" cy="1144632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987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58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017572"/>
            <a:ext cx="7315200" cy="1293592"/>
          </a:xfrm>
        </p:spPr>
        <p:txBody>
          <a:bodyPr anchor="t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865099"/>
            <a:ext cx="7315200" cy="1098439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42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14400" y="1544717"/>
            <a:ext cx="7315200" cy="115409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56616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743202"/>
            <a:ext cx="3566160" cy="3595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7313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348" y="2743200"/>
            <a:ext cx="3364992" cy="621792"/>
          </a:xfrm>
        </p:spPr>
        <p:txBody>
          <a:bodyPr anchor="b">
            <a:noAutofit/>
          </a:bodyPr>
          <a:lstStyle>
            <a:lvl1pPr marL="0" indent="0">
              <a:buNone/>
              <a:defRPr sz="15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145" y="2743200"/>
            <a:ext cx="3362062" cy="621792"/>
          </a:xfrm>
        </p:spPr>
        <p:txBody>
          <a:bodyPr anchor="b">
            <a:noAutofit/>
          </a:bodyPr>
          <a:lstStyle>
            <a:lvl1pPr marL="0" indent="0">
              <a:buNone/>
              <a:defRPr sz="15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1544717"/>
            <a:ext cx="7315200" cy="11540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914400" y="3383280"/>
            <a:ext cx="3566160" cy="295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81727" y="3383280"/>
            <a:ext cx="3566160" cy="295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342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28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098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5364"/>
            <a:ext cx="2950936" cy="2173015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752" y="1826709"/>
            <a:ext cx="4207848" cy="4476614"/>
          </a:xfrm>
        </p:spPr>
        <p:txBody>
          <a:bodyPr anchor="ctr"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61097"/>
            <a:ext cx="2950936" cy="224538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687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8800"/>
            <a:ext cx="2953512" cy="2176272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000" y="2286000"/>
            <a:ext cx="4038600" cy="3352800"/>
          </a:xfrm>
          <a:solidFill>
            <a:schemeClr val="accent2"/>
          </a:solidFill>
          <a:ln w="12700">
            <a:noFill/>
          </a:ln>
          <a:effectLst>
            <a:reflection blurRad="12700" stA="30000" endPos="30000" dist="31750" dir="5400000" sy="-100000" algn="bl" rotWithShape="0"/>
          </a:effectLst>
          <a:scene3d>
            <a:camera prst="perspectiveRight" fov="2700000">
              <a:rot lat="240000" lon="900000" rev="0"/>
            </a:camera>
            <a:lightRig rig="threePt" dir="t">
              <a:rot lat="0" lon="0" rev="2700000"/>
            </a:lightRig>
          </a:scene3d>
          <a:sp3d/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59936"/>
            <a:ext cx="2953512" cy="2249424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268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62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1" y="1826709"/>
            <a:ext cx="1492499" cy="448445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4524" y="1826709"/>
            <a:ext cx="5241476" cy="448445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6C7F-C199-47A3-AF94-EAE81E21E31B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627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435268" y="573807"/>
            <a:ext cx="86236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1" name="Rectangle 10"/>
          <p:cNvSpPr/>
          <p:nvPr/>
        </p:nvSpPr>
        <p:spPr>
          <a:xfrm>
            <a:off x="8569419" y="573807"/>
            <a:ext cx="576072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544717"/>
            <a:ext cx="7315200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69835"/>
            <a:ext cx="7315200" cy="3539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07691" y="548797"/>
            <a:ext cx="1189132" cy="297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C7856C7F-C199-47A3-AF94-EAE81E21E31B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4416" y="548797"/>
            <a:ext cx="941203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E13EF8AE-9767-4E5A-802F-66A2B36F74A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8689" y="855958"/>
            <a:ext cx="2246489" cy="301227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7921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spcBef>
          <a:spcPct val="0"/>
        </a:spcBef>
        <a:buNone/>
        <a:defRPr sz="3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714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8572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02870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2001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indent="-137160" algn="l" defTabSz="6858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271B79-AD63-DB37-67C7-C575BD375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7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B65007-A43F-3FCE-F922-090075940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Programarea orientată pe obiecte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 </a:t>
            </a:r>
            <a:r>
              <a:rPr lang="ro-RO" sz="2800" noProof="0" dirty="0">
                <a:solidFill>
                  <a:schemeClr val="tx2"/>
                </a:solidFill>
              </a:rPr>
              <a:t>Abstractizare</a:t>
            </a:r>
          </a:p>
          <a:p>
            <a:pPr algn="just"/>
            <a:r>
              <a:rPr lang="ro-RO" sz="2800" noProof="0" dirty="0">
                <a:solidFill>
                  <a:schemeClr val="tx2"/>
                </a:solidFill>
              </a:rPr>
              <a:t> Polimorfism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ro-RO" sz="2650" noProof="0" dirty="0">
                <a:solidFill>
                  <a:srgbClr val="00B0F0"/>
                </a:solidFill>
              </a:rPr>
              <a:t> Static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ro-RO" sz="2650" noProof="0" dirty="0">
                <a:solidFill>
                  <a:srgbClr val="00B0F0"/>
                </a:solidFill>
              </a:rPr>
              <a:t> Dinamic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ro-RO" sz="2800" noProof="0" dirty="0">
                <a:solidFill>
                  <a:srgbClr val="00B0F0"/>
                </a:solidFill>
              </a:rPr>
              <a:t> Clase </a:t>
            </a:r>
            <a:r>
              <a:rPr lang="ro-RO" sz="2800" noProof="0" dirty="0">
                <a:solidFill>
                  <a:schemeClr val="tx2"/>
                </a:solidFill>
              </a:rPr>
              <a:t>abstract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ro-RO" sz="2650" noProof="0" dirty="0">
                <a:solidFill>
                  <a:srgbClr val="00B0F0"/>
                </a:solidFill>
              </a:rPr>
              <a:t> funcții virtuale - </a:t>
            </a:r>
            <a:r>
              <a:rPr lang="ro-RO" sz="2650" noProof="0" dirty="0">
                <a:solidFill>
                  <a:schemeClr val="tx2"/>
                </a:solidFill>
              </a:rPr>
              <a:t>virtual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ro-RO" sz="2650" noProof="0" dirty="0">
                <a:solidFill>
                  <a:srgbClr val="00B0F0"/>
                </a:solidFill>
              </a:rPr>
              <a:t> suprascrierea funcțiilor – </a:t>
            </a:r>
            <a:r>
              <a:rPr lang="ro-RO" sz="2650" noProof="0" dirty="0" err="1">
                <a:solidFill>
                  <a:schemeClr val="tx2"/>
                </a:solidFill>
              </a:rPr>
              <a:t>override</a:t>
            </a:r>
            <a:endParaRPr lang="ro-RO" sz="2650" noProof="0" dirty="0">
              <a:solidFill>
                <a:schemeClr val="tx2"/>
              </a:solidFill>
            </a:endParaRPr>
          </a:p>
          <a:p>
            <a:pPr algn="just"/>
            <a:r>
              <a:rPr lang="ro-RO" sz="2800" noProof="0" dirty="0">
                <a:solidFill>
                  <a:schemeClr val="tx2"/>
                </a:solidFill>
              </a:rPr>
              <a:t> </a:t>
            </a:r>
            <a:r>
              <a:rPr lang="ro-RO" sz="2800" noProof="0" dirty="0">
                <a:solidFill>
                  <a:srgbClr val="00B0F0"/>
                </a:solidFill>
              </a:rPr>
              <a:t>Interfețe - </a:t>
            </a:r>
            <a:r>
              <a:rPr lang="ro-RO" sz="2800" noProof="0" dirty="0" err="1">
                <a:solidFill>
                  <a:schemeClr val="tx2"/>
                </a:solidFill>
              </a:rPr>
              <a:t>interface</a:t>
            </a:r>
            <a:endParaRPr lang="ro-RO" sz="2800" noProof="0" dirty="0">
              <a:solidFill>
                <a:schemeClr val="tx2"/>
              </a:solidFill>
            </a:endParaRPr>
          </a:p>
          <a:p>
            <a:pPr lvl="1" algn="just">
              <a:buFont typeface="Wingdings" panose="05000000000000000000" pitchFamily="2" charset="2"/>
              <a:buChar char="ü"/>
            </a:pPr>
            <a:endParaRPr lang="ro-RO" sz="2650" noProof="0" dirty="0">
              <a:solidFill>
                <a:srgbClr val="00B0F0"/>
              </a:solidFill>
            </a:endParaRPr>
          </a:p>
          <a:p>
            <a:pPr algn="just"/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9500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22083-9218-959D-088C-9F562AAAA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3686E0-AD59-D7BA-F184-7154722D2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7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D4DFB8-43CB-6E8D-ABE6-B776D408A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Abstractizarea</a:t>
            </a:r>
          </a:p>
          <a:p>
            <a:pPr marL="34290" indent="0" algn="just">
              <a:buNone/>
            </a:pPr>
            <a:r>
              <a:rPr lang="ro-RO" sz="2650" noProof="0" dirty="0">
                <a:solidFill>
                  <a:schemeClr val="tx2"/>
                </a:solidFill>
              </a:rPr>
              <a:t>Abstractizarea</a:t>
            </a:r>
            <a:r>
              <a:rPr lang="ro-RO" sz="2650" noProof="0" dirty="0">
                <a:solidFill>
                  <a:srgbClr val="00B0F0"/>
                </a:solidFill>
              </a:rPr>
              <a:t> este un principiu fundamental al programării orientate pe obiecte (POO) care implică concentrarea pe caracteristicile esențiale ale unui obiect, ascunzând în același timp detaliile sale interne și complexe de implementare. </a:t>
            </a:r>
          </a:p>
          <a:p>
            <a:pPr marL="34290" indent="0" algn="just">
              <a:buNone/>
            </a:pPr>
            <a:r>
              <a:rPr lang="ro-RO" sz="2650" noProof="0" dirty="0">
                <a:solidFill>
                  <a:srgbClr val="00B0F0"/>
                </a:solidFill>
              </a:rPr>
              <a:t>Simplifică modul în care utilizatorii interacționează cu un sistem, oferind o interfață clară, de nivel înalt.</a:t>
            </a:r>
          </a:p>
          <a:p>
            <a:pPr algn="just"/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661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2052C-AF70-EF47-02C8-CCF2DDE6A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76F383-496A-E986-0340-1535FF789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7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177F9C-4D3C-41D7-68FC-BE87A0847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Tipuri de abstractizare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algn="just"/>
            <a:r>
              <a:rPr lang="ro-RO" sz="2800" noProof="0" dirty="0">
                <a:solidFill>
                  <a:schemeClr val="tx2"/>
                </a:solidFill>
              </a:rPr>
              <a:t> Abstractizarea datelor</a:t>
            </a:r>
            <a:r>
              <a:rPr lang="ro-RO" sz="2800" noProof="0" dirty="0">
                <a:solidFill>
                  <a:srgbClr val="00B0F0"/>
                </a:solidFill>
              </a:rPr>
              <a:t>: Se concentrează pe ascunderea reprezentării interne a obiectelor de date și expunerea doar a informațiilor necesare. De exemplu, un obiect de cont bancar ascunde modul în care este stocat soldul, dar permite utilizatorilor să utilizeze </a:t>
            </a:r>
            <a:r>
              <a:rPr lang="ro-RO" sz="2800" noProof="0" dirty="0" err="1">
                <a:solidFill>
                  <a:srgbClr val="00B0F0"/>
                </a:solidFill>
              </a:rPr>
              <a:t>Deposit</a:t>
            </a:r>
            <a:r>
              <a:rPr lang="ro-RO" sz="2800" noProof="0" dirty="0">
                <a:solidFill>
                  <a:srgbClr val="00B0F0"/>
                </a:solidFill>
              </a:rPr>
              <a:t>() sau </a:t>
            </a:r>
            <a:r>
              <a:rPr lang="ro-RO" sz="2800" noProof="0" dirty="0" err="1">
                <a:solidFill>
                  <a:srgbClr val="00B0F0"/>
                </a:solidFill>
              </a:rPr>
              <a:t>Withdraw</a:t>
            </a:r>
            <a:r>
              <a:rPr lang="ro-RO" sz="2800" noProof="0" dirty="0">
                <a:solidFill>
                  <a:srgbClr val="00B0F0"/>
                </a:solidFill>
              </a:rPr>
              <a:t>().</a:t>
            </a:r>
          </a:p>
          <a:p>
            <a:pPr algn="just"/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323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FDF00-617C-72EB-4969-F843BFEAB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6A8B7F-CCEE-48D7-82DB-B242FCEC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7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22E6020-52EF-3A7C-BD0F-A279D3E13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Tipuri de abstractizare</a:t>
            </a:r>
          </a:p>
          <a:p>
            <a:pPr algn="just"/>
            <a:endParaRPr kumimoji="0" lang="ro-RO" sz="2800" b="0" i="0" u="none" strike="noStrike" kern="1200" cap="none" spc="0" normalizeH="0" baseline="0" noProof="0" dirty="0">
              <a:ln>
                <a:noFill/>
              </a:ln>
              <a:solidFill>
                <a:srgbClr val="FF86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algn="just"/>
            <a:r>
              <a:rPr kumimoji="0" lang="ro-RO" sz="2800" b="0" i="0" u="none" strike="noStrike" kern="1200" cap="none" spc="0" normalizeH="0" baseline="0" noProof="0" dirty="0">
                <a:ln>
                  <a:noFill/>
                </a:ln>
                <a:solidFill>
                  <a:srgbClr val="FF86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Abstractizarea procesului</a:t>
            </a:r>
            <a:r>
              <a:rPr kumimoji="0" lang="ro-RO" sz="2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Ascunde implementarea </a:t>
            </a:r>
            <a:r>
              <a:rPr kumimoji="0" lang="ro-RO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subadiacentă</a:t>
            </a:r>
            <a:r>
              <a:rPr kumimoji="0" lang="ro-RO" sz="2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a unui proces sau algoritm. Un aparat de cafea este un exemplu comun: apeși un buton „Start” (interfața) și primești cafea, fără a fi nevoie să înțelegi mecanismele interne de încălzire și preparare.</a:t>
            </a: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5380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E1888-41BD-53FD-F1CE-FBA309D9A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85A637-D987-B567-4D8A-D3C679B5C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7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ED1FD0-7606-17BA-4CFD-96A783E97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În C# abstractizarea se realizează în principal prin: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 </a:t>
            </a:r>
            <a:r>
              <a:rPr lang="ro-RO" sz="2800" noProof="0" dirty="0">
                <a:solidFill>
                  <a:schemeClr val="tx2"/>
                </a:solidFill>
              </a:rPr>
              <a:t>Interfețe</a:t>
            </a:r>
            <a:r>
              <a:rPr lang="ro-RO" sz="2800" noProof="0" dirty="0">
                <a:solidFill>
                  <a:srgbClr val="00B0F0"/>
                </a:solidFill>
              </a:rPr>
              <a:t>: Acționează ca un „contract” care definește ce poate face o clasă fără a oferi niciun cod pentru modul în care o face.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 </a:t>
            </a:r>
            <a:r>
              <a:rPr lang="ro-RO" sz="2800" noProof="0" dirty="0">
                <a:solidFill>
                  <a:schemeClr val="tx2"/>
                </a:solidFill>
              </a:rPr>
              <a:t>Clase abstracte</a:t>
            </a:r>
            <a:r>
              <a:rPr lang="ro-RO" sz="2800" noProof="0" dirty="0">
                <a:solidFill>
                  <a:srgbClr val="00B0F0"/>
                </a:solidFill>
              </a:rPr>
              <a:t>: Servesc ca un „plan” care poate conține atât metode abstracte (care vor fi implementate ulterior), cât și metode concrete (cu logică partajată).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 </a:t>
            </a:r>
            <a:r>
              <a:rPr lang="ro-RO" sz="2800" noProof="0" dirty="0">
                <a:solidFill>
                  <a:schemeClr val="tx2"/>
                </a:solidFill>
              </a:rPr>
              <a:t>Modificatori de acces</a:t>
            </a:r>
            <a:r>
              <a:rPr lang="ro-RO" sz="2800" noProof="0" dirty="0">
                <a:solidFill>
                  <a:srgbClr val="00B0F0"/>
                </a:solidFill>
              </a:rPr>
              <a:t>: Cuvinte cheie precum public și private controlează ce părți ale unei clase sunt vizibile, eliminând efectiv complexitatea internă din lumea exterioară.</a:t>
            </a:r>
          </a:p>
        </p:txBody>
      </p:sp>
    </p:spTree>
    <p:extLst>
      <p:ext uri="{BB962C8B-B14F-4D97-AF65-F5344CB8AC3E}">
        <p14:creationId xmlns:p14="http://schemas.microsoft.com/office/powerpoint/2010/main" val="3872869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DC510-A370-A31D-DC1C-949BC9FA0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99F745-2C7C-E97F-71A1-7A1411A55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7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163E09-7B69-3152-F54F-5E7E8D542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Abstractizare vs. Încapsulare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642CF8C-9302-89A4-E921-782D2CFE48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874544"/>
              </p:ext>
            </p:extLst>
          </p:nvPr>
        </p:nvGraphicFramePr>
        <p:xfrm>
          <a:off x="555810" y="1964764"/>
          <a:ext cx="7853202" cy="2456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3580">
                  <a:extLst>
                    <a:ext uri="{9D8B030D-6E8A-4147-A177-3AD203B41FA5}">
                      <a16:colId xmlns:a16="http://schemas.microsoft.com/office/drawing/2014/main" val="9006935"/>
                    </a:ext>
                  </a:extLst>
                </a:gridCol>
                <a:gridCol w="2939811">
                  <a:extLst>
                    <a:ext uri="{9D8B030D-6E8A-4147-A177-3AD203B41FA5}">
                      <a16:colId xmlns:a16="http://schemas.microsoft.com/office/drawing/2014/main" val="2642721029"/>
                    </a:ext>
                  </a:extLst>
                </a:gridCol>
                <a:gridCol w="2939811">
                  <a:extLst>
                    <a:ext uri="{9D8B030D-6E8A-4147-A177-3AD203B41FA5}">
                      <a16:colId xmlns:a16="http://schemas.microsoft.com/office/drawing/2014/main" val="2740271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Caracteristică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Abstractizare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Încapsulare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073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Pe ce se concentrează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Ce face un obiect.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Cum face acest lucru un obiect.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6917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Scop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Reduce complexitatea prin ascunderea detaliilor.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Îmbunătățește securitatea și protejează integritatea datelor.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718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Nivel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noProof="0" dirty="0"/>
                        <a:t>Rezolvă probleme la nivel de proiectare.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noProof="0" dirty="0"/>
                        <a:t>Rezolvă probleme la nivel de implementare.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68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Exemplu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noProof="0" dirty="0"/>
                        <a:t>O telecomandă de televizor vă permite să schimbați canalele fără a cunoaște procesarea semnalului.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noProof="0" dirty="0"/>
                        <a:t>Carcasa exterioară a televizorului protejează circuitele interne de interferențele externe.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229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7295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88D1B-34D2-8C11-5876-0F5D8147A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E18B50-FFF2-20F6-0EF4-A3BC571E2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7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CA4C17E-D401-99E3-A4B0-DFCE323F8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Polimorfism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Cuvântul </a:t>
            </a:r>
            <a:r>
              <a:rPr lang="ro-RO" sz="2800" noProof="0" dirty="0">
                <a:solidFill>
                  <a:schemeClr val="tx2"/>
                </a:solidFill>
              </a:rPr>
              <a:t>polimorfism</a:t>
            </a:r>
            <a:r>
              <a:rPr lang="ro-RO" sz="2800" noProof="0" dirty="0">
                <a:solidFill>
                  <a:srgbClr val="00B0F0"/>
                </a:solidFill>
              </a:rPr>
              <a:t> înseamnă a avea mai multe forme. 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În paradigma programării orientate pe obiecte, </a:t>
            </a:r>
            <a:r>
              <a:rPr lang="ro-RO" sz="2800" noProof="0" dirty="0">
                <a:solidFill>
                  <a:schemeClr val="tx2"/>
                </a:solidFill>
              </a:rPr>
              <a:t>polimorfismul</a:t>
            </a:r>
            <a:r>
              <a:rPr lang="ro-RO" sz="2800" noProof="0" dirty="0">
                <a:solidFill>
                  <a:srgbClr val="00B0F0"/>
                </a:solidFill>
              </a:rPr>
              <a:t> este adesea exprimat ca „o interfață, funcții multiple”.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168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36EFB-BDC8-9E21-DFF6-22B1165DB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258357-97F1-AE82-E161-8BCE7DABC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7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1C888C-00C7-B168-364B-06F1AEFB1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Există două tipuri de polimorfism: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 Polimorfism în timpul compilării / </a:t>
            </a:r>
            <a:r>
              <a:rPr lang="ro-RO" sz="2800" noProof="0" dirty="0">
                <a:solidFill>
                  <a:schemeClr val="tx2"/>
                </a:solidFill>
              </a:rPr>
              <a:t>Polimorfism</a:t>
            </a:r>
            <a:r>
              <a:rPr lang="ro-RO" sz="2800" noProof="0" dirty="0">
                <a:solidFill>
                  <a:srgbClr val="00B0F0"/>
                </a:solidFill>
              </a:rPr>
              <a:t> </a:t>
            </a:r>
            <a:r>
              <a:rPr lang="ro-RO" sz="2800" noProof="0" dirty="0">
                <a:solidFill>
                  <a:schemeClr val="tx2"/>
                </a:solidFill>
              </a:rPr>
              <a:t>static</a:t>
            </a:r>
            <a:endParaRPr lang="ro-RO" sz="2800" noProof="0" dirty="0">
              <a:solidFill>
                <a:srgbClr val="00B0F0"/>
              </a:solidFill>
            </a:endParaRP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Polimorfism în timpul execuției / </a:t>
            </a:r>
            <a:r>
              <a:rPr lang="ro-RO" sz="2800" noProof="0" dirty="0">
                <a:solidFill>
                  <a:schemeClr val="tx2"/>
                </a:solidFill>
              </a:rPr>
              <a:t>Polimorfism</a:t>
            </a:r>
            <a:r>
              <a:rPr lang="ro-RO" sz="2800" noProof="0" dirty="0">
                <a:solidFill>
                  <a:srgbClr val="00B0F0"/>
                </a:solidFill>
              </a:rPr>
              <a:t> </a:t>
            </a:r>
            <a:r>
              <a:rPr lang="ro-RO" sz="2800" noProof="0" dirty="0">
                <a:solidFill>
                  <a:schemeClr val="tx2"/>
                </a:solidFill>
              </a:rPr>
              <a:t>dinamic</a:t>
            </a:r>
          </a:p>
          <a:p>
            <a:pPr algn="just"/>
            <a:endParaRPr lang="ro-RO" sz="2800" noProof="0" dirty="0">
              <a:solidFill>
                <a:schemeClr val="tx2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În polimorfismul static, răspunsul la o funcție este determinat la momentul compilării. În polimorfismul dinamic, acesta este decis la momentul execuției.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8937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00990-45AA-DBA2-6D9D-30F77CB3C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82688D-3013-44D0-5C1F-0B752A8E4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7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80BCF69-0749-FC66-AA70-ECACA5052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Polimorfism static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Mecanismul de legare a unei funcții cu un obiect în timpul compilării se numește </a:t>
            </a:r>
            <a:r>
              <a:rPr lang="ro-RO" sz="2800" noProof="0" dirty="0">
                <a:solidFill>
                  <a:schemeClr val="tx2"/>
                </a:solidFill>
              </a:rPr>
              <a:t>legare timpurie</a:t>
            </a:r>
            <a:r>
              <a:rPr lang="ro-RO" sz="2800" noProof="0" dirty="0">
                <a:solidFill>
                  <a:srgbClr val="00B0F0"/>
                </a:solidFill>
              </a:rPr>
              <a:t>. Se mai numește și </a:t>
            </a:r>
            <a:r>
              <a:rPr lang="ro-RO" sz="2800" noProof="0" dirty="0">
                <a:solidFill>
                  <a:schemeClr val="tx2"/>
                </a:solidFill>
              </a:rPr>
              <a:t>legare statică</a:t>
            </a:r>
            <a:r>
              <a:rPr lang="ro-RO" sz="2800" noProof="0" dirty="0">
                <a:solidFill>
                  <a:srgbClr val="00B0F0"/>
                </a:solidFill>
              </a:rPr>
              <a:t>. 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C# oferă două tehnici pentru implementarea polimorfismului static. Acestea sunt: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 </a:t>
            </a:r>
            <a:r>
              <a:rPr lang="ro-RO" sz="2800" noProof="0" dirty="0">
                <a:solidFill>
                  <a:schemeClr val="tx2"/>
                </a:solidFill>
              </a:rPr>
              <a:t>Supraîncărcarea funcțiilor</a:t>
            </a:r>
          </a:p>
          <a:p>
            <a:pPr algn="just"/>
            <a:r>
              <a:rPr lang="ro-RO" sz="2800" noProof="0" dirty="0">
                <a:solidFill>
                  <a:schemeClr val="tx2"/>
                </a:solidFill>
              </a:rPr>
              <a:t> Supraîncărcarea operatorilor</a:t>
            </a:r>
          </a:p>
        </p:txBody>
      </p:sp>
    </p:spTree>
    <p:extLst>
      <p:ext uri="{BB962C8B-B14F-4D97-AF65-F5344CB8AC3E}">
        <p14:creationId xmlns:p14="http://schemas.microsoft.com/office/powerpoint/2010/main" val="2432696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B4F1C-6A65-D54B-0DFA-2DF4E4EF8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8C0039-8E7E-8434-A62A-5BEA5E328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7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CFBE0D-F395-75AF-7F7F-8949A0B18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Supraîncărcarea funcțiilor(metodelor)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Puteți avea mai multe definiții pentru același nume de funcție în același domeniu de aplicare. Definițiile funcției trebuie să difere una de cealaltă prin </a:t>
            </a:r>
            <a:r>
              <a:rPr lang="ro-RO" sz="2800" noProof="0" dirty="0">
                <a:solidFill>
                  <a:schemeClr val="tx2"/>
                </a:solidFill>
              </a:rPr>
              <a:t>tipuri și/sau numărul de argumente</a:t>
            </a:r>
            <a:r>
              <a:rPr lang="ro-RO" sz="2800" noProof="0" dirty="0">
                <a:solidFill>
                  <a:srgbClr val="00B0F0"/>
                </a:solidFill>
              </a:rPr>
              <a:t> din lista de argumente.</a:t>
            </a:r>
          </a:p>
          <a:p>
            <a:pPr marL="34290" indent="0" algn="just">
              <a:buNone/>
            </a:pPr>
            <a:r>
              <a:rPr lang="ro-RO" sz="2800" u="sng" noProof="0" dirty="0">
                <a:solidFill>
                  <a:schemeClr val="tx2"/>
                </a:solidFill>
              </a:rPr>
              <a:t>NU</a:t>
            </a:r>
            <a:r>
              <a:rPr lang="ro-RO" sz="2800" noProof="0" dirty="0">
                <a:solidFill>
                  <a:srgbClr val="00B0F0"/>
                </a:solidFill>
              </a:rPr>
              <a:t> putem supraîncărca declarațiile de funcții care diferă </a:t>
            </a:r>
            <a:r>
              <a:rPr lang="ro-RO" sz="2800" u="sng" noProof="0" dirty="0">
                <a:solidFill>
                  <a:schemeClr val="tx2"/>
                </a:solidFill>
              </a:rPr>
              <a:t>doar prin tipul de returnare</a:t>
            </a:r>
            <a:r>
              <a:rPr lang="ro-RO" sz="2800" noProof="0" dirty="0">
                <a:solidFill>
                  <a:srgbClr val="00B0F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22981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5CCC1-03A2-FA9E-670E-E65A2086C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4AFC5A-2E8E-8C91-CCF8-87105FD01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7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C72D2E-682C-3C51-C7F0-4B1B0D856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Exemplu</a:t>
            </a:r>
          </a:p>
          <a:p>
            <a:pPr>
              <a:lnSpc>
                <a:spcPts val="1425"/>
              </a:lnSpc>
              <a:buNone/>
            </a:pPr>
            <a:r>
              <a:rPr lang="ro-RO" sz="2400" b="1" noProof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400" b="1" noProof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4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400" b="1" noProof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PolymorphismApplication</a:t>
            </a: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ro-RO" sz="24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400" b="1" noProof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Printdata</a:t>
            </a: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ro-RO" sz="24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400" b="1" noProof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o-RO" sz="24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4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ro-RO" sz="24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ro-RO" sz="2400" b="1" noProof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ro-RO" sz="2400" b="1" noProof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o-RO" sz="2400" b="1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o-RO" sz="2400" b="1" noProof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Printing</a:t>
            </a:r>
            <a:r>
              <a:rPr lang="ro-RO" sz="2400" b="1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400" b="1" noProof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o-RO" sz="2400" b="1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{0}"</a:t>
            </a: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o-RO" sz="24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);</a:t>
            </a:r>
          </a:p>
          <a:p>
            <a:pPr>
              <a:lnSpc>
                <a:spcPts val="1425"/>
              </a:lnSpc>
              <a:buNone/>
            </a:pP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lnSpc>
                <a:spcPts val="1425"/>
              </a:lnSpc>
              <a:buNone/>
            </a:pP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ro-RO" sz="24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400" b="1" noProof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o-RO" sz="24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4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ro-RO" sz="24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ro-RO" sz="2400" b="1" noProof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ro-RO" sz="2400" b="1" noProof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o-RO" sz="2400" b="1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o-RO" sz="2400" b="1" noProof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Printing</a:t>
            </a:r>
            <a:r>
              <a:rPr lang="ro-RO" sz="2400" b="1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400" b="1" noProof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ro-RO" sz="2400" b="1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{0}"</a:t>
            </a: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, </a:t>
            </a:r>
            <a:r>
              <a:rPr lang="ro-RO" sz="24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lnSpc>
                <a:spcPts val="1425"/>
              </a:lnSpc>
              <a:buNone/>
            </a:pP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ro-RO" sz="24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400" b="1" noProof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o-RO" sz="24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4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ro-RO" sz="24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ro-RO" sz="2400" b="1" noProof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ro-RO" sz="2400" b="1" noProof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o-RO" sz="2400" b="1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o-RO" sz="2400" b="1" noProof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Printing</a:t>
            </a:r>
            <a:r>
              <a:rPr lang="ro-RO" sz="2400" b="1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400" b="1" noProof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ro-RO" sz="2400" b="1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{0}"</a:t>
            </a: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o-RO" sz="24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lnSpc>
                <a:spcPts val="1425"/>
              </a:lnSpc>
              <a:buNone/>
            </a:pPr>
            <a:r>
              <a:rPr lang="ro-RO" sz="24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</a:t>
            </a:r>
          </a:p>
        </p:txBody>
      </p:sp>
    </p:spTree>
    <p:extLst>
      <p:ext uri="{BB962C8B-B14F-4D97-AF65-F5344CB8AC3E}">
        <p14:creationId xmlns:p14="http://schemas.microsoft.com/office/powerpoint/2010/main" val="115926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704C3-334A-2F52-40D4-902BE68C6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A50CC9-A4BF-C779-E527-88662BAD0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7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8CB07A-F29F-7ED2-8FBD-CCD0C584D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400" b="1" noProof="0" dirty="0">
                <a:solidFill>
                  <a:srgbClr val="569CD6"/>
                </a:solidFill>
                <a:latin typeface="Consolas" panose="020B0609020204030204" pitchFamily="49" charset="0"/>
              </a:rPr>
              <a:t>    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static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void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Main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string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[]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args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Printdata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Printdata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//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Call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print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print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integer</a:t>
            </a:r>
            <a:endParaRPr kumimoji="0" lang="ro-RO" sz="24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//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Call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print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print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float</a:t>
            </a:r>
            <a:endParaRPr kumimoji="0" lang="ro-RO" sz="24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500.263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//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Call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print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to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print 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string</a:t>
            </a:r>
            <a:endParaRPr kumimoji="0" lang="ro-RO" sz="24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print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ro-RO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Hello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C++"</a:t>
            </a: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}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}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4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354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E127F-958F-3DCB-304E-39E53D5AC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2B468C-5388-6EBE-C28E-09D30CD9F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7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AB35E2-B449-C919-FEF3-38B4F89C1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Supraîncărcarea operatorilor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chemeClr val="tx2"/>
                </a:solidFill>
              </a:rPr>
              <a:t>Supraîncărcarea operatorilor </a:t>
            </a:r>
            <a:r>
              <a:rPr lang="ro-RO" sz="2800" noProof="0" dirty="0">
                <a:solidFill>
                  <a:srgbClr val="00B0F0"/>
                </a:solidFill>
              </a:rPr>
              <a:t>în C# este un tip de polimorfism în care putem supraîncărca operatorii prin definirea unor metode statice speciale în cadrul unei clase. 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Operatorul supraîncărcat trebuie să ia cel puțin un operand de tipul clasei sau </a:t>
            </a:r>
            <a:r>
              <a:rPr lang="ro-RO" sz="2800" noProof="0" dirty="0" err="1">
                <a:solidFill>
                  <a:srgbClr val="00B0F0"/>
                </a:solidFill>
              </a:rPr>
              <a:t>struct</a:t>
            </a:r>
            <a:r>
              <a:rPr lang="ro-RO" sz="2800" noProof="0" dirty="0">
                <a:solidFill>
                  <a:srgbClr val="00B0F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54533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4962B-A196-ECF2-9F4C-F39D83582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46A2CF-CC37-5D15-3DCA-A18CC8CD2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7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53E8B6-20FF-9A22-2580-8B56F0ACF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Exemplu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PolymorphismApplication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Box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breadth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Box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ro-RO" sz="2000" b="1" noProof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breadth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Volume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ro-RO" sz="2000" b="1" noProof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breadth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  // </a:t>
            </a:r>
            <a:r>
              <a:rPr lang="ro-RO" sz="2000" b="1" noProof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Overloading</a:t>
            </a:r>
            <a:r>
              <a:rPr lang="ro-RO" sz="2000" b="1" noProof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ro-RO" sz="2000" b="1" noProof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+ operator</a:t>
            </a:r>
            <a:endParaRPr lang="ro-RO" sz="2000" b="1" noProof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Box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o-RO" sz="2000" b="1" noProof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Box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b1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o-RO" sz="2000" b="1" noProof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Box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b2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ro-RO" sz="2000" b="1" noProof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Box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b1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b2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b1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breadth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b2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breadth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b1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b2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ro-RO" sz="2000" b="1" noProof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ro-RO" sz="2000" b="1" noProof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Dimensions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{0} x {1} x {2}"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breadth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lnSpc>
                <a:spcPts val="1425"/>
              </a:lnSpc>
              <a:buNone/>
            </a:pPr>
            <a:b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ro-RO" sz="2000" b="1" noProof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</a:t>
            </a:r>
          </a:p>
        </p:txBody>
      </p:sp>
    </p:spTree>
    <p:extLst>
      <p:ext uri="{BB962C8B-B14F-4D97-AF65-F5344CB8AC3E}">
        <p14:creationId xmlns:p14="http://schemas.microsoft.com/office/powerpoint/2010/main" val="2312148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2FFE6-869E-143A-4006-03AF4DB66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6D3816-ECD2-C432-DA96-D44814D1A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7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AC8CFBD-47B2-3CFE-6ADD-5FADA51B6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lang="ro-RO" sz="2000" b="1" noProof="0" dirty="0">
                <a:solidFill>
                  <a:srgbClr val="569CD6"/>
                </a:solidFill>
                <a:latin typeface="Consolas" panose="020B0609020204030204" pitchFamily="49" charset="0"/>
              </a:rPr>
              <a:t>     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static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void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Main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string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[]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args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Box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box1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Box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3.0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4.0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5.0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Box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box2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Box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2.0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3.0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4.0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Box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box3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b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//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two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Box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objects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box3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box1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box2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WriteLine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"Box 1:"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box1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Display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WriteLine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"Box 2:"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box2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Display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WriteLine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Resultant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Box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after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addition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box3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Display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}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}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4450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FFE4D-5674-F428-D2E3-C223EA323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1DE239-DC5C-DE7E-428B-02BB3BF62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7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8B4CA23-ACFA-8767-100D-CD1318CC5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Polimorfism dinamic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C# ne permite să creăm </a:t>
            </a:r>
            <a:r>
              <a:rPr lang="ro-RO" sz="2800" noProof="0" dirty="0">
                <a:solidFill>
                  <a:schemeClr val="tx2"/>
                </a:solidFill>
              </a:rPr>
              <a:t>clase abstracte </a:t>
            </a:r>
            <a:r>
              <a:rPr lang="ro-RO" sz="2800" noProof="0" dirty="0">
                <a:solidFill>
                  <a:srgbClr val="00B0F0"/>
                </a:solidFill>
              </a:rPr>
              <a:t>care sunt utilizate pentru a oferi implementare parțială a unei interfețe.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Implementarea este finalizată atunci când o clasă derivată moștenește de la aceasta. Clasele abstracte conțin </a:t>
            </a:r>
            <a:r>
              <a:rPr lang="ro-RO" sz="2800" noProof="0" dirty="0">
                <a:solidFill>
                  <a:schemeClr val="tx2"/>
                </a:solidFill>
              </a:rPr>
              <a:t>metode abstracte</a:t>
            </a:r>
            <a:r>
              <a:rPr lang="ro-RO" sz="2800" noProof="0" dirty="0">
                <a:solidFill>
                  <a:srgbClr val="00B0F0"/>
                </a:solidFill>
              </a:rPr>
              <a:t>, care sunt implementate de clasa derivată. Clasele derivate au funcționalități mai specializate.</a:t>
            </a:r>
          </a:p>
        </p:txBody>
      </p:sp>
    </p:spTree>
    <p:extLst>
      <p:ext uri="{BB962C8B-B14F-4D97-AF65-F5344CB8AC3E}">
        <p14:creationId xmlns:p14="http://schemas.microsoft.com/office/powerpoint/2010/main" val="29169609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81284-9B74-ACB0-DCAE-93B758C51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7BB57C-124E-C704-11BF-3F0C212D9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7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6D8CBB-52FB-F4BD-69F4-2475B3947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Clasele abstracte − reguli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algn="just"/>
            <a:r>
              <a:rPr lang="ro-RO" sz="2800" noProof="0" dirty="0">
                <a:solidFill>
                  <a:schemeClr val="tx2"/>
                </a:solidFill>
              </a:rPr>
              <a:t> </a:t>
            </a:r>
            <a:r>
              <a:rPr lang="ro-RO" sz="2800" u="sng" noProof="0" dirty="0">
                <a:solidFill>
                  <a:schemeClr val="tx2"/>
                </a:solidFill>
              </a:rPr>
              <a:t>Nu</a:t>
            </a:r>
            <a:r>
              <a:rPr lang="ro-RO" sz="2800" noProof="0" dirty="0">
                <a:solidFill>
                  <a:srgbClr val="00B0F0"/>
                </a:solidFill>
              </a:rPr>
              <a:t> puteți crea o </a:t>
            </a:r>
            <a:r>
              <a:rPr lang="ro-RO" sz="2800" u="sng" noProof="0" dirty="0">
                <a:solidFill>
                  <a:schemeClr val="tx2"/>
                </a:solidFill>
              </a:rPr>
              <a:t>instanță</a:t>
            </a:r>
            <a:r>
              <a:rPr lang="ro-RO" sz="2800" noProof="0" dirty="0">
                <a:solidFill>
                  <a:srgbClr val="00B0F0"/>
                </a:solidFill>
              </a:rPr>
              <a:t> a unei </a:t>
            </a:r>
            <a:r>
              <a:rPr lang="ro-RO" sz="2800" noProof="0" dirty="0">
                <a:solidFill>
                  <a:schemeClr val="tx2"/>
                </a:solidFill>
              </a:rPr>
              <a:t>clase abstracte</a:t>
            </a:r>
          </a:p>
          <a:p>
            <a:pPr algn="just"/>
            <a:r>
              <a:rPr lang="ro-RO" sz="2800" noProof="0" dirty="0">
                <a:solidFill>
                  <a:schemeClr val="tx2"/>
                </a:solidFill>
              </a:rPr>
              <a:t> </a:t>
            </a:r>
            <a:r>
              <a:rPr lang="ro-RO" sz="2800" u="sng" noProof="0" dirty="0">
                <a:solidFill>
                  <a:schemeClr val="tx2"/>
                </a:solidFill>
              </a:rPr>
              <a:t>Nu</a:t>
            </a:r>
            <a:r>
              <a:rPr lang="ro-RO" sz="2800" noProof="0" dirty="0">
                <a:solidFill>
                  <a:srgbClr val="00B0F0"/>
                </a:solidFill>
              </a:rPr>
              <a:t> puteți </a:t>
            </a:r>
            <a:r>
              <a:rPr lang="ro-RO" sz="2800" u="sng" noProof="0" dirty="0">
                <a:solidFill>
                  <a:schemeClr val="tx2"/>
                </a:solidFill>
              </a:rPr>
              <a:t>declara</a:t>
            </a:r>
            <a:r>
              <a:rPr lang="ro-RO" sz="2800" noProof="0" dirty="0">
                <a:solidFill>
                  <a:srgbClr val="00B0F0"/>
                </a:solidFill>
              </a:rPr>
              <a:t> o </a:t>
            </a:r>
            <a:r>
              <a:rPr lang="ro-RO" sz="2800" noProof="0" dirty="0">
                <a:solidFill>
                  <a:schemeClr val="tx2"/>
                </a:solidFill>
              </a:rPr>
              <a:t>metodă abstractă în afara</a:t>
            </a:r>
            <a:r>
              <a:rPr lang="ro-RO" sz="2800" noProof="0" dirty="0">
                <a:solidFill>
                  <a:srgbClr val="00B0F0"/>
                </a:solidFill>
              </a:rPr>
              <a:t> unei </a:t>
            </a:r>
            <a:r>
              <a:rPr lang="ro-RO" sz="2800" noProof="0" dirty="0">
                <a:solidFill>
                  <a:schemeClr val="tx2"/>
                </a:solidFill>
              </a:rPr>
              <a:t>clase abstracte</a:t>
            </a:r>
          </a:p>
          <a:p>
            <a:pPr algn="just"/>
            <a:r>
              <a:rPr lang="ro-RO" sz="2800" noProof="0" dirty="0">
                <a:solidFill>
                  <a:schemeClr val="tx2"/>
                </a:solidFill>
              </a:rPr>
              <a:t> </a:t>
            </a:r>
            <a:r>
              <a:rPr lang="ro-RO" sz="2800" noProof="0" dirty="0">
                <a:solidFill>
                  <a:srgbClr val="00B0F0"/>
                </a:solidFill>
              </a:rPr>
              <a:t>Când o clasă este declarată </a:t>
            </a:r>
            <a:r>
              <a:rPr lang="ro-RO" sz="2800" noProof="0" dirty="0" err="1">
                <a:solidFill>
                  <a:schemeClr val="tx2"/>
                </a:solidFill>
              </a:rPr>
              <a:t>sealed</a:t>
            </a:r>
            <a:r>
              <a:rPr lang="ro-RO" sz="2800" noProof="0" dirty="0">
                <a:solidFill>
                  <a:srgbClr val="00B0F0"/>
                </a:solidFill>
              </a:rPr>
              <a:t>, aceasta nu poate fi moștenită, </a:t>
            </a:r>
            <a:r>
              <a:rPr lang="ro-RO" sz="2800" noProof="0" dirty="0">
                <a:solidFill>
                  <a:schemeClr val="tx2"/>
                </a:solidFill>
              </a:rPr>
              <a:t>clasele abstracte</a:t>
            </a:r>
            <a:r>
              <a:rPr lang="ro-RO" sz="2800" noProof="0" dirty="0">
                <a:solidFill>
                  <a:srgbClr val="00B0F0"/>
                </a:solidFill>
              </a:rPr>
              <a:t> </a:t>
            </a:r>
            <a:r>
              <a:rPr lang="ro-RO" sz="2800" u="sng" noProof="0" dirty="0">
                <a:solidFill>
                  <a:schemeClr val="tx2"/>
                </a:solidFill>
              </a:rPr>
              <a:t>nu</a:t>
            </a:r>
            <a:r>
              <a:rPr lang="ro-RO" sz="2800" noProof="0" dirty="0">
                <a:solidFill>
                  <a:srgbClr val="00B0F0"/>
                </a:solidFill>
              </a:rPr>
              <a:t> pot fi </a:t>
            </a:r>
            <a:r>
              <a:rPr lang="ro-RO" sz="2800" noProof="0" dirty="0">
                <a:solidFill>
                  <a:schemeClr val="tx2"/>
                </a:solidFill>
              </a:rPr>
              <a:t>declarate </a:t>
            </a:r>
            <a:r>
              <a:rPr lang="ro-RO" sz="2800" noProof="0" dirty="0" err="1">
                <a:solidFill>
                  <a:schemeClr val="tx2"/>
                </a:solidFill>
              </a:rPr>
              <a:t>sealed</a:t>
            </a:r>
            <a:r>
              <a:rPr lang="ro-RO" sz="2800" noProof="0" dirty="0">
                <a:solidFill>
                  <a:srgbClr val="00B0F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0125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AE2E6-D922-4056-00B6-7E4E4B490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29C110-20AB-5C1A-5A10-B8255420E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7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0303A7A-C520-0563-9A52-E5DBBFD1B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Exemplu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PolymorphismApplication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abstract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}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 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    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() { 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ro-RO" sz="2000" b="1" noProof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} </a:t>
            </a:r>
            <a:r>
              <a:rPr lang="ro-RO" sz="2000" b="1" noProof="0" dirty="0">
                <a:solidFill>
                  <a:srgbClr val="569CD6"/>
                </a:solidFill>
                <a:latin typeface="Consolas" panose="020B0609020204030204" pitchFamily="49" charset="0"/>
              </a:rPr>
              <a:t> </a:t>
            </a:r>
          </a:p>
          <a:p>
            <a:pPr lvl="0">
              <a:lnSpc>
                <a:spcPts val="1425"/>
              </a:lnSpc>
              <a:buClr>
                <a:srgbClr val="FF8600"/>
              </a:buClr>
              <a:buNone/>
              <a:defRPr/>
            </a:pPr>
            <a:r>
              <a:rPr lang="ro-RO" sz="2000" b="1" noProof="0" dirty="0">
                <a:solidFill>
                  <a:srgbClr val="569CD6"/>
                </a:solidFill>
                <a:latin typeface="Consolas" panose="020B0609020204030204" pitchFamily="49" charset="0"/>
              </a:rPr>
              <a:t>   </a:t>
            </a:r>
            <a:r>
              <a:rPr lang="ro-RO" sz="2000" b="1" noProof="0" dirty="0" err="1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ro-RO" sz="2000" b="1" noProof="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latin typeface="Consolas" panose="020B0609020204030204" pitchFamily="49" charset="0"/>
              </a:rPr>
              <a:t>RectangleTester</a:t>
            </a:r>
            <a:r>
              <a:rPr lang="ro-RO" sz="2000" b="1" noProof="0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pPr lvl="0">
              <a:lnSpc>
                <a:spcPts val="1425"/>
              </a:lnSpc>
              <a:buClr>
                <a:srgbClr val="FF8600"/>
              </a:buClr>
              <a:buNone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nsolas" panose="020B0609020204030204" pitchFamily="49" charset="0"/>
              </a:rPr>
              <a:t>      </a:t>
            </a:r>
            <a:r>
              <a:rPr lang="ro-RO" sz="2000" b="1" noProof="0" dirty="0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ro-RO" sz="2000" b="1" noProof="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ro-RO" sz="2000" b="1" noProof="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ro-RO" sz="2000" b="1" noProof="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ro-RO" sz="2000" b="1" noProof="0" dirty="0" err="1">
                <a:solidFill>
                  <a:srgbClr val="569CD6"/>
                </a:solidFill>
                <a:latin typeface="Consolas" panose="020B0609020204030204" pitchFamily="49" charset="0"/>
              </a:rPr>
              <a:t>string</a:t>
            </a:r>
            <a:r>
              <a:rPr lang="ro-RO" sz="2000" b="1" noProof="0" dirty="0">
                <a:solidFill>
                  <a:srgbClr val="CCCCCC"/>
                </a:solidFill>
                <a:latin typeface="Consolas" panose="020B0609020204030204" pitchFamily="49" charset="0"/>
              </a:rPr>
              <a:t>[] </a:t>
            </a:r>
            <a:r>
              <a:rPr lang="ro-RO" sz="2000" b="1" noProof="0" dirty="0" err="1">
                <a:solidFill>
                  <a:srgbClr val="9CDCFE"/>
                </a:solidFill>
                <a:latin typeface="Consolas" panose="020B0609020204030204" pitchFamily="49" charset="0"/>
              </a:rPr>
              <a:t>args</a:t>
            </a:r>
            <a:r>
              <a:rPr lang="ro-RO" sz="2000" b="1" noProof="0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pPr lvl="0">
              <a:lnSpc>
                <a:spcPts val="1425"/>
              </a:lnSpc>
              <a:buClr>
                <a:srgbClr val="FF8600"/>
              </a:buClr>
              <a:buNone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</a:t>
            </a:r>
            <a:r>
              <a:rPr lang="ro-RO" sz="2000" b="1" noProof="0" dirty="0" err="1">
                <a:solidFill>
                  <a:srgbClr val="4EC9B0"/>
                </a:solidFill>
                <a:latin typeface="Consolas" panose="020B0609020204030204" pitchFamily="49" charset="0"/>
              </a:rPr>
              <a:t>Rectangle</a:t>
            </a:r>
            <a:r>
              <a:rPr lang="ro-RO" sz="2000" b="1" noProof="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9CDCFE"/>
                </a:solidFill>
                <a:latin typeface="Consolas" panose="020B0609020204030204" pitchFamily="49" charset="0"/>
              </a:rPr>
              <a:t>r</a:t>
            </a:r>
            <a:r>
              <a:rPr lang="ro-RO" sz="2000" b="1" noProof="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latin typeface="Consolas" panose="020B0609020204030204" pitchFamily="49" charset="0"/>
              </a:rPr>
              <a:t>new</a:t>
            </a:r>
            <a:r>
              <a:rPr lang="ro-RO" sz="2000" b="1" noProof="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latin typeface="Consolas" panose="020B0609020204030204" pitchFamily="49" charset="0"/>
              </a:rPr>
              <a:t>Rectangle</a:t>
            </a:r>
            <a:r>
              <a:rPr lang="ro-RO" sz="2000" b="1" noProof="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ro-RO" sz="2000" b="1" noProof="0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ro-RO" sz="2000" b="1" noProof="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ro-RO" sz="2000" b="1" noProof="0" dirty="0">
                <a:solidFill>
                  <a:srgbClr val="B5CEA8"/>
                </a:solidFill>
                <a:latin typeface="Consolas" panose="020B0609020204030204" pitchFamily="49" charset="0"/>
              </a:rPr>
              <a:t>7</a:t>
            </a:r>
            <a:r>
              <a:rPr lang="ro-RO" sz="2000" b="1" noProof="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</a:p>
          <a:p>
            <a:pPr lvl="0">
              <a:lnSpc>
                <a:spcPts val="1425"/>
              </a:lnSpc>
              <a:buClr>
                <a:srgbClr val="FF8600"/>
              </a:buClr>
              <a:buNone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</a:t>
            </a:r>
            <a:r>
              <a:rPr lang="ro-RO" sz="2000" b="1" noProof="0" dirty="0" err="1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ro-RO" sz="2000" b="1" noProof="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ro-RO" sz="2000" b="1" noProof="0" dirty="0" err="1">
                <a:solidFill>
                  <a:srgbClr val="DCDCAA"/>
                </a:solidFill>
                <a:latin typeface="Consolas" panose="020B0609020204030204" pitchFamily="49" charset="0"/>
              </a:rPr>
              <a:t>WriteLine</a:t>
            </a:r>
            <a:r>
              <a:rPr lang="ro-RO" sz="2000" b="1" noProof="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ro-RO" sz="2000" b="1" noProof="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ro-RO" sz="2000" b="1" noProof="0" dirty="0" err="1">
                <a:solidFill>
                  <a:srgbClr val="CE9178"/>
                </a:solidFill>
                <a:latin typeface="Consolas" panose="020B0609020204030204" pitchFamily="49" charset="0"/>
              </a:rPr>
              <a:t>Area</a:t>
            </a:r>
            <a:r>
              <a:rPr lang="ro-RO" sz="2000" b="1" noProof="0" dirty="0">
                <a:solidFill>
                  <a:srgbClr val="CE9178"/>
                </a:solidFill>
                <a:latin typeface="Consolas" panose="020B0609020204030204" pitchFamily="49" charset="0"/>
              </a:rPr>
              <a:t>: {0}"</a:t>
            </a:r>
            <a:r>
              <a:rPr lang="ro-RO" sz="2000" b="1" noProof="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ro-RO" sz="2000" b="1" noProof="0" dirty="0">
                <a:solidFill>
                  <a:srgbClr val="9CDCFE"/>
                </a:solidFill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latin typeface="Consolas" panose="020B0609020204030204" pitchFamily="49" charset="0"/>
              </a:rPr>
              <a:t>r</a:t>
            </a:r>
            <a:r>
              <a:rPr lang="ro-RO" sz="2000" b="1" noProof="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ro-RO" sz="2000" b="1" noProof="0" dirty="0" err="1">
                <a:solidFill>
                  <a:srgbClr val="DCDCAA"/>
                </a:solidFill>
                <a:latin typeface="Consolas" panose="020B0609020204030204" pitchFamily="49" charset="0"/>
              </a:rPr>
              <a:t>area</a:t>
            </a:r>
            <a:r>
              <a:rPr lang="ro-RO" sz="2000" b="1" noProof="0" dirty="0">
                <a:solidFill>
                  <a:srgbClr val="CCCCCC"/>
                </a:solidFill>
                <a:latin typeface="Consolas" panose="020B0609020204030204" pitchFamily="49" charset="0"/>
              </a:rPr>
              <a:t>());</a:t>
            </a:r>
          </a:p>
          <a:p>
            <a:pPr lvl="0">
              <a:lnSpc>
                <a:spcPts val="1425"/>
              </a:lnSpc>
              <a:buClr>
                <a:srgbClr val="FF8600"/>
              </a:buClr>
              <a:buNone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nsolas" panose="020B0609020204030204" pitchFamily="49" charset="0"/>
              </a:rPr>
              <a:t>      }</a:t>
            </a:r>
          </a:p>
          <a:p>
            <a:pPr lvl="0">
              <a:lnSpc>
                <a:spcPts val="1425"/>
              </a:lnSpc>
              <a:buClr>
                <a:srgbClr val="FF8600"/>
              </a:buClr>
              <a:buNone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nsolas" panose="020B0609020204030204" pitchFamily="49" charset="0"/>
              </a:rPr>
              <a:t>   }</a:t>
            </a:r>
          </a:p>
          <a:p>
            <a:pPr lvl="0">
              <a:lnSpc>
                <a:spcPts val="1425"/>
              </a:lnSpc>
              <a:buClr>
                <a:srgbClr val="FF8600"/>
              </a:buClr>
              <a:buNone/>
              <a:defRPr/>
            </a:pPr>
            <a:r>
              <a:rPr lang="ro-RO" sz="2000" b="1" noProof="0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ro-RO" sz="2000" b="1" noProof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8934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67A3A-4DCB-C37B-9A6D-A3E5221E5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7B2801-823F-3DCB-BFCD-A30F4BCD5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7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7A0FF8-01A9-640B-9DB2-29636AC37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Suprascrierea metodelor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Atunci când avem o funcție definită într-o clasă pe care doriți să o implementați într-o clasă moștenită putem utiliza </a:t>
            </a:r>
            <a:r>
              <a:rPr lang="ro-RO" sz="2800" noProof="0" dirty="0">
                <a:solidFill>
                  <a:schemeClr val="tx2"/>
                </a:solidFill>
              </a:rPr>
              <a:t>funcții virtuale</a:t>
            </a:r>
            <a:r>
              <a:rPr lang="ro-RO" sz="2800" noProof="0" dirty="0">
                <a:solidFill>
                  <a:srgbClr val="00B0F0"/>
                </a:solidFill>
              </a:rPr>
              <a:t>. 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chemeClr val="tx2"/>
                </a:solidFill>
              </a:rPr>
              <a:t>Funcțiile virtuale </a:t>
            </a:r>
            <a:r>
              <a:rPr lang="ro-RO" sz="2800" noProof="0" dirty="0">
                <a:solidFill>
                  <a:srgbClr val="00B0F0"/>
                </a:solidFill>
              </a:rPr>
              <a:t>pot fi implementate diferit în diferite clase moștenite, iar apelul către aceste funcții va fi decis la momentul execuției.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  <a:p>
            <a:pPr marL="34290" indent="0" algn="just">
              <a:buNone/>
            </a:pPr>
            <a:r>
              <a:rPr lang="ro-RO" sz="2800" noProof="0" dirty="0">
                <a:solidFill>
                  <a:schemeClr val="tx2"/>
                </a:solidFill>
              </a:rPr>
              <a:t>Polimorfismul dinamic </a:t>
            </a:r>
            <a:r>
              <a:rPr lang="ro-RO" sz="2800" noProof="0" dirty="0">
                <a:solidFill>
                  <a:srgbClr val="00B0F0"/>
                </a:solidFill>
              </a:rPr>
              <a:t>este implementat prin </a:t>
            </a:r>
            <a:r>
              <a:rPr lang="ro-RO" sz="2800" noProof="0" dirty="0">
                <a:solidFill>
                  <a:schemeClr val="tx2"/>
                </a:solidFill>
              </a:rPr>
              <a:t>clase abstracte</a:t>
            </a:r>
            <a:r>
              <a:rPr lang="ro-RO" sz="2800" noProof="0" dirty="0">
                <a:solidFill>
                  <a:srgbClr val="00B0F0"/>
                </a:solidFill>
              </a:rPr>
              <a:t> și </a:t>
            </a:r>
            <a:r>
              <a:rPr lang="ro-RO" sz="2800" noProof="0" dirty="0">
                <a:solidFill>
                  <a:schemeClr val="tx2"/>
                </a:solidFill>
              </a:rPr>
              <a:t>funcții virtuale</a:t>
            </a:r>
            <a:r>
              <a:rPr lang="ro-RO" sz="2800" noProof="0" dirty="0">
                <a:solidFill>
                  <a:srgbClr val="00B0F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91095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B87FD-84CA-DDB0-4953-FBD30052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4E5300-59B9-93C1-9AFD-08D0049B5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7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FD5072-DEF8-9742-EEEB-DCA0FA31C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Exemplu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PolymorphismApplication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ro-RO" sz="2000" b="1" noProof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ro-RO" sz="2000" b="1" noProof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Parent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:"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ro-RO" sz="2000" b="1" noProof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}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base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o-RO" sz="2000" b="1" noProof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){ }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()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ro-RO" sz="2000" b="1" noProof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ro-RO" sz="2000" b="1" noProof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area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:"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ro-RO" sz="2000" b="1" noProof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}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</a:p>
        </p:txBody>
      </p:sp>
    </p:spTree>
    <p:extLst>
      <p:ext uri="{BB962C8B-B14F-4D97-AF65-F5344CB8AC3E}">
        <p14:creationId xmlns:p14="http://schemas.microsoft.com/office/powerpoint/2010/main" val="32666016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61CE3-80FA-2FD9-F040-6B4BC8BFC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F55388-CC0D-6ABB-3EED-0AA162C5F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7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70556AB-F378-2EBE-BD2B-E73CC3A03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Triangle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Shape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Triangle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):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base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){}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override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area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 {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WriteLine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Triangle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area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:"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width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height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 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}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}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Caller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void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CallArea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Shape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sh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sh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area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WriteLine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Area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{0}"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}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}  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Tester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static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void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Main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string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[]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args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Caller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Caller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Rectangle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Rectangle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7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Triangle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Triangle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CallArea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 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CallArea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}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}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77185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ABEE9-E8D7-40F5-9BB8-5C3B7C0F7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D573EA-481E-D7BF-A304-AB4108B76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7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95C036-76BF-EA45-7162-D06B56D22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Implementarea polimorfismului cu interfețe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Interfețele C# ne permit să implementam aceeași semnătură de metodă în mai multe clase. 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Astfel, putem realiza polimorfismul folosind interfețe.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3022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04151-D0B9-EAC2-D5DF-4E09D6DC5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1ED486-1105-6AE7-74B6-CE713355B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7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BB8379-1492-8F28-3FBE-E4CB8C856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Exemplu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IAnimal</a:t>
            </a:r>
            <a:endParaRPr lang="ro-RO" sz="2000" b="1" noProof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MakeSound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Dog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IAnimal</a:t>
            </a:r>
            <a:endParaRPr lang="ro-RO" sz="2000" b="1" noProof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MakeSound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ro-RO" sz="2000" b="1" noProof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ro-RO" sz="2000" b="1" noProof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"Dog 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barks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Woof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Woof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Cat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ro-RO" sz="2000" b="1" noProof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IAnimal</a:t>
            </a:r>
            <a:endParaRPr lang="ro-RO" sz="2000" b="1" noProof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o-RO" sz="2000" b="1" noProof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MakeSound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ro-RO" sz="2000" b="1" noProof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ro-RO" sz="2000" b="1" noProof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ro-RO" sz="2000" b="1" noProof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"Cat 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meows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Meow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o-RO" sz="2000" b="1" noProof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Meow</a:t>
            </a:r>
            <a:r>
              <a:rPr lang="ro-RO" sz="2000" b="1" noProof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ro-RO" sz="2000" b="1" noProof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ro-RO" sz="2000" b="1" noProof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4059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2E06D-9491-B2FD-DBDD-D3F1BA877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A091ED-9132-2BDC-ACB7-FFFA8A0B3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7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D2E1A4-9445-6355-5946-866C09805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b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Program</a:t>
            </a: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static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void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Main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string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[]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args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{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IAnimal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animal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b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animal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Dog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animal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MakeSound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b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ro-RO" sz="2000" b="1" i="0" u="none" strike="noStrike" kern="1200" cap="none" spc="0" normalizeH="0" baseline="0" noProof="0" dirty="0">
              <a:ln>
                <a:noFill/>
              </a:ln>
              <a:solidFill>
                <a:srgbClr val="CCCCCC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animal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Cat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animal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ro-RO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MakeSound</a:t>
            </a: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}</a:t>
            </a:r>
          </a:p>
          <a:p>
            <a:pPr marL="171450" marR="0" lvl="0" indent="-137160" algn="l" defTabSz="685800" rtl="0" eaLnBrk="1" fontAlgn="auto" latinLnBrk="0" hangingPunct="1">
              <a:lnSpc>
                <a:spcPts val="1425"/>
              </a:lnSpc>
              <a:spcBef>
                <a:spcPct val="20000"/>
              </a:spcBef>
              <a:spcAft>
                <a:spcPts val="0"/>
              </a:spcAft>
              <a:buClr>
                <a:srgbClr val="FF8600"/>
              </a:buClr>
              <a:buSzTx/>
              <a:buFont typeface="Wingdings" charset="2"/>
              <a:buNone/>
              <a:tabLst/>
              <a:defRPr/>
            </a:pPr>
            <a:r>
              <a:rPr kumimoji="0" lang="ro-RO" sz="2000" b="1" i="0" u="none" strike="noStrike" kern="1200" cap="none" spc="0" normalizeH="0" baseline="0" noProof="0" dirty="0">
                <a:ln>
                  <a:noFill/>
                </a:ln>
                <a:solidFill>
                  <a:srgbClr val="CCCCCC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00818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95AD1-BAB9-74B0-46BB-F013D515B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A9C54E-5D1F-E506-80F5-5E7A39067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7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A31510-D81E-5375-153E-230098856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Clase abstracte vs. Interfețe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În C#, atât clasele abstracte, cât și interfețele sunt utilizate pentru a realiza </a:t>
            </a:r>
            <a:r>
              <a:rPr lang="ro-RO" sz="2800" noProof="0" dirty="0">
                <a:solidFill>
                  <a:schemeClr val="tx2"/>
                </a:solidFill>
              </a:rPr>
              <a:t>abstractizarea</a:t>
            </a:r>
            <a:r>
              <a:rPr lang="ro-RO" sz="2800" noProof="0" dirty="0">
                <a:solidFill>
                  <a:srgbClr val="00B0F0"/>
                </a:solidFill>
              </a:rPr>
              <a:t> și a defini contracte pentru alte clase. </a:t>
            </a:r>
          </a:p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Cu toate acestea, ele servesc unor scopuri arhitecturale diferite: o clasă abstractă definește ce este un obiect (identitatea sa principală), în timp ce o interfață definește ce poate face un obiect (capacitățile sale).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49818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445CF-D7AD-DAF2-614C-C7B266F87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F75E78-1E9A-436C-C87F-0D6163FA9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7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83F2A1-7B01-4184-A7B6-9541ACF81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Clase abstracte vs. Interfețe</a:t>
            </a:r>
          </a:p>
          <a:p>
            <a:pPr marL="34290" indent="0" algn="just">
              <a:buNone/>
            </a:pPr>
            <a:endParaRPr lang="ro-RO" sz="2800" noProof="0" dirty="0">
              <a:solidFill>
                <a:srgbClr val="00B0F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D82D1EC-1293-14E9-D6CD-98F59B2D7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778096"/>
              </p:ext>
            </p:extLst>
          </p:nvPr>
        </p:nvGraphicFramePr>
        <p:xfrm>
          <a:off x="676221" y="1899023"/>
          <a:ext cx="7791558" cy="349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0230">
                  <a:extLst>
                    <a:ext uri="{9D8B030D-6E8A-4147-A177-3AD203B41FA5}">
                      <a16:colId xmlns:a16="http://schemas.microsoft.com/office/drawing/2014/main" val="2013894987"/>
                    </a:ext>
                  </a:extLst>
                </a:gridCol>
                <a:gridCol w="2975664">
                  <a:extLst>
                    <a:ext uri="{9D8B030D-6E8A-4147-A177-3AD203B41FA5}">
                      <a16:colId xmlns:a16="http://schemas.microsoft.com/office/drawing/2014/main" val="595493071"/>
                    </a:ext>
                  </a:extLst>
                </a:gridCol>
                <a:gridCol w="2975664">
                  <a:extLst>
                    <a:ext uri="{9D8B030D-6E8A-4147-A177-3AD203B41FA5}">
                      <a16:colId xmlns:a16="http://schemas.microsoft.com/office/drawing/2014/main" val="41955039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Caracteristică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Clasa abstractă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Interfață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392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Moștenire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Simplă – O clasa poate moșteni doar o singură clasă de bază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Multiplă – O clasa O clasă poate implementa mai multe interfețe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910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Identitate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Definește ce ESTE un obiect.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Definește ce POATE FACE un obiect.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28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Implementare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Poate avea cod complet, câmpuri și stare.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În mare parte declarații de funcții.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7412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Modificatori de acces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Acceptă toate (Privat, Protejat etc.).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De obicei Public (axat pe contract).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03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Câmpuri/Variabile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Poate conține câmpuri și constante.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Nu poate conține câmpuri.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744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Constructori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Pot avea constructori.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Nu pot avea constructori.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4262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noProof="0" dirty="0"/>
                        <a:t>Ideal pentru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Obiecte corelate cu logică comună.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noProof="0" dirty="0"/>
                        <a:t>Obiecte necorelate cu comportament comun.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657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76715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551F4-6BD5-A447-5848-901FFA608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DE85D8-322C-0D2B-C262-67AA450E9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25" y="582705"/>
            <a:ext cx="7819465" cy="504265"/>
          </a:xfrm>
        </p:spPr>
        <p:txBody>
          <a:bodyPr>
            <a:noAutofit/>
          </a:bodyPr>
          <a:lstStyle/>
          <a:p>
            <a:r>
              <a:rPr lang="ro-RO" sz="3200" noProof="0" dirty="0"/>
              <a:t>C#POO - Cursul 7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946E8D-3209-52A6-E227-2517DA4D8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25" y="1281952"/>
            <a:ext cx="8249770" cy="5074024"/>
          </a:xfrm>
        </p:spPr>
        <p:txBody>
          <a:bodyPr>
            <a:noAutofit/>
          </a:bodyPr>
          <a:lstStyle/>
          <a:p>
            <a:pPr marL="34290" indent="0" algn="just">
              <a:buNone/>
            </a:pPr>
            <a:r>
              <a:rPr lang="ro-RO" sz="2800" noProof="0" dirty="0">
                <a:solidFill>
                  <a:srgbClr val="00B0F0"/>
                </a:solidFill>
              </a:rPr>
              <a:t>Avantajele utilizării polimorfismului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 Îmbunătățește </a:t>
            </a:r>
            <a:r>
              <a:rPr lang="ro-RO" sz="2800" noProof="0" dirty="0">
                <a:solidFill>
                  <a:schemeClr val="tx2"/>
                </a:solidFill>
              </a:rPr>
              <a:t>reutilizarea codului</a:t>
            </a:r>
            <a:r>
              <a:rPr lang="ro-RO" sz="2800" noProof="0" dirty="0">
                <a:solidFill>
                  <a:srgbClr val="00B0F0"/>
                </a:solidFill>
              </a:rPr>
              <a:t> – Polimorfismul permite ca diferite obiecte să utilizeze aceeași interfață, ceea ce ajută la evitarea repetării codului.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 Îmbunătățește </a:t>
            </a:r>
            <a:r>
              <a:rPr lang="ro-RO" sz="2800" noProof="0" dirty="0" err="1">
                <a:solidFill>
                  <a:schemeClr val="tx2"/>
                </a:solidFill>
              </a:rPr>
              <a:t>mentenabilitatea</a:t>
            </a:r>
            <a:r>
              <a:rPr lang="ro-RO" sz="2800" noProof="0" dirty="0">
                <a:solidFill>
                  <a:srgbClr val="00B0F0"/>
                </a:solidFill>
              </a:rPr>
              <a:t> – Polimorfismul facilitează adăugarea de noi caracteristici fără a modifica codul existent.</a:t>
            </a:r>
          </a:p>
          <a:p>
            <a:pPr algn="just"/>
            <a:r>
              <a:rPr lang="ro-RO" sz="2800" noProof="0" dirty="0">
                <a:solidFill>
                  <a:srgbClr val="00B0F0"/>
                </a:solidFill>
              </a:rPr>
              <a:t> Suportă </a:t>
            </a:r>
            <a:r>
              <a:rPr lang="ro-RO" sz="2800" noProof="0" dirty="0">
                <a:solidFill>
                  <a:schemeClr val="tx2"/>
                </a:solidFill>
              </a:rPr>
              <a:t>principiul deschis/închis</a:t>
            </a:r>
            <a:r>
              <a:rPr lang="ro-RO" sz="2800" noProof="0" dirty="0">
                <a:solidFill>
                  <a:srgbClr val="00B0F0"/>
                </a:solidFill>
              </a:rPr>
              <a:t> – Polimorfismul vă permite să extindeți codul cu noi caracteristici, dar previne modificările aduse codului existent.</a:t>
            </a:r>
          </a:p>
        </p:txBody>
      </p:sp>
    </p:spTree>
    <p:extLst>
      <p:ext uri="{BB962C8B-B14F-4D97-AF65-F5344CB8AC3E}">
        <p14:creationId xmlns:p14="http://schemas.microsoft.com/office/powerpoint/2010/main" val="24334779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ldTheme">
  <a:themeElements>
    <a:clrScheme name="Perspective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pec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ldTheme" id="{E044F4A2-B66D-45C2-96C7-FCDC24F4574A}" vid="{A3C9D0F2-0975-40A9-A9D7-E4850D5DE04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2660</TotalTime>
  <Words>2113</Words>
  <Application>Microsoft Office PowerPoint</Application>
  <PresentationFormat>On-screen Show (4:3)</PresentationFormat>
  <Paragraphs>307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Consolas</vt:lpstr>
      <vt:lpstr>Wingdings</vt:lpstr>
      <vt:lpstr>oldTheme</vt:lpstr>
      <vt:lpstr>C#POO - Cursul 7</vt:lpstr>
      <vt:lpstr>C#POO - Cursul 7</vt:lpstr>
      <vt:lpstr>C#POO - Cursul 7</vt:lpstr>
      <vt:lpstr>C#POO - Cursul 7</vt:lpstr>
      <vt:lpstr>C#POO - Cursul 7</vt:lpstr>
      <vt:lpstr>C#POO - Cursul 7</vt:lpstr>
      <vt:lpstr>C#POO - Cursul 7</vt:lpstr>
      <vt:lpstr>C#POO - Cursul 7</vt:lpstr>
      <vt:lpstr>C#POO - Cursul 7</vt:lpstr>
      <vt:lpstr>C#POO - Cursul 7</vt:lpstr>
      <vt:lpstr>C#POO - Cursul 7</vt:lpstr>
      <vt:lpstr>C#POO - Cursul 7</vt:lpstr>
      <vt:lpstr>C#POO - Cursul 7</vt:lpstr>
      <vt:lpstr>C#POO - Cursul 7</vt:lpstr>
      <vt:lpstr>C#POO - Cursul 7</vt:lpstr>
      <vt:lpstr>C#POO - Cursul 7</vt:lpstr>
      <vt:lpstr>C#POO - Cursul 7</vt:lpstr>
      <vt:lpstr>C#POO - Cursul 7</vt:lpstr>
      <vt:lpstr>C#POO - Cursul 7</vt:lpstr>
      <vt:lpstr>C#POO - Cursul 7</vt:lpstr>
      <vt:lpstr>C#POO - Cursul 7</vt:lpstr>
      <vt:lpstr>C#POO - Cursul 7</vt:lpstr>
      <vt:lpstr>C#POO - Cursul 7</vt:lpstr>
      <vt:lpstr>C#POO - Cursul 7</vt:lpstr>
      <vt:lpstr>C#POO - Cursul 7</vt:lpstr>
      <vt:lpstr>C#POO - Cursul 7</vt:lpstr>
      <vt:lpstr>C#POO - Cursul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Licenta A3 - Facultatea de Informatica și Ştiinţe</dc:creator>
  <cp:lastModifiedBy>Licenta A3 - Facultatea de Informatica și Ştiinţe</cp:lastModifiedBy>
  <cp:revision>50</cp:revision>
  <dcterms:created xsi:type="dcterms:W3CDTF">2025-10-05T09:43:55Z</dcterms:created>
  <dcterms:modified xsi:type="dcterms:W3CDTF">2026-03-28T11:49:52Z</dcterms:modified>
</cp:coreProperties>
</file>
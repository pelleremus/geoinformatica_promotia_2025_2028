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43" autoAdjust="0"/>
    <p:restoredTop sz="94660"/>
  </p:normalViewPr>
  <p:slideViewPr>
    <p:cSldViewPr snapToGrid="0">
      <p:cViewPr varScale="1">
        <p:scale>
          <a:sx n="99" d="100"/>
          <a:sy n="99" d="100"/>
        </p:scale>
        <p:origin x="8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5"/>
            <a:ext cx="7315200" cy="2595025"/>
          </a:xfrm>
        </p:spPr>
        <p:txBody>
          <a:bodyPr>
            <a:normAutofit/>
          </a:bodyPr>
          <a:lstStyle>
            <a:lvl1pPr>
              <a:defRPr sz="36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165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7856C7F-C199-47A3-AF94-EAE81E21E31B}" type="datetimeFigureOut">
              <a:rPr lang="en-US" smtClean="0"/>
              <a:t>5/13/2026</a:t>
            </a:fld>
            <a:endParaRPr lang="en-US"/>
          </a:p>
        </p:txBody>
      </p:sp>
      <p:sp>
        <p:nvSpPr>
          <p:cNvPr id="8" name="Slide Number Placeholder 7"/>
          <p:cNvSpPr>
            <a:spLocks noGrp="1"/>
          </p:cNvSpPr>
          <p:nvPr>
            <p:ph type="sldNum" sz="quarter" idx="11"/>
          </p:nvPr>
        </p:nvSpPr>
        <p:spPr/>
        <p:txBody>
          <a:bodyPr/>
          <a:lstStyle/>
          <a:p>
            <a:fld id="{E13EF8AE-9767-4E5A-802F-66A2B36F74A8}"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71998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856C7F-C199-47A3-AF94-EAE81E21E31B}"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09895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3000" b="0" cap="none"/>
            </a:lvl1pPr>
          </a:lstStyle>
          <a:p>
            <a:r>
              <a:rPr lang="en-US"/>
              <a:t>Click to edit Master title style</a:t>
            </a:r>
          </a:p>
        </p:txBody>
      </p:sp>
      <p:sp>
        <p:nvSpPr>
          <p:cNvPr id="3" name="Text Placeholder 2"/>
          <p:cNvSpPr>
            <a:spLocks noGrp="1"/>
          </p:cNvSpPr>
          <p:nvPr>
            <p:ph type="body" idx="1"/>
          </p:nvPr>
        </p:nvSpPr>
        <p:spPr>
          <a:xfrm>
            <a:off x="914400" y="3865099"/>
            <a:ext cx="7315200" cy="1098439"/>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856C7F-C199-47A3-AF94-EAE81E21E31B}"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771426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856C7F-C199-47A3-AF94-EAE81E21E31B}"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
        <p:nvSpPr>
          <p:cNvPr id="9" name="Title 8"/>
          <p:cNvSpPr>
            <a:spLocks noGrp="1"/>
          </p:cNvSpPr>
          <p:nvPr>
            <p:ph type="title"/>
          </p:nvPr>
        </p:nvSpPr>
        <p:spPr>
          <a:xfrm>
            <a:off x="914400" y="1544717"/>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2"/>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313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885145" y="2743200"/>
            <a:ext cx="3362062" cy="621792"/>
          </a:xfrm>
        </p:spPr>
        <p:txBody>
          <a:bodyPr anchor="b">
            <a:noAutofit/>
          </a:bodyPr>
          <a:lstStyle>
            <a:lvl1pPr marL="0" indent="0">
              <a:buNone/>
              <a:defRPr sz="15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C7856C7F-C199-47A3-AF94-EAE81E21E31B}"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EF8AE-9767-4E5A-802F-66A2B36F74A8}" type="slidenum">
              <a:rPr lang="en-US" smtClean="0"/>
              <a:t>‹#›</a:t>
            </a:fld>
            <a:endParaRPr lang="en-US"/>
          </a:p>
        </p:txBody>
      </p:sp>
      <p:sp>
        <p:nvSpPr>
          <p:cNvPr id="10" name="Title 9"/>
          <p:cNvSpPr>
            <a:spLocks noGrp="1"/>
          </p:cNvSpPr>
          <p:nvPr>
            <p:ph type="title"/>
          </p:nvPr>
        </p:nvSpPr>
        <p:spPr>
          <a:xfrm>
            <a:off x="914400" y="1544717"/>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342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56C7F-C199-47A3-AF94-EAE81E21E31B}"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74712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856C7F-C199-47A3-AF94-EAE81E21E31B}"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1612098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4"/>
            <a:ext cx="2950936" cy="2173015"/>
          </a:xfrm>
        </p:spPr>
        <p:txBody>
          <a:bodyPr anchor="b">
            <a:normAutofit/>
          </a:bodyPr>
          <a:lstStyle>
            <a:lvl1pPr algn="l">
              <a:defRPr sz="21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7"/>
            <a:ext cx="2950936" cy="224538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4286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1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7856C7F-C199-47A3-AF94-EAE81E21E31B}"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230526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741162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1"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856C7F-C199-47A3-AF94-EAE81E21E31B}"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EF8AE-9767-4E5A-802F-66A2B36F74A8}" type="slidenum">
              <a:rPr lang="en-US" smtClean="0"/>
              <a:t>‹#›</a:t>
            </a:fld>
            <a:endParaRPr lang="en-US"/>
          </a:p>
        </p:txBody>
      </p:sp>
    </p:spTree>
    <p:extLst>
      <p:ext uri="{BB962C8B-B14F-4D97-AF65-F5344CB8AC3E}">
        <p14:creationId xmlns:p14="http://schemas.microsoft.com/office/powerpoint/2010/main" val="354162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914400" y="1544717"/>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5"/>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1" y="548797"/>
            <a:ext cx="1189132" cy="297918"/>
          </a:xfrm>
          <a:prstGeom prst="rect">
            <a:avLst/>
          </a:prstGeom>
        </p:spPr>
        <p:txBody>
          <a:bodyPr vert="horz" lIns="91440" tIns="45720" rIns="91440" bIns="45720" rtlCol="0" anchor="ctr"/>
          <a:lstStyle>
            <a:lvl1pPr algn="l">
              <a:defRPr sz="900">
                <a:solidFill>
                  <a:schemeClr val="tx1">
                    <a:alpha val="50000"/>
                  </a:schemeClr>
                </a:solidFill>
              </a:defRPr>
            </a:lvl1pPr>
          </a:lstStyle>
          <a:p>
            <a:fld id="{C7856C7F-C199-47A3-AF94-EAE81E21E31B}" type="datetimeFigureOut">
              <a:rPr lang="en-US" smtClean="0"/>
              <a:t>5/13/2026</a:t>
            </a:fld>
            <a:endParaRPr lang="en-US"/>
          </a:p>
        </p:txBody>
      </p:sp>
      <p:sp>
        <p:nvSpPr>
          <p:cNvPr id="6" name="Slide Number Placeholder 5"/>
          <p:cNvSpPr>
            <a:spLocks noGrp="1"/>
          </p:cNvSpPr>
          <p:nvPr>
            <p:ph type="sldNum" sz="quarter" idx="4"/>
          </p:nvPr>
        </p:nvSpPr>
        <p:spPr>
          <a:xfrm>
            <a:off x="7314416" y="548797"/>
            <a:ext cx="941203" cy="301752"/>
          </a:xfrm>
          <a:prstGeom prst="rect">
            <a:avLst/>
          </a:prstGeom>
        </p:spPr>
        <p:txBody>
          <a:bodyPr vert="horz" lIns="91440" tIns="45720" rIns="91440" bIns="45720" rtlCol="0" anchor="ctr"/>
          <a:lstStyle>
            <a:lvl1pPr algn="r">
              <a:defRPr sz="900">
                <a:solidFill>
                  <a:schemeClr val="tx1"/>
                </a:solidFill>
              </a:defRPr>
            </a:lvl1pPr>
          </a:lstStyle>
          <a:p>
            <a:fld id="{E13EF8AE-9767-4E5A-802F-66A2B36F74A8}" type="slidenum">
              <a:rPr lang="en-US" smtClean="0"/>
              <a:t>‹#›</a:t>
            </a:fld>
            <a:endParaRPr lang="en-US"/>
          </a:p>
        </p:txBody>
      </p:sp>
      <p:sp>
        <p:nvSpPr>
          <p:cNvPr id="5" name="Footer Placeholder 4"/>
          <p:cNvSpPr>
            <a:spLocks noGrp="1"/>
          </p:cNvSpPr>
          <p:nvPr>
            <p:ph type="ftr" sz="quarter" idx="3"/>
          </p:nvPr>
        </p:nvSpPr>
        <p:spPr>
          <a:xfrm>
            <a:off x="6008689" y="855958"/>
            <a:ext cx="2246489" cy="301227"/>
          </a:xfrm>
          <a:prstGeom prst="rect">
            <a:avLst/>
          </a:prstGeom>
        </p:spPr>
        <p:txBody>
          <a:bodyPr vert="horz" lIns="91440" tIns="0" rIns="91440" bIns="45720" rtlCol="0" anchor="t"/>
          <a:lstStyle>
            <a:lvl1pPr algn="l">
              <a:defRPr sz="750">
                <a:solidFill>
                  <a:schemeClr val="tx1"/>
                </a:solidFill>
              </a:defRPr>
            </a:lvl1pPr>
          </a:lstStyle>
          <a:p>
            <a:endParaRPr lang="en-US"/>
          </a:p>
        </p:txBody>
      </p:sp>
    </p:spTree>
    <p:extLst>
      <p:ext uri="{BB962C8B-B14F-4D97-AF65-F5344CB8AC3E}">
        <p14:creationId xmlns:p14="http://schemas.microsoft.com/office/powerpoint/2010/main" val="9417921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spcBef>
          <a:spcPct val="0"/>
        </a:spcBef>
        <a:buNone/>
        <a:defRPr sz="3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37160" algn="l" defTabSz="685800" rtl="0" eaLnBrk="1" latinLnBrk="0" hangingPunct="1">
        <a:spcBef>
          <a:spcPct val="20000"/>
        </a:spcBef>
        <a:buClr>
          <a:schemeClr val="tx2"/>
        </a:buClr>
        <a:buFont typeface="Wingdings" charset="2"/>
        <a:buChar char="§"/>
        <a:defRPr sz="1500" kern="1200">
          <a:solidFill>
            <a:schemeClr val="tx1"/>
          </a:solidFill>
          <a:latin typeface="+mn-lt"/>
          <a:ea typeface="+mn-ea"/>
          <a:cs typeface="+mn-cs"/>
        </a:defRPr>
      </a:lvl1pPr>
      <a:lvl2pPr marL="377190" indent="-137160" algn="l" defTabSz="685800" rtl="0" eaLnBrk="1" latinLnBrk="0" hangingPunct="1">
        <a:spcBef>
          <a:spcPct val="20000"/>
        </a:spcBef>
        <a:buClr>
          <a:schemeClr val="tx2"/>
        </a:buClr>
        <a:buFont typeface="Wingdings" charset="2"/>
        <a:buChar char="§"/>
        <a:defRPr sz="1350" kern="1200">
          <a:solidFill>
            <a:schemeClr val="tx1"/>
          </a:solidFill>
          <a:latin typeface="+mn-lt"/>
          <a:ea typeface="+mn-ea"/>
          <a:cs typeface="+mn-cs"/>
        </a:defRPr>
      </a:lvl2pPr>
      <a:lvl3pPr marL="514350" indent="-137160" algn="l" defTabSz="685800" rtl="0" eaLnBrk="1" latinLnBrk="0" hangingPunct="1">
        <a:spcBef>
          <a:spcPct val="20000"/>
        </a:spcBef>
        <a:buClr>
          <a:schemeClr val="tx2"/>
        </a:buClr>
        <a:buFont typeface="Wingdings" charset="2"/>
        <a:buChar char="§"/>
        <a:defRPr sz="1200" kern="1200">
          <a:solidFill>
            <a:schemeClr val="tx1"/>
          </a:solidFill>
          <a:latin typeface="+mn-lt"/>
          <a:ea typeface="+mn-ea"/>
          <a:cs typeface="+mn-cs"/>
        </a:defRPr>
      </a:lvl3pPr>
      <a:lvl4pPr marL="68580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4pPr>
      <a:lvl5pPr marL="857250" indent="-137160" algn="l" defTabSz="685800" rtl="0" eaLnBrk="1" latinLnBrk="0" hangingPunct="1">
        <a:spcBef>
          <a:spcPct val="20000"/>
        </a:spcBef>
        <a:buClr>
          <a:schemeClr val="tx2"/>
        </a:buClr>
        <a:buFont typeface="Wingdings" charset="2"/>
        <a:buChar char="§"/>
        <a:defRPr sz="1050" kern="1200">
          <a:solidFill>
            <a:schemeClr val="tx1"/>
          </a:solidFill>
          <a:latin typeface="+mn-lt"/>
          <a:ea typeface="+mn-ea"/>
          <a:cs typeface="+mn-cs"/>
        </a:defRPr>
      </a:lvl5pPr>
      <a:lvl6pPr marL="10287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6pPr>
      <a:lvl7pPr marL="12001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7pPr>
      <a:lvl8pPr marL="137160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8pPr>
      <a:lvl9pPr marL="1543050" indent="-137160" algn="l" defTabSz="685800" rtl="0" eaLnBrk="1" latinLnBrk="0" hangingPunct="1">
        <a:spcBef>
          <a:spcPct val="20000"/>
        </a:spcBef>
        <a:buClr>
          <a:schemeClr val="tx2"/>
        </a:buClr>
        <a:buFont typeface="Wingdings" pitchFamily="2"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271B79-AD63-DB37-67C7-C575BD375C76}"/>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80B65007-A43F-3FCE-F922-090075940AAD}"/>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rgbClr val="00B0F0"/>
                </a:solidFill>
              </a:rPr>
              <a:t>Programarea orientată pe obiecte</a:t>
            </a:r>
          </a:p>
          <a:p>
            <a:pPr algn="just"/>
            <a:r>
              <a:rPr lang="ro-RO" sz="2800" noProof="0" dirty="0">
                <a:solidFill>
                  <a:srgbClr val="00B0F0"/>
                </a:solidFill>
              </a:rPr>
              <a:t> </a:t>
            </a:r>
            <a:r>
              <a:rPr lang="ro-RO" sz="2800" noProof="0" dirty="0" err="1">
                <a:solidFill>
                  <a:schemeClr val="tx2"/>
                </a:solidFill>
              </a:rPr>
              <a:t>Generics</a:t>
            </a:r>
            <a:r>
              <a:rPr lang="ro-RO" sz="2800" noProof="0" dirty="0">
                <a:solidFill>
                  <a:schemeClr val="tx2"/>
                </a:solidFill>
              </a:rPr>
              <a:t> (Generice)</a:t>
            </a:r>
            <a:endParaRPr lang="ro-RO" sz="2800" noProof="0" dirty="0">
              <a:solidFill>
                <a:srgbClr val="00B0F0"/>
              </a:solidFill>
            </a:endParaRPr>
          </a:p>
          <a:p>
            <a:pPr lvl="1" algn="just"/>
            <a:r>
              <a:rPr lang="ro-RO" sz="2650" noProof="0" dirty="0">
                <a:solidFill>
                  <a:schemeClr val="tx2"/>
                </a:solidFill>
              </a:rPr>
              <a:t> Generic </a:t>
            </a:r>
            <a:r>
              <a:rPr lang="ro-RO" sz="2650" noProof="0" dirty="0" err="1">
                <a:solidFill>
                  <a:schemeClr val="tx2"/>
                </a:solidFill>
              </a:rPr>
              <a:t>classes</a:t>
            </a:r>
            <a:endParaRPr lang="ro-RO" sz="2650" noProof="0" dirty="0">
              <a:solidFill>
                <a:schemeClr val="tx2"/>
              </a:solidFill>
            </a:endParaRPr>
          </a:p>
          <a:p>
            <a:pPr lvl="1" algn="just"/>
            <a:r>
              <a:rPr lang="ro-RO" sz="2650" noProof="0" dirty="0">
                <a:solidFill>
                  <a:schemeClr val="tx2"/>
                </a:solidFill>
              </a:rPr>
              <a:t> generic </a:t>
            </a:r>
            <a:r>
              <a:rPr lang="ro-RO" sz="2650" noProof="0" dirty="0" err="1">
                <a:solidFill>
                  <a:schemeClr val="tx2"/>
                </a:solidFill>
              </a:rPr>
              <a:t>methods</a:t>
            </a:r>
            <a:endParaRPr lang="ro-RO" sz="2650" noProof="0" dirty="0">
              <a:solidFill>
                <a:schemeClr val="tx2"/>
              </a:solidFill>
            </a:endParaRPr>
          </a:p>
          <a:p>
            <a:pPr lvl="1" algn="just"/>
            <a:r>
              <a:rPr lang="ro-RO" sz="2650" noProof="0" dirty="0">
                <a:solidFill>
                  <a:schemeClr val="tx2"/>
                </a:solidFill>
              </a:rPr>
              <a:t> generic </a:t>
            </a:r>
            <a:r>
              <a:rPr lang="ro-RO" sz="2650" noProof="0" dirty="0" err="1">
                <a:solidFill>
                  <a:schemeClr val="tx2"/>
                </a:solidFill>
              </a:rPr>
              <a:t>delegates</a:t>
            </a:r>
            <a:endParaRPr lang="ro-RO" sz="2650" noProof="0" dirty="0">
              <a:solidFill>
                <a:schemeClr val="tx2"/>
              </a:solidFill>
            </a:endParaRPr>
          </a:p>
          <a:p>
            <a:pPr lvl="1" algn="just"/>
            <a:r>
              <a:rPr lang="ro-RO" sz="2650" noProof="0" dirty="0">
                <a:solidFill>
                  <a:schemeClr val="tx2"/>
                </a:solidFill>
              </a:rPr>
              <a:t> generic </a:t>
            </a:r>
            <a:r>
              <a:rPr lang="ro-RO" sz="2650" noProof="0" dirty="0" err="1">
                <a:solidFill>
                  <a:schemeClr val="tx2"/>
                </a:solidFill>
              </a:rPr>
              <a:t>interfaces</a:t>
            </a:r>
            <a:endParaRPr lang="ro-RO" sz="2500" noProof="0" dirty="0">
              <a:solidFill>
                <a:schemeClr val="tx2"/>
              </a:solidFill>
            </a:endParaRPr>
          </a:p>
          <a:p>
            <a:pPr algn="just"/>
            <a:endParaRPr lang="ro-RO" sz="2800" noProof="0" dirty="0">
              <a:solidFill>
                <a:schemeClr val="tx2"/>
              </a:solidFill>
            </a:endParaRPr>
          </a:p>
        </p:txBody>
      </p:sp>
    </p:spTree>
    <p:extLst>
      <p:ext uri="{BB962C8B-B14F-4D97-AF65-F5344CB8AC3E}">
        <p14:creationId xmlns:p14="http://schemas.microsoft.com/office/powerpoint/2010/main" val="689500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5873B-08BB-C49E-C49B-12CC8220E3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3B2303-2D7B-6430-92F8-3C1AD6ED5FB7}"/>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E4124E79-EAC2-5108-E64A-B2E640E444A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chemeClr val="tx2"/>
                </a:solidFill>
              </a:rPr>
              <a:t>Generics</a:t>
            </a:r>
            <a:r>
              <a:rPr lang="ro-RO" sz="2800" noProof="0" dirty="0">
                <a:solidFill>
                  <a:schemeClr val="tx2"/>
                </a:solidFill>
              </a:rPr>
              <a:t> (Generice)</a:t>
            </a:r>
          </a:p>
          <a:p>
            <a:pPr marL="34290" indent="0" algn="just">
              <a:buNone/>
            </a:pPr>
            <a:r>
              <a:rPr lang="ro-RO" sz="2800" noProof="0" dirty="0">
                <a:solidFill>
                  <a:srgbClr val="00B0F0"/>
                </a:solidFill>
              </a:rPr>
              <a:t>Ce sunt Genericele în C#?</a:t>
            </a:r>
          </a:p>
          <a:p>
            <a:pPr marL="34290" indent="0" algn="just">
              <a:buNone/>
            </a:pPr>
            <a:r>
              <a:rPr lang="ro-RO" sz="2800" noProof="0" dirty="0">
                <a:solidFill>
                  <a:srgbClr val="00B0F0"/>
                </a:solidFill>
              </a:rPr>
              <a:t>Genericele vă permit să definiți specificația tipului de date al elementelor de programare dintr-o clasă sau o metodă, până când acestea sunt efectiv utilizate în program. Cu alte cuvinte, genericele vă permit să scrieți o clasă sau o metodă care poate funcționa cu orice tip de date.</a:t>
            </a:r>
          </a:p>
        </p:txBody>
      </p:sp>
    </p:spTree>
    <p:extLst>
      <p:ext uri="{BB962C8B-B14F-4D97-AF65-F5344CB8AC3E}">
        <p14:creationId xmlns:p14="http://schemas.microsoft.com/office/powerpoint/2010/main" val="1757689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12D58-04EB-7C2F-F6FC-2972E38BED6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75D529-34DB-7575-EE2E-88F2EF631538}"/>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EE6153EC-3E19-90EB-9C47-28D30190E641}"/>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chemeClr val="tx2"/>
                </a:solidFill>
              </a:rPr>
              <a:t>Generics</a:t>
            </a:r>
            <a:r>
              <a:rPr lang="ro-RO" sz="2800" noProof="0" dirty="0">
                <a:solidFill>
                  <a:schemeClr val="tx2"/>
                </a:solidFill>
              </a:rPr>
              <a:t> (Generice) – Caracteristici</a:t>
            </a:r>
          </a:p>
          <a:p>
            <a:pPr marL="34290" indent="0" algn="just">
              <a:buNone/>
            </a:pPr>
            <a:r>
              <a:rPr lang="ro-RO" sz="2800" noProof="0" dirty="0">
                <a:solidFill>
                  <a:srgbClr val="00B0F0"/>
                </a:solidFill>
              </a:rPr>
              <a:t>Genericele sunt o tehnică care îmbogățește programele în următoarele moduri:</a:t>
            </a:r>
          </a:p>
          <a:p>
            <a:pPr algn="just"/>
            <a:r>
              <a:rPr lang="ro-RO" sz="2800" noProof="0" dirty="0">
                <a:solidFill>
                  <a:srgbClr val="00B0F0"/>
                </a:solidFill>
              </a:rPr>
              <a:t> vă ajută să maximizați reutilizarea codului, siguranța tipurilor și performanța.</a:t>
            </a:r>
          </a:p>
          <a:p>
            <a:pPr algn="just"/>
            <a:r>
              <a:rPr lang="ro-RO" sz="2800" noProof="0" dirty="0">
                <a:solidFill>
                  <a:srgbClr val="00B0F0"/>
                </a:solidFill>
              </a:rPr>
              <a:t> Puteți crea clase de colecții generice. Biblioteca de clase .NET Framework conține mai multe clase noi de colecții generice în spațiul de nume </a:t>
            </a:r>
            <a:r>
              <a:rPr lang="ro-RO" sz="2800" noProof="0" dirty="0" err="1">
                <a:solidFill>
                  <a:srgbClr val="00B0F0"/>
                </a:solidFill>
              </a:rPr>
              <a:t>System.Collections.Generic</a:t>
            </a:r>
            <a:r>
              <a:rPr lang="ro-RO" sz="2800" noProof="0" dirty="0">
                <a:solidFill>
                  <a:srgbClr val="00B0F0"/>
                </a:solidFill>
              </a:rPr>
              <a:t>. Puteți utiliza aceste clase de colecții generice în locul claselor de colecții din spațiul de nume </a:t>
            </a:r>
            <a:r>
              <a:rPr lang="ro-RO" sz="2800" noProof="0" dirty="0" err="1">
                <a:solidFill>
                  <a:srgbClr val="00B0F0"/>
                </a:solidFill>
              </a:rPr>
              <a:t>System.Collections</a:t>
            </a:r>
            <a:r>
              <a:rPr lang="ro-RO" sz="2800" noProof="0" dirty="0">
                <a:solidFill>
                  <a:srgbClr val="00B0F0"/>
                </a:solidFill>
              </a:rPr>
              <a:t>.</a:t>
            </a:r>
          </a:p>
        </p:txBody>
      </p:sp>
    </p:spTree>
    <p:extLst>
      <p:ext uri="{BB962C8B-B14F-4D97-AF65-F5344CB8AC3E}">
        <p14:creationId xmlns:p14="http://schemas.microsoft.com/office/powerpoint/2010/main" val="423834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8C347-56EE-FA84-313C-E5AE7D02EC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2CF0BE-9F6D-32A2-7556-ACB9942A4C2D}"/>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F489F69F-3FC0-AD62-F281-C0B59A67483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chemeClr val="tx2"/>
                </a:solidFill>
              </a:rPr>
              <a:t>Generics</a:t>
            </a:r>
            <a:r>
              <a:rPr lang="ro-RO" sz="2800" noProof="0" dirty="0">
                <a:solidFill>
                  <a:schemeClr val="tx2"/>
                </a:solidFill>
              </a:rPr>
              <a:t> (Generice) – Caracteristici</a:t>
            </a:r>
          </a:p>
          <a:p>
            <a:pPr marL="34290" indent="0" algn="just">
              <a:buNone/>
            </a:pPr>
            <a:r>
              <a:rPr lang="ro-RO" sz="2800" noProof="0" dirty="0">
                <a:solidFill>
                  <a:srgbClr val="00B0F0"/>
                </a:solidFill>
              </a:rPr>
              <a:t>Genericele sunt o tehnică care îmbogățește programele în următoarele moduri:</a:t>
            </a:r>
          </a:p>
          <a:p>
            <a:pPr algn="just"/>
            <a:r>
              <a:rPr lang="ro-RO" sz="2800" noProof="0" dirty="0">
                <a:solidFill>
                  <a:srgbClr val="00B0F0"/>
                </a:solidFill>
              </a:rPr>
              <a:t> Puteți crea propriile interfețe, clase, metode, evenimente și delegați generici.</a:t>
            </a:r>
          </a:p>
          <a:p>
            <a:pPr algn="just"/>
            <a:r>
              <a:rPr lang="ro-RO" sz="2800" noProof="0" dirty="0">
                <a:solidFill>
                  <a:srgbClr val="00B0F0"/>
                </a:solidFill>
              </a:rPr>
              <a:t> Puteți crea clase generice constrânse pentru a permite accesul la metode pe anumite tipuri de date.</a:t>
            </a:r>
          </a:p>
          <a:p>
            <a:pPr algn="just"/>
            <a:r>
              <a:rPr lang="ro-RO" sz="2800" noProof="0" dirty="0">
                <a:solidFill>
                  <a:srgbClr val="00B0F0"/>
                </a:solidFill>
              </a:rPr>
              <a:t> Puteți obține informații despre tipurile utilizate într-un tip de date generic în timpul execuției prin intermediul reflecției.</a:t>
            </a:r>
          </a:p>
        </p:txBody>
      </p:sp>
    </p:spTree>
    <p:extLst>
      <p:ext uri="{BB962C8B-B14F-4D97-AF65-F5344CB8AC3E}">
        <p14:creationId xmlns:p14="http://schemas.microsoft.com/office/powerpoint/2010/main" val="2675336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E3936-CFB5-2C8C-6604-EEEF91CCEA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4BF266-2CFD-13D4-A5FF-1B464A0C9C2B}"/>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B1629A55-1288-5444-24D6-DE6F523C0C2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chemeClr val="tx2"/>
                </a:solidFill>
              </a:rPr>
              <a:t>Generics</a:t>
            </a:r>
            <a:r>
              <a:rPr lang="ro-RO" sz="2800" noProof="0" dirty="0">
                <a:solidFill>
                  <a:schemeClr val="tx2"/>
                </a:solidFill>
              </a:rPr>
              <a:t> </a:t>
            </a:r>
            <a:r>
              <a:rPr lang="ro-RO" sz="2800" noProof="0" dirty="0" err="1">
                <a:solidFill>
                  <a:schemeClr val="tx2"/>
                </a:solidFill>
              </a:rPr>
              <a:t>classes</a:t>
            </a:r>
            <a:r>
              <a:rPr lang="ro-RO" sz="2800" noProof="0" dirty="0">
                <a:solidFill>
                  <a:schemeClr val="tx2"/>
                </a:solidFill>
              </a:rPr>
              <a:t> – clase generice</a:t>
            </a:r>
          </a:p>
          <a:p>
            <a:pPr marL="34290" indent="0" algn="just">
              <a:buNone/>
            </a:pPr>
            <a:r>
              <a:rPr lang="ro-RO" sz="2800" noProof="0" dirty="0">
                <a:solidFill>
                  <a:srgbClr val="00B0F0"/>
                </a:solidFill>
              </a:rPr>
              <a:t>O clasă generică este definită cu un parametru de tip care permite </a:t>
            </a:r>
            <a:r>
              <a:rPr lang="ro-RO" sz="2800" noProof="0" dirty="0" err="1">
                <a:solidFill>
                  <a:srgbClr val="00B0F0"/>
                </a:solidFill>
              </a:rPr>
              <a:t>instanțierea</a:t>
            </a:r>
            <a:r>
              <a:rPr lang="ro-RO" sz="2800" noProof="0" dirty="0">
                <a:solidFill>
                  <a:srgbClr val="00B0F0"/>
                </a:solidFill>
              </a:rPr>
              <a:t> unei clase cu diferite tipuri de date și menține, de asemenea, siguranța tipului.</a:t>
            </a:r>
          </a:p>
          <a:p>
            <a:pPr marL="34290" indent="0" algn="just">
              <a:buNone/>
            </a:pPr>
            <a:r>
              <a:rPr lang="ro-RO" sz="2800" noProof="0" dirty="0">
                <a:solidFill>
                  <a:srgbClr val="00B0F0"/>
                </a:solidFill>
              </a:rPr>
              <a:t>Se pot scrie specificațiile pentru clasă sau metodă, cu parametri substituenți pentru tipurile de date. Când compilatorul întâlnește un constructor pentru clasă sau un apel de funcție pentru metodă, generează cod pentru a gestiona tipul de date specific.</a:t>
            </a:r>
          </a:p>
        </p:txBody>
      </p:sp>
    </p:spTree>
    <p:extLst>
      <p:ext uri="{BB962C8B-B14F-4D97-AF65-F5344CB8AC3E}">
        <p14:creationId xmlns:p14="http://schemas.microsoft.com/office/powerpoint/2010/main" val="2368600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21482-3A33-9649-28F6-FADCE01341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3AFF2A-F786-09EF-EC83-9122EFC658F0}"/>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99D13464-3DD7-FBEC-6558-4FADB04E406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chemeClr val="tx2"/>
                </a:solidFill>
              </a:rPr>
              <a:t>Generics</a:t>
            </a:r>
            <a:r>
              <a:rPr lang="ro-RO" sz="2800" noProof="0" dirty="0">
                <a:solidFill>
                  <a:schemeClr val="tx2"/>
                </a:solidFill>
              </a:rPr>
              <a:t> </a:t>
            </a:r>
            <a:r>
              <a:rPr lang="ro-RO" sz="2800" noProof="0" dirty="0" err="1">
                <a:solidFill>
                  <a:schemeClr val="tx2"/>
                </a:solidFill>
              </a:rPr>
              <a:t>classes</a:t>
            </a:r>
            <a:r>
              <a:rPr lang="ro-RO" sz="2800" noProof="0" dirty="0">
                <a:solidFill>
                  <a:schemeClr val="tx2"/>
                </a:solidFill>
              </a:rPr>
              <a:t> – clase generice – exemplu</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Mai jos este prezentat exemplul de bază al clasei Generic, care ne ajută să creăm tablouri reutilizabile, sigure din punct de vedere al tipului</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66612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09974-25D1-A01D-A573-434FF04BE3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63BA9C-F047-86A2-D9C0-EBF3526CC321}"/>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38EC3D45-85C2-81CC-3DEA-4468810331E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chemeClr val="tx2"/>
                </a:solidFill>
              </a:rPr>
              <a:t>Generics</a:t>
            </a:r>
            <a:r>
              <a:rPr lang="ro-RO" sz="2800" noProof="0" dirty="0">
                <a:solidFill>
                  <a:schemeClr val="tx2"/>
                </a:solidFill>
              </a:rPr>
              <a:t> </a:t>
            </a:r>
            <a:r>
              <a:rPr lang="ro-RO" sz="2800" noProof="0" dirty="0" err="1">
                <a:solidFill>
                  <a:schemeClr val="tx2"/>
                </a:solidFill>
              </a:rPr>
              <a:t>classes</a:t>
            </a:r>
            <a:r>
              <a:rPr lang="ro-RO" sz="2800" noProof="0" dirty="0">
                <a:solidFill>
                  <a:schemeClr val="tx2"/>
                </a:solidFill>
              </a:rPr>
              <a:t> – clase generice – exemplu</a:t>
            </a:r>
          </a:p>
          <a:p>
            <a:pPr>
              <a:lnSpc>
                <a:spcPts val="1425"/>
              </a:lnSpc>
              <a:buNone/>
            </a:pPr>
            <a:endParaRPr lang="ro-RO" sz="2200" b="1" noProof="0" dirty="0">
              <a:solidFill>
                <a:srgbClr val="C586C0"/>
              </a:solidFill>
              <a:effectLst/>
              <a:latin typeface="Consolas" panose="020B0609020204030204" pitchFamily="49" charset="0"/>
            </a:endParaRPr>
          </a:p>
          <a:p>
            <a:pPr>
              <a:lnSpc>
                <a:spcPts val="1425"/>
              </a:lnSpc>
              <a:buNone/>
            </a:pPr>
            <a:r>
              <a:rPr lang="ro-RO" sz="2200" b="1" noProof="0" dirty="0" err="1">
                <a:solidFill>
                  <a:srgbClr val="C586C0"/>
                </a:solidFill>
                <a:effectLst/>
                <a:latin typeface="Consolas" panose="020B0609020204030204" pitchFamily="49" charset="0"/>
              </a:rPr>
              <a:t>using</a:t>
            </a:r>
            <a:r>
              <a:rPr lang="ro-RO" sz="2200" b="1" noProof="0" dirty="0">
                <a:solidFill>
                  <a:srgbClr val="CCCCCC"/>
                </a:solidFill>
                <a:effectLst/>
                <a:latin typeface="Consolas" panose="020B0609020204030204" pitchFamily="49" charset="0"/>
              </a:rPr>
              <a:t> </a:t>
            </a:r>
            <a:r>
              <a:rPr lang="ro-RO" sz="2200" b="1" noProof="0" dirty="0" err="1">
                <a:solidFill>
                  <a:srgbClr val="4EC9B0"/>
                </a:solidFill>
                <a:effectLst/>
                <a:latin typeface="Consolas" panose="020B0609020204030204" pitchFamily="49" charset="0"/>
              </a:rPr>
              <a:t>System</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err="1">
                <a:solidFill>
                  <a:srgbClr val="C586C0"/>
                </a:solidFill>
                <a:effectLst/>
                <a:latin typeface="Consolas" panose="020B0609020204030204" pitchFamily="49" charset="0"/>
              </a:rPr>
              <a:t>using</a:t>
            </a:r>
            <a:r>
              <a:rPr lang="ro-RO" sz="2200" b="1" noProof="0" dirty="0">
                <a:solidFill>
                  <a:srgbClr val="CCCCCC"/>
                </a:solidFill>
                <a:effectLst/>
                <a:latin typeface="Consolas" panose="020B0609020204030204" pitchFamily="49" charset="0"/>
              </a:rPr>
              <a:t> </a:t>
            </a:r>
            <a:r>
              <a:rPr lang="ro-RO" sz="2200" b="1" noProof="0" dirty="0" err="1">
                <a:solidFill>
                  <a:srgbClr val="4EC9B0"/>
                </a:solidFill>
                <a:effectLst/>
                <a:latin typeface="Consolas" panose="020B0609020204030204" pitchFamily="49" charset="0"/>
              </a:rPr>
              <a:t>System</a:t>
            </a:r>
            <a:r>
              <a:rPr lang="ro-RO" sz="2200" b="1" noProof="0" dirty="0" err="1">
                <a:solidFill>
                  <a:srgbClr val="CCCCCC"/>
                </a:solidFill>
                <a:effectLst/>
                <a:latin typeface="Consolas" panose="020B0609020204030204" pitchFamily="49" charset="0"/>
              </a:rPr>
              <a:t>.</a:t>
            </a:r>
            <a:r>
              <a:rPr lang="ro-RO" sz="2200" b="1" noProof="0" dirty="0" err="1">
                <a:solidFill>
                  <a:srgbClr val="4EC9B0"/>
                </a:solidFill>
                <a:effectLst/>
                <a:latin typeface="Consolas" panose="020B0609020204030204" pitchFamily="49" charset="0"/>
              </a:rPr>
              <a:t>Collections</a:t>
            </a:r>
            <a:r>
              <a:rPr lang="ro-RO" sz="2200" b="1" noProof="0" dirty="0" err="1">
                <a:solidFill>
                  <a:srgbClr val="CCCCCC"/>
                </a:solidFill>
                <a:effectLst/>
                <a:latin typeface="Consolas" panose="020B0609020204030204" pitchFamily="49" charset="0"/>
              </a:rPr>
              <a:t>.</a:t>
            </a:r>
            <a:r>
              <a:rPr lang="ro-RO" sz="2200" b="1" noProof="0" dirty="0" err="1">
                <a:solidFill>
                  <a:srgbClr val="4EC9B0"/>
                </a:solidFill>
                <a:effectLst/>
                <a:latin typeface="Consolas" panose="020B0609020204030204" pitchFamily="49" charset="0"/>
              </a:rPr>
              <a:t>Generic</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err="1">
                <a:solidFill>
                  <a:srgbClr val="569CD6"/>
                </a:solidFill>
                <a:effectLst/>
                <a:latin typeface="Consolas" panose="020B0609020204030204" pitchFamily="49" charset="0"/>
              </a:rPr>
              <a:t>namespace</a:t>
            </a:r>
            <a:r>
              <a:rPr lang="ro-RO" sz="2200" b="1" noProof="0" dirty="0">
                <a:solidFill>
                  <a:srgbClr val="CCCCCC"/>
                </a:solidFill>
                <a:effectLst/>
                <a:latin typeface="Consolas" panose="020B0609020204030204" pitchFamily="49" charset="0"/>
              </a:rPr>
              <a:t> </a:t>
            </a:r>
            <a:r>
              <a:rPr lang="ro-RO" sz="2200" b="1" noProof="0" dirty="0" err="1">
                <a:solidFill>
                  <a:srgbClr val="4EC9B0"/>
                </a:solidFill>
                <a:effectLst/>
                <a:latin typeface="Consolas" panose="020B0609020204030204" pitchFamily="49" charset="0"/>
              </a:rPr>
              <a:t>GenericApplication</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569CD6"/>
                </a:solidFill>
                <a:effectLst/>
                <a:latin typeface="Consolas" panose="020B0609020204030204" pitchFamily="49" charset="0"/>
              </a:rPr>
              <a:t>public</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class</a:t>
            </a:r>
            <a:r>
              <a:rPr lang="ro-RO" sz="2200" b="1" noProof="0" dirty="0">
                <a:solidFill>
                  <a:srgbClr val="CCCCCC"/>
                </a:solidFill>
                <a:effectLst/>
                <a:latin typeface="Consolas" panose="020B0609020204030204" pitchFamily="49" charset="0"/>
              </a:rPr>
              <a:t> </a:t>
            </a:r>
            <a:r>
              <a:rPr lang="ro-RO" sz="2200" b="1" noProof="0" dirty="0" err="1">
                <a:solidFill>
                  <a:srgbClr val="4EC9B0"/>
                </a:solidFill>
                <a:effectLst/>
                <a:latin typeface="Consolas" panose="020B0609020204030204" pitchFamily="49" charset="0"/>
              </a:rPr>
              <a:t>MyGenericArray</a:t>
            </a:r>
            <a:r>
              <a:rPr lang="ro-RO" sz="2200" b="1" noProof="0" dirty="0">
                <a:solidFill>
                  <a:srgbClr val="CCCCCC"/>
                </a:solidFill>
                <a:effectLst/>
                <a:latin typeface="Consolas" panose="020B0609020204030204" pitchFamily="49" charset="0"/>
              </a:rPr>
              <a:t>&lt;</a:t>
            </a:r>
            <a:r>
              <a:rPr lang="ro-RO" sz="2200" b="1" noProof="0" dirty="0">
                <a:solidFill>
                  <a:srgbClr val="4EC9B0"/>
                </a:solidFill>
                <a:effectLst/>
                <a:latin typeface="Consolas" panose="020B0609020204030204" pitchFamily="49" charset="0"/>
              </a:rPr>
              <a:t>T</a:t>
            </a:r>
            <a:r>
              <a:rPr lang="ro-RO" sz="2200" b="1" noProof="0" dirty="0">
                <a:solidFill>
                  <a:srgbClr val="CCCCCC"/>
                </a:solidFill>
                <a:effectLst/>
                <a:latin typeface="Consolas" panose="020B0609020204030204" pitchFamily="49" charset="0"/>
              </a:rPr>
              <a:t>&gt;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569CD6"/>
                </a:solidFill>
                <a:effectLst/>
                <a:latin typeface="Consolas" panose="020B0609020204030204" pitchFamily="49" charset="0"/>
              </a:rPr>
              <a:t>private</a:t>
            </a:r>
            <a:r>
              <a:rPr lang="ro-RO" sz="2200" b="1" noProof="0" dirty="0">
                <a:solidFill>
                  <a:srgbClr val="CCCCCC"/>
                </a:solidFill>
                <a:effectLst/>
                <a:latin typeface="Consolas" panose="020B0609020204030204" pitchFamily="49" charset="0"/>
              </a:rPr>
              <a:t> </a:t>
            </a:r>
            <a:r>
              <a:rPr lang="ro-RO" sz="2200" b="1" noProof="0" dirty="0">
                <a:solidFill>
                  <a:srgbClr val="4EC9B0"/>
                </a:solidFill>
                <a:effectLst/>
                <a:latin typeface="Consolas" panose="020B0609020204030204" pitchFamily="49" charset="0"/>
              </a:rPr>
              <a:t>T</a:t>
            </a: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array</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569CD6"/>
                </a:solidFill>
                <a:effectLst/>
                <a:latin typeface="Consolas" panose="020B0609020204030204" pitchFamily="49" charset="0"/>
              </a:rPr>
              <a:t>public</a:t>
            </a:r>
            <a:r>
              <a:rPr lang="ro-RO" sz="2200" b="1" noProof="0" dirty="0">
                <a:solidFill>
                  <a:srgbClr val="CCCCCC"/>
                </a:solidFill>
                <a:effectLst/>
                <a:latin typeface="Consolas" panose="020B0609020204030204" pitchFamily="49" charset="0"/>
              </a:rPr>
              <a:t> </a:t>
            </a:r>
            <a:r>
              <a:rPr lang="ro-RO" sz="2200" b="1" noProof="0" dirty="0" err="1">
                <a:solidFill>
                  <a:srgbClr val="DCDCAA"/>
                </a:solidFill>
                <a:effectLst/>
                <a:latin typeface="Consolas" panose="020B0609020204030204" pitchFamily="49" charset="0"/>
              </a:rPr>
              <a:t>MyGenericArray</a:t>
            </a:r>
            <a:r>
              <a:rPr lang="ro-RO" sz="2200" b="1" noProof="0" dirty="0">
                <a:solidFill>
                  <a:srgbClr val="CCCCCC"/>
                </a:solidFill>
                <a:effectLst/>
                <a:latin typeface="Consolas" panose="020B0609020204030204" pitchFamily="49" charset="0"/>
              </a:rPr>
              <a:t>(</a:t>
            </a:r>
            <a:r>
              <a:rPr lang="ro-RO" sz="2200" b="1" noProof="0" dirty="0" err="1">
                <a:solidFill>
                  <a:srgbClr val="569CD6"/>
                </a:solidFill>
                <a:effectLst/>
                <a:latin typeface="Consolas" panose="020B0609020204030204" pitchFamily="49" charset="0"/>
              </a:rPr>
              <a:t>int</a:t>
            </a: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size</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array</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new</a:t>
            </a:r>
            <a:r>
              <a:rPr lang="ro-RO" sz="2200" b="1" noProof="0" dirty="0">
                <a:solidFill>
                  <a:srgbClr val="CCCCCC"/>
                </a:solidFill>
                <a:effectLst/>
                <a:latin typeface="Consolas" panose="020B0609020204030204" pitchFamily="49" charset="0"/>
              </a:rPr>
              <a:t> </a:t>
            </a:r>
            <a:r>
              <a:rPr lang="ro-RO" sz="2200" b="1" noProof="0" dirty="0">
                <a:solidFill>
                  <a:srgbClr val="4EC9B0"/>
                </a:solidFill>
                <a:effectLst/>
                <a:latin typeface="Consolas" panose="020B0609020204030204" pitchFamily="49" charset="0"/>
              </a:rPr>
              <a:t>T</a:t>
            </a:r>
            <a:r>
              <a:rPr lang="ro-RO" sz="2200" b="1" noProof="0" dirty="0">
                <a:solidFill>
                  <a:srgbClr val="CCCCCC"/>
                </a:solidFill>
                <a:effectLst/>
                <a:latin typeface="Consolas" panose="020B0609020204030204" pitchFamily="49" charset="0"/>
              </a:rPr>
              <a:t>[</a:t>
            </a:r>
            <a:r>
              <a:rPr lang="ro-RO" sz="2200" b="1" noProof="0" dirty="0" err="1">
                <a:solidFill>
                  <a:srgbClr val="9CDCFE"/>
                </a:solidFill>
                <a:effectLst/>
                <a:latin typeface="Consolas" panose="020B0609020204030204" pitchFamily="49" charset="0"/>
              </a:rPr>
              <a:t>size</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a:solidFill>
                  <a:srgbClr val="B5CEA8"/>
                </a:solidFill>
                <a:effectLst/>
                <a:latin typeface="Consolas" panose="020B0609020204030204" pitchFamily="49" charset="0"/>
              </a:rPr>
              <a:t>1</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569CD6"/>
                </a:solidFill>
                <a:effectLst/>
                <a:latin typeface="Consolas" panose="020B0609020204030204" pitchFamily="49" charset="0"/>
              </a:rPr>
              <a:t>public</a:t>
            </a:r>
            <a:r>
              <a:rPr lang="ro-RO" sz="2200" b="1" noProof="0" dirty="0">
                <a:solidFill>
                  <a:srgbClr val="CCCCCC"/>
                </a:solidFill>
                <a:effectLst/>
                <a:latin typeface="Consolas" panose="020B0609020204030204" pitchFamily="49" charset="0"/>
              </a:rPr>
              <a:t> </a:t>
            </a:r>
            <a:r>
              <a:rPr lang="ro-RO" sz="2200" b="1" noProof="0" dirty="0">
                <a:solidFill>
                  <a:srgbClr val="4EC9B0"/>
                </a:solidFill>
                <a:effectLst/>
                <a:latin typeface="Consolas" panose="020B0609020204030204" pitchFamily="49" charset="0"/>
              </a:rPr>
              <a:t>T</a:t>
            </a:r>
            <a:r>
              <a:rPr lang="ro-RO" sz="2200" b="1" noProof="0" dirty="0">
                <a:solidFill>
                  <a:srgbClr val="CCCCCC"/>
                </a:solidFill>
                <a:effectLst/>
                <a:latin typeface="Consolas" panose="020B0609020204030204" pitchFamily="49" charset="0"/>
              </a:rPr>
              <a:t> </a:t>
            </a:r>
            <a:r>
              <a:rPr lang="ro-RO" sz="2200" b="1" noProof="0" dirty="0" err="1">
                <a:solidFill>
                  <a:srgbClr val="DCDCAA"/>
                </a:solidFill>
                <a:effectLst/>
                <a:latin typeface="Consolas" panose="020B0609020204030204" pitchFamily="49" charset="0"/>
              </a:rPr>
              <a:t>getItem</a:t>
            </a:r>
            <a:r>
              <a:rPr lang="ro-RO" sz="2200" b="1" noProof="0" dirty="0">
                <a:solidFill>
                  <a:srgbClr val="CCCCCC"/>
                </a:solidFill>
                <a:effectLst/>
                <a:latin typeface="Consolas" panose="020B0609020204030204" pitchFamily="49" charset="0"/>
              </a:rPr>
              <a:t>(</a:t>
            </a:r>
            <a:r>
              <a:rPr lang="ro-RO" sz="2200" b="1" noProof="0" dirty="0" err="1">
                <a:solidFill>
                  <a:srgbClr val="569CD6"/>
                </a:solidFill>
                <a:effectLst/>
                <a:latin typeface="Consolas" panose="020B0609020204030204" pitchFamily="49" charset="0"/>
              </a:rPr>
              <a:t>int</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index</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C586C0"/>
                </a:solidFill>
                <a:effectLst/>
                <a:latin typeface="Consolas" panose="020B0609020204030204" pitchFamily="49" charset="0"/>
              </a:rPr>
              <a:t>return</a:t>
            </a: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array</a:t>
            </a:r>
            <a:r>
              <a:rPr lang="ro-RO" sz="2200" b="1" noProof="0" dirty="0">
                <a:solidFill>
                  <a:srgbClr val="CCCCCC"/>
                </a:solidFill>
                <a:effectLst/>
                <a:latin typeface="Consolas" panose="020B0609020204030204" pitchFamily="49" charset="0"/>
              </a:rPr>
              <a:t>[</a:t>
            </a:r>
            <a:r>
              <a:rPr lang="ro-RO" sz="2200" b="1" noProof="0" dirty="0">
                <a:solidFill>
                  <a:srgbClr val="9CDCFE"/>
                </a:solidFill>
                <a:effectLst/>
                <a:latin typeface="Consolas" panose="020B0609020204030204" pitchFamily="49" charset="0"/>
              </a:rPr>
              <a:t>index</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569CD6"/>
                </a:solidFill>
                <a:effectLst/>
                <a:latin typeface="Consolas" panose="020B0609020204030204" pitchFamily="49" charset="0"/>
              </a:rPr>
              <a:t>public</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void</a:t>
            </a:r>
            <a:r>
              <a:rPr lang="ro-RO" sz="2200" b="1" noProof="0" dirty="0">
                <a:solidFill>
                  <a:srgbClr val="CCCCCC"/>
                </a:solidFill>
                <a:effectLst/>
                <a:latin typeface="Consolas" panose="020B0609020204030204" pitchFamily="49" charset="0"/>
              </a:rPr>
              <a:t> </a:t>
            </a:r>
            <a:r>
              <a:rPr lang="ro-RO" sz="2200" b="1" noProof="0" dirty="0" err="1">
                <a:solidFill>
                  <a:srgbClr val="DCDCAA"/>
                </a:solidFill>
                <a:effectLst/>
                <a:latin typeface="Consolas" panose="020B0609020204030204" pitchFamily="49" charset="0"/>
              </a:rPr>
              <a:t>setItem</a:t>
            </a:r>
            <a:r>
              <a:rPr lang="ro-RO" sz="2200" b="1" noProof="0" dirty="0">
                <a:solidFill>
                  <a:srgbClr val="CCCCCC"/>
                </a:solidFill>
                <a:effectLst/>
                <a:latin typeface="Consolas" panose="020B0609020204030204" pitchFamily="49" charset="0"/>
              </a:rPr>
              <a:t>(</a:t>
            </a:r>
            <a:r>
              <a:rPr lang="ro-RO" sz="2200" b="1" noProof="0" dirty="0" err="1">
                <a:solidFill>
                  <a:srgbClr val="569CD6"/>
                </a:solidFill>
                <a:effectLst/>
                <a:latin typeface="Consolas" panose="020B0609020204030204" pitchFamily="49" charset="0"/>
              </a:rPr>
              <a:t>int</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index</a:t>
            </a:r>
            <a:r>
              <a:rPr lang="ro-RO" sz="2200" b="1" noProof="0" dirty="0">
                <a:solidFill>
                  <a:srgbClr val="CCCCCC"/>
                </a:solidFill>
                <a:effectLst/>
                <a:latin typeface="Consolas" panose="020B0609020204030204" pitchFamily="49" charset="0"/>
              </a:rPr>
              <a:t>, </a:t>
            </a:r>
            <a:r>
              <a:rPr lang="ro-RO" sz="2200" b="1" noProof="0" dirty="0">
                <a:solidFill>
                  <a:srgbClr val="4EC9B0"/>
                </a:solidFill>
                <a:effectLst/>
                <a:latin typeface="Consolas" panose="020B0609020204030204" pitchFamily="49" charset="0"/>
              </a:rPr>
              <a:t>T</a:t>
            </a: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value</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array</a:t>
            </a:r>
            <a:r>
              <a:rPr lang="ro-RO" sz="2200" b="1" noProof="0" dirty="0">
                <a:solidFill>
                  <a:srgbClr val="CCCCCC"/>
                </a:solidFill>
                <a:effectLst/>
                <a:latin typeface="Consolas" panose="020B0609020204030204" pitchFamily="49" charset="0"/>
              </a:rPr>
              <a:t>[</a:t>
            </a:r>
            <a:r>
              <a:rPr lang="ro-RO" sz="2200" b="1" noProof="0" dirty="0">
                <a:solidFill>
                  <a:srgbClr val="9CDCFE"/>
                </a:solidFill>
                <a:effectLst/>
                <a:latin typeface="Consolas" panose="020B0609020204030204" pitchFamily="49" charset="0"/>
              </a:rPr>
              <a:t>index</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value</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2088809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6E2DF-4407-6747-6701-9594DD55AF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EF2B30E-7DC8-4614-B160-A60D51800C2C}"/>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8BB2FF57-D940-4B67-E0CA-A13216D7CF6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chemeClr val="tx2"/>
                </a:solidFill>
              </a:rPr>
              <a:t>Generics</a:t>
            </a:r>
            <a:r>
              <a:rPr lang="ro-RO" sz="2800" noProof="0" dirty="0">
                <a:solidFill>
                  <a:schemeClr val="tx2"/>
                </a:solidFill>
              </a:rPr>
              <a:t> </a:t>
            </a:r>
            <a:r>
              <a:rPr lang="ro-RO" sz="2800" noProof="0" dirty="0" err="1">
                <a:solidFill>
                  <a:schemeClr val="tx2"/>
                </a:solidFill>
              </a:rPr>
              <a:t>classes</a:t>
            </a:r>
            <a:r>
              <a:rPr lang="ro-RO" sz="2800" noProof="0" dirty="0">
                <a:solidFill>
                  <a:schemeClr val="tx2"/>
                </a:solidFill>
              </a:rPr>
              <a:t> – clase generice – exemplu</a:t>
            </a:r>
          </a:p>
          <a:p>
            <a:pPr>
              <a:lnSpc>
                <a:spcPts val="1425"/>
              </a:lnSpc>
              <a:buNone/>
            </a:pPr>
            <a:r>
              <a:rPr lang="ro-RO" sz="2000" b="1" noProof="0" dirty="0">
                <a:solidFill>
                  <a:srgbClr val="00B0F0"/>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class</a:t>
            </a:r>
            <a:r>
              <a:rPr lang="ro-RO" sz="2200" b="1" noProof="0" dirty="0">
                <a:solidFill>
                  <a:srgbClr val="CCCCCC"/>
                </a:solidFill>
                <a:effectLst/>
                <a:latin typeface="Consolas" panose="020B0609020204030204" pitchFamily="49" charset="0"/>
              </a:rPr>
              <a:t> </a:t>
            </a:r>
            <a:r>
              <a:rPr lang="ro-RO" sz="2200" b="1" noProof="0" dirty="0">
                <a:solidFill>
                  <a:srgbClr val="4EC9B0"/>
                </a:solidFill>
                <a:effectLst/>
                <a:latin typeface="Consolas" panose="020B0609020204030204" pitchFamily="49" charset="0"/>
              </a:rPr>
              <a:t>Tester</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569CD6"/>
                </a:solidFill>
                <a:effectLst/>
                <a:latin typeface="Consolas" panose="020B0609020204030204" pitchFamily="49" charset="0"/>
              </a:rPr>
              <a:t>static</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void</a:t>
            </a:r>
            <a:r>
              <a:rPr lang="ro-RO" sz="2200" b="1" noProof="0" dirty="0">
                <a:solidFill>
                  <a:srgbClr val="CCCCCC"/>
                </a:solidFill>
                <a:effectLst/>
                <a:latin typeface="Consolas" panose="020B0609020204030204" pitchFamily="49" charset="0"/>
              </a:rPr>
              <a:t> </a:t>
            </a:r>
            <a:r>
              <a:rPr lang="ro-RO" sz="2200" b="1" noProof="0" dirty="0">
                <a:solidFill>
                  <a:srgbClr val="DCDCAA"/>
                </a:solidFill>
                <a:effectLst/>
                <a:latin typeface="Consolas" panose="020B0609020204030204" pitchFamily="49" charset="0"/>
              </a:rPr>
              <a:t>Main</a:t>
            </a:r>
            <a:r>
              <a:rPr lang="ro-RO" sz="2200" b="1" noProof="0" dirty="0">
                <a:solidFill>
                  <a:srgbClr val="CCCCCC"/>
                </a:solidFill>
                <a:effectLst/>
                <a:latin typeface="Consolas" panose="020B0609020204030204" pitchFamily="49" charset="0"/>
              </a:rPr>
              <a:t>(</a:t>
            </a:r>
            <a:r>
              <a:rPr lang="ro-RO" sz="2200" b="1" noProof="0" dirty="0" err="1">
                <a:solidFill>
                  <a:srgbClr val="569CD6"/>
                </a:solidFill>
                <a:effectLst/>
                <a:latin typeface="Consolas" panose="020B0609020204030204" pitchFamily="49" charset="0"/>
              </a:rPr>
              <a:t>string</a:t>
            </a: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args</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6A9955"/>
                </a:solidFill>
                <a:effectLst/>
                <a:latin typeface="Consolas" panose="020B0609020204030204" pitchFamily="49" charset="0"/>
              </a:rPr>
              <a:t>         //declar un tablou de </a:t>
            </a:r>
            <a:r>
              <a:rPr lang="ro-RO" sz="2200" b="1" noProof="0" dirty="0" err="1">
                <a:solidFill>
                  <a:srgbClr val="6A9955"/>
                </a:solidFill>
                <a:effectLst/>
                <a:latin typeface="Consolas" panose="020B0609020204030204" pitchFamily="49" charset="0"/>
              </a:rPr>
              <a:t>intregi</a:t>
            </a:r>
            <a:endParaRPr lang="ro-RO" sz="2200" b="1" noProof="0" dirty="0">
              <a:solidFill>
                <a:srgbClr val="CCCCCC"/>
              </a:solidFill>
              <a:effectLst/>
              <a:latin typeface="Consolas" panose="020B0609020204030204" pitchFamily="49" charset="0"/>
            </a:endParaRP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4EC9B0"/>
                </a:solidFill>
                <a:effectLst/>
                <a:latin typeface="Consolas" panose="020B0609020204030204" pitchFamily="49" charset="0"/>
              </a:rPr>
              <a:t>MyGenericArray</a:t>
            </a:r>
            <a:r>
              <a:rPr lang="ro-RO" sz="2200" b="1" noProof="0" dirty="0">
                <a:solidFill>
                  <a:srgbClr val="CCCCCC"/>
                </a:solidFill>
                <a:effectLst/>
                <a:latin typeface="Consolas" panose="020B0609020204030204" pitchFamily="49" charset="0"/>
              </a:rPr>
              <a:t>&lt;</a:t>
            </a:r>
            <a:r>
              <a:rPr lang="ro-RO" sz="2200" b="1" noProof="0" dirty="0" err="1">
                <a:solidFill>
                  <a:srgbClr val="569CD6"/>
                </a:solidFill>
                <a:effectLst/>
                <a:latin typeface="Consolas" panose="020B0609020204030204" pitchFamily="49" charset="0"/>
              </a:rPr>
              <a:t>int</a:t>
            </a:r>
            <a:r>
              <a:rPr lang="ro-RO" sz="2200" b="1" noProof="0" dirty="0">
                <a:solidFill>
                  <a:srgbClr val="CCCCCC"/>
                </a:solidFill>
                <a:effectLst/>
                <a:latin typeface="Consolas" panose="020B0609020204030204" pitchFamily="49" charset="0"/>
              </a:rPr>
              <a:t>&gt; </a:t>
            </a:r>
            <a:r>
              <a:rPr lang="ro-RO" sz="2200" b="1" noProof="0" dirty="0" err="1">
                <a:solidFill>
                  <a:srgbClr val="9CDCFE"/>
                </a:solidFill>
                <a:effectLst/>
                <a:latin typeface="Consolas" panose="020B0609020204030204" pitchFamily="49" charset="0"/>
              </a:rPr>
              <a:t>intArray</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new</a:t>
            </a:r>
            <a:r>
              <a:rPr lang="ro-RO" sz="2200" b="1" noProof="0" dirty="0">
                <a:solidFill>
                  <a:srgbClr val="CCCCCC"/>
                </a:solidFill>
                <a:effectLst/>
                <a:latin typeface="Consolas" panose="020B0609020204030204" pitchFamily="49" charset="0"/>
              </a:rPr>
              <a:t> </a:t>
            </a:r>
            <a:r>
              <a:rPr lang="ro-RO" sz="2200" b="1" noProof="0" dirty="0" err="1">
                <a:solidFill>
                  <a:srgbClr val="4EC9B0"/>
                </a:solidFill>
                <a:effectLst/>
                <a:latin typeface="Consolas" panose="020B0609020204030204" pitchFamily="49" charset="0"/>
              </a:rPr>
              <a:t>MyGenericArray</a:t>
            </a:r>
            <a:r>
              <a:rPr lang="ro-RO" sz="2200" b="1" noProof="0" dirty="0">
                <a:solidFill>
                  <a:srgbClr val="CCCCCC"/>
                </a:solidFill>
                <a:effectLst/>
                <a:latin typeface="Consolas" panose="020B0609020204030204" pitchFamily="49" charset="0"/>
              </a:rPr>
              <a:t>&lt;</a:t>
            </a:r>
            <a:r>
              <a:rPr lang="ro-RO" sz="2200" b="1" noProof="0" dirty="0" err="1">
                <a:solidFill>
                  <a:srgbClr val="569CD6"/>
                </a:solidFill>
                <a:effectLst/>
                <a:latin typeface="Consolas" panose="020B0609020204030204" pitchFamily="49" charset="0"/>
              </a:rPr>
              <a:t>int</a:t>
            </a:r>
            <a:r>
              <a:rPr lang="ro-RO" sz="2200" b="1" noProof="0" dirty="0">
                <a:solidFill>
                  <a:srgbClr val="CCCCCC"/>
                </a:solidFill>
                <a:effectLst/>
                <a:latin typeface="Consolas" panose="020B0609020204030204" pitchFamily="49" charset="0"/>
              </a:rPr>
              <a:t>&gt;(</a:t>
            </a:r>
            <a:r>
              <a:rPr lang="ro-RO" sz="2200" b="1" noProof="0" dirty="0">
                <a:solidFill>
                  <a:srgbClr val="B5CEA8"/>
                </a:solidFill>
                <a:effectLst/>
                <a:latin typeface="Consolas" panose="020B0609020204030204" pitchFamily="49" charset="0"/>
              </a:rPr>
              <a:t>5</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6A9955"/>
                </a:solidFill>
                <a:effectLst/>
                <a:latin typeface="Consolas" panose="020B0609020204030204" pitchFamily="49" charset="0"/>
              </a:rPr>
              <a:t>         //stabilesc valorile</a:t>
            </a:r>
            <a:endParaRPr lang="ro-RO" sz="2200" b="1" noProof="0" dirty="0">
              <a:solidFill>
                <a:srgbClr val="CCCCCC"/>
              </a:solidFill>
              <a:effectLst/>
              <a:latin typeface="Consolas" panose="020B0609020204030204" pitchFamily="49" charset="0"/>
            </a:endParaRP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C586C0"/>
                </a:solidFill>
                <a:effectLst/>
                <a:latin typeface="Consolas" panose="020B0609020204030204" pitchFamily="49" charset="0"/>
              </a:rPr>
              <a:t>for</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int</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a:solidFill>
                  <a:srgbClr val="B5CEA8"/>
                </a:solidFill>
                <a:effectLst/>
                <a:latin typeface="Consolas" panose="020B0609020204030204" pitchFamily="49" charset="0"/>
              </a:rPr>
              <a:t>0</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&lt;</a:t>
            </a:r>
            <a:r>
              <a:rPr lang="ro-RO" sz="2200" b="1" noProof="0" dirty="0">
                <a:solidFill>
                  <a:srgbClr val="CCCCCC"/>
                </a:solidFill>
                <a:effectLst/>
                <a:latin typeface="Consolas" panose="020B0609020204030204" pitchFamily="49" charset="0"/>
              </a:rPr>
              <a:t> </a:t>
            </a:r>
            <a:r>
              <a:rPr lang="ro-RO" sz="2200" b="1" noProof="0" dirty="0">
                <a:solidFill>
                  <a:srgbClr val="B5CEA8"/>
                </a:solidFill>
                <a:effectLst/>
                <a:latin typeface="Consolas" panose="020B0609020204030204" pitchFamily="49" charset="0"/>
              </a:rPr>
              <a:t>5</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intArray</a:t>
            </a:r>
            <a:r>
              <a:rPr lang="ro-RO" sz="2200" b="1" noProof="0" dirty="0" err="1">
                <a:solidFill>
                  <a:srgbClr val="CCCCCC"/>
                </a:solidFill>
                <a:effectLst/>
                <a:latin typeface="Consolas" panose="020B0609020204030204" pitchFamily="49" charset="0"/>
              </a:rPr>
              <a:t>.</a:t>
            </a:r>
            <a:r>
              <a:rPr lang="ro-RO" sz="2200" b="1" noProof="0" dirty="0" err="1">
                <a:solidFill>
                  <a:srgbClr val="DCDCAA"/>
                </a:solidFill>
                <a:effectLst/>
                <a:latin typeface="Consolas" panose="020B0609020204030204" pitchFamily="49" charset="0"/>
              </a:rPr>
              <a:t>setItem</a:t>
            </a:r>
            <a:r>
              <a:rPr lang="ro-RO" sz="2200" b="1" noProof="0" dirty="0">
                <a:solidFill>
                  <a:srgbClr val="CCCCCC"/>
                </a:solidFill>
                <a:effectLst/>
                <a:latin typeface="Consolas" panose="020B0609020204030204" pitchFamily="49" charset="0"/>
              </a:rPr>
              <a:t>(</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D4D4D4"/>
                </a:solidFill>
                <a:effectLst/>
                <a:latin typeface="Consolas" panose="020B0609020204030204" pitchFamily="49" charset="0"/>
              </a:rPr>
              <a:t>*</a:t>
            </a:r>
            <a:r>
              <a:rPr lang="ro-RO" sz="2200" b="1" noProof="0" dirty="0">
                <a:solidFill>
                  <a:srgbClr val="B5CEA8"/>
                </a:solidFill>
                <a:effectLst/>
                <a:latin typeface="Consolas" panose="020B0609020204030204" pitchFamily="49" charset="0"/>
              </a:rPr>
              <a:t>5</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6A9955"/>
                </a:solidFill>
                <a:effectLst/>
                <a:latin typeface="Consolas" panose="020B0609020204030204" pitchFamily="49" charset="0"/>
              </a:rPr>
              <a:t>         //</a:t>
            </a:r>
            <a:r>
              <a:rPr lang="ro-RO" sz="2200" b="1" noProof="0" dirty="0" err="1">
                <a:solidFill>
                  <a:srgbClr val="6A9955"/>
                </a:solidFill>
                <a:effectLst/>
                <a:latin typeface="Consolas" panose="020B0609020204030204" pitchFamily="49" charset="0"/>
              </a:rPr>
              <a:t>obtin</a:t>
            </a:r>
            <a:r>
              <a:rPr lang="ro-RO" sz="2200" b="1" noProof="0" dirty="0">
                <a:solidFill>
                  <a:srgbClr val="6A9955"/>
                </a:solidFill>
                <a:effectLst/>
                <a:latin typeface="Consolas" panose="020B0609020204030204" pitchFamily="49" charset="0"/>
              </a:rPr>
              <a:t> si </a:t>
            </a:r>
            <a:r>
              <a:rPr lang="ro-RO" sz="2200" b="1" noProof="0" dirty="0" err="1">
                <a:solidFill>
                  <a:srgbClr val="6A9955"/>
                </a:solidFill>
                <a:effectLst/>
                <a:latin typeface="Consolas" panose="020B0609020204030204" pitchFamily="49" charset="0"/>
              </a:rPr>
              <a:t>afisez</a:t>
            </a:r>
            <a:r>
              <a:rPr lang="ro-RO" sz="2200" b="1" noProof="0" dirty="0">
                <a:solidFill>
                  <a:srgbClr val="6A9955"/>
                </a:solidFill>
                <a:effectLst/>
                <a:latin typeface="Consolas" panose="020B0609020204030204" pitchFamily="49" charset="0"/>
              </a:rPr>
              <a:t> valorile</a:t>
            </a:r>
            <a:endParaRPr lang="ro-RO" sz="2200" b="1" noProof="0" dirty="0">
              <a:solidFill>
                <a:srgbClr val="CCCCCC"/>
              </a:solidFill>
              <a:effectLst/>
              <a:latin typeface="Consolas" panose="020B0609020204030204" pitchFamily="49" charset="0"/>
            </a:endParaRP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C586C0"/>
                </a:solidFill>
                <a:effectLst/>
                <a:latin typeface="Consolas" panose="020B0609020204030204" pitchFamily="49" charset="0"/>
              </a:rPr>
              <a:t>for</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int</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a:solidFill>
                  <a:srgbClr val="B5CEA8"/>
                </a:solidFill>
                <a:effectLst/>
                <a:latin typeface="Consolas" panose="020B0609020204030204" pitchFamily="49" charset="0"/>
              </a:rPr>
              <a:t>0</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&lt;</a:t>
            </a:r>
            <a:r>
              <a:rPr lang="ro-RO" sz="2200" b="1" noProof="0" dirty="0">
                <a:solidFill>
                  <a:srgbClr val="CCCCCC"/>
                </a:solidFill>
                <a:effectLst/>
                <a:latin typeface="Consolas" panose="020B0609020204030204" pitchFamily="49" charset="0"/>
              </a:rPr>
              <a:t> </a:t>
            </a:r>
            <a:r>
              <a:rPr lang="ro-RO" sz="2200" b="1" noProof="0" dirty="0">
                <a:solidFill>
                  <a:srgbClr val="B5CEA8"/>
                </a:solidFill>
                <a:effectLst/>
                <a:latin typeface="Consolas" panose="020B0609020204030204" pitchFamily="49" charset="0"/>
              </a:rPr>
              <a:t>5</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Console</a:t>
            </a:r>
            <a:r>
              <a:rPr lang="ro-RO" sz="2200" b="1" noProof="0" dirty="0" err="1">
                <a:solidFill>
                  <a:srgbClr val="CCCCCC"/>
                </a:solidFill>
                <a:effectLst/>
                <a:latin typeface="Consolas" panose="020B0609020204030204" pitchFamily="49" charset="0"/>
              </a:rPr>
              <a:t>.</a:t>
            </a:r>
            <a:r>
              <a:rPr lang="ro-RO" sz="2200" b="1" noProof="0" dirty="0" err="1">
                <a:solidFill>
                  <a:srgbClr val="DCDCAA"/>
                </a:solidFill>
                <a:effectLst/>
                <a:latin typeface="Consolas" panose="020B0609020204030204" pitchFamily="49" charset="0"/>
              </a:rPr>
              <a:t>Write</a:t>
            </a:r>
            <a:r>
              <a:rPr lang="ro-RO" sz="2200" b="1" noProof="0" dirty="0">
                <a:solidFill>
                  <a:srgbClr val="CCCCCC"/>
                </a:solidFill>
                <a:effectLst/>
                <a:latin typeface="Consolas" panose="020B0609020204030204" pitchFamily="49" charset="0"/>
              </a:rPr>
              <a:t>(</a:t>
            </a:r>
            <a:r>
              <a:rPr lang="ro-RO" sz="2200" b="1" noProof="0" dirty="0" err="1">
                <a:solidFill>
                  <a:srgbClr val="9CDCFE"/>
                </a:solidFill>
                <a:effectLst/>
                <a:latin typeface="Consolas" panose="020B0609020204030204" pitchFamily="49" charset="0"/>
              </a:rPr>
              <a:t>intArray</a:t>
            </a:r>
            <a:r>
              <a:rPr lang="ro-RO" sz="2200" b="1" noProof="0" dirty="0" err="1">
                <a:solidFill>
                  <a:srgbClr val="CCCCCC"/>
                </a:solidFill>
                <a:effectLst/>
                <a:latin typeface="Consolas" panose="020B0609020204030204" pitchFamily="49" charset="0"/>
              </a:rPr>
              <a:t>.</a:t>
            </a:r>
            <a:r>
              <a:rPr lang="ro-RO" sz="2200" b="1" noProof="0" dirty="0" err="1">
                <a:solidFill>
                  <a:srgbClr val="DCDCAA"/>
                </a:solidFill>
                <a:effectLst/>
                <a:latin typeface="Consolas" panose="020B0609020204030204" pitchFamily="49" charset="0"/>
              </a:rPr>
              <a:t>getItem</a:t>
            </a:r>
            <a:r>
              <a:rPr lang="ro-RO" sz="2200" b="1" noProof="0" dirty="0">
                <a:solidFill>
                  <a:srgbClr val="CCCCCC"/>
                </a:solidFill>
                <a:effectLst/>
                <a:latin typeface="Consolas" panose="020B0609020204030204" pitchFamily="49" charset="0"/>
              </a:rPr>
              <a:t>(</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a:solidFill>
                  <a:srgbClr val="CE9178"/>
                </a:solidFill>
                <a:effectLst/>
                <a:latin typeface="Consolas" panose="020B0609020204030204" pitchFamily="49" charset="0"/>
              </a:rPr>
              <a:t>" "</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Console</a:t>
            </a:r>
            <a:r>
              <a:rPr lang="ro-RO" sz="2200" b="1" noProof="0" dirty="0" err="1">
                <a:solidFill>
                  <a:srgbClr val="CCCCCC"/>
                </a:solidFill>
                <a:effectLst/>
                <a:latin typeface="Consolas" panose="020B0609020204030204" pitchFamily="49" charset="0"/>
              </a:rPr>
              <a:t>.</a:t>
            </a:r>
            <a:r>
              <a:rPr lang="ro-RO" sz="2200" b="1" noProof="0" dirty="0" err="1">
                <a:solidFill>
                  <a:srgbClr val="DCDCAA"/>
                </a:solidFill>
                <a:effectLst/>
                <a:latin typeface="Consolas" panose="020B0609020204030204" pitchFamily="49" charset="0"/>
              </a:rPr>
              <a:t>WriteLine</a:t>
            </a:r>
            <a:r>
              <a:rPr lang="ro-RO" sz="2200" b="1" noProof="0" dirty="0">
                <a:solidFill>
                  <a:srgbClr val="CCCCCC"/>
                </a:solidFill>
                <a:effectLst/>
                <a:latin typeface="Consolas" panose="020B0609020204030204" pitchFamily="49" charset="0"/>
              </a:rPr>
              <a:t>();</a:t>
            </a:r>
          </a:p>
          <a:p>
            <a:pPr marL="34290" indent="0" algn="just">
              <a:buNone/>
            </a:pPr>
            <a:endParaRPr lang="ro-RO" sz="2800" noProof="0" dirty="0">
              <a:solidFill>
                <a:srgbClr val="00B0F0"/>
              </a:solidFill>
            </a:endParaRPr>
          </a:p>
        </p:txBody>
      </p:sp>
    </p:spTree>
    <p:extLst>
      <p:ext uri="{BB962C8B-B14F-4D97-AF65-F5344CB8AC3E}">
        <p14:creationId xmlns:p14="http://schemas.microsoft.com/office/powerpoint/2010/main" val="170055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A8C4-DD0A-800E-82FC-8F3352DFEC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7CA73E-1556-B254-78E1-7D68A8713A0B}"/>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E21152DE-4254-6FD3-A5D0-751EAD998F6A}"/>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err="1">
                <a:solidFill>
                  <a:srgbClr val="00B0F0"/>
                </a:solidFill>
              </a:rPr>
              <a:t>Generics</a:t>
            </a:r>
            <a:r>
              <a:rPr lang="ro-RO" sz="2800" noProof="0" dirty="0">
                <a:solidFill>
                  <a:srgbClr val="00B0F0"/>
                </a:solidFill>
              </a:rPr>
              <a:t> </a:t>
            </a:r>
            <a:r>
              <a:rPr lang="ro-RO" sz="2800" noProof="0" dirty="0" err="1">
                <a:solidFill>
                  <a:srgbClr val="00B0F0"/>
                </a:solidFill>
              </a:rPr>
              <a:t>classes</a:t>
            </a:r>
            <a:r>
              <a:rPr lang="ro-RO" sz="2800" noProof="0" dirty="0">
                <a:solidFill>
                  <a:srgbClr val="00B0F0"/>
                </a:solidFill>
              </a:rPr>
              <a:t> – clase generice</a:t>
            </a:r>
          </a:p>
          <a:p>
            <a:pPr marL="34290" indent="0" algn="just">
              <a:buNone/>
            </a:pPr>
            <a:endParaRPr lang="ro-RO" sz="2200" noProof="0" dirty="0">
              <a:solidFill>
                <a:srgbClr val="00B0F0"/>
              </a:solidFill>
            </a:endParaRPr>
          </a:p>
          <a:p>
            <a:pPr>
              <a:lnSpc>
                <a:spcPts val="1425"/>
              </a:lnSpc>
              <a:buNone/>
            </a:pPr>
            <a:r>
              <a:rPr lang="ro-RO" sz="2200" b="1" noProof="0" dirty="0">
                <a:solidFill>
                  <a:srgbClr val="00B0F0"/>
                </a:solidFill>
                <a:effectLst/>
                <a:latin typeface="Consolas" panose="020B0609020204030204" pitchFamily="49" charset="0"/>
              </a:rPr>
              <a:t>         </a:t>
            </a:r>
            <a:r>
              <a:rPr lang="ro-RO" sz="2200" b="1" noProof="0" dirty="0">
                <a:solidFill>
                  <a:srgbClr val="6A9955"/>
                </a:solidFill>
                <a:effectLst/>
                <a:latin typeface="Consolas" panose="020B0609020204030204" pitchFamily="49" charset="0"/>
              </a:rPr>
              <a:t>//declar un tablou de caractere</a:t>
            </a:r>
            <a:endParaRPr lang="ro-RO" sz="2200" b="1" noProof="0" dirty="0">
              <a:solidFill>
                <a:srgbClr val="CCCCCC"/>
              </a:solidFill>
              <a:effectLst/>
              <a:latin typeface="Consolas" panose="020B0609020204030204" pitchFamily="49" charset="0"/>
            </a:endParaRP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4EC9B0"/>
                </a:solidFill>
                <a:effectLst/>
                <a:latin typeface="Consolas" panose="020B0609020204030204" pitchFamily="49" charset="0"/>
              </a:rPr>
              <a:t>MyGenericArray</a:t>
            </a:r>
            <a:r>
              <a:rPr lang="ro-RO" sz="2200" b="1" noProof="0" dirty="0">
                <a:solidFill>
                  <a:srgbClr val="CCCCCC"/>
                </a:solidFill>
                <a:effectLst/>
                <a:latin typeface="Consolas" panose="020B0609020204030204" pitchFamily="49" charset="0"/>
              </a:rPr>
              <a:t>&lt;</a:t>
            </a:r>
            <a:r>
              <a:rPr lang="ro-RO" sz="2200" b="1" noProof="0" dirty="0" err="1">
                <a:solidFill>
                  <a:srgbClr val="569CD6"/>
                </a:solidFill>
                <a:effectLst/>
                <a:latin typeface="Consolas" panose="020B0609020204030204" pitchFamily="49" charset="0"/>
              </a:rPr>
              <a:t>char</a:t>
            </a:r>
            <a:r>
              <a:rPr lang="ro-RO" sz="2200" b="1" noProof="0" dirty="0">
                <a:solidFill>
                  <a:srgbClr val="CCCCCC"/>
                </a:solidFill>
                <a:effectLst/>
                <a:latin typeface="Consolas" panose="020B0609020204030204" pitchFamily="49" charset="0"/>
              </a:rPr>
              <a:t>&gt; </a:t>
            </a:r>
            <a:r>
              <a:rPr lang="ro-RO" sz="2200" b="1" noProof="0" dirty="0" err="1">
                <a:solidFill>
                  <a:srgbClr val="9CDCFE"/>
                </a:solidFill>
                <a:effectLst/>
                <a:latin typeface="Consolas" panose="020B0609020204030204" pitchFamily="49" charset="0"/>
              </a:rPr>
              <a:t>charArray</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new</a:t>
            </a:r>
            <a:r>
              <a:rPr lang="ro-RO" sz="2200" b="1" noProof="0" dirty="0">
                <a:solidFill>
                  <a:srgbClr val="CCCCCC"/>
                </a:solidFill>
                <a:effectLst/>
                <a:latin typeface="Consolas" panose="020B0609020204030204" pitchFamily="49" charset="0"/>
              </a:rPr>
              <a:t> </a:t>
            </a:r>
            <a:r>
              <a:rPr lang="ro-RO" sz="2200" b="1" noProof="0" dirty="0" err="1">
                <a:solidFill>
                  <a:srgbClr val="4EC9B0"/>
                </a:solidFill>
                <a:effectLst/>
                <a:latin typeface="Consolas" panose="020B0609020204030204" pitchFamily="49" charset="0"/>
              </a:rPr>
              <a:t>MyGenericArray</a:t>
            </a:r>
            <a:r>
              <a:rPr lang="ro-RO" sz="2200" b="1" noProof="0" dirty="0">
                <a:solidFill>
                  <a:srgbClr val="CCCCCC"/>
                </a:solidFill>
                <a:effectLst/>
                <a:latin typeface="Consolas" panose="020B0609020204030204" pitchFamily="49" charset="0"/>
              </a:rPr>
              <a:t>&lt;</a:t>
            </a:r>
            <a:r>
              <a:rPr lang="ro-RO" sz="2200" b="1" noProof="0" dirty="0" err="1">
                <a:solidFill>
                  <a:srgbClr val="569CD6"/>
                </a:solidFill>
                <a:effectLst/>
                <a:latin typeface="Consolas" panose="020B0609020204030204" pitchFamily="49" charset="0"/>
              </a:rPr>
              <a:t>char</a:t>
            </a:r>
            <a:r>
              <a:rPr lang="ro-RO" sz="2200" b="1" noProof="0" dirty="0">
                <a:solidFill>
                  <a:srgbClr val="CCCCCC"/>
                </a:solidFill>
                <a:effectLst/>
                <a:latin typeface="Consolas" panose="020B0609020204030204" pitchFamily="49" charset="0"/>
              </a:rPr>
              <a:t>&gt;(</a:t>
            </a:r>
            <a:r>
              <a:rPr lang="ro-RO" sz="2200" b="1" noProof="0" dirty="0">
                <a:solidFill>
                  <a:srgbClr val="B5CEA8"/>
                </a:solidFill>
                <a:effectLst/>
                <a:latin typeface="Consolas" panose="020B0609020204030204" pitchFamily="49" charset="0"/>
              </a:rPr>
              <a:t>5</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6A9955"/>
                </a:solidFill>
                <a:effectLst/>
                <a:latin typeface="Consolas" panose="020B0609020204030204" pitchFamily="49" charset="0"/>
              </a:rPr>
              <a:t>         //stabilesc valorile</a:t>
            </a:r>
            <a:endParaRPr lang="ro-RO" sz="2200" b="1" noProof="0" dirty="0">
              <a:solidFill>
                <a:srgbClr val="CCCCCC"/>
              </a:solidFill>
              <a:effectLst/>
              <a:latin typeface="Consolas" panose="020B0609020204030204" pitchFamily="49" charset="0"/>
            </a:endParaRP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C586C0"/>
                </a:solidFill>
                <a:effectLst/>
                <a:latin typeface="Consolas" panose="020B0609020204030204" pitchFamily="49" charset="0"/>
              </a:rPr>
              <a:t>for</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int</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a:solidFill>
                  <a:srgbClr val="B5CEA8"/>
                </a:solidFill>
                <a:effectLst/>
                <a:latin typeface="Consolas" panose="020B0609020204030204" pitchFamily="49" charset="0"/>
              </a:rPr>
              <a:t>0</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&lt;</a:t>
            </a:r>
            <a:r>
              <a:rPr lang="ro-RO" sz="2200" b="1" noProof="0" dirty="0">
                <a:solidFill>
                  <a:srgbClr val="CCCCCC"/>
                </a:solidFill>
                <a:effectLst/>
                <a:latin typeface="Consolas" panose="020B0609020204030204" pitchFamily="49" charset="0"/>
              </a:rPr>
              <a:t> </a:t>
            </a:r>
            <a:r>
              <a:rPr lang="ro-RO" sz="2200" b="1" noProof="0" dirty="0">
                <a:solidFill>
                  <a:srgbClr val="B5CEA8"/>
                </a:solidFill>
                <a:effectLst/>
                <a:latin typeface="Consolas" panose="020B0609020204030204" pitchFamily="49" charset="0"/>
              </a:rPr>
              <a:t>5</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charArray</a:t>
            </a:r>
            <a:r>
              <a:rPr lang="ro-RO" sz="2200" b="1" noProof="0" dirty="0" err="1">
                <a:solidFill>
                  <a:srgbClr val="CCCCCC"/>
                </a:solidFill>
                <a:effectLst/>
                <a:latin typeface="Consolas" panose="020B0609020204030204" pitchFamily="49" charset="0"/>
              </a:rPr>
              <a:t>.</a:t>
            </a:r>
            <a:r>
              <a:rPr lang="ro-RO" sz="2200" b="1" noProof="0" dirty="0" err="1">
                <a:solidFill>
                  <a:srgbClr val="DCDCAA"/>
                </a:solidFill>
                <a:effectLst/>
                <a:latin typeface="Consolas" panose="020B0609020204030204" pitchFamily="49" charset="0"/>
              </a:rPr>
              <a:t>setItem</a:t>
            </a:r>
            <a:r>
              <a:rPr lang="ro-RO" sz="2200" b="1" noProof="0" dirty="0">
                <a:solidFill>
                  <a:srgbClr val="CCCCCC"/>
                </a:solidFill>
                <a:effectLst/>
                <a:latin typeface="Consolas" panose="020B0609020204030204" pitchFamily="49" charset="0"/>
              </a:rPr>
              <a:t>(</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char</a:t>
            </a:r>
            <a:r>
              <a:rPr lang="ro-RO" sz="2200" b="1" noProof="0" dirty="0">
                <a:solidFill>
                  <a:srgbClr val="CCCCCC"/>
                </a:solidFill>
                <a:effectLst/>
                <a:latin typeface="Consolas" panose="020B0609020204030204" pitchFamily="49" charset="0"/>
              </a:rPr>
              <a:t>)(</a:t>
            </a:r>
            <a:r>
              <a:rPr lang="ro-RO" sz="2200" b="1" noProof="0" dirty="0">
                <a:solidFill>
                  <a:srgbClr val="9CDCFE"/>
                </a:solidFill>
                <a:effectLst/>
                <a:latin typeface="Consolas" panose="020B0609020204030204" pitchFamily="49" charset="0"/>
              </a:rPr>
              <a:t>c</a:t>
            </a:r>
            <a:r>
              <a:rPr lang="ro-RO" sz="2200" b="1" noProof="0" dirty="0">
                <a:solidFill>
                  <a:srgbClr val="D4D4D4"/>
                </a:solidFill>
                <a:effectLst/>
                <a:latin typeface="Consolas" panose="020B0609020204030204" pitchFamily="49" charset="0"/>
              </a:rPr>
              <a:t>+</a:t>
            </a:r>
            <a:r>
              <a:rPr lang="ro-RO" sz="2200" b="1" noProof="0" dirty="0">
                <a:solidFill>
                  <a:srgbClr val="B5CEA8"/>
                </a:solidFill>
                <a:effectLst/>
                <a:latin typeface="Consolas" panose="020B0609020204030204" pitchFamily="49" charset="0"/>
              </a:rPr>
              <a:t>97</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6A9955"/>
                </a:solidFill>
                <a:effectLst/>
                <a:latin typeface="Consolas" panose="020B0609020204030204" pitchFamily="49" charset="0"/>
              </a:rPr>
              <a:t>         //</a:t>
            </a:r>
            <a:r>
              <a:rPr lang="ro-RO" sz="2200" b="1" noProof="0" dirty="0" err="1">
                <a:solidFill>
                  <a:srgbClr val="6A9955"/>
                </a:solidFill>
                <a:effectLst/>
                <a:latin typeface="Consolas" panose="020B0609020204030204" pitchFamily="49" charset="0"/>
              </a:rPr>
              <a:t>obrin</a:t>
            </a:r>
            <a:r>
              <a:rPr lang="ro-RO" sz="2200" b="1" noProof="0" dirty="0">
                <a:solidFill>
                  <a:srgbClr val="6A9955"/>
                </a:solidFill>
                <a:effectLst/>
                <a:latin typeface="Consolas" panose="020B0609020204030204" pitchFamily="49" charset="0"/>
              </a:rPr>
              <a:t> si </a:t>
            </a:r>
            <a:r>
              <a:rPr lang="ro-RO" sz="2200" b="1" noProof="0" dirty="0" err="1">
                <a:solidFill>
                  <a:srgbClr val="6A9955"/>
                </a:solidFill>
                <a:effectLst/>
                <a:latin typeface="Consolas" panose="020B0609020204030204" pitchFamily="49" charset="0"/>
              </a:rPr>
              <a:t>afisez</a:t>
            </a:r>
            <a:r>
              <a:rPr lang="ro-RO" sz="2200" b="1" noProof="0" dirty="0">
                <a:solidFill>
                  <a:srgbClr val="6A9955"/>
                </a:solidFill>
                <a:effectLst/>
                <a:latin typeface="Consolas" panose="020B0609020204030204" pitchFamily="49" charset="0"/>
              </a:rPr>
              <a:t> valorile</a:t>
            </a:r>
            <a:endParaRPr lang="ro-RO" sz="2200" b="1" noProof="0" dirty="0">
              <a:solidFill>
                <a:srgbClr val="CCCCCC"/>
              </a:solidFill>
              <a:effectLst/>
              <a:latin typeface="Consolas" panose="020B0609020204030204" pitchFamily="49" charset="0"/>
            </a:endParaRP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a:solidFill>
                  <a:srgbClr val="C586C0"/>
                </a:solidFill>
                <a:effectLst/>
                <a:latin typeface="Consolas" panose="020B0609020204030204" pitchFamily="49" charset="0"/>
              </a:rPr>
              <a:t>for</a:t>
            </a:r>
            <a:r>
              <a:rPr lang="ro-RO" sz="2200" b="1" noProof="0" dirty="0">
                <a:solidFill>
                  <a:srgbClr val="CCCCCC"/>
                </a:solidFill>
                <a:effectLst/>
                <a:latin typeface="Consolas" panose="020B0609020204030204" pitchFamily="49" charset="0"/>
              </a:rPr>
              <a:t> (</a:t>
            </a:r>
            <a:r>
              <a:rPr lang="ro-RO" sz="2200" b="1" noProof="0" dirty="0" err="1">
                <a:solidFill>
                  <a:srgbClr val="569CD6"/>
                </a:solidFill>
                <a:effectLst/>
                <a:latin typeface="Consolas" panose="020B0609020204030204" pitchFamily="49" charset="0"/>
              </a:rPr>
              <a:t>int</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a:solidFill>
                  <a:srgbClr val="B5CEA8"/>
                </a:solidFill>
                <a:effectLst/>
                <a:latin typeface="Consolas" panose="020B0609020204030204" pitchFamily="49" charset="0"/>
              </a:rPr>
              <a:t>0</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D4D4D4"/>
                </a:solidFill>
                <a:effectLst/>
                <a:latin typeface="Consolas" panose="020B0609020204030204" pitchFamily="49" charset="0"/>
              </a:rPr>
              <a:t>&lt;</a:t>
            </a:r>
            <a:r>
              <a:rPr lang="ro-RO" sz="2200" b="1" noProof="0" dirty="0">
                <a:solidFill>
                  <a:srgbClr val="CCCCCC"/>
                </a:solidFill>
                <a:effectLst/>
                <a:latin typeface="Consolas" panose="020B0609020204030204" pitchFamily="49" charset="0"/>
              </a:rPr>
              <a:t> </a:t>
            </a:r>
            <a:r>
              <a:rPr lang="ro-RO" sz="2200" b="1" noProof="0" dirty="0">
                <a:solidFill>
                  <a:srgbClr val="B5CEA8"/>
                </a:solidFill>
                <a:effectLst/>
                <a:latin typeface="Consolas" panose="020B0609020204030204" pitchFamily="49" charset="0"/>
              </a:rPr>
              <a:t>5</a:t>
            </a:r>
            <a:r>
              <a:rPr lang="ro-RO" sz="2200" b="1" noProof="0" dirty="0">
                <a:solidFill>
                  <a:srgbClr val="CCCCCC"/>
                </a:solidFill>
                <a:effectLst/>
                <a:latin typeface="Consolas" panose="020B0609020204030204" pitchFamily="49" charset="0"/>
              </a:rPr>
              <a:t>; </a:t>
            </a:r>
            <a:r>
              <a:rPr lang="ro-RO" sz="2200" b="1" noProof="0" dirty="0">
                <a:solidFill>
                  <a:srgbClr val="9CDCFE"/>
                </a:solidFill>
                <a:effectLst/>
                <a:latin typeface="Consolas" panose="020B0609020204030204" pitchFamily="49" charset="0"/>
              </a:rPr>
              <a:t>c</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r>
              <a:rPr lang="ro-RO" sz="2200" b="1" noProof="0" dirty="0" err="1">
                <a:solidFill>
                  <a:srgbClr val="9CDCFE"/>
                </a:solidFill>
                <a:effectLst/>
                <a:latin typeface="Consolas" panose="020B0609020204030204" pitchFamily="49" charset="0"/>
              </a:rPr>
              <a:t>Console</a:t>
            </a:r>
            <a:r>
              <a:rPr lang="ro-RO" sz="2200" b="1" noProof="0" dirty="0" err="1">
                <a:solidFill>
                  <a:srgbClr val="CCCCCC"/>
                </a:solidFill>
                <a:effectLst/>
                <a:latin typeface="Consolas" panose="020B0609020204030204" pitchFamily="49" charset="0"/>
              </a:rPr>
              <a:t>.</a:t>
            </a:r>
            <a:r>
              <a:rPr lang="ro-RO" sz="2200" b="1" noProof="0" dirty="0" err="1">
                <a:solidFill>
                  <a:srgbClr val="DCDCAA"/>
                </a:solidFill>
                <a:effectLst/>
                <a:latin typeface="Consolas" panose="020B0609020204030204" pitchFamily="49" charset="0"/>
              </a:rPr>
              <a:t>Write</a:t>
            </a:r>
            <a:r>
              <a:rPr lang="ro-RO" sz="2200" b="1" noProof="0" dirty="0">
                <a:solidFill>
                  <a:srgbClr val="CCCCCC"/>
                </a:solidFill>
                <a:effectLst/>
                <a:latin typeface="Consolas" panose="020B0609020204030204" pitchFamily="49" charset="0"/>
              </a:rPr>
              <a:t>(</a:t>
            </a:r>
            <a:r>
              <a:rPr lang="ro-RO" sz="2200" b="1" noProof="0" dirty="0" err="1">
                <a:solidFill>
                  <a:srgbClr val="9CDCFE"/>
                </a:solidFill>
                <a:effectLst/>
                <a:latin typeface="Consolas" panose="020B0609020204030204" pitchFamily="49" charset="0"/>
              </a:rPr>
              <a:t>charArray</a:t>
            </a:r>
            <a:r>
              <a:rPr lang="ro-RO" sz="2200" b="1" noProof="0" dirty="0" err="1">
                <a:solidFill>
                  <a:srgbClr val="CCCCCC"/>
                </a:solidFill>
                <a:effectLst/>
                <a:latin typeface="Consolas" panose="020B0609020204030204" pitchFamily="49" charset="0"/>
              </a:rPr>
              <a:t>.</a:t>
            </a:r>
            <a:r>
              <a:rPr lang="ro-RO" sz="2200" b="1" noProof="0" dirty="0" err="1">
                <a:solidFill>
                  <a:srgbClr val="DCDCAA"/>
                </a:solidFill>
                <a:effectLst/>
                <a:latin typeface="Consolas" panose="020B0609020204030204" pitchFamily="49" charset="0"/>
              </a:rPr>
              <a:t>getItem</a:t>
            </a:r>
            <a:r>
              <a:rPr lang="ro-RO" sz="2200" b="1" noProof="0" dirty="0">
                <a:solidFill>
                  <a:srgbClr val="CCCCCC"/>
                </a:solidFill>
                <a:effectLst/>
                <a:latin typeface="Consolas" panose="020B0609020204030204" pitchFamily="49" charset="0"/>
              </a:rPr>
              <a:t>(</a:t>
            </a:r>
            <a:r>
              <a:rPr lang="ro-RO" sz="2200" b="1" noProof="0" dirty="0">
                <a:solidFill>
                  <a:srgbClr val="9CDCFE"/>
                </a:solidFill>
                <a:effectLst/>
                <a:latin typeface="Consolas" panose="020B0609020204030204" pitchFamily="49" charset="0"/>
              </a:rPr>
              <a:t>c</a:t>
            </a:r>
            <a:r>
              <a:rPr lang="ro-RO" sz="2200" b="1" noProof="0" dirty="0">
                <a:solidFill>
                  <a:srgbClr val="CCCCCC"/>
                </a:solidFill>
                <a:effectLst/>
                <a:latin typeface="Consolas" panose="020B0609020204030204" pitchFamily="49" charset="0"/>
              </a:rPr>
              <a:t>) </a:t>
            </a:r>
            <a:r>
              <a:rPr lang="ro-RO" sz="2200" b="1" noProof="0" dirty="0">
                <a:solidFill>
                  <a:srgbClr val="D4D4D4"/>
                </a:solidFill>
                <a:effectLst/>
                <a:latin typeface="Consolas" panose="020B0609020204030204" pitchFamily="49" charset="0"/>
              </a:rPr>
              <a:t>+</a:t>
            </a:r>
            <a:r>
              <a:rPr lang="ro-RO" sz="2200" b="1" noProof="0" dirty="0">
                <a:solidFill>
                  <a:srgbClr val="CCCCCC"/>
                </a:solidFill>
                <a:effectLst/>
                <a:latin typeface="Consolas" panose="020B0609020204030204" pitchFamily="49" charset="0"/>
              </a:rPr>
              <a:t> </a:t>
            </a:r>
            <a:r>
              <a:rPr lang="ro-RO" sz="2200" b="1" noProof="0" dirty="0">
                <a:solidFill>
                  <a:srgbClr val="CE9178"/>
                </a:solidFill>
                <a:effectLst/>
                <a:latin typeface="Consolas" panose="020B0609020204030204" pitchFamily="49" charset="0"/>
              </a:rPr>
              <a:t>" "</a:t>
            </a:r>
            <a:r>
              <a:rPr lang="ro-RO" sz="22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495896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AFEDB-182B-69BE-D9D3-CD73A1456A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D7323A-30E4-76D0-F578-9E8F9CFE72D6}"/>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23D9B055-1DA6-2C61-F333-C435840B87C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methods</a:t>
            </a:r>
            <a:r>
              <a:rPr lang="ro-RO" sz="2800" noProof="0" dirty="0">
                <a:solidFill>
                  <a:schemeClr val="tx2"/>
                </a:solidFill>
              </a:rPr>
              <a:t> - Metode generice</a:t>
            </a:r>
          </a:p>
          <a:p>
            <a:pPr marL="34290" indent="0" algn="just">
              <a:buNone/>
            </a:pPr>
            <a:r>
              <a:rPr lang="ro-RO" sz="2800" noProof="0" dirty="0">
                <a:solidFill>
                  <a:srgbClr val="00B0F0"/>
                </a:solidFill>
              </a:rPr>
              <a:t>Metodele generice ne permit să definim o metodă cu parametri de tip și să operați cu diferite tipuri de parametri fără a defini metode multiple.</a:t>
            </a: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2257155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E765F-BDD4-C9BF-491E-DFFB539A74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7ED470-7D97-65EF-07F8-A89B52F2A62C}"/>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FEC37D32-61FB-BB08-9B46-EAA5CE75D0BC}"/>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methods</a:t>
            </a:r>
            <a:r>
              <a:rPr lang="ro-RO" sz="2800" noProof="0" dirty="0">
                <a:solidFill>
                  <a:schemeClr val="tx2"/>
                </a:solidFill>
              </a:rPr>
              <a:t> - Metode generice - exemplu</a:t>
            </a:r>
            <a:endParaRPr lang="ro-RO" sz="2800" noProof="0" dirty="0">
              <a:solidFill>
                <a:srgbClr val="00B0F0"/>
              </a:solidFill>
            </a:endParaRP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În exemplul anterior, am folosit o clasă generică; putem declara o metodă generică cu un parametru de tip. Următorul program ilustrează acest concept:</a:t>
            </a:r>
            <a:endParaRPr lang="ro-RO" sz="2000" b="1" noProof="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666703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3BA23-81DD-4B59-76F9-B4E57B778C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CAFC66-4777-C9A6-367C-878CB516581F}"/>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D2E0EB6F-926A-91AB-E88C-B0798DAAC8DB}"/>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methods</a:t>
            </a:r>
            <a:r>
              <a:rPr lang="ro-RO" sz="2800" noProof="0" dirty="0">
                <a:solidFill>
                  <a:schemeClr val="tx2"/>
                </a:solidFill>
              </a:rPr>
              <a:t> - Metode generice - exemplu</a:t>
            </a:r>
            <a:endParaRPr lang="ro-RO" sz="2800" noProof="0" dirty="0">
              <a:solidFill>
                <a:srgbClr val="00B0F0"/>
              </a:solidFill>
            </a:endParaRPr>
          </a:p>
          <a:p>
            <a:pPr>
              <a:lnSpc>
                <a:spcPts val="1425"/>
              </a:lnSpc>
              <a:buNone/>
            </a:pPr>
            <a:endParaRPr lang="ro-RO" sz="2200" b="1" noProof="0" dirty="0">
              <a:solidFill>
                <a:srgbClr val="C586C0"/>
              </a:solidFill>
              <a:effectLst/>
              <a:latin typeface="Consolas" panose="020B0609020204030204" pitchFamily="49" charset="0"/>
            </a:endParaRP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err="1">
                <a:solidFill>
                  <a:srgbClr val="CCCCCC"/>
                </a:solidFill>
                <a:effectLst/>
                <a:latin typeface="Consolas" panose="020B0609020204030204" pitchFamily="49" charset="0"/>
              </a:rPr>
              <a:t>.</a:t>
            </a:r>
            <a:r>
              <a:rPr lang="ro-RO" sz="2000" b="1" noProof="0" dirty="0" err="1">
                <a:solidFill>
                  <a:srgbClr val="4EC9B0"/>
                </a:solidFill>
                <a:effectLst/>
                <a:latin typeface="Consolas" panose="020B0609020204030204" pitchFamily="49" charset="0"/>
              </a:rPr>
              <a:t>Collections</a:t>
            </a:r>
            <a:r>
              <a:rPr lang="ro-RO" sz="2000" b="1" noProof="0" dirty="0" err="1">
                <a:solidFill>
                  <a:srgbClr val="CCCCCC"/>
                </a:solidFill>
                <a:effectLst/>
                <a:latin typeface="Consolas" panose="020B0609020204030204" pitchFamily="49" charset="0"/>
              </a:rPr>
              <a:t>.</a:t>
            </a:r>
            <a:r>
              <a:rPr lang="ro-RO" sz="2000" b="1" noProof="0" dirty="0" err="1">
                <a:solidFill>
                  <a:srgbClr val="4EC9B0"/>
                </a:solidFill>
                <a:effectLst/>
                <a:latin typeface="Consolas" panose="020B0609020204030204" pitchFamily="49" charset="0"/>
              </a:rPr>
              <a:t>Generic</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GenericMethodAppl</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Program</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Swap</a:t>
            </a:r>
            <a:r>
              <a:rPr lang="ro-RO" sz="2000" b="1" noProof="0" dirty="0">
                <a:solidFill>
                  <a:srgbClr val="CCCCCC"/>
                </a:solidFill>
                <a:effectLst/>
                <a:latin typeface="Consolas" panose="020B0609020204030204" pitchFamily="49" charset="0"/>
              </a:rPr>
              <a:t>&lt;</a:t>
            </a:r>
            <a:r>
              <a:rPr lang="ro-RO" sz="2000" b="1" noProof="0" dirty="0">
                <a:solidFill>
                  <a:srgbClr val="4EC9B0"/>
                </a:solidFill>
                <a:effectLst/>
                <a:latin typeface="Consolas" panose="020B0609020204030204" pitchFamily="49" charset="0"/>
              </a:rPr>
              <a:t>T</a:t>
            </a:r>
            <a:r>
              <a:rPr lang="ro-RO" sz="2000" b="1" noProof="0" dirty="0">
                <a:solidFill>
                  <a:srgbClr val="CCCCCC"/>
                </a:solidFill>
                <a:effectLst/>
                <a:latin typeface="Consolas" panose="020B0609020204030204" pitchFamily="49" charset="0"/>
              </a:rPr>
              <a:t>&gt;(</a:t>
            </a:r>
            <a:r>
              <a:rPr lang="ro-RO" sz="2000" b="1" noProof="0" dirty="0" err="1">
                <a:solidFill>
                  <a:srgbClr val="569CD6"/>
                </a:solidFill>
                <a:effectLst/>
                <a:latin typeface="Consolas" panose="020B0609020204030204" pitchFamily="49" charset="0"/>
              </a:rPr>
              <a:t>ref</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lhs</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ref</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rhs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temp</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temp</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lhs</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lhs</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rhs</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rhs</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temp</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void</a:t>
            </a:r>
            <a:r>
              <a:rPr lang="ro-RO" sz="2000" b="1" noProof="0" dirty="0">
                <a:solidFill>
                  <a:srgbClr val="CCCCCC"/>
                </a:solidFill>
                <a:effectLst/>
                <a:latin typeface="Consolas" panose="020B0609020204030204" pitchFamily="49" charset="0"/>
              </a:rPr>
              <a:t> </a:t>
            </a:r>
            <a:r>
              <a:rPr lang="ro-RO" sz="2000" b="1" noProof="0" dirty="0">
                <a:solidFill>
                  <a:srgbClr val="DCDCAA"/>
                </a:solidFill>
                <a:effectLst/>
                <a:latin typeface="Consolas" panose="020B0609020204030204" pitchFamily="49" charset="0"/>
              </a:rPr>
              <a:t>Main</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string</a:t>
            </a:r>
            <a:r>
              <a:rPr lang="ro-RO" sz="2000" b="1" noProof="0" dirty="0">
                <a:solidFill>
                  <a:srgbClr val="CCCCCC"/>
                </a:solidFill>
                <a:effectLst/>
                <a:latin typeface="Consolas" panose="020B0609020204030204" pitchFamily="49" charset="0"/>
              </a:rPr>
              <a:t>[] </a:t>
            </a:r>
            <a:r>
              <a:rPr lang="ro-RO" sz="2000" b="1" noProof="0" dirty="0" err="1">
                <a:solidFill>
                  <a:srgbClr val="9CDCFE"/>
                </a:solidFill>
                <a:effectLst/>
                <a:latin typeface="Consolas" panose="020B0609020204030204" pitchFamily="49" charset="0"/>
              </a:rPr>
              <a:t>args</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a</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char</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d</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a</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b</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20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c</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'I'</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d</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CE9178"/>
                </a:solidFill>
                <a:effectLst/>
                <a:latin typeface="Consolas" panose="020B0609020204030204" pitchFamily="49" charset="0"/>
              </a:rPr>
              <a:t>'V'</a:t>
            </a:r>
            <a:r>
              <a:rPr lang="ro-RO" sz="2000" b="1" noProof="0" dirty="0">
                <a:solidFill>
                  <a:srgbClr val="CCCCCC"/>
                </a:solidFill>
                <a:effectLst/>
                <a:latin typeface="Consolas" panose="020B0609020204030204" pitchFamily="49" charset="0"/>
              </a:rPr>
              <a:t>;</a:t>
            </a:r>
          </a:p>
          <a:p>
            <a:pPr>
              <a:lnSpc>
                <a:spcPts val="1425"/>
              </a:lnSpc>
              <a:buNone/>
            </a:pPr>
            <a:r>
              <a:rPr lang="ro-RO" sz="2200" b="1" noProof="0" dirty="0">
                <a:solidFill>
                  <a:srgbClr val="CCCCCC"/>
                </a:solidFill>
                <a:effectLst/>
                <a:latin typeface="Consolas" panose="020B0609020204030204" pitchFamily="49" charset="0"/>
              </a:rPr>
              <a:t>         </a:t>
            </a:r>
          </a:p>
          <a:p>
            <a:pPr>
              <a:lnSpc>
                <a:spcPts val="1425"/>
              </a:lnSpc>
              <a:buNone/>
            </a:pPr>
            <a:r>
              <a:rPr lang="ro-RO" sz="2200" b="1" noProof="0" dirty="0">
                <a:solidFill>
                  <a:srgbClr val="6A9955"/>
                </a:solidFill>
                <a:effectLst/>
                <a:latin typeface="Consolas" panose="020B0609020204030204" pitchFamily="49" charset="0"/>
              </a:rPr>
              <a:t>         </a:t>
            </a:r>
            <a:endParaRPr lang="ro-RO" sz="2200" b="1" noProof="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386425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D3792-4F43-1322-18AE-F2812F998C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8B5051-0A72-1991-0FAB-577DD2134866}"/>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05ADB3D2-1925-90A4-4C05-3E76C8E747A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methods</a:t>
            </a:r>
            <a:r>
              <a:rPr lang="ro-RO" sz="2800" noProof="0" dirty="0">
                <a:solidFill>
                  <a:schemeClr val="tx2"/>
                </a:solidFill>
              </a:rPr>
              <a:t> - Metode generice - exemplu</a:t>
            </a:r>
            <a:endParaRPr lang="ro-RO" sz="2800" noProof="0" dirty="0">
              <a:solidFill>
                <a:srgbClr val="00B0F0"/>
              </a:solidFill>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2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//valorile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inainte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de interschimbare:</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values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before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calling</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swap</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 = {0}, b = {1}"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Char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values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before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calling</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swap</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"c = {0}, d = {1}"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Swap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ref</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ref</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Swap</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char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ref</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ref</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//valorile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dupa</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interschimbare:</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values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after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calling</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swap</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 = {0}, b = {1}"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a</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b</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Char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values</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after</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calling</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swap</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"c = {0}, d = {1}"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endParaRPr lang="ro-RO" sz="2000" noProof="0" dirty="0">
              <a:solidFill>
                <a:srgbClr val="00B0F0"/>
              </a:solidFill>
            </a:endParaRPr>
          </a:p>
        </p:txBody>
      </p:sp>
    </p:spTree>
    <p:extLst>
      <p:ext uri="{BB962C8B-B14F-4D97-AF65-F5344CB8AC3E}">
        <p14:creationId xmlns:p14="http://schemas.microsoft.com/office/powerpoint/2010/main" val="1723150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58A3D-F2FF-79ED-D48B-4E8CB8D9D4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6603CE-CE23-550C-C189-167AE6F82260}"/>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1A7394FC-FE86-2C14-4E96-E9D8B21B33D8}"/>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delegates</a:t>
            </a:r>
            <a:r>
              <a:rPr lang="ro-RO" sz="2800" noProof="0" dirty="0">
                <a:solidFill>
                  <a:schemeClr val="tx2"/>
                </a:solidFill>
              </a:rPr>
              <a:t> - </a:t>
            </a:r>
            <a:r>
              <a:rPr lang="ro-RO" sz="2800" noProof="0" dirty="0" err="1">
                <a:solidFill>
                  <a:schemeClr val="tx2"/>
                </a:solidFill>
              </a:rPr>
              <a:t>Delegati</a:t>
            </a:r>
            <a:r>
              <a:rPr lang="ro-RO" sz="2800" noProof="0" dirty="0">
                <a:solidFill>
                  <a:schemeClr val="tx2"/>
                </a:solidFill>
              </a:rPr>
              <a:t> generici</a:t>
            </a:r>
            <a:endParaRPr lang="ro-RO" sz="2800" noProof="0" dirty="0">
              <a:solidFill>
                <a:srgbClr val="00B0F0"/>
              </a:solidFill>
            </a:endParaRPr>
          </a:p>
          <a:p>
            <a:pPr marL="34290" indent="0" algn="just">
              <a:buNone/>
            </a:pPr>
            <a:r>
              <a:rPr lang="ro-RO" sz="2800" noProof="0" dirty="0">
                <a:solidFill>
                  <a:srgbClr val="00B0F0"/>
                </a:solidFill>
              </a:rPr>
              <a:t>Puteți defini un delegat generic cu parametri de tip. </a:t>
            </a:r>
          </a:p>
          <a:p>
            <a:pPr marL="34290" indent="0" algn="just">
              <a:buNone/>
            </a:pPr>
            <a:r>
              <a:rPr lang="ro-RO" sz="2800" noProof="0" dirty="0">
                <a:solidFill>
                  <a:srgbClr val="00B0F0"/>
                </a:solidFill>
              </a:rPr>
              <a:t>Exemplu:</a:t>
            </a:r>
          </a:p>
          <a:p>
            <a:pPr marL="34290" indent="0" algn="just">
              <a:buNone/>
            </a:pPr>
            <a:r>
              <a:rPr lang="ro-RO" sz="2400" b="1" i="0" noProof="0" dirty="0">
                <a:solidFill>
                  <a:srgbClr val="CC99CD"/>
                </a:solidFill>
                <a:effectLst/>
                <a:latin typeface="Courier New" panose="02070309020205020404" pitchFamily="49" charset="0"/>
              </a:rPr>
              <a:t>delegate</a:t>
            </a:r>
            <a:r>
              <a:rPr lang="ro-RO" sz="2400" b="1" i="0" noProof="0" dirty="0">
                <a:solidFill>
                  <a:srgbClr val="CCCCCC"/>
                </a:solidFill>
                <a:effectLst/>
                <a:latin typeface="Courier New" panose="02070309020205020404" pitchFamily="49" charset="0"/>
              </a:rPr>
              <a:t> T </a:t>
            </a:r>
            <a:r>
              <a:rPr lang="ro-RO" sz="2400" b="1" i="0" noProof="0" dirty="0" err="1">
                <a:solidFill>
                  <a:srgbClr val="F08D49"/>
                </a:solidFill>
                <a:effectLst/>
                <a:latin typeface="Courier New" panose="02070309020205020404" pitchFamily="49" charset="0"/>
              </a:rPr>
              <a:t>NumberChanger</a:t>
            </a:r>
            <a:r>
              <a:rPr lang="ro-RO" sz="2400" b="1" i="0" noProof="0" dirty="0">
                <a:solidFill>
                  <a:srgbClr val="CCCCCC"/>
                </a:solidFill>
                <a:effectLst/>
                <a:latin typeface="Courier New" panose="02070309020205020404" pitchFamily="49" charset="0"/>
              </a:rPr>
              <a:t>&lt;T&gt;(T n);</a:t>
            </a:r>
            <a:endParaRPr lang="ro-RO" sz="2400" b="1" noProof="0" dirty="0">
              <a:solidFill>
                <a:srgbClr val="00B0F0"/>
              </a:solidFill>
            </a:endParaRPr>
          </a:p>
        </p:txBody>
      </p:sp>
    </p:spTree>
    <p:extLst>
      <p:ext uri="{BB962C8B-B14F-4D97-AF65-F5344CB8AC3E}">
        <p14:creationId xmlns:p14="http://schemas.microsoft.com/office/powerpoint/2010/main" val="3029721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74972-52BE-7C4D-E649-ABFE2B2BC4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AE6233-279D-ACBE-A27F-E2FDAFB09BF0}"/>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64961B7B-42C2-C86D-AD94-AD8618D1A6B9}"/>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delegates</a:t>
            </a:r>
            <a:r>
              <a:rPr lang="ro-RO" sz="2800" noProof="0" dirty="0">
                <a:solidFill>
                  <a:schemeClr val="tx2"/>
                </a:solidFill>
              </a:rPr>
              <a:t> - </a:t>
            </a:r>
            <a:r>
              <a:rPr lang="ro-RO" sz="2800" noProof="0" dirty="0" err="1">
                <a:solidFill>
                  <a:schemeClr val="tx2"/>
                </a:solidFill>
              </a:rPr>
              <a:t>Delegati</a:t>
            </a:r>
            <a:r>
              <a:rPr lang="ro-RO" sz="2800" noProof="0" dirty="0">
                <a:solidFill>
                  <a:schemeClr val="tx2"/>
                </a:solidFill>
              </a:rPr>
              <a:t> generic - exemplu</a:t>
            </a:r>
            <a:endParaRPr lang="ro-RO" sz="2800" noProof="0" dirty="0">
              <a:solidFill>
                <a:srgbClr val="00B0F0"/>
              </a:solidFill>
            </a:endParaRP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C586C0"/>
                </a:solidFill>
                <a:effectLst/>
                <a:latin typeface="Consolas" panose="020B0609020204030204" pitchFamily="49" charset="0"/>
              </a:rPr>
              <a:t>using</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System</a:t>
            </a:r>
            <a:r>
              <a:rPr lang="ro-RO" sz="2000" b="1" noProof="0" dirty="0" err="1">
                <a:solidFill>
                  <a:srgbClr val="CCCCCC"/>
                </a:solidFill>
                <a:effectLst/>
                <a:latin typeface="Consolas" panose="020B0609020204030204" pitchFamily="49" charset="0"/>
              </a:rPr>
              <a:t>.</a:t>
            </a:r>
            <a:r>
              <a:rPr lang="ro-RO" sz="2000" b="1" noProof="0" dirty="0" err="1">
                <a:solidFill>
                  <a:srgbClr val="4EC9B0"/>
                </a:solidFill>
                <a:effectLst/>
                <a:latin typeface="Consolas" panose="020B0609020204030204" pitchFamily="49" charset="0"/>
              </a:rPr>
              <a:t>Collections</a:t>
            </a:r>
            <a:r>
              <a:rPr lang="ro-RO" sz="2000" b="1" noProof="0" dirty="0" err="1">
                <a:solidFill>
                  <a:srgbClr val="CCCCCC"/>
                </a:solidFill>
                <a:effectLst/>
                <a:latin typeface="Consolas" panose="020B0609020204030204" pitchFamily="49" charset="0"/>
              </a:rPr>
              <a:t>.</a:t>
            </a:r>
            <a:r>
              <a:rPr lang="ro-RO" sz="2000" b="1" noProof="0" dirty="0" err="1">
                <a:solidFill>
                  <a:srgbClr val="4EC9B0"/>
                </a:solidFill>
                <a:effectLst/>
                <a:latin typeface="Consolas" panose="020B0609020204030204" pitchFamily="49" charset="0"/>
              </a:rPr>
              <a:t>Generic</a:t>
            </a:r>
            <a:r>
              <a:rPr lang="ro-RO" sz="2000" b="1" noProof="0" dirty="0">
                <a:solidFill>
                  <a:srgbClr val="CCCCCC"/>
                </a:solidFill>
                <a:effectLst/>
                <a:latin typeface="Consolas" panose="020B0609020204030204" pitchFamily="49" charset="0"/>
              </a:rPr>
              <a:t>;</a:t>
            </a:r>
          </a:p>
          <a:p>
            <a:pPr>
              <a:lnSpc>
                <a:spcPts val="1425"/>
              </a:lnSpc>
              <a:buNone/>
            </a:pPr>
            <a:br>
              <a:rPr lang="ro-RO" sz="2000" b="1" noProof="0" dirty="0">
                <a:solidFill>
                  <a:srgbClr val="CCCCCC"/>
                </a:solidFill>
                <a:effectLst/>
                <a:latin typeface="Consolas" panose="020B0609020204030204" pitchFamily="49" charset="0"/>
              </a:rPr>
            </a:br>
            <a:endParaRPr lang="ro-RO" sz="2000" b="1" noProof="0" dirty="0">
              <a:solidFill>
                <a:srgbClr val="CCCCCC"/>
              </a:solidFill>
              <a:effectLst/>
              <a:latin typeface="Consolas" panose="020B0609020204030204" pitchFamily="49" charset="0"/>
            </a:endParaRPr>
          </a:p>
          <a:p>
            <a:pPr>
              <a:lnSpc>
                <a:spcPts val="1425"/>
              </a:lnSpc>
              <a:buNone/>
            </a:pPr>
            <a:r>
              <a:rPr lang="ro-RO" sz="2000" b="1" noProof="0" dirty="0">
                <a:solidFill>
                  <a:srgbClr val="569CD6"/>
                </a:solidFill>
                <a:effectLst/>
                <a:latin typeface="Consolas" panose="020B0609020204030204" pitchFamily="49" charset="0"/>
              </a:rPr>
              <a:t>delegate</a:t>
            </a:r>
            <a:r>
              <a:rPr lang="ro-RO" sz="2000" b="1" noProof="0" dirty="0">
                <a:solidFill>
                  <a:srgbClr val="CCCCCC"/>
                </a:solidFill>
                <a:effectLst/>
                <a:latin typeface="Consolas" panose="020B0609020204030204" pitchFamily="49" charset="0"/>
              </a:rPr>
              <a:t> </a:t>
            </a:r>
            <a:r>
              <a:rPr lang="ro-RO" sz="2000" b="1" noProof="0" dirty="0">
                <a:solidFill>
                  <a:srgbClr val="4EC9B0"/>
                </a:solidFill>
                <a:effectLst/>
                <a:latin typeface="Consolas" panose="020B0609020204030204" pitchFamily="49" charset="0"/>
              </a:rPr>
              <a:t>T</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NumberChanger</a:t>
            </a:r>
            <a:r>
              <a:rPr lang="ro-RO" sz="2000" b="1" noProof="0" dirty="0">
                <a:solidFill>
                  <a:srgbClr val="CCCCCC"/>
                </a:solidFill>
                <a:effectLst/>
                <a:latin typeface="Consolas" panose="020B0609020204030204" pitchFamily="49" charset="0"/>
              </a:rPr>
              <a:t>&lt;</a:t>
            </a:r>
            <a:r>
              <a:rPr lang="ro-RO" sz="2000" b="1" noProof="0" dirty="0">
                <a:solidFill>
                  <a:srgbClr val="4EC9B0"/>
                </a:solidFill>
                <a:effectLst/>
                <a:latin typeface="Consolas" panose="020B0609020204030204" pitchFamily="49" charset="0"/>
              </a:rPr>
              <a:t>T</a:t>
            </a:r>
            <a:r>
              <a:rPr lang="ro-RO" sz="2000" b="1" noProof="0" dirty="0">
                <a:solidFill>
                  <a:srgbClr val="CCCCCC"/>
                </a:solidFill>
                <a:effectLst/>
                <a:latin typeface="Consolas" panose="020B0609020204030204" pitchFamily="49" charset="0"/>
              </a:rPr>
              <a:t>&gt;(</a:t>
            </a:r>
            <a:r>
              <a:rPr lang="ro-RO" sz="2000" b="1" noProof="0" dirty="0">
                <a:solidFill>
                  <a:srgbClr val="4EC9B0"/>
                </a:solidFill>
                <a:effectLst/>
                <a:latin typeface="Consolas" panose="020B0609020204030204" pitchFamily="49" charset="0"/>
              </a:rPr>
              <a:t>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err="1">
                <a:solidFill>
                  <a:srgbClr val="569CD6"/>
                </a:solidFill>
                <a:effectLst/>
                <a:latin typeface="Consolas" panose="020B0609020204030204" pitchFamily="49" charset="0"/>
              </a:rPr>
              <a:t>namespace</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GenericDelegateAppl</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class</a:t>
            </a:r>
            <a:r>
              <a:rPr lang="ro-RO" sz="2000" b="1" noProof="0" dirty="0">
                <a:solidFill>
                  <a:srgbClr val="CCCCCC"/>
                </a:solidFill>
                <a:effectLst/>
                <a:latin typeface="Consolas" panose="020B0609020204030204" pitchFamily="49" charset="0"/>
              </a:rPr>
              <a:t> </a:t>
            </a:r>
            <a:r>
              <a:rPr lang="ro-RO" sz="2000" b="1" noProof="0" dirty="0" err="1">
                <a:solidFill>
                  <a:srgbClr val="4EC9B0"/>
                </a:solidFill>
                <a:effectLst/>
                <a:latin typeface="Consolas" panose="020B0609020204030204" pitchFamily="49" charset="0"/>
              </a:rPr>
              <a:t>TestDelegate</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B5CEA8"/>
                </a:solidFill>
                <a:effectLst/>
                <a:latin typeface="Consolas" panose="020B0609020204030204" pitchFamily="49" charset="0"/>
              </a:rPr>
              <a:t>10</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AddNum</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p</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p</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MultNum</a:t>
            </a:r>
            <a:r>
              <a:rPr lang="ro-RO" sz="2000" b="1" noProof="0" dirty="0">
                <a:solidFill>
                  <a:srgbClr val="CCCCCC"/>
                </a:solidFill>
                <a:effectLst/>
                <a:latin typeface="Consolas" panose="020B0609020204030204" pitchFamily="49" charset="0"/>
              </a:rPr>
              <a:t>(</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q</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 </a:t>
            </a:r>
            <a:r>
              <a:rPr lang="ro-RO" sz="2000" b="1" noProof="0" dirty="0">
                <a:solidFill>
                  <a:srgbClr val="D4D4D4"/>
                </a:solidFill>
                <a:effectLst/>
                <a:latin typeface="Consolas" panose="020B0609020204030204" pitchFamily="49" charset="0"/>
              </a:rPr>
              <a:t>*=</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q</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public</a:t>
            </a:r>
            <a:r>
              <a:rPr lang="ro-RO" sz="2000" b="1" noProof="0" dirty="0">
                <a:solidFill>
                  <a:srgbClr val="CCCCCC"/>
                </a:solidFill>
                <a:effectLst/>
                <a:latin typeface="Consolas" panose="020B0609020204030204" pitchFamily="49" charset="0"/>
              </a:rPr>
              <a:t> </a:t>
            </a:r>
            <a:r>
              <a:rPr lang="ro-RO" sz="2000" b="1" noProof="0" dirty="0">
                <a:solidFill>
                  <a:srgbClr val="569CD6"/>
                </a:solidFill>
                <a:effectLst/>
                <a:latin typeface="Consolas" panose="020B0609020204030204" pitchFamily="49" charset="0"/>
              </a:rPr>
              <a:t>static</a:t>
            </a:r>
            <a:r>
              <a:rPr lang="ro-RO" sz="2000" b="1" noProof="0" dirty="0">
                <a:solidFill>
                  <a:srgbClr val="CCCCCC"/>
                </a:solidFill>
                <a:effectLst/>
                <a:latin typeface="Consolas" panose="020B0609020204030204" pitchFamily="49" charset="0"/>
              </a:rPr>
              <a:t> </a:t>
            </a:r>
            <a:r>
              <a:rPr lang="ro-RO" sz="2000" b="1" noProof="0" dirty="0" err="1">
                <a:solidFill>
                  <a:srgbClr val="569CD6"/>
                </a:solidFill>
                <a:effectLst/>
                <a:latin typeface="Consolas" panose="020B0609020204030204" pitchFamily="49" charset="0"/>
              </a:rPr>
              <a:t>int</a:t>
            </a:r>
            <a:r>
              <a:rPr lang="ro-RO" sz="2000" b="1" noProof="0" dirty="0">
                <a:solidFill>
                  <a:srgbClr val="CCCCCC"/>
                </a:solidFill>
                <a:effectLst/>
                <a:latin typeface="Consolas" panose="020B0609020204030204" pitchFamily="49" charset="0"/>
              </a:rPr>
              <a:t> </a:t>
            </a:r>
            <a:r>
              <a:rPr lang="ro-RO" sz="2000" b="1" noProof="0" dirty="0" err="1">
                <a:solidFill>
                  <a:srgbClr val="DCDCAA"/>
                </a:solidFill>
                <a:effectLst/>
                <a:latin typeface="Consolas" panose="020B0609020204030204" pitchFamily="49" charset="0"/>
              </a:rPr>
              <a:t>getNum</a:t>
            </a: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r>
              <a:rPr lang="ro-RO" sz="2000" b="1" noProof="0" dirty="0" err="1">
                <a:solidFill>
                  <a:srgbClr val="C586C0"/>
                </a:solidFill>
                <a:effectLst/>
                <a:latin typeface="Consolas" panose="020B0609020204030204" pitchFamily="49" charset="0"/>
              </a:rPr>
              <a:t>return</a:t>
            </a:r>
            <a:r>
              <a:rPr lang="ro-RO" sz="2000" b="1" noProof="0" dirty="0">
                <a:solidFill>
                  <a:srgbClr val="CCCCCC"/>
                </a:solidFill>
                <a:effectLst/>
                <a:latin typeface="Consolas" panose="020B0609020204030204" pitchFamily="49" charset="0"/>
              </a:rPr>
              <a:t> </a:t>
            </a:r>
            <a:r>
              <a:rPr lang="ro-RO" sz="2000" b="1" noProof="0" dirty="0">
                <a:solidFill>
                  <a:srgbClr val="9CDCFE"/>
                </a:solidFill>
                <a:effectLst/>
                <a:latin typeface="Consolas" panose="020B0609020204030204" pitchFamily="49" charset="0"/>
              </a:rPr>
              <a:t>num</a:t>
            </a:r>
            <a:r>
              <a:rPr lang="ro-RO" sz="2000" b="1" noProof="0" dirty="0">
                <a:solidFill>
                  <a:srgbClr val="CCCCCC"/>
                </a:solidFill>
                <a:effectLst/>
                <a:latin typeface="Consolas" panose="020B0609020204030204" pitchFamily="49" charset="0"/>
              </a:rPr>
              <a:t>;</a:t>
            </a:r>
          </a:p>
          <a:p>
            <a:pPr>
              <a:lnSpc>
                <a:spcPts val="1425"/>
              </a:lnSpc>
              <a:buNone/>
            </a:pPr>
            <a:r>
              <a:rPr lang="ro-RO" sz="2000" b="1" noProof="0" dirty="0">
                <a:solidFill>
                  <a:srgbClr val="CCCCCC"/>
                </a:solidFill>
                <a:effectLst/>
                <a:latin typeface="Consolas" panose="020B0609020204030204" pitchFamily="49" charset="0"/>
              </a:rPr>
              <a:t>      }</a:t>
            </a:r>
          </a:p>
          <a:p>
            <a:pPr>
              <a:lnSpc>
                <a:spcPts val="1425"/>
              </a:lnSpc>
              <a:buNone/>
            </a:pPr>
            <a:r>
              <a:rPr lang="ro-RO" sz="2000" b="1" noProof="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88844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AD858-F099-157B-C26A-BDEABE274E0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0CB27C-A8E6-2ABC-FC1D-370BD5DA1380}"/>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14ED18A5-9788-4409-BC35-F8BA2C9DF114}"/>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delegates</a:t>
            </a:r>
            <a:r>
              <a:rPr lang="ro-RO" sz="2800" noProof="0" dirty="0">
                <a:solidFill>
                  <a:schemeClr val="tx2"/>
                </a:solidFill>
              </a:rPr>
              <a:t> - Delegați generic - exemplu</a:t>
            </a:r>
            <a:endParaRPr lang="ro-RO" sz="2800" noProof="0" dirty="0">
              <a:solidFill>
                <a:srgbClr val="00B0F0"/>
              </a:solidFill>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lang="ro-RO" sz="2000" b="1" noProof="0" dirty="0">
                <a:solidFill>
                  <a:srgbClr val="569CD6"/>
                </a:solidFill>
                <a:latin typeface="Consolas" panose="020B0609020204030204" pitchFamily="49" charset="0"/>
              </a:rPr>
              <a:t>      </a:t>
            </a:r>
            <a:r>
              <a:rPr kumimoji="0" lang="ro-RO" sz="2000" b="1" i="0" u="none" strike="noStrike" kern="1200" cap="none" spc="0" normalizeH="0" baseline="0" noProof="0" dirty="0">
                <a:ln>
                  <a:noFill/>
                </a:ln>
                <a:solidFill>
                  <a:srgbClr val="569CD6"/>
                </a:solidFill>
                <a:effectLst/>
                <a:uLnTx/>
                <a:uFillTx/>
                <a:latin typeface="Consolas" panose="020B0609020204030204" pitchFamily="49" charset="0"/>
                <a:ea typeface="+mn-ea"/>
                <a:cs typeface="+mn-cs"/>
              </a:rPr>
              <a:t>static</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void</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Main</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string</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args</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//create delegate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instances</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NumberChanger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&gt;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nc1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NumberChanger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AddNum</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NumberChanger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&gt; </a:t>
            </a:r>
            <a:r>
              <a:rPr kumimoji="0" lang="ro-RO" sz="2000" b="1" i="0" u="none" strike="noStrike" kern="1200" cap="none" spc="0" normalizeH="0" baseline="0" noProof="0" dirty="0">
                <a:ln>
                  <a:noFill/>
                </a:ln>
                <a:solidFill>
                  <a:srgbClr val="9CDCFE"/>
                </a:solidFill>
                <a:effectLst/>
                <a:uLnTx/>
                <a:uFillTx/>
                <a:latin typeface="Consolas" panose="020B0609020204030204" pitchFamily="49" charset="0"/>
                <a:ea typeface="+mn-ea"/>
                <a:cs typeface="+mn-cs"/>
              </a:rPr>
              <a:t>nc2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4D4D4"/>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new</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4EC9B0"/>
                </a:solidFill>
                <a:effectLst/>
                <a:uLnTx/>
                <a:uFillTx/>
                <a:latin typeface="Consolas" panose="020B0609020204030204" pitchFamily="49" charset="0"/>
                <a:ea typeface="+mn-ea"/>
                <a:cs typeface="+mn-cs"/>
              </a:rPr>
              <a:t>NumberChanger</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&lt;</a:t>
            </a:r>
            <a:r>
              <a:rPr kumimoji="0" lang="ro-RO" sz="2000" b="1" i="0" u="none" strike="noStrike" kern="1200" cap="none" spc="0" normalizeH="0" baseline="0" noProof="0" dirty="0" err="1">
                <a:ln>
                  <a:noFill/>
                </a:ln>
                <a:solidFill>
                  <a:srgbClr val="569CD6"/>
                </a:solidFill>
                <a:effectLst/>
                <a:uLnTx/>
                <a:uFillTx/>
                <a:latin typeface="Consolas" panose="020B0609020204030204" pitchFamily="49" charset="0"/>
                <a:ea typeface="+mn-ea"/>
                <a:cs typeface="+mn-cs"/>
              </a:rPr>
              <a:t>int</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&gt;(</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MultNum</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calling</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the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methods</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using</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the</a:t>
            </a:r>
            <a:r>
              <a:rPr kumimoji="0" lang="ro-RO" sz="2000" b="1" i="0" u="none" strike="noStrike" kern="1200" cap="none" spc="0" normalizeH="0" baseline="0" noProof="0" dirty="0">
                <a:ln>
                  <a:noFill/>
                </a:ln>
                <a:solidFill>
                  <a:srgbClr val="6A9955"/>
                </a:solidFill>
                <a:effectLst/>
                <a:uLnTx/>
                <a:uFillTx/>
                <a:latin typeface="Consolas" panose="020B0609020204030204" pitchFamily="49" charset="0"/>
                <a:ea typeface="+mn-ea"/>
                <a:cs typeface="+mn-cs"/>
              </a:rPr>
              <a:t> delegate </a:t>
            </a:r>
            <a:r>
              <a:rPr kumimoji="0" lang="ro-RO" sz="2000" b="1" i="0" u="none" strike="noStrike" kern="1200" cap="none" spc="0" normalizeH="0" baseline="0" noProof="0" dirty="0" err="1">
                <a:ln>
                  <a:noFill/>
                </a:ln>
                <a:solidFill>
                  <a:srgbClr val="6A9955"/>
                </a:solidFill>
                <a:effectLst/>
                <a:uLnTx/>
                <a:uFillTx/>
                <a:latin typeface="Consolas" panose="020B0609020204030204" pitchFamily="49" charset="0"/>
                <a:ea typeface="+mn-ea"/>
                <a:cs typeface="+mn-cs"/>
              </a:rPr>
              <a:t>objects</a:t>
            </a:r>
            <a:endPar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nc1</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25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Value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of Num: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getNum</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a:ln>
                  <a:noFill/>
                </a:ln>
                <a:solidFill>
                  <a:srgbClr val="DCDCAA"/>
                </a:solidFill>
                <a:effectLst/>
                <a:uLnTx/>
                <a:uFillTx/>
                <a:latin typeface="Consolas" panose="020B0609020204030204" pitchFamily="49" charset="0"/>
                <a:ea typeface="+mn-ea"/>
                <a:cs typeface="+mn-cs"/>
              </a:rPr>
              <a:t>nc2</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B5CEA8"/>
                </a:solidFill>
                <a:effectLst/>
                <a:uLnTx/>
                <a:uFillTx/>
                <a:latin typeface="Consolas" panose="020B0609020204030204" pitchFamily="49" charset="0"/>
                <a:ea typeface="+mn-ea"/>
                <a:cs typeface="+mn-cs"/>
              </a:rPr>
              <a:t>5</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9CDCFE"/>
                </a:solidFill>
                <a:effectLst/>
                <a:uLnTx/>
                <a:uFillTx/>
                <a:latin typeface="Consolas" panose="020B0609020204030204" pitchFamily="49" charset="0"/>
                <a:ea typeface="+mn-ea"/>
                <a:cs typeface="+mn-cs"/>
              </a:rPr>
              <a:t>Console</a:t>
            </a:r>
            <a:r>
              <a:rPr kumimoji="0" lang="ro-RO" sz="2000" b="1" i="0" u="none" strike="noStrike" kern="1200" cap="none" spc="0" normalizeH="0" baseline="0" noProof="0" dirty="0" err="1">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WriteLine</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a:t>
            </a:r>
            <a:r>
              <a:rPr kumimoji="0" lang="ro-RO" sz="2000" b="1" i="0" u="none" strike="noStrike" kern="1200" cap="none" spc="0" normalizeH="0" baseline="0" noProof="0" dirty="0" err="1">
                <a:ln>
                  <a:noFill/>
                </a:ln>
                <a:solidFill>
                  <a:srgbClr val="CE9178"/>
                </a:solidFill>
                <a:effectLst/>
                <a:uLnTx/>
                <a:uFillTx/>
                <a:latin typeface="Consolas" panose="020B0609020204030204" pitchFamily="49" charset="0"/>
                <a:ea typeface="+mn-ea"/>
                <a:cs typeface="+mn-cs"/>
              </a:rPr>
              <a:t>Value</a:t>
            </a:r>
            <a:r>
              <a:rPr kumimoji="0" lang="ro-RO" sz="2000" b="1" i="0" u="none" strike="noStrike" kern="1200" cap="none" spc="0" normalizeH="0" baseline="0" noProof="0" dirty="0">
                <a:ln>
                  <a:noFill/>
                </a:ln>
                <a:solidFill>
                  <a:srgbClr val="CE9178"/>
                </a:solidFill>
                <a:effectLst/>
                <a:uLnTx/>
                <a:uFillTx/>
                <a:latin typeface="Consolas" panose="020B0609020204030204" pitchFamily="49" charset="0"/>
                <a:ea typeface="+mn-ea"/>
                <a:cs typeface="+mn-cs"/>
              </a:rPr>
              <a:t> of Num: {0}"</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r>
              <a:rPr kumimoji="0" lang="ro-RO" sz="2000" b="1" i="0" u="none" strike="noStrike" kern="1200" cap="none" spc="0" normalizeH="0" baseline="0" noProof="0" dirty="0" err="1">
                <a:ln>
                  <a:noFill/>
                </a:ln>
                <a:solidFill>
                  <a:srgbClr val="DCDCAA"/>
                </a:solidFill>
                <a:effectLst/>
                <a:uLnTx/>
                <a:uFillTx/>
                <a:latin typeface="Consolas" panose="020B0609020204030204" pitchFamily="49" charset="0"/>
                <a:ea typeface="+mn-ea"/>
                <a:cs typeface="+mn-cs"/>
              </a:rPr>
              <a:t>getNum</a:t>
            </a: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   }</a:t>
            </a:r>
          </a:p>
          <a:p>
            <a:pPr marL="171450" marR="0" lvl="0" indent="-137160" algn="l" defTabSz="685800" rtl="0" eaLnBrk="1" fontAlgn="auto" latinLnBrk="0" hangingPunct="1">
              <a:lnSpc>
                <a:spcPts val="1425"/>
              </a:lnSpc>
              <a:spcBef>
                <a:spcPct val="20000"/>
              </a:spcBef>
              <a:spcAft>
                <a:spcPts val="0"/>
              </a:spcAft>
              <a:buClr>
                <a:srgbClr val="FF8600"/>
              </a:buClr>
              <a:buSzTx/>
              <a:buFont typeface="Wingdings" charset="2"/>
              <a:buNone/>
              <a:tabLst/>
              <a:defRPr/>
            </a:pPr>
            <a:r>
              <a:rPr kumimoji="0" lang="ro-RO" sz="2000" b="1" i="0" u="none" strike="noStrike" kern="1200" cap="none" spc="0" normalizeH="0" baseline="0" noProof="0" dirty="0">
                <a:ln>
                  <a:noFill/>
                </a:ln>
                <a:solidFill>
                  <a:srgbClr val="CCCCCC"/>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4281135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CCFB5-3DF6-1CA1-808A-177C37D43D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9B494B-4DD0-3CC5-047E-9BD97D32F7B6}"/>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930A4714-2FF8-3DF9-4CBD-5FBC9C4066AE}"/>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interfaces</a:t>
            </a:r>
            <a:r>
              <a:rPr lang="ro-RO" sz="2800" noProof="0" dirty="0">
                <a:solidFill>
                  <a:schemeClr val="tx2"/>
                </a:solidFill>
              </a:rPr>
              <a:t> - Interfețe generice</a:t>
            </a:r>
            <a:endParaRPr lang="ro-RO" sz="2800" noProof="0" dirty="0">
              <a:solidFill>
                <a:srgbClr val="00B0F0"/>
              </a:solidFill>
            </a:endParaRPr>
          </a:p>
          <a:p>
            <a:pPr marL="34290" indent="0" algn="just">
              <a:buNone/>
            </a:pPr>
            <a:r>
              <a:rPr lang="ro-RO" sz="2800" noProof="0" dirty="0">
                <a:solidFill>
                  <a:srgbClr val="00B0F0"/>
                </a:solidFill>
              </a:rPr>
              <a:t>Interfețele generice ne permit să implementam clase pentru a specifica tipurile de date propriu-zise.</a:t>
            </a:r>
          </a:p>
          <a:p>
            <a:pPr marL="34290" indent="0" algn="just">
              <a:buNone/>
            </a:pPr>
            <a:endParaRPr lang="ro-RO" sz="2800" noProof="0" dirty="0">
              <a:solidFill>
                <a:srgbClr val="00B0F0"/>
              </a:solidFill>
            </a:endParaRPr>
          </a:p>
          <a:p>
            <a:pPr marL="34290" indent="0" algn="just">
              <a:buNone/>
            </a:pPr>
            <a:r>
              <a:rPr lang="ro-RO" sz="2800" noProof="0" dirty="0">
                <a:solidFill>
                  <a:srgbClr val="00B0F0"/>
                </a:solidFill>
              </a:rPr>
              <a:t>Sintaxă pentru a declara o interfață generică:</a:t>
            </a:r>
          </a:p>
          <a:p>
            <a:pPr marL="34290" indent="0" algn="just">
              <a:buNone/>
            </a:pPr>
            <a:endParaRPr lang="ro-RO" sz="2800" b="1" noProof="0" dirty="0">
              <a:solidFill>
                <a:srgbClr val="00B0F0"/>
              </a:solidFill>
            </a:endParaRPr>
          </a:p>
          <a:p>
            <a:pPr marL="34290" indent="0" algn="just">
              <a:buNone/>
            </a:pPr>
            <a:r>
              <a:rPr lang="en-US" sz="2400" b="1" i="0" dirty="0">
                <a:solidFill>
                  <a:srgbClr val="CC99CD"/>
                </a:solidFill>
                <a:effectLst/>
                <a:latin typeface="Courier New" panose="02070309020205020404" pitchFamily="49" charset="0"/>
              </a:rPr>
              <a:t>public</a:t>
            </a:r>
            <a:r>
              <a:rPr lang="en-US" sz="2400" b="1" i="0" dirty="0">
                <a:solidFill>
                  <a:srgbClr val="CCCCCC"/>
                </a:solidFill>
                <a:effectLst/>
                <a:latin typeface="Courier New" panose="02070309020205020404" pitchFamily="49" charset="0"/>
              </a:rPr>
              <a:t> </a:t>
            </a:r>
            <a:r>
              <a:rPr lang="en-US" sz="2400" b="1" i="0" dirty="0">
                <a:solidFill>
                  <a:srgbClr val="CC99CD"/>
                </a:solidFill>
                <a:effectLst/>
                <a:latin typeface="Courier New" panose="02070309020205020404" pitchFamily="49" charset="0"/>
              </a:rPr>
              <a:t>class</a:t>
            </a:r>
            <a:r>
              <a:rPr lang="en-US" sz="2400" b="1" i="0" dirty="0">
                <a:solidFill>
                  <a:srgbClr val="CCCCCC"/>
                </a:solidFill>
                <a:effectLst/>
                <a:latin typeface="Courier New" panose="02070309020205020404" pitchFamily="49" charset="0"/>
              </a:rPr>
              <a:t> Repository&lt;T&gt; : </a:t>
            </a:r>
            <a:r>
              <a:rPr lang="en-US" sz="2400" b="1" i="0" dirty="0" err="1">
                <a:solidFill>
                  <a:srgbClr val="CCCCCC"/>
                </a:solidFill>
                <a:effectLst/>
                <a:latin typeface="Courier New" panose="02070309020205020404" pitchFamily="49" charset="0"/>
              </a:rPr>
              <a:t>IRepository</a:t>
            </a:r>
            <a:r>
              <a:rPr lang="en-US" sz="2400" b="1" i="0" dirty="0">
                <a:solidFill>
                  <a:srgbClr val="CCCCCC"/>
                </a:solidFill>
                <a:effectLst/>
                <a:latin typeface="Courier New" panose="02070309020205020404" pitchFamily="49" charset="0"/>
              </a:rPr>
              <a:t>&lt;T&gt;</a:t>
            </a:r>
            <a:endParaRPr lang="ro-RO" sz="2400" b="1" noProof="0" dirty="0">
              <a:solidFill>
                <a:srgbClr val="00B0F0"/>
              </a:solidFill>
            </a:endParaRPr>
          </a:p>
        </p:txBody>
      </p:sp>
    </p:spTree>
    <p:extLst>
      <p:ext uri="{BB962C8B-B14F-4D97-AF65-F5344CB8AC3E}">
        <p14:creationId xmlns:p14="http://schemas.microsoft.com/office/powerpoint/2010/main" val="359887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D791C-BAAE-7D5D-92E7-ABDD305C5E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6DA833-FAA8-2ACA-C03F-BB0F6EDEB449}"/>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518CE152-D5C7-1D9C-AA18-1E35F133E4F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interfaces</a:t>
            </a:r>
            <a:r>
              <a:rPr lang="ro-RO" sz="2800" noProof="0" dirty="0">
                <a:solidFill>
                  <a:schemeClr val="tx2"/>
                </a:solidFill>
              </a:rPr>
              <a:t> - Interfețe generice</a:t>
            </a:r>
            <a:r>
              <a:rPr lang="en-US" sz="2800" noProof="0" dirty="0">
                <a:solidFill>
                  <a:schemeClr val="tx2"/>
                </a:solidFill>
              </a:rPr>
              <a:t> - </a:t>
            </a:r>
            <a:r>
              <a:rPr lang="en-US" sz="2800" noProof="0" dirty="0" err="1">
                <a:solidFill>
                  <a:schemeClr val="tx2"/>
                </a:solidFill>
              </a:rPr>
              <a:t>exemplu</a:t>
            </a:r>
            <a:endParaRPr lang="ro-RO" sz="2800" noProof="0" dirty="0">
              <a:solidFill>
                <a:srgbClr val="00B0F0"/>
              </a:solidFill>
            </a:endParaRPr>
          </a:p>
          <a:p>
            <a:pPr marL="34290" indent="0" algn="just">
              <a:buNone/>
            </a:pPr>
            <a:r>
              <a:rPr lang="ro-RO" sz="2800" noProof="0" dirty="0">
                <a:solidFill>
                  <a:srgbClr val="00B0F0"/>
                </a:solidFill>
              </a:rPr>
              <a:t>Următorul exemplu demonstrează utilizarea unei interfețe generice și implementarea acesteia într-o clasă generică pentru a gestiona o colecție de elemente:</a:t>
            </a:r>
            <a:endParaRPr lang="en-US" sz="2800" noProof="0" dirty="0">
              <a:solidFill>
                <a:srgbClr val="00B0F0"/>
              </a:solidFill>
            </a:endParaRPr>
          </a:p>
          <a:p>
            <a:pPr marL="34290" indent="0" algn="just">
              <a:buNone/>
            </a:pPr>
            <a:endParaRPr lang="en-US" sz="2800" noProof="0" dirty="0">
              <a:solidFill>
                <a:srgbClr val="00B0F0"/>
              </a:solidFill>
            </a:endParaRPr>
          </a:p>
          <a:p>
            <a:pPr>
              <a:lnSpc>
                <a:spcPts val="1425"/>
              </a:lnSpc>
              <a:buNone/>
            </a:pPr>
            <a:r>
              <a:rPr lang="en-US" sz="2400" b="1" dirty="0">
                <a:solidFill>
                  <a:srgbClr val="C586C0"/>
                </a:solidFill>
                <a:effectLst/>
                <a:latin typeface="Consolas" panose="020B0609020204030204" pitchFamily="49" charset="0"/>
              </a:rPr>
              <a:t>using</a:t>
            </a:r>
            <a:r>
              <a:rPr lang="en-US" sz="2400" b="1" dirty="0">
                <a:solidFill>
                  <a:srgbClr val="CCCCCC"/>
                </a:solidFill>
                <a:effectLst/>
                <a:latin typeface="Consolas" panose="020B0609020204030204" pitchFamily="49" charset="0"/>
              </a:rPr>
              <a:t> </a:t>
            </a:r>
            <a:r>
              <a:rPr lang="en-US" sz="2400" b="1" dirty="0">
                <a:solidFill>
                  <a:srgbClr val="4EC9B0"/>
                </a:solidFill>
                <a:effectLst/>
                <a:latin typeface="Consolas" panose="020B0609020204030204" pitchFamily="49" charset="0"/>
              </a:rPr>
              <a:t>System</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586C0"/>
                </a:solidFill>
                <a:effectLst/>
                <a:latin typeface="Consolas" panose="020B0609020204030204" pitchFamily="49" charset="0"/>
              </a:rPr>
              <a:t>using</a:t>
            </a:r>
            <a:r>
              <a:rPr lang="en-US" sz="2400" b="1" dirty="0">
                <a:solidFill>
                  <a:srgbClr val="CCCCCC"/>
                </a:solidFill>
                <a:effectLst/>
                <a:latin typeface="Consolas" panose="020B0609020204030204" pitchFamily="49" charset="0"/>
              </a:rPr>
              <a:t> </a:t>
            </a:r>
            <a:r>
              <a:rPr lang="en-US" sz="2400" b="1" dirty="0" err="1">
                <a:solidFill>
                  <a:srgbClr val="4EC9B0"/>
                </a:solidFill>
                <a:effectLst/>
                <a:latin typeface="Consolas" panose="020B0609020204030204" pitchFamily="49" charset="0"/>
              </a:rPr>
              <a:t>System</a:t>
            </a:r>
            <a:r>
              <a:rPr lang="en-US" sz="2400" b="1" dirty="0" err="1">
                <a:solidFill>
                  <a:srgbClr val="CCCCCC"/>
                </a:solidFill>
                <a:effectLst/>
                <a:latin typeface="Consolas" panose="020B0609020204030204" pitchFamily="49" charset="0"/>
              </a:rPr>
              <a:t>.</a:t>
            </a:r>
            <a:r>
              <a:rPr lang="en-US" sz="2400" b="1" dirty="0" err="1">
                <a:solidFill>
                  <a:srgbClr val="4EC9B0"/>
                </a:solidFill>
                <a:effectLst/>
                <a:latin typeface="Consolas" panose="020B0609020204030204" pitchFamily="49" charset="0"/>
              </a:rPr>
              <a:t>Collections</a:t>
            </a:r>
            <a:r>
              <a:rPr lang="en-US" sz="2400" b="1" dirty="0" err="1">
                <a:solidFill>
                  <a:srgbClr val="CCCCCC"/>
                </a:solidFill>
                <a:effectLst/>
                <a:latin typeface="Consolas" panose="020B0609020204030204" pitchFamily="49" charset="0"/>
              </a:rPr>
              <a:t>.</a:t>
            </a:r>
            <a:r>
              <a:rPr lang="en-US" sz="2400" b="1" dirty="0" err="1">
                <a:solidFill>
                  <a:srgbClr val="4EC9B0"/>
                </a:solidFill>
                <a:effectLst/>
                <a:latin typeface="Consolas" panose="020B0609020204030204" pitchFamily="49" charset="0"/>
              </a:rPr>
              <a:t>Generic</a:t>
            </a:r>
            <a:r>
              <a:rPr lang="en-US" sz="2400" b="1" dirty="0">
                <a:solidFill>
                  <a:srgbClr val="CCCCCC"/>
                </a:solidFill>
                <a:effectLst/>
                <a:latin typeface="Consolas" panose="020B0609020204030204" pitchFamily="49" charset="0"/>
              </a:rPr>
              <a:t>;</a:t>
            </a:r>
          </a:p>
          <a:p>
            <a:pPr>
              <a:lnSpc>
                <a:spcPts val="1425"/>
              </a:lnSpc>
              <a:buNone/>
            </a:pPr>
            <a:br>
              <a:rPr lang="en-US" sz="2400" b="1" dirty="0">
                <a:solidFill>
                  <a:srgbClr val="CCCCCC"/>
                </a:solidFill>
                <a:effectLst/>
                <a:latin typeface="Consolas" panose="020B0609020204030204" pitchFamily="49" charset="0"/>
              </a:rPr>
            </a:br>
            <a:endParaRPr lang="en-US" sz="2400" b="1" dirty="0">
              <a:solidFill>
                <a:srgbClr val="CCCCCC"/>
              </a:solidFill>
              <a:effectLst/>
              <a:latin typeface="Consolas" panose="020B0609020204030204" pitchFamily="49" charset="0"/>
            </a:endParaRPr>
          </a:p>
          <a:p>
            <a:pPr>
              <a:lnSpc>
                <a:spcPts val="1425"/>
              </a:lnSpc>
              <a:buNone/>
            </a:pPr>
            <a:r>
              <a:rPr lang="en-US" sz="2400" b="1" dirty="0">
                <a:solidFill>
                  <a:srgbClr val="569CD6"/>
                </a:solidFill>
                <a:effectLst/>
                <a:latin typeface="Consolas" panose="020B0609020204030204" pitchFamily="49" charset="0"/>
              </a:rPr>
              <a:t>public</a:t>
            </a: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interface</a:t>
            </a:r>
            <a:r>
              <a:rPr lang="en-US" sz="2400" b="1" dirty="0">
                <a:solidFill>
                  <a:srgbClr val="CCCCCC"/>
                </a:solidFill>
                <a:effectLst/>
                <a:latin typeface="Consolas" panose="020B0609020204030204" pitchFamily="49" charset="0"/>
              </a:rPr>
              <a:t> </a:t>
            </a:r>
            <a:r>
              <a:rPr lang="en-US" sz="2400" b="1" dirty="0" err="1">
                <a:solidFill>
                  <a:srgbClr val="4EC9B0"/>
                </a:solidFill>
                <a:effectLst/>
                <a:latin typeface="Consolas" panose="020B0609020204030204" pitchFamily="49" charset="0"/>
              </a:rPr>
              <a:t>IRepository</a:t>
            </a:r>
            <a:r>
              <a:rPr lang="en-US" sz="2400" b="1" dirty="0">
                <a:solidFill>
                  <a:srgbClr val="CCCCCC"/>
                </a:solidFill>
                <a:effectLst/>
                <a:latin typeface="Consolas" panose="020B0609020204030204" pitchFamily="49" charset="0"/>
              </a:rPr>
              <a:t>&lt;</a:t>
            </a:r>
            <a:r>
              <a:rPr lang="en-US" sz="2400" b="1" dirty="0">
                <a:solidFill>
                  <a:srgbClr val="4EC9B0"/>
                </a:solidFill>
                <a:effectLst/>
                <a:latin typeface="Consolas" panose="020B0609020204030204" pitchFamily="49" charset="0"/>
              </a:rPr>
              <a:t>T</a:t>
            </a:r>
            <a:r>
              <a:rPr lang="en-US" sz="2400" b="1" dirty="0">
                <a:solidFill>
                  <a:srgbClr val="CCCCCC"/>
                </a:solidFill>
                <a:effectLst/>
                <a:latin typeface="Consolas" panose="020B0609020204030204" pitchFamily="49" charset="0"/>
              </a:rPr>
              <a:t>&gt;</a:t>
            </a:r>
          </a:p>
          <a:p>
            <a:pPr>
              <a:lnSpc>
                <a:spcPts val="1425"/>
              </a:lnSpc>
              <a:buNone/>
            </a:pP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void</a:t>
            </a:r>
            <a:r>
              <a:rPr lang="en-US" sz="2400" b="1" dirty="0">
                <a:solidFill>
                  <a:srgbClr val="CCCCCC"/>
                </a:solidFill>
                <a:effectLst/>
                <a:latin typeface="Consolas" panose="020B0609020204030204" pitchFamily="49" charset="0"/>
              </a:rPr>
              <a:t> </a:t>
            </a:r>
            <a:r>
              <a:rPr lang="en-US" sz="2400" b="1" dirty="0">
                <a:solidFill>
                  <a:srgbClr val="DCDCAA"/>
                </a:solidFill>
                <a:effectLst/>
                <a:latin typeface="Consolas" panose="020B0609020204030204" pitchFamily="49" charset="0"/>
              </a:rPr>
              <a:t>Add</a:t>
            </a:r>
            <a:r>
              <a:rPr lang="en-US" sz="2400" b="1" dirty="0">
                <a:solidFill>
                  <a:srgbClr val="CCCCCC"/>
                </a:solidFill>
                <a:effectLst/>
                <a:latin typeface="Consolas" panose="020B0609020204030204" pitchFamily="49" charset="0"/>
              </a:rPr>
              <a:t>(</a:t>
            </a:r>
            <a:r>
              <a:rPr lang="en-US" sz="2400" b="1" dirty="0">
                <a:solidFill>
                  <a:srgbClr val="4EC9B0"/>
                </a:solidFill>
                <a:effectLst/>
                <a:latin typeface="Consolas" panose="020B0609020204030204" pitchFamily="49" charset="0"/>
              </a:rPr>
              <a:t>T</a:t>
            </a:r>
            <a:r>
              <a:rPr lang="en-US" sz="2400" b="1" dirty="0">
                <a:solidFill>
                  <a:srgbClr val="CCCCCC"/>
                </a:solidFill>
                <a:effectLst/>
                <a:latin typeface="Consolas" panose="020B0609020204030204" pitchFamily="49" charset="0"/>
              </a:rPr>
              <a:t> </a:t>
            </a:r>
            <a:r>
              <a:rPr lang="en-US" sz="2400" b="1" dirty="0">
                <a:solidFill>
                  <a:srgbClr val="9CDCFE"/>
                </a:solidFill>
                <a:effectLst/>
                <a:latin typeface="Consolas" panose="020B0609020204030204" pitchFamily="49" charset="0"/>
              </a:rPr>
              <a:t>item</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r>
              <a:rPr lang="en-US" sz="2400" b="1" dirty="0" err="1">
                <a:solidFill>
                  <a:srgbClr val="4EC9B0"/>
                </a:solidFill>
                <a:effectLst/>
                <a:latin typeface="Consolas" panose="020B0609020204030204" pitchFamily="49" charset="0"/>
              </a:rPr>
              <a:t>IEnumerable</a:t>
            </a:r>
            <a:r>
              <a:rPr lang="en-US" sz="2400" b="1" dirty="0">
                <a:solidFill>
                  <a:srgbClr val="CCCCCC"/>
                </a:solidFill>
                <a:effectLst/>
                <a:latin typeface="Consolas" panose="020B0609020204030204" pitchFamily="49" charset="0"/>
              </a:rPr>
              <a:t>&lt;</a:t>
            </a:r>
            <a:r>
              <a:rPr lang="en-US" sz="2400" b="1" dirty="0">
                <a:solidFill>
                  <a:srgbClr val="4EC9B0"/>
                </a:solidFill>
                <a:effectLst/>
                <a:latin typeface="Consolas" panose="020B0609020204030204" pitchFamily="49" charset="0"/>
              </a:rPr>
              <a:t>T</a:t>
            </a:r>
            <a:r>
              <a:rPr lang="en-US" sz="2400" b="1" dirty="0">
                <a:solidFill>
                  <a:srgbClr val="CCCCCC"/>
                </a:solidFill>
                <a:effectLst/>
                <a:latin typeface="Consolas" panose="020B0609020204030204" pitchFamily="49" charset="0"/>
              </a:rPr>
              <a:t>&gt; </a:t>
            </a:r>
            <a:r>
              <a:rPr lang="en-US" sz="2400" b="1" dirty="0" err="1">
                <a:solidFill>
                  <a:srgbClr val="DCDCAA"/>
                </a:solidFill>
                <a:effectLst/>
                <a:latin typeface="Consolas" panose="020B0609020204030204" pitchFamily="49" charset="0"/>
              </a:rPr>
              <a:t>GetAll</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a:t>
            </a:r>
          </a:p>
          <a:p>
            <a:pPr marL="34290" indent="0" algn="just">
              <a:buNone/>
            </a:pPr>
            <a:endParaRPr lang="ro-RO" sz="2400" b="1" noProof="0" dirty="0">
              <a:solidFill>
                <a:srgbClr val="00B0F0"/>
              </a:solidFill>
            </a:endParaRPr>
          </a:p>
        </p:txBody>
      </p:sp>
    </p:spTree>
    <p:extLst>
      <p:ext uri="{BB962C8B-B14F-4D97-AF65-F5344CB8AC3E}">
        <p14:creationId xmlns:p14="http://schemas.microsoft.com/office/powerpoint/2010/main" val="672292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7CCC1-C25E-26E6-E3E1-38EB816CB0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6ADD45A-D530-FDCC-9F74-4E80DF490D4D}"/>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CCDDC3F7-3C86-B87D-36C5-0529F81A4575}"/>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interfaces</a:t>
            </a:r>
            <a:r>
              <a:rPr lang="ro-RO" sz="2800" noProof="0" dirty="0">
                <a:solidFill>
                  <a:schemeClr val="tx2"/>
                </a:solidFill>
              </a:rPr>
              <a:t> - Interfețe generice</a:t>
            </a:r>
            <a:r>
              <a:rPr lang="en-US" sz="2800" noProof="0" dirty="0">
                <a:solidFill>
                  <a:schemeClr val="tx2"/>
                </a:solidFill>
              </a:rPr>
              <a:t> -</a:t>
            </a:r>
            <a:r>
              <a:rPr lang="en-US" sz="2800" noProof="0" dirty="0" err="1">
                <a:solidFill>
                  <a:schemeClr val="tx2"/>
                </a:solidFill>
              </a:rPr>
              <a:t>exemplu</a:t>
            </a:r>
            <a:endParaRPr lang="ro-RO" sz="2800" noProof="0" dirty="0">
              <a:solidFill>
                <a:srgbClr val="00B0F0"/>
              </a:solidFill>
            </a:endParaRPr>
          </a:p>
          <a:p>
            <a:pPr>
              <a:lnSpc>
                <a:spcPts val="1425"/>
              </a:lnSpc>
              <a:buNone/>
            </a:pPr>
            <a:endParaRPr lang="en-US" sz="2400" b="1" dirty="0">
              <a:solidFill>
                <a:srgbClr val="569CD6"/>
              </a:solidFill>
              <a:effectLst/>
              <a:latin typeface="Consolas" panose="020B0609020204030204" pitchFamily="49" charset="0"/>
            </a:endParaRPr>
          </a:p>
          <a:p>
            <a:pPr>
              <a:lnSpc>
                <a:spcPts val="1425"/>
              </a:lnSpc>
              <a:buNone/>
            </a:pPr>
            <a:r>
              <a:rPr lang="en-US" sz="2400" b="1" dirty="0">
                <a:solidFill>
                  <a:srgbClr val="569CD6"/>
                </a:solidFill>
                <a:effectLst/>
                <a:latin typeface="Consolas" panose="020B0609020204030204" pitchFamily="49" charset="0"/>
              </a:rPr>
              <a:t>public</a:t>
            </a: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class</a:t>
            </a:r>
            <a:r>
              <a:rPr lang="en-US" sz="2400" b="1" dirty="0">
                <a:solidFill>
                  <a:srgbClr val="CCCCCC"/>
                </a:solidFill>
                <a:effectLst/>
                <a:latin typeface="Consolas" panose="020B0609020204030204" pitchFamily="49" charset="0"/>
              </a:rPr>
              <a:t> </a:t>
            </a:r>
            <a:r>
              <a:rPr lang="en-US" sz="2400" b="1" dirty="0">
                <a:solidFill>
                  <a:srgbClr val="4EC9B0"/>
                </a:solidFill>
                <a:effectLst/>
                <a:latin typeface="Consolas" panose="020B0609020204030204" pitchFamily="49" charset="0"/>
              </a:rPr>
              <a:t>Repository</a:t>
            </a:r>
            <a:r>
              <a:rPr lang="en-US" sz="2400" b="1" dirty="0">
                <a:solidFill>
                  <a:srgbClr val="CCCCCC"/>
                </a:solidFill>
                <a:effectLst/>
                <a:latin typeface="Consolas" panose="020B0609020204030204" pitchFamily="49" charset="0"/>
              </a:rPr>
              <a:t>&lt;</a:t>
            </a:r>
            <a:r>
              <a:rPr lang="en-US" sz="2400" b="1" dirty="0">
                <a:solidFill>
                  <a:srgbClr val="4EC9B0"/>
                </a:solidFill>
                <a:effectLst/>
                <a:latin typeface="Consolas" panose="020B0609020204030204" pitchFamily="49" charset="0"/>
              </a:rPr>
              <a:t>T</a:t>
            </a:r>
            <a:r>
              <a:rPr lang="en-US" sz="2400" b="1" dirty="0">
                <a:solidFill>
                  <a:srgbClr val="CCCCCC"/>
                </a:solidFill>
                <a:effectLst/>
                <a:latin typeface="Consolas" panose="020B0609020204030204" pitchFamily="49" charset="0"/>
              </a:rPr>
              <a:t>&gt; : </a:t>
            </a:r>
            <a:r>
              <a:rPr lang="en-US" sz="2400" b="1" dirty="0" err="1">
                <a:solidFill>
                  <a:srgbClr val="4EC9B0"/>
                </a:solidFill>
                <a:effectLst/>
                <a:latin typeface="Consolas" panose="020B0609020204030204" pitchFamily="49" charset="0"/>
              </a:rPr>
              <a:t>IRepository</a:t>
            </a:r>
            <a:r>
              <a:rPr lang="en-US" sz="2400" b="1" dirty="0">
                <a:solidFill>
                  <a:srgbClr val="CCCCCC"/>
                </a:solidFill>
                <a:effectLst/>
                <a:latin typeface="Consolas" panose="020B0609020204030204" pitchFamily="49" charset="0"/>
              </a:rPr>
              <a:t>&lt;</a:t>
            </a:r>
            <a:r>
              <a:rPr lang="en-US" sz="2400" b="1" dirty="0">
                <a:solidFill>
                  <a:srgbClr val="4EC9B0"/>
                </a:solidFill>
                <a:effectLst/>
                <a:latin typeface="Consolas" panose="020B0609020204030204" pitchFamily="49" charset="0"/>
              </a:rPr>
              <a:t>T</a:t>
            </a:r>
            <a:r>
              <a:rPr lang="en-US" sz="2400" b="1" dirty="0">
                <a:solidFill>
                  <a:srgbClr val="CCCCCC"/>
                </a:solidFill>
                <a:effectLst/>
                <a:latin typeface="Consolas" panose="020B0609020204030204" pitchFamily="49" charset="0"/>
              </a:rPr>
              <a:t>&gt;</a:t>
            </a:r>
          </a:p>
          <a:p>
            <a:pPr>
              <a:lnSpc>
                <a:spcPts val="1425"/>
              </a:lnSpc>
              <a:buNone/>
            </a:pP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private</a:t>
            </a:r>
            <a:r>
              <a:rPr lang="en-US" sz="2400" b="1" dirty="0">
                <a:solidFill>
                  <a:srgbClr val="CCCCCC"/>
                </a:solidFill>
                <a:effectLst/>
                <a:latin typeface="Consolas" panose="020B0609020204030204" pitchFamily="49" charset="0"/>
              </a:rPr>
              <a:t> </a:t>
            </a:r>
            <a:r>
              <a:rPr lang="en-US" sz="2400" b="1" dirty="0">
                <a:solidFill>
                  <a:srgbClr val="4EC9B0"/>
                </a:solidFill>
                <a:effectLst/>
                <a:latin typeface="Consolas" panose="020B0609020204030204" pitchFamily="49" charset="0"/>
              </a:rPr>
              <a:t>List</a:t>
            </a:r>
            <a:r>
              <a:rPr lang="en-US" sz="2400" b="1" dirty="0">
                <a:solidFill>
                  <a:srgbClr val="CCCCCC"/>
                </a:solidFill>
                <a:effectLst/>
                <a:latin typeface="Consolas" panose="020B0609020204030204" pitchFamily="49" charset="0"/>
              </a:rPr>
              <a:t>&lt;</a:t>
            </a:r>
            <a:r>
              <a:rPr lang="en-US" sz="2400" b="1" dirty="0">
                <a:solidFill>
                  <a:srgbClr val="4EC9B0"/>
                </a:solidFill>
                <a:effectLst/>
                <a:latin typeface="Consolas" panose="020B0609020204030204" pitchFamily="49" charset="0"/>
              </a:rPr>
              <a:t>T</a:t>
            </a:r>
            <a:r>
              <a:rPr lang="en-US" sz="2400" b="1" dirty="0">
                <a:solidFill>
                  <a:srgbClr val="CCCCCC"/>
                </a:solidFill>
                <a:effectLst/>
                <a:latin typeface="Consolas" panose="020B0609020204030204" pitchFamily="49" charset="0"/>
              </a:rPr>
              <a:t>&gt; </a:t>
            </a:r>
            <a:r>
              <a:rPr lang="en-US" sz="2400" b="1" dirty="0">
                <a:solidFill>
                  <a:srgbClr val="9CDCFE"/>
                </a:solidFill>
                <a:effectLst/>
                <a:latin typeface="Consolas" panose="020B0609020204030204" pitchFamily="49" charset="0"/>
              </a:rPr>
              <a:t>_items</a:t>
            </a:r>
            <a:r>
              <a:rPr lang="en-US" sz="2400" b="1" dirty="0">
                <a:solidFill>
                  <a:srgbClr val="CCCCCC"/>
                </a:solidFill>
                <a:effectLst/>
                <a:latin typeface="Consolas" panose="020B0609020204030204" pitchFamily="49" charset="0"/>
              </a:rPr>
              <a:t> </a:t>
            </a:r>
            <a:r>
              <a:rPr lang="en-US" sz="2400" b="1" dirty="0">
                <a:solidFill>
                  <a:srgbClr val="D4D4D4"/>
                </a:solidFill>
                <a:effectLst/>
                <a:latin typeface="Consolas" panose="020B0609020204030204" pitchFamily="49" charset="0"/>
              </a:rPr>
              <a:t>=</a:t>
            </a: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new</a:t>
            </a:r>
            <a:r>
              <a:rPr lang="en-US" sz="2400" b="1" dirty="0">
                <a:solidFill>
                  <a:srgbClr val="CCCCCC"/>
                </a:solidFill>
                <a:effectLst/>
                <a:latin typeface="Consolas" panose="020B0609020204030204" pitchFamily="49" charset="0"/>
              </a:rPr>
              <a:t> </a:t>
            </a:r>
            <a:r>
              <a:rPr lang="en-US" sz="2400" b="1" dirty="0">
                <a:solidFill>
                  <a:srgbClr val="4EC9B0"/>
                </a:solidFill>
                <a:effectLst/>
                <a:latin typeface="Consolas" panose="020B0609020204030204" pitchFamily="49" charset="0"/>
              </a:rPr>
              <a:t>List</a:t>
            </a:r>
            <a:r>
              <a:rPr lang="en-US" sz="2400" b="1" dirty="0">
                <a:solidFill>
                  <a:srgbClr val="CCCCCC"/>
                </a:solidFill>
                <a:effectLst/>
                <a:latin typeface="Consolas" panose="020B0609020204030204" pitchFamily="49" charset="0"/>
              </a:rPr>
              <a:t>&lt;</a:t>
            </a:r>
            <a:r>
              <a:rPr lang="en-US" sz="2400" b="1" dirty="0">
                <a:solidFill>
                  <a:srgbClr val="4EC9B0"/>
                </a:solidFill>
                <a:effectLst/>
                <a:latin typeface="Consolas" panose="020B0609020204030204" pitchFamily="49" charset="0"/>
              </a:rPr>
              <a:t>T</a:t>
            </a:r>
            <a:r>
              <a:rPr lang="en-US" sz="2400" b="1" dirty="0">
                <a:solidFill>
                  <a:srgbClr val="CCCCCC"/>
                </a:solidFill>
                <a:effectLst/>
                <a:latin typeface="Consolas" panose="020B0609020204030204" pitchFamily="49" charset="0"/>
              </a:rPr>
              <a:t>&gt;();</a:t>
            </a:r>
          </a:p>
          <a:p>
            <a:pPr>
              <a:lnSpc>
                <a:spcPts val="1425"/>
              </a:lnSpc>
              <a:buNone/>
            </a:pPr>
            <a:br>
              <a:rPr lang="en-US" sz="2400" b="1" dirty="0">
                <a:solidFill>
                  <a:srgbClr val="CCCCCC"/>
                </a:solidFill>
                <a:effectLst/>
                <a:latin typeface="Consolas" panose="020B0609020204030204" pitchFamily="49" charset="0"/>
              </a:rPr>
            </a:br>
            <a:endParaRPr lang="en-US" sz="2400" b="1" dirty="0">
              <a:solidFill>
                <a:srgbClr val="CCCCCC"/>
              </a:solidFill>
              <a:effectLst/>
              <a:latin typeface="Consolas" panose="020B0609020204030204" pitchFamily="49" charset="0"/>
            </a:endParaRPr>
          </a:p>
          <a:p>
            <a:pPr>
              <a:lnSpc>
                <a:spcPts val="1425"/>
              </a:lnSpc>
              <a:buNone/>
            </a:pP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public</a:t>
            </a: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void</a:t>
            </a:r>
            <a:r>
              <a:rPr lang="en-US" sz="2400" b="1" dirty="0">
                <a:solidFill>
                  <a:srgbClr val="CCCCCC"/>
                </a:solidFill>
                <a:effectLst/>
                <a:latin typeface="Consolas" panose="020B0609020204030204" pitchFamily="49" charset="0"/>
              </a:rPr>
              <a:t> </a:t>
            </a:r>
            <a:r>
              <a:rPr lang="en-US" sz="2400" b="1" dirty="0">
                <a:solidFill>
                  <a:srgbClr val="DCDCAA"/>
                </a:solidFill>
                <a:effectLst/>
                <a:latin typeface="Consolas" panose="020B0609020204030204" pitchFamily="49" charset="0"/>
              </a:rPr>
              <a:t>Add</a:t>
            </a:r>
            <a:r>
              <a:rPr lang="en-US" sz="2400" b="1" dirty="0">
                <a:solidFill>
                  <a:srgbClr val="CCCCCC"/>
                </a:solidFill>
                <a:effectLst/>
                <a:latin typeface="Consolas" panose="020B0609020204030204" pitchFamily="49" charset="0"/>
              </a:rPr>
              <a:t>(</a:t>
            </a:r>
            <a:r>
              <a:rPr lang="en-US" sz="2400" b="1" dirty="0">
                <a:solidFill>
                  <a:srgbClr val="4EC9B0"/>
                </a:solidFill>
                <a:effectLst/>
                <a:latin typeface="Consolas" panose="020B0609020204030204" pitchFamily="49" charset="0"/>
              </a:rPr>
              <a:t>T</a:t>
            </a:r>
            <a:r>
              <a:rPr lang="en-US" sz="2400" b="1" dirty="0">
                <a:solidFill>
                  <a:srgbClr val="CCCCCC"/>
                </a:solidFill>
                <a:effectLst/>
                <a:latin typeface="Consolas" panose="020B0609020204030204" pitchFamily="49" charset="0"/>
              </a:rPr>
              <a:t> </a:t>
            </a:r>
            <a:r>
              <a:rPr lang="en-US" sz="2400" b="1" dirty="0">
                <a:solidFill>
                  <a:srgbClr val="9CDCFE"/>
                </a:solidFill>
                <a:effectLst/>
                <a:latin typeface="Consolas" panose="020B0609020204030204" pitchFamily="49" charset="0"/>
              </a:rPr>
              <a:t>item</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p>
          <a:p>
            <a:pPr>
              <a:lnSpc>
                <a:spcPts val="1425"/>
              </a:lnSpc>
              <a:buNone/>
            </a:pPr>
            <a:r>
              <a:rPr lang="en-US" sz="2400" b="1" dirty="0">
                <a:solidFill>
                  <a:srgbClr val="CCCCCC"/>
                </a:solidFill>
                <a:effectLst/>
                <a:latin typeface="Consolas" panose="020B0609020204030204" pitchFamily="49" charset="0"/>
              </a:rPr>
              <a:t>        </a:t>
            </a:r>
            <a:r>
              <a:rPr lang="en-US" sz="2400" b="1" dirty="0">
                <a:solidFill>
                  <a:srgbClr val="9CDCFE"/>
                </a:solidFill>
                <a:effectLst/>
                <a:latin typeface="Consolas" panose="020B0609020204030204" pitchFamily="49" charset="0"/>
              </a:rPr>
              <a:t>_</a:t>
            </a:r>
            <a:r>
              <a:rPr lang="en-US" sz="2400" b="1" dirty="0" err="1">
                <a:solidFill>
                  <a:srgbClr val="9CDCFE"/>
                </a:solidFill>
                <a:effectLst/>
                <a:latin typeface="Consolas" panose="020B0609020204030204" pitchFamily="49" charset="0"/>
              </a:rPr>
              <a:t>items</a:t>
            </a:r>
            <a:r>
              <a:rPr lang="en-US" sz="2400" b="1" dirty="0" err="1">
                <a:solidFill>
                  <a:srgbClr val="CCCCCC"/>
                </a:solidFill>
                <a:effectLst/>
                <a:latin typeface="Consolas" panose="020B0609020204030204" pitchFamily="49" charset="0"/>
              </a:rPr>
              <a:t>.</a:t>
            </a:r>
            <a:r>
              <a:rPr lang="en-US" sz="2400" b="1" dirty="0" err="1">
                <a:solidFill>
                  <a:srgbClr val="DCDCAA"/>
                </a:solidFill>
                <a:effectLst/>
                <a:latin typeface="Consolas" panose="020B0609020204030204" pitchFamily="49" charset="0"/>
              </a:rPr>
              <a:t>Add</a:t>
            </a:r>
            <a:r>
              <a:rPr lang="en-US" sz="2400" b="1" dirty="0">
                <a:solidFill>
                  <a:srgbClr val="CCCCCC"/>
                </a:solidFill>
                <a:effectLst/>
                <a:latin typeface="Consolas" panose="020B0609020204030204" pitchFamily="49" charset="0"/>
              </a:rPr>
              <a:t>(</a:t>
            </a:r>
            <a:r>
              <a:rPr lang="en-US" sz="2400" b="1" dirty="0">
                <a:solidFill>
                  <a:srgbClr val="9CDCFE"/>
                </a:solidFill>
                <a:effectLst/>
                <a:latin typeface="Consolas" panose="020B0609020204030204" pitchFamily="49" charset="0"/>
              </a:rPr>
              <a:t>item</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p>
          <a:p>
            <a:pPr>
              <a:lnSpc>
                <a:spcPts val="1425"/>
              </a:lnSpc>
              <a:buNone/>
            </a:pPr>
            <a:br>
              <a:rPr lang="en-US" sz="2400" b="1" dirty="0">
                <a:solidFill>
                  <a:srgbClr val="CCCCCC"/>
                </a:solidFill>
                <a:effectLst/>
                <a:latin typeface="Consolas" panose="020B0609020204030204" pitchFamily="49" charset="0"/>
              </a:rPr>
            </a:br>
            <a:endParaRPr lang="en-US" sz="2400" b="1" dirty="0">
              <a:solidFill>
                <a:srgbClr val="CCCCCC"/>
              </a:solidFill>
              <a:effectLst/>
              <a:latin typeface="Consolas" panose="020B0609020204030204" pitchFamily="49" charset="0"/>
            </a:endParaRPr>
          </a:p>
          <a:p>
            <a:pPr>
              <a:lnSpc>
                <a:spcPts val="1425"/>
              </a:lnSpc>
              <a:buNone/>
            </a:pP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public</a:t>
            </a:r>
            <a:r>
              <a:rPr lang="en-US" sz="2400" b="1" dirty="0">
                <a:solidFill>
                  <a:srgbClr val="CCCCCC"/>
                </a:solidFill>
                <a:effectLst/>
                <a:latin typeface="Consolas" panose="020B0609020204030204" pitchFamily="49" charset="0"/>
              </a:rPr>
              <a:t> </a:t>
            </a:r>
            <a:r>
              <a:rPr lang="en-US" sz="2400" b="1" dirty="0" err="1">
                <a:solidFill>
                  <a:srgbClr val="4EC9B0"/>
                </a:solidFill>
                <a:effectLst/>
                <a:latin typeface="Consolas" panose="020B0609020204030204" pitchFamily="49" charset="0"/>
              </a:rPr>
              <a:t>IEnumerable</a:t>
            </a:r>
            <a:r>
              <a:rPr lang="en-US" sz="2400" b="1" dirty="0">
                <a:solidFill>
                  <a:srgbClr val="CCCCCC"/>
                </a:solidFill>
                <a:effectLst/>
                <a:latin typeface="Consolas" panose="020B0609020204030204" pitchFamily="49" charset="0"/>
              </a:rPr>
              <a:t>&lt;</a:t>
            </a:r>
            <a:r>
              <a:rPr lang="en-US" sz="2400" b="1" dirty="0">
                <a:solidFill>
                  <a:srgbClr val="4EC9B0"/>
                </a:solidFill>
                <a:effectLst/>
                <a:latin typeface="Consolas" panose="020B0609020204030204" pitchFamily="49" charset="0"/>
              </a:rPr>
              <a:t>T</a:t>
            </a:r>
            <a:r>
              <a:rPr lang="en-US" sz="2400" b="1" dirty="0">
                <a:solidFill>
                  <a:srgbClr val="CCCCCC"/>
                </a:solidFill>
                <a:effectLst/>
                <a:latin typeface="Consolas" panose="020B0609020204030204" pitchFamily="49" charset="0"/>
              </a:rPr>
              <a:t>&gt; </a:t>
            </a:r>
            <a:r>
              <a:rPr lang="en-US" sz="2400" b="1" dirty="0" err="1">
                <a:solidFill>
                  <a:srgbClr val="DCDCAA"/>
                </a:solidFill>
                <a:effectLst/>
                <a:latin typeface="Consolas" panose="020B0609020204030204" pitchFamily="49" charset="0"/>
              </a:rPr>
              <a:t>GetAll</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p>
          <a:p>
            <a:pPr>
              <a:lnSpc>
                <a:spcPts val="1425"/>
              </a:lnSpc>
              <a:buNone/>
            </a:pPr>
            <a:r>
              <a:rPr lang="en-US" sz="2400" b="1" dirty="0">
                <a:solidFill>
                  <a:srgbClr val="CCCCCC"/>
                </a:solidFill>
                <a:effectLst/>
                <a:latin typeface="Consolas" panose="020B0609020204030204" pitchFamily="49" charset="0"/>
              </a:rPr>
              <a:t>        </a:t>
            </a:r>
            <a:r>
              <a:rPr lang="en-US" sz="2400" b="1" dirty="0">
                <a:solidFill>
                  <a:srgbClr val="C586C0"/>
                </a:solidFill>
                <a:effectLst/>
                <a:latin typeface="Consolas" panose="020B0609020204030204" pitchFamily="49" charset="0"/>
              </a:rPr>
              <a:t>return</a:t>
            </a:r>
            <a:r>
              <a:rPr lang="en-US" sz="2400" b="1" dirty="0">
                <a:solidFill>
                  <a:srgbClr val="CCCCCC"/>
                </a:solidFill>
                <a:effectLst/>
                <a:latin typeface="Consolas" panose="020B0609020204030204" pitchFamily="49" charset="0"/>
              </a:rPr>
              <a:t> </a:t>
            </a:r>
            <a:r>
              <a:rPr lang="en-US" sz="2400" b="1" dirty="0">
                <a:solidFill>
                  <a:srgbClr val="9CDCFE"/>
                </a:solidFill>
                <a:effectLst/>
                <a:latin typeface="Consolas" panose="020B0609020204030204" pitchFamily="49" charset="0"/>
              </a:rPr>
              <a:t>_items</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p>
          <a:p>
            <a:pPr>
              <a:lnSpc>
                <a:spcPts val="1425"/>
              </a:lnSpc>
              <a:buNone/>
            </a:pPr>
            <a:r>
              <a:rPr lang="en-US" sz="2400" b="1"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011456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9BCCD-45A4-8AA5-7219-BA39538818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532F7D-ADD5-E617-0100-AE1753A40632}"/>
              </a:ext>
            </a:extLst>
          </p:cNvPr>
          <p:cNvSpPr>
            <a:spLocks noGrp="1"/>
          </p:cNvSpPr>
          <p:nvPr>
            <p:ph type="title"/>
          </p:nvPr>
        </p:nvSpPr>
        <p:spPr>
          <a:xfrm>
            <a:off x="463925" y="582705"/>
            <a:ext cx="7819465" cy="504265"/>
          </a:xfrm>
        </p:spPr>
        <p:txBody>
          <a:bodyPr>
            <a:noAutofit/>
          </a:bodyPr>
          <a:lstStyle/>
          <a:p>
            <a:r>
              <a:rPr lang="ro-RO" sz="3200" noProof="0" dirty="0"/>
              <a:t>C#POO - Cursul 11</a:t>
            </a:r>
          </a:p>
        </p:txBody>
      </p:sp>
      <p:sp>
        <p:nvSpPr>
          <p:cNvPr id="5" name="Content Placeholder 4">
            <a:extLst>
              <a:ext uri="{FF2B5EF4-FFF2-40B4-BE49-F238E27FC236}">
                <a16:creationId xmlns:a16="http://schemas.microsoft.com/office/drawing/2014/main" id="{6E83A7E0-EE46-6B56-D518-9DFA7AF6259F}"/>
              </a:ext>
            </a:extLst>
          </p:cNvPr>
          <p:cNvSpPr>
            <a:spLocks noGrp="1"/>
          </p:cNvSpPr>
          <p:nvPr>
            <p:ph idx="1"/>
          </p:nvPr>
        </p:nvSpPr>
        <p:spPr>
          <a:xfrm>
            <a:off x="463925" y="1281952"/>
            <a:ext cx="8249770" cy="5074024"/>
          </a:xfrm>
        </p:spPr>
        <p:txBody>
          <a:bodyPr>
            <a:noAutofit/>
          </a:bodyPr>
          <a:lstStyle/>
          <a:p>
            <a:pPr marL="34290" indent="0" algn="just">
              <a:buNone/>
            </a:pPr>
            <a:r>
              <a:rPr lang="ro-RO" sz="2800" noProof="0" dirty="0">
                <a:solidFill>
                  <a:schemeClr val="tx2"/>
                </a:solidFill>
              </a:rPr>
              <a:t>Generic </a:t>
            </a:r>
            <a:r>
              <a:rPr lang="ro-RO" sz="2800" noProof="0" dirty="0" err="1">
                <a:solidFill>
                  <a:schemeClr val="tx2"/>
                </a:solidFill>
              </a:rPr>
              <a:t>interfaces</a:t>
            </a:r>
            <a:r>
              <a:rPr lang="ro-RO" sz="2800" noProof="0" dirty="0">
                <a:solidFill>
                  <a:schemeClr val="tx2"/>
                </a:solidFill>
              </a:rPr>
              <a:t> - Interfețe generice</a:t>
            </a:r>
            <a:endParaRPr lang="ro-RO" sz="2800" noProof="0" dirty="0">
              <a:solidFill>
                <a:srgbClr val="00B0F0"/>
              </a:solidFill>
            </a:endParaRPr>
          </a:p>
          <a:p>
            <a:pPr>
              <a:lnSpc>
                <a:spcPts val="1425"/>
              </a:lnSpc>
              <a:buNone/>
            </a:pPr>
            <a:endParaRPr lang="en-US" sz="2400" b="1" dirty="0">
              <a:solidFill>
                <a:srgbClr val="569CD6"/>
              </a:solidFill>
              <a:effectLst/>
              <a:latin typeface="Consolas" panose="020B0609020204030204" pitchFamily="49" charset="0"/>
            </a:endParaRPr>
          </a:p>
          <a:p>
            <a:pPr>
              <a:lnSpc>
                <a:spcPts val="1425"/>
              </a:lnSpc>
              <a:buNone/>
            </a:pPr>
            <a:r>
              <a:rPr lang="en-US" sz="2400" b="1" dirty="0">
                <a:solidFill>
                  <a:srgbClr val="569CD6"/>
                </a:solidFill>
                <a:effectLst/>
                <a:latin typeface="Consolas" panose="020B0609020204030204" pitchFamily="49" charset="0"/>
              </a:rPr>
              <a:t>class</a:t>
            </a:r>
            <a:r>
              <a:rPr lang="en-US" sz="2400" b="1" dirty="0">
                <a:solidFill>
                  <a:srgbClr val="CCCCCC"/>
                </a:solidFill>
                <a:effectLst/>
                <a:latin typeface="Consolas" panose="020B0609020204030204" pitchFamily="49" charset="0"/>
              </a:rPr>
              <a:t> </a:t>
            </a:r>
            <a:r>
              <a:rPr lang="en-US" sz="2400" b="1" dirty="0">
                <a:solidFill>
                  <a:srgbClr val="4EC9B0"/>
                </a:solidFill>
                <a:effectLst/>
                <a:latin typeface="Consolas" panose="020B0609020204030204" pitchFamily="49" charset="0"/>
              </a:rPr>
              <a:t>Program</a:t>
            </a:r>
            <a:endParaRPr lang="en-US" sz="2400" b="1" dirty="0">
              <a:solidFill>
                <a:srgbClr val="CCCCCC"/>
              </a:solidFill>
              <a:effectLst/>
              <a:latin typeface="Consolas" panose="020B0609020204030204" pitchFamily="49" charset="0"/>
            </a:endParaRPr>
          </a:p>
          <a:p>
            <a:pPr>
              <a:lnSpc>
                <a:spcPts val="1425"/>
              </a:lnSpc>
              <a:buNone/>
            </a:pP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static</a:t>
            </a: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void</a:t>
            </a:r>
            <a:r>
              <a:rPr lang="en-US" sz="2400" b="1" dirty="0">
                <a:solidFill>
                  <a:srgbClr val="CCCCCC"/>
                </a:solidFill>
                <a:effectLst/>
                <a:latin typeface="Consolas" panose="020B0609020204030204" pitchFamily="49" charset="0"/>
              </a:rPr>
              <a:t> </a:t>
            </a:r>
            <a:r>
              <a:rPr lang="en-US" sz="2400" b="1" dirty="0">
                <a:solidFill>
                  <a:srgbClr val="DCDCAA"/>
                </a:solidFill>
                <a:effectLst/>
                <a:latin typeface="Consolas" panose="020B0609020204030204" pitchFamily="49" charset="0"/>
              </a:rPr>
              <a:t>Main</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p>
          <a:p>
            <a:pPr>
              <a:lnSpc>
                <a:spcPts val="1425"/>
              </a:lnSpc>
              <a:buNone/>
            </a:pPr>
            <a:r>
              <a:rPr lang="en-US" sz="2400" b="1" dirty="0">
                <a:solidFill>
                  <a:srgbClr val="CCCCCC"/>
                </a:solidFill>
                <a:effectLst/>
                <a:latin typeface="Consolas" panose="020B0609020204030204" pitchFamily="49" charset="0"/>
              </a:rPr>
              <a:t>        </a:t>
            </a:r>
            <a:r>
              <a:rPr lang="en-US" sz="2400" b="1" dirty="0" err="1">
                <a:solidFill>
                  <a:srgbClr val="4EC9B0"/>
                </a:solidFill>
                <a:effectLst/>
                <a:latin typeface="Consolas" panose="020B0609020204030204" pitchFamily="49" charset="0"/>
              </a:rPr>
              <a:t>IRepository</a:t>
            </a:r>
            <a:r>
              <a:rPr lang="en-US" sz="2400" b="1" dirty="0">
                <a:solidFill>
                  <a:srgbClr val="CCCCCC"/>
                </a:solidFill>
                <a:effectLst/>
                <a:latin typeface="Consolas" panose="020B0609020204030204" pitchFamily="49" charset="0"/>
              </a:rPr>
              <a:t>&lt;</a:t>
            </a:r>
            <a:r>
              <a:rPr lang="en-US" sz="2400" b="1" dirty="0">
                <a:solidFill>
                  <a:srgbClr val="569CD6"/>
                </a:solidFill>
                <a:effectLst/>
                <a:latin typeface="Consolas" panose="020B0609020204030204" pitchFamily="49" charset="0"/>
              </a:rPr>
              <a:t>string</a:t>
            </a:r>
            <a:r>
              <a:rPr lang="en-US" sz="2400" b="1" dirty="0">
                <a:solidFill>
                  <a:srgbClr val="CCCCCC"/>
                </a:solidFill>
                <a:effectLst/>
                <a:latin typeface="Consolas" panose="020B0609020204030204" pitchFamily="49" charset="0"/>
              </a:rPr>
              <a:t>&gt; </a:t>
            </a:r>
            <a:r>
              <a:rPr lang="en-US" sz="2400" b="1" dirty="0" err="1">
                <a:solidFill>
                  <a:srgbClr val="9CDCFE"/>
                </a:solidFill>
                <a:effectLst/>
                <a:latin typeface="Consolas" panose="020B0609020204030204" pitchFamily="49" charset="0"/>
              </a:rPr>
              <a:t>stringRepo</a:t>
            </a:r>
            <a:r>
              <a:rPr lang="en-US" sz="2400" b="1" dirty="0">
                <a:solidFill>
                  <a:srgbClr val="CCCCCC"/>
                </a:solidFill>
                <a:effectLst/>
                <a:latin typeface="Consolas" panose="020B0609020204030204" pitchFamily="49" charset="0"/>
              </a:rPr>
              <a:t> </a:t>
            </a:r>
            <a:r>
              <a:rPr lang="en-US" sz="2400" b="1" dirty="0">
                <a:solidFill>
                  <a:srgbClr val="D4D4D4"/>
                </a:solidFill>
                <a:effectLst/>
                <a:latin typeface="Consolas" panose="020B0609020204030204" pitchFamily="49" charset="0"/>
              </a:rPr>
              <a:t>=</a:t>
            </a: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new</a:t>
            </a:r>
            <a:r>
              <a:rPr lang="en-US" sz="2400" b="1" dirty="0">
                <a:solidFill>
                  <a:srgbClr val="CCCCCC"/>
                </a:solidFill>
                <a:effectLst/>
                <a:latin typeface="Consolas" panose="020B0609020204030204" pitchFamily="49" charset="0"/>
              </a:rPr>
              <a:t> </a:t>
            </a:r>
            <a:r>
              <a:rPr lang="en-US" sz="2400" b="1" dirty="0">
                <a:solidFill>
                  <a:srgbClr val="4EC9B0"/>
                </a:solidFill>
                <a:effectLst/>
                <a:latin typeface="Consolas" panose="020B0609020204030204" pitchFamily="49" charset="0"/>
              </a:rPr>
              <a:t>Repository</a:t>
            </a:r>
            <a:r>
              <a:rPr lang="en-US" sz="2400" b="1" dirty="0">
                <a:solidFill>
                  <a:srgbClr val="CCCCCC"/>
                </a:solidFill>
                <a:effectLst/>
                <a:latin typeface="Consolas" panose="020B0609020204030204" pitchFamily="49" charset="0"/>
              </a:rPr>
              <a:t>&lt;</a:t>
            </a:r>
            <a:r>
              <a:rPr lang="en-US" sz="2400" b="1" dirty="0">
                <a:solidFill>
                  <a:srgbClr val="569CD6"/>
                </a:solidFill>
                <a:effectLst/>
                <a:latin typeface="Consolas" panose="020B0609020204030204" pitchFamily="49" charset="0"/>
              </a:rPr>
              <a:t>string</a:t>
            </a:r>
            <a:r>
              <a:rPr lang="en-US" sz="2400" b="1" dirty="0">
                <a:solidFill>
                  <a:srgbClr val="CCCCCC"/>
                </a:solidFill>
                <a:effectLst/>
                <a:latin typeface="Consolas" panose="020B0609020204030204" pitchFamily="49" charset="0"/>
              </a:rPr>
              <a:t>&gt;();</a:t>
            </a:r>
          </a:p>
          <a:p>
            <a:pPr>
              <a:lnSpc>
                <a:spcPts val="1425"/>
              </a:lnSpc>
              <a:buNone/>
            </a:pPr>
            <a:r>
              <a:rPr lang="en-US" sz="2400" b="1" dirty="0">
                <a:solidFill>
                  <a:srgbClr val="CCCCCC"/>
                </a:solidFill>
                <a:effectLst/>
                <a:latin typeface="Consolas" panose="020B0609020204030204" pitchFamily="49" charset="0"/>
              </a:rPr>
              <a:t>        </a:t>
            </a:r>
            <a:r>
              <a:rPr lang="en-US" sz="2400" b="1" dirty="0" err="1">
                <a:solidFill>
                  <a:srgbClr val="9CDCFE"/>
                </a:solidFill>
                <a:effectLst/>
                <a:latin typeface="Consolas" panose="020B0609020204030204" pitchFamily="49" charset="0"/>
              </a:rPr>
              <a:t>stringRepo</a:t>
            </a:r>
            <a:r>
              <a:rPr lang="en-US" sz="2400" b="1" dirty="0" err="1">
                <a:solidFill>
                  <a:srgbClr val="CCCCCC"/>
                </a:solidFill>
                <a:effectLst/>
                <a:latin typeface="Consolas" panose="020B0609020204030204" pitchFamily="49" charset="0"/>
              </a:rPr>
              <a:t>.</a:t>
            </a:r>
            <a:r>
              <a:rPr lang="en-US" sz="2400" b="1" dirty="0" err="1">
                <a:solidFill>
                  <a:srgbClr val="DCDCAA"/>
                </a:solidFill>
                <a:effectLst/>
                <a:latin typeface="Consolas" panose="020B0609020204030204" pitchFamily="49" charset="0"/>
              </a:rPr>
              <a:t>Add</a:t>
            </a:r>
            <a:r>
              <a:rPr lang="en-US" sz="2400" b="1" dirty="0">
                <a:solidFill>
                  <a:srgbClr val="CCCCCC"/>
                </a:solidFill>
                <a:effectLst/>
                <a:latin typeface="Consolas" panose="020B0609020204030204" pitchFamily="49" charset="0"/>
              </a:rPr>
              <a:t>(</a:t>
            </a:r>
            <a:r>
              <a:rPr lang="en-US" sz="2400" b="1" dirty="0">
                <a:solidFill>
                  <a:srgbClr val="CE9178"/>
                </a:solidFill>
                <a:effectLst/>
                <a:latin typeface="Consolas" panose="020B0609020204030204" pitchFamily="49" charset="0"/>
              </a:rPr>
              <a:t>"Item 1"</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r>
              <a:rPr lang="en-US" sz="2400" b="1" dirty="0" err="1">
                <a:solidFill>
                  <a:srgbClr val="9CDCFE"/>
                </a:solidFill>
                <a:effectLst/>
                <a:latin typeface="Consolas" panose="020B0609020204030204" pitchFamily="49" charset="0"/>
              </a:rPr>
              <a:t>stringRepo</a:t>
            </a:r>
            <a:r>
              <a:rPr lang="en-US" sz="2400" b="1" dirty="0" err="1">
                <a:solidFill>
                  <a:srgbClr val="CCCCCC"/>
                </a:solidFill>
                <a:effectLst/>
                <a:latin typeface="Consolas" panose="020B0609020204030204" pitchFamily="49" charset="0"/>
              </a:rPr>
              <a:t>.</a:t>
            </a:r>
            <a:r>
              <a:rPr lang="en-US" sz="2400" b="1" dirty="0" err="1">
                <a:solidFill>
                  <a:srgbClr val="DCDCAA"/>
                </a:solidFill>
                <a:effectLst/>
                <a:latin typeface="Consolas" panose="020B0609020204030204" pitchFamily="49" charset="0"/>
              </a:rPr>
              <a:t>Add</a:t>
            </a:r>
            <a:r>
              <a:rPr lang="en-US" sz="2400" b="1" dirty="0">
                <a:solidFill>
                  <a:srgbClr val="CCCCCC"/>
                </a:solidFill>
                <a:effectLst/>
                <a:latin typeface="Consolas" panose="020B0609020204030204" pitchFamily="49" charset="0"/>
              </a:rPr>
              <a:t>(</a:t>
            </a:r>
            <a:r>
              <a:rPr lang="en-US" sz="2400" b="1" dirty="0">
                <a:solidFill>
                  <a:srgbClr val="CE9178"/>
                </a:solidFill>
                <a:effectLst/>
                <a:latin typeface="Consolas" panose="020B0609020204030204" pitchFamily="49" charset="0"/>
              </a:rPr>
              <a:t>"Item 2"</a:t>
            </a:r>
            <a:r>
              <a:rPr lang="en-US" sz="2400" b="1" dirty="0">
                <a:solidFill>
                  <a:srgbClr val="CCCCCC"/>
                </a:solidFill>
                <a:effectLst/>
                <a:latin typeface="Consolas" panose="020B0609020204030204" pitchFamily="49" charset="0"/>
              </a:rPr>
              <a:t>);</a:t>
            </a:r>
          </a:p>
          <a:p>
            <a:pPr>
              <a:lnSpc>
                <a:spcPts val="1425"/>
              </a:lnSpc>
              <a:buNone/>
            </a:pPr>
            <a:br>
              <a:rPr lang="en-US" sz="2400" b="1" dirty="0">
                <a:solidFill>
                  <a:srgbClr val="CCCCCC"/>
                </a:solidFill>
                <a:effectLst/>
                <a:latin typeface="Consolas" panose="020B0609020204030204" pitchFamily="49" charset="0"/>
              </a:rPr>
            </a:br>
            <a:endParaRPr lang="en-US" sz="2400" b="1" dirty="0">
              <a:solidFill>
                <a:srgbClr val="CCCCCC"/>
              </a:solidFill>
              <a:effectLst/>
              <a:latin typeface="Consolas" panose="020B0609020204030204" pitchFamily="49" charset="0"/>
            </a:endParaRPr>
          </a:p>
          <a:p>
            <a:pPr>
              <a:lnSpc>
                <a:spcPts val="1425"/>
              </a:lnSpc>
              <a:buNone/>
            </a:pPr>
            <a:r>
              <a:rPr lang="en-US" sz="2400" b="1" dirty="0">
                <a:solidFill>
                  <a:srgbClr val="CCCCCC"/>
                </a:solidFill>
                <a:effectLst/>
                <a:latin typeface="Consolas" panose="020B0609020204030204" pitchFamily="49" charset="0"/>
              </a:rPr>
              <a:t>        </a:t>
            </a:r>
            <a:r>
              <a:rPr lang="en-US" sz="2400" b="1" dirty="0">
                <a:solidFill>
                  <a:srgbClr val="C586C0"/>
                </a:solidFill>
                <a:effectLst/>
                <a:latin typeface="Consolas" panose="020B0609020204030204" pitchFamily="49" charset="0"/>
              </a:rPr>
              <a:t>foreach</a:t>
            </a:r>
            <a:r>
              <a:rPr lang="en-US" sz="2400" b="1" dirty="0">
                <a:solidFill>
                  <a:srgbClr val="CCCCCC"/>
                </a:solidFill>
                <a:effectLst/>
                <a:latin typeface="Consolas" panose="020B0609020204030204" pitchFamily="49" charset="0"/>
              </a:rPr>
              <a:t> (</a:t>
            </a:r>
            <a:r>
              <a:rPr lang="en-US" sz="2400" b="1" dirty="0">
                <a:solidFill>
                  <a:srgbClr val="569CD6"/>
                </a:solidFill>
                <a:effectLst/>
                <a:latin typeface="Consolas" panose="020B0609020204030204" pitchFamily="49" charset="0"/>
              </a:rPr>
              <a:t>var</a:t>
            </a:r>
            <a:r>
              <a:rPr lang="en-US" sz="2400" b="1" dirty="0">
                <a:solidFill>
                  <a:srgbClr val="CCCCCC"/>
                </a:solidFill>
                <a:effectLst/>
                <a:latin typeface="Consolas" panose="020B0609020204030204" pitchFamily="49" charset="0"/>
              </a:rPr>
              <a:t> </a:t>
            </a:r>
            <a:r>
              <a:rPr lang="en-US" sz="2400" b="1" dirty="0">
                <a:solidFill>
                  <a:srgbClr val="9CDCFE"/>
                </a:solidFill>
                <a:effectLst/>
                <a:latin typeface="Consolas" panose="020B0609020204030204" pitchFamily="49" charset="0"/>
              </a:rPr>
              <a:t>item</a:t>
            </a:r>
            <a:r>
              <a:rPr lang="en-US" sz="2400" b="1" dirty="0">
                <a:solidFill>
                  <a:srgbClr val="CCCCCC"/>
                </a:solidFill>
                <a:effectLst/>
                <a:latin typeface="Consolas" panose="020B0609020204030204" pitchFamily="49" charset="0"/>
              </a:rPr>
              <a:t> </a:t>
            </a:r>
            <a:r>
              <a:rPr lang="en-US" sz="2400" b="1" dirty="0">
                <a:solidFill>
                  <a:srgbClr val="C586C0"/>
                </a:solidFill>
                <a:effectLst/>
                <a:latin typeface="Consolas" panose="020B0609020204030204" pitchFamily="49" charset="0"/>
              </a:rPr>
              <a:t>in</a:t>
            </a:r>
            <a:r>
              <a:rPr lang="en-US" sz="2400" b="1" dirty="0">
                <a:solidFill>
                  <a:srgbClr val="CCCCCC"/>
                </a:solidFill>
                <a:effectLst/>
                <a:latin typeface="Consolas" panose="020B0609020204030204" pitchFamily="49" charset="0"/>
              </a:rPr>
              <a:t> </a:t>
            </a:r>
            <a:r>
              <a:rPr lang="en-US" sz="2400" b="1" dirty="0" err="1">
                <a:solidFill>
                  <a:srgbClr val="9CDCFE"/>
                </a:solidFill>
                <a:effectLst/>
                <a:latin typeface="Consolas" panose="020B0609020204030204" pitchFamily="49" charset="0"/>
              </a:rPr>
              <a:t>stringRepo</a:t>
            </a:r>
            <a:r>
              <a:rPr lang="en-US" sz="2400" b="1" dirty="0" err="1">
                <a:solidFill>
                  <a:srgbClr val="CCCCCC"/>
                </a:solidFill>
                <a:effectLst/>
                <a:latin typeface="Consolas" panose="020B0609020204030204" pitchFamily="49" charset="0"/>
              </a:rPr>
              <a:t>.</a:t>
            </a:r>
            <a:r>
              <a:rPr lang="en-US" sz="2400" b="1" dirty="0" err="1">
                <a:solidFill>
                  <a:srgbClr val="DCDCAA"/>
                </a:solidFill>
                <a:effectLst/>
                <a:latin typeface="Consolas" panose="020B0609020204030204" pitchFamily="49" charset="0"/>
              </a:rPr>
              <a:t>GetAll</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p>
          <a:p>
            <a:pPr>
              <a:lnSpc>
                <a:spcPts val="1425"/>
              </a:lnSpc>
              <a:buNone/>
            </a:pPr>
            <a:r>
              <a:rPr lang="en-US" sz="2400" b="1" dirty="0">
                <a:solidFill>
                  <a:srgbClr val="CCCCCC"/>
                </a:solidFill>
                <a:effectLst/>
                <a:latin typeface="Consolas" panose="020B0609020204030204" pitchFamily="49" charset="0"/>
              </a:rPr>
              <a:t>            </a:t>
            </a:r>
            <a:r>
              <a:rPr lang="en-US" sz="2400" b="1" dirty="0" err="1">
                <a:solidFill>
                  <a:srgbClr val="9CDCFE"/>
                </a:solidFill>
                <a:effectLst/>
                <a:latin typeface="Consolas" panose="020B0609020204030204" pitchFamily="49" charset="0"/>
              </a:rPr>
              <a:t>Console</a:t>
            </a:r>
            <a:r>
              <a:rPr lang="en-US" sz="2400" b="1" dirty="0" err="1">
                <a:solidFill>
                  <a:srgbClr val="CCCCCC"/>
                </a:solidFill>
                <a:effectLst/>
                <a:latin typeface="Consolas" panose="020B0609020204030204" pitchFamily="49" charset="0"/>
              </a:rPr>
              <a:t>.</a:t>
            </a:r>
            <a:r>
              <a:rPr lang="en-US" sz="2400" b="1" dirty="0" err="1">
                <a:solidFill>
                  <a:srgbClr val="DCDCAA"/>
                </a:solidFill>
                <a:effectLst/>
                <a:latin typeface="Consolas" panose="020B0609020204030204" pitchFamily="49" charset="0"/>
              </a:rPr>
              <a:t>WriteLine</a:t>
            </a:r>
            <a:r>
              <a:rPr lang="en-US" sz="2400" b="1" dirty="0">
                <a:solidFill>
                  <a:srgbClr val="CCCCCC"/>
                </a:solidFill>
                <a:effectLst/>
                <a:latin typeface="Consolas" panose="020B0609020204030204" pitchFamily="49" charset="0"/>
              </a:rPr>
              <a:t>(</a:t>
            </a:r>
            <a:r>
              <a:rPr lang="en-US" sz="2400" b="1" dirty="0">
                <a:solidFill>
                  <a:srgbClr val="9CDCFE"/>
                </a:solidFill>
                <a:effectLst/>
                <a:latin typeface="Consolas" panose="020B0609020204030204" pitchFamily="49" charset="0"/>
              </a:rPr>
              <a:t>item</a:t>
            </a:r>
            <a:r>
              <a:rPr lang="en-US" sz="2400" b="1" dirty="0">
                <a:solidFill>
                  <a:srgbClr val="CCCCCC"/>
                </a:solidFill>
                <a:effectLst/>
                <a:latin typeface="Consolas" panose="020B0609020204030204" pitchFamily="49" charset="0"/>
              </a:rPr>
              <a:t>);</a:t>
            </a:r>
          </a:p>
          <a:p>
            <a:pPr>
              <a:lnSpc>
                <a:spcPts val="1425"/>
              </a:lnSpc>
              <a:buNone/>
            </a:pPr>
            <a:r>
              <a:rPr lang="en-US" sz="2400" b="1" dirty="0">
                <a:solidFill>
                  <a:srgbClr val="CCCCCC"/>
                </a:solidFill>
                <a:effectLst/>
                <a:latin typeface="Consolas" panose="020B0609020204030204" pitchFamily="49" charset="0"/>
              </a:rPr>
              <a:t>        }</a:t>
            </a:r>
          </a:p>
          <a:p>
            <a:pPr>
              <a:lnSpc>
                <a:spcPts val="1425"/>
              </a:lnSpc>
              <a:buNone/>
            </a:pPr>
            <a:r>
              <a:rPr lang="en-US" sz="2400" b="1" dirty="0">
                <a:solidFill>
                  <a:srgbClr val="CCCCCC"/>
                </a:solidFill>
                <a:effectLst/>
                <a:latin typeface="Consolas" panose="020B0609020204030204" pitchFamily="49" charset="0"/>
              </a:rPr>
              <a:t>    }</a:t>
            </a:r>
          </a:p>
          <a:p>
            <a:pPr>
              <a:lnSpc>
                <a:spcPts val="1425"/>
              </a:lnSpc>
              <a:buNone/>
            </a:pPr>
            <a:r>
              <a:rPr lang="en-US" sz="2400" b="1"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8692841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ldThem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ldTheme" id="{E044F4A2-B66D-45C2-96C7-FCDC24F4574A}" vid="{A3C9D0F2-0975-40A9-A9D7-E4850D5DE04F}"/>
    </a:ext>
  </a:extLst>
</a:theme>
</file>

<file path=docProps/app.xml><?xml version="1.0" encoding="utf-8"?>
<Properties xmlns="http://schemas.openxmlformats.org/officeDocument/2006/extended-properties" xmlns:vt="http://schemas.openxmlformats.org/officeDocument/2006/docPropsVTypes">
  <Template/>
  <TotalTime>5666</TotalTime>
  <Words>1589</Words>
  <Application>Microsoft Office PowerPoint</Application>
  <PresentationFormat>On-screen Show (4:3)</PresentationFormat>
  <Paragraphs>232</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Consolas</vt:lpstr>
      <vt:lpstr>Courier New</vt:lpstr>
      <vt:lpstr>Wingdings</vt:lpstr>
      <vt:lpstr>oldTheme</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lpstr>C#POO - Cursul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Licenta A3 - Facultatea de Informatica și Ştiinţe</dc:creator>
  <cp:lastModifiedBy>Licenta A3 - Facultatea de Informatica și Ştiinţe</cp:lastModifiedBy>
  <cp:revision>87</cp:revision>
  <dcterms:created xsi:type="dcterms:W3CDTF">2025-10-05T09:43:55Z</dcterms:created>
  <dcterms:modified xsi:type="dcterms:W3CDTF">2026-05-13T08:00:36Z</dcterms:modified>
</cp:coreProperties>
</file>
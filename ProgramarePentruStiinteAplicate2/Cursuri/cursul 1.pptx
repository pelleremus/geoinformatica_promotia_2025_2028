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300" r:id="rId3"/>
    <p:sldId id="301" r:id="rId4"/>
    <p:sldId id="302" r:id="rId5"/>
    <p:sldId id="303" r:id="rId6"/>
    <p:sldId id="304" r:id="rId7"/>
    <p:sldId id="305" r:id="rId8"/>
    <p:sldId id="306" r:id="rId9"/>
    <p:sldId id="307" r:id="rId10"/>
    <p:sldId id="308" r:id="rId11"/>
    <p:sldId id="309" r:id="rId12"/>
    <p:sldId id="310" r:id="rId13"/>
    <p:sldId id="311" r:id="rId14"/>
    <p:sldId id="312" r:id="rId15"/>
    <p:sldId id="313" r:id="rId16"/>
    <p:sldId id="314" r:id="rId17"/>
    <p:sldId id="315" r:id="rId18"/>
    <p:sldId id="316" r:id="rId19"/>
    <p:sldId id="299" r:id="rId20"/>
    <p:sldId id="317" r:id="rId21"/>
    <p:sldId id="319" r:id="rId22"/>
    <p:sldId id="320" r:id="rId23"/>
    <p:sldId id="321" r:id="rId24"/>
    <p:sldId id="322" r:id="rId25"/>
    <p:sldId id="323" r:id="rId26"/>
    <p:sldId id="324" r:id="rId27"/>
    <p:sldId id="325" r:id="rId28"/>
    <p:sldId id="326" r:id="rId29"/>
    <p:sldId id="327" r:id="rId30"/>
    <p:sldId id="328" r:id="rId31"/>
    <p:sldId id="318"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34" autoAdjust="0"/>
    <p:restoredTop sz="94660"/>
  </p:normalViewPr>
  <p:slideViewPr>
    <p:cSldViewPr snapToGrid="0">
      <p:cViewPr varScale="1">
        <p:scale>
          <a:sx n="99" d="100"/>
          <a:sy n="99" d="100"/>
        </p:scale>
        <p:origin x="6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5"/>
            <a:ext cx="7315200" cy="2595025"/>
          </a:xfrm>
        </p:spPr>
        <p:txBody>
          <a:bodyPr>
            <a:normAutofit/>
          </a:bodyPr>
          <a:lstStyle>
            <a:lvl1pPr>
              <a:defRPr sz="3600"/>
            </a:lvl1pPr>
          </a:lstStyle>
          <a:p>
            <a:r>
              <a:rPr lang="en-US"/>
              <a:t>Click to edit Master title style</a:t>
            </a:r>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165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7856C7F-C199-47A3-AF94-EAE81E21E31B}" type="datetimeFigureOut">
              <a:rPr lang="en-US" smtClean="0"/>
              <a:t>2/24/2026</a:t>
            </a:fld>
            <a:endParaRPr lang="en-US"/>
          </a:p>
        </p:txBody>
      </p:sp>
      <p:sp>
        <p:nvSpPr>
          <p:cNvPr id="8" name="Slide Number Placeholder 7"/>
          <p:cNvSpPr>
            <a:spLocks noGrp="1"/>
          </p:cNvSpPr>
          <p:nvPr>
            <p:ph type="sldNum" sz="quarter" idx="11"/>
          </p:nvPr>
        </p:nvSpPr>
        <p:spPr/>
        <p:txBody>
          <a:bodyPr/>
          <a:lstStyle/>
          <a:p>
            <a:fld id="{E13EF8AE-9767-4E5A-802F-66A2B36F74A8}"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719987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856C7F-C199-47A3-AF94-EAE81E21E31B}"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098958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3000" b="0" cap="none"/>
            </a:lvl1pPr>
          </a:lstStyle>
          <a:p>
            <a:r>
              <a:rPr lang="en-US"/>
              <a:t>Click to edit Master title style</a:t>
            </a:r>
          </a:p>
        </p:txBody>
      </p:sp>
      <p:sp>
        <p:nvSpPr>
          <p:cNvPr id="3" name="Text Placeholder 2"/>
          <p:cNvSpPr>
            <a:spLocks noGrp="1"/>
          </p:cNvSpPr>
          <p:nvPr>
            <p:ph type="body" idx="1"/>
          </p:nvPr>
        </p:nvSpPr>
        <p:spPr>
          <a:xfrm>
            <a:off x="914400" y="3865099"/>
            <a:ext cx="7315200" cy="1098439"/>
          </a:xfrm>
        </p:spPr>
        <p:txBody>
          <a:bodyPr anchor="b"/>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856C7F-C199-47A3-AF94-EAE81E21E31B}"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771426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7856C7F-C199-47A3-AF94-EAE81E21E31B}"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
        <p:nvSpPr>
          <p:cNvPr id="9" name="Title 8"/>
          <p:cNvSpPr>
            <a:spLocks noGrp="1"/>
          </p:cNvSpPr>
          <p:nvPr>
            <p:ph type="title"/>
          </p:nvPr>
        </p:nvSpPr>
        <p:spPr>
          <a:xfrm>
            <a:off x="914400" y="1544717"/>
            <a:ext cx="7315200" cy="1154097"/>
          </a:xfrm>
        </p:spPr>
        <p:txBody>
          <a:bodyPr/>
          <a:lstStyle/>
          <a:p>
            <a:r>
              <a:rPr lang="en-US"/>
              <a:t>Click to edit Master title style</a:t>
            </a:r>
          </a:p>
        </p:txBody>
      </p:sp>
      <p:sp>
        <p:nvSpPr>
          <p:cNvPr id="8" name="Content Placeholder 7"/>
          <p:cNvSpPr>
            <a:spLocks noGrp="1"/>
          </p:cNvSpPr>
          <p:nvPr>
            <p:ph sz="quarter" idx="13"/>
          </p:nvPr>
        </p:nvSpPr>
        <p:spPr>
          <a:xfrm>
            <a:off x="914400" y="2743200"/>
            <a:ext cx="356616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81728" y="2743202"/>
            <a:ext cx="3566160" cy="3595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7313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15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5" name="Text Placeholder 4"/>
          <p:cNvSpPr>
            <a:spLocks noGrp="1"/>
          </p:cNvSpPr>
          <p:nvPr>
            <p:ph type="body" sz="quarter" idx="3"/>
          </p:nvPr>
        </p:nvSpPr>
        <p:spPr>
          <a:xfrm>
            <a:off x="4885145" y="2743200"/>
            <a:ext cx="3362062" cy="621792"/>
          </a:xfrm>
        </p:spPr>
        <p:txBody>
          <a:bodyPr anchor="b">
            <a:noAutofit/>
          </a:bodyPr>
          <a:lstStyle>
            <a:lvl1pPr marL="0" indent="0">
              <a:buNone/>
              <a:defRPr sz="15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Date Placeholder 6"/>
          <p:cNvSpPr>
            <a:spLocks noGrp="1"/>
          </p:cNvSpPr>
          <p:nvPr>
            <p:ph type="dt" sz="half" idx="10"/>
          </p:nvPr>
        </p:nvSpPr>
        <p:spPr/>
        <p:txBody>
          <a:bodyPr/>
          <a:lstStyle/>
          <a:p>
            <a:fld id="{C7856C7F-C199-47A3-AF94-EAE81E21E31B}" type="datetimeFigureOut">
              <a:rPr lang="en-US" smtClean="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3EF8AE-9767-4E5A-802F-66A2B36F74A8}" type="slidenum">
              <a:rPr lang="en-US" smtClean="0"/>
              <a:t>‹#›</a:t>
            </a:fld>
            <a:endParaRPr lang="en-US"/>
          </a:p>
        </p:txBody>
      </p:sp>
      <p:sp>
        <p:nvSpPr>
          <p:cNvPr id="10" name="Title 9"/>
          <p:cNvSpPr>
            <a:spLocks noGrp="1"/>
          </p:cNvSpPr>
          <p:nvPr>
            <p:ph type="title"/>
          </p:nvPr>
        </p:nvSpPr>
        <p:spPr>
          <a:xfrm>
            <a:off x="914400" y="1544717"/>
            <a:ext cx="7315200" cy="1154097"/>
          </a:xfrm>
        </p:spPr>
        <p:txBody>
          <a:bodyPr/>
          <a:lstStyle/>
          <a:p>
            <a:r>
              <a:rPr lang="en-US"/>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16342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856C7F-C199-47A3-AF94-EAE81E21E31B}" type="datetimeFigureOut">
              <a:rPr lang="en-US" smtClean="0"/>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747128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856C7F-C199-47A3-AF94-EAE81E21E31B}" type="datetimeFigureOut">
              <a:rPr lang="en-US" smtClean="0"/>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1612098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4"/>
            <a:ext cx="2950936" cy="2173015"/>
          </a:xfrm>
        </p:spPr>
        <p:txBody>
          <a:bodyPr anchor="b">
            <a:normAutofit/>
          </a:bodyPr>
          <a:lstStyle>
            <a:lvl1pPr algn="l">
              <a:defRPr sz="2100" b="0"/>
            </a:lvl1pPr>
          </a:lstStyle>
          <a:p>
            <a:r>
              <a:rPr lang="en-US"/>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4400" y="4061097"/>
            <a:ext cx="2950936" cy="224538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856C7F-C199-47A3-AF94-EAE81E21E31B}"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428687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100" b="0"/>
            </a:lvl1pPr>
          </a:lstStyle>
          <a:p>
            <a:r>
              <a:rPr lang="en-US"/>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856C7F-C199-47A3-AF94-EAE81E21E31B}"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305268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56C7F-C199-47A3-AF94-EAE81E21E31B}"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741162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1" y="1826709"/>
            <a:ext cx="1492499" cy="448445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56C7F-C199-47A3-AF94-EAE81E21E31B}"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541627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914400" y="1544717"/>
            <a:ext cx="7315200" cy="115409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14400" y="2769835"/>
            <a:ext cx="7315200" cy="35395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07691" y="548797"/>
            <a:ext cx="1189132" cy="297918"/>
          </a:xfrm>
          <a:prstGeom prst="rect">
            <a:avLst/>
          </a:prstGeom>
        </p:spPr>
        <p:txBody>
          <a:bodyPr vert="horz" lIns="91440" tIns="45720" rIns="91440" bIns="45720" rtlCol="0" anchor="ctr"/>
          <a:lstStyle>
            <a:lvl1pPr algn="l">
              <a:defRPr sz="900">
                <a:solidFill>
                  <a:schemeClr val="tx1">
                    <a:alpha val="50000"/>
                  </a:schemeClr>
                </a:solidFill>
              </a:defRPr>
            </a:lvl1pPr>
          </a:lstStyle>
          <a:p>
            <a:fld id="{C7856C7F-C199-47A3-AF94-EAE81E21E31B}" type="datetimeFigureOut">
              <a:rPr lang="en-US" smtClean="0"/>
              <a:t>2/24/2026</a:t>
            </a:fld>
            <a:endParaRPr lang="en-US"/>
          </a:p>
        </p:txBody>
      </p:sp>
      <p:sp>
        <p:nvSpPr>
          <p:cNvPr id="6" name="Slide Number Placeholder 5"/>
          <p:cNvSpPr>
            <a:spLocks noGrp="1"/>
          </p:cNvSpPr>
          <p:nvPr>
            <p:ph type="sldNum" sz="quarter" idx="4"/>
          </p:nvPr>
        </p:nvSpPr>
        <p:spPr>
          <a:xfrm>
            <a:off x="7314416" y="548797"/>
            <a:ext cx="941203" cy="301752"/>
          </a:xfrm>
          <a:prstGeom prst="rect">
            <a:avLst/>
          </a:prstGeom>
        </p:spPr>
        <p:txBody>
          <a:bodyPr vert="horz" lIns="91440" tIns="45720" rIns="91440" bIns="45720" rtlCol="0" anchor="ctr"/>
          <a:lstStyle>
            <a:lvl1pPr algn="r">
              <a:defRPr sz="900">
                <a:solidFill>
                  <a:schemeClr val="tx1"/>
                </a:solidFill>
              </a:defRPr>
            </a:lvl1pPr>
          </a:lstStyle>
          <a:p>
            <a:fld id="{E13EF8AE-9767-4E5A-802F-66A2B36F74A8}" type="slidenum">
              <a:rPr lang="en-US" smtClean="0"/>
              <a:t>‹#›</a:t>
            </a:fld>
            <a:endParaRPr lang="en-US"/>
          </a:p>
        </p:txBody>
      </p:sp>
      <p:sp>
        <p:nvSpPr>
          <p:cNvPr id="5" name="Footer Placeholder 4"/>
          <p:cNvSpPr>
            <a:spLocks noGrp="1"/>
          </p:cNvSpPr>
          <p:nvPr>
            <p:ph type="ftr" sz="quarter" idx="3"/>
          </p:nvPr>
        </p:nvSpPr>
        <p:spPr>
          <a:xfrm>
            <a:off x="6008689" y="855958"/>
            <a:ext cx="2246489" cy="301227"/>
          </a:xfrm>
          <a:prstGeom prst="rect">
            <a:avLst/>
          </a:prstGeom>
        </p:spPr>
        <p:txBody>
          <a:bodyPr vert="horz" lIns="91440" tIns="0" rIns="91440" bIns="45720" rtlCol="0" anchor="t"/>
          <a:lstStyle>
            <a:lvl1pPr algn="l">
              <a:defRPr sz="750">
                <a:solidFill>
                  <a:schemeClr val="tx1"/>
                </a:solidFill>
              </a:defRPr>
            </a:lvl1pPr>
          </a:lstStyle>
          <a:p>
            <a:endParaRPr lang="en-US"/>
          </a:p>
        </p:txBody>
      </p:sp>
    </p:spTree>
    <p:extLst>
      <p:ext uri="{BB962C8B-B14F-4D97-AF65-F5344CB8AC3E}">
        <p14:creationId xmlns:p14="http://schemas.microsoft.com/office/powerpoint/2010/main" val="941792168"/>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spcBef>
          <a:spcPct val="0"/>
        </a:spcBef>
        <a:buNone/>
        <a:defRPr sz="3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71450" indent="-137160" algn="l" defTabSz="685800" rtl="0" eaLnBrk="1" latinLnBrk="0" hangingPunct="1">
        <a:spcBef>
          <a:spcPct val="20000"/>
        </a:spcBef>
        <a:buClr>
          <a:schemeClr val="tx2"/>
        </a:buClr>
        <a:buFont typeface="Wingdings" charset="2"/>
        <a:buChar char="§"/>
        <a:defRPr sz="1500" kern="1200">
          <a:solidFill>
            <a:schemeClr val="tx1"/>
          </a:solidFill>
          <a:latin typeface="+mn-lt"/>
          <a:ea typeface="+mn-ea"/>
          <a:cs typeface="+mn-cs"/>
        </a:defRPr>
      </a:lvl1pPr>
      <a:lvl2pPr marL="377190" indent="-137160" algn="l" defTabSz="685800" rtl="0" eaLnBrk="1" latinLnBrk="0" hangingPunct="1">
        <a:spcBef>
          <a:spcPct val="20000"/>
        </a:spcBef>
        <a:buClr>
          <a:schemeClr val="tx2"/>
        </a:buClr>
        <a:buFont typeface="Wingdings" charset="2"/>
        <a:buChar char="§"/>
        <a:defRPr sz="1350" kern="1200">
          <a:solidFill>
            <a:schemeClr val="tx1"/>
          </a:solidFill>
          <a:latin typeface="+mn-lt"/>
          <a:ea typeface="+mn-ea"/>
          <a:cs typeface="+mn-cs"/>
        </a:defRPr>
      </a:lvl2pPr>
      <a:lvl3pPr marL="514350" indent="-137160" algn="l" defTabSz="685800" rtl="0" eaLnBrk="1" latinLnBrk="0" hangingPunct="1">
        <a:spcBef>
          <a:spcPct val="20000"/>
        </a:spcBef>
        <a:buClr>
          <a:schemeClr val="tx2"/>
        </a:buClr>
        <a:buFont typeface="Wingdings" charset="2"/>
        <a:buChar char="§"/>
        <a:defRPr sz="1200" kern="1200">
          <a:solidFill>
            <a:schemeClr val="tx1"/>
          </a:solidFill>
          <a:latin typeface="+mn-lt"/>
          <a:ea typeface="+mn-ea"/>
          <a:cs typeface="+mn-cs"/>
        </a:defRPr>
      </a:lvl3pPr>
      <a:lvl4pPr marL="685800" indent="-137160" algn="l" defTabSz="685800" rtl="0" eaLnBrk="1" latinLnBrk="0" hangingPunct="1">
        <a:spcBef>
          <a:spcPct val="20000"/>
        </a:spcBef>
        <a:buClr>
          <a:schemeClr val="tx2"/>
        </a:buClr>
        <a:buFont typeface="Wingdings" charset="2"/>
        <a:buChar char="§"/>
        <a:defRPr sz="1050" kern="1200">
          <a:solidFill>
            <a:schemeClr val="tx1"/>
          </a:solidFill>
          <a:latin typeface="+mn-lt"/>
          <a:ea typeface="+mn-ea"/>
          <a:cs typeface="+mn-cs"/>
        </a:defRPr>
      </a:lvl4pPr>
      <a:lvl5pPr marL="857250" indent="-137160" algn="l" defTabSz="685800" rtl="0" eaLnBrk="1" latinLnBrk="0" hangingPunct="1">
        <a:spcBef>
          <a:spcPct val="20000"/>
        </a:spcBef>
        <a:buClr>
          <a:schemeClr val="tx2"/>
        </a:buClr>
        <a:buFont typeface="Wingdings" charset="2"/>
        <a:buChar char="§"/>
        <a:defRPr sz="1050" kern="1200">
          <a:solidFill>
            <a:schemeClr val="tx1"/>
          </a:solidFill>
          <a:latin typeface="+mn-lt"/>
          <a:ea typeface="+mn-ea"/>
          <a:cs typeface="+mn-cs"/>
        </a:defRPr>
      </a:lvl5pPr>
      <a:lvl6pPr marL="102870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6pPr>
      <a:lvl7pPr marL="120015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7pPr>
      <a:lvl8pPr marL="137160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8pPr>
      <a:lvl9pPr marL="154305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271B79-AD63-DB37-67C7-C575BD375C76}"/>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80B65007-A43F-3FCE-F922-090075940AAD}"/>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Programarea orientată pe obiecte</a:t>
            </a:r>
          </a:p>
          <a:p>
            <a:pPr algn="just"/>
            <a:r>
              <a:rPr lang="ro-RO" sz="2800" noProof="0" dirty="0">
                <a:solidFill>
                  <a:srgbClr val="00B0F0"/>
                </a:solidFill>
              </a:rPr>
              <a:t> Încapsulare</a:t>
            </a:r>
          </a:p>
          <a:p>
            <a:pPr algn="just"/>
            <a:r>
              <a:rPr lang="ro-RO" sz="2800" noProof="0" dirty="0">
                <a:solidFill>
                  <a:srgbClr val="00B0F0"/>
                </a:solidFill>
              </a:rPr>
              <a:t> Abstractizare</a:t>
            </a:r>
          </a:p>
          <a:p>
            <a:pPr algn="just"/>
            <a:r>
              <a:rPr lang="ro-RO" sz="2800" noProof="0" dirty="0">
                <a:solidFill>
                  <a:srgbClr val="00B0F0"/>
                </a:solidFill>
              </a:rPr>
              <a:t> Moștenire</a:t>
            </a:r>
          </a:p>
          <a:p>
            <a:pPr algn="just"/>
            <a:r>
              <a:rPr lang="ro-RO" sz="2800" noProof="0" dirty="0">
                <a:solidFill>
                  <a:srgbClr val="00B0F0"/>
                </a:solidFill>
              </a:rPr>
              <a:t> Polimorfism</a:t>
            </a:r>
          </a:p>
        </p:txBody>
      </p:sp>
    </p:spTree>
    <p:extLst>
      <p:ext uri="{BB962C8B-B14F-4D97-AF65-F5344CB8AC3E}">
        <p14:creationId xmlns:p14="http://schemas.microsoft.com/office/powerpoint/2010/main" val="689500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88D1B-34D2-8C11-5876-0F5D8147AE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5E18B50-FFF2-20F6-0EF4-A3BC571E2288}"/>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4CA4C17E-D401-99E3-A4B0-DFCE323F85CB}"/>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chemeClr val="tx2"/>
                </a:solidFill>
              </a:rPr>
              <a:t>Încapsularea</a:t>
            </a:r>
            <a:r>
              <a:rPr lang="ro-RO" sz="2800" noProof="0" dirty="0">
                <a:solidFill>
                  <a:srgbClr val="00B0F0"/>
                </a:solidFill>
              </a:rPr>
              <a:t> este definită „ca procesul de includere a unuia sau mai multor elemente într-un pachet fizic sau logic”. Încapsularea, în metodologia programării orientate pe obiecte, împiedică accesul la detaliile implementării.</a:t>
            </a:r>
          </a:p>
          <a:p>
            <a:pPr marL="34290" indent="0" algn="just">
              <a:buNone/>
            </a:pPr>
            <a:endParaRPr lang="ro-RO" sz="2800" noProof="0" dirty="0">
              <a:solidFill>
                <a:srgbClr val="00B0F0"/>
              </a:solidFill>
            </a:endParaRPr>
          </a:p>
          <a:p>
            <a:pPr marL="34290" indent="0" algn="just">
              <a:buNone/>
            </a:pPr>
            <a:r>
              <a:rPr lang="ro-RO" sz="2800" noProof="0" dirty="0">
                <a:solidFill>
                  <a:schemeClr val="tx2"/>
                </a:solidFill>
              </a:rPr>
              <a:t>Abstracția</a:t>
            </a:r>
            <a:r>
              <a:rPr lang="ro-RO" sz="2800" noProof="0" dirty="0">
                <a:solidFill>
                  <a:srgbClr val="00B0F0"/>
                </a:solidFill>
              </a:rPr>
              <a:t> și </a:t>
            </a:r>
            <a:r>
              <a:rPr lang="ro-RO" sz="2800" noProof="0" dirty="0">
                <a:solidFill>
                  <a:schemeClr val="tx2"/>
                </a:solidFill>
              </a:rPr>
              <a:t>încapsularea</a:t>
            </a:r>
            <a:r>
              <a:rPr lang="ro-RO" sz="2800" noProof="0" dirty="0">
                <a:solidFill>
                  <a:srgbClr val="00B0F0"/>
                </a:solidFill>
              </a:rPr>
              <a:t> sunt caracteristici conexe în programarea orientată pe obiecte. Abstracția permite vizibilitatea informațiilor relevante, iar încapsularea permite unui programator să implementeze nivelul dorit de abstractizare.</a:t>
            </a:r>
          </a:p>
        </p:txBody>
      </p:sp>
    </p:spTree>
    <p:extLst>
      <p:ext uri="{BB962C8B-B14F-4D97-AF65-F5344CB8AC3E}">
        <p14:creationId xmlns:p14="http://schemas.microsoft.com/office/powerpoint/2010/main" val="832168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257D-21A9-167B-E26E-9EED101D15F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768797F-614B-1573-9DEF-B81E8C9DCE84}"/>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DCB37928-17DE-9D22-8063-82C9B9CCC5A7}"/>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Încapsularea este implementată prin utilizarea specificatorilor de acces. Un specificator de acces definește domeniul de aplicare și vizibilitatea unui membru al clasei. C# acceptă următorii specificatori de acces:</a:t>
            </a:r>
          </a:p>
          <a:p>
            <a:pPr algn="just"/>
            <a:r>
              <a:rPr lang="ro-RO" sz="2800" noProof="0" dirty="0">
                <a:solidFill>
                  <a:srgbClr val="00B0F0"/>
                </a:solidFill>
              </a:rPr>
              <a:t> public</a:t>
            </a:r>
          </a:p>
          <a:p>
            <a:pPr algn="just"/>
            <a:r>
              <a:rPr lang="ro-RO" sz="2800" noProof="0" dirty="0">
                <a:solidFill>
                  <a:srgbClr val="00B0F0"/>
                </a:solidFill>
              </a:rPr>
              <a:t> private</a:t>
            </a:r>
          </a:p>
          <a:p>
            <a:pPr algn="just"/>
            <a:r>
              <a:rPr lang="ro-RO" sz="2800" noProof="0" dirty="0">
                <a:solidFill>
                  <a:srgbClr val="00B0F0"/>
                </a:solidFill>
              </a:rPr>
              <a:t> </a:t>
            </a:r>
            <a:r>
              <a:rPr lang="ro-RO" sz="2800" noProof="0" dirty="0" err="1">
                <a:solidFill>
                  <a:srgbClr val="00B0F0"/>
                </a:solidFill>
              </a:rPr>
              <a:t>protected</a:t>
            </a:r>
            <a:endParaRPr lang="ro-RO" sz="2800" noProof="0" dirty="0">
              <a:solidFill>
                <a:srgbClr val="00B0F0"/>
              </a:solidFill>
            </a:endParaRPr>
          </a:p>
          <a:p>
            <a:pPr algn="just"/>
            <a:r>
              <a:rPr lang="ro-RO" sz="2800" noProof="0" dirty="0">
                <a:solidFill>
                  <a:srgbClr val="00B0F0"/>
                </a:solidFill>
              </a:rPr>
              <a:t> </a:t>
            </a:r>
            <a:r>
              <a:rPr lang="ro-RO" sz="2800" noProof="0" dirty="0" err="1">
                <a:solidFill>
                  <a:srgbClr val="00B0F0"/>
                </a:solidFill>
              </a:rPr>
              <a:t>internal</a:t>
            </a:r>
            <a:endParaRPr lang="ro-RO" sz="2800" noProof="0" dirty="0">
              <a:solidFill>
                <a:srgbClr val="00B0F0"/>
              </a:solidFill>
            </a:endParaRPr>
          </a:p>
          <a:p>
            <a:pPr algn="just"/>
            <a:r>
              <a:rPr lang="ro-RO" sz="2800" noProof="0" dirty="0">
                <a:solidFill>
                  <a:srgbClr val="00B0F0"/>
                </a:solidFill>
              </a:rPr>
              <a:t> </a:t>
            </a:r>
            <a:r>
              <a:rPr lang="ro-RO" sz="2800" noProof="0" dirty="0" err="1">
                <a:solidFill>
                  <a:srgbClr val="00B0F0"/>
                </a:solidFill>
              </a:rPr>
              <a:t>protected</a:t>
            </a:r>
            <a:r>
              <a:rPr lang="ro-RO" sz="2800" noProof="0" dirty="0">
                <a:solidFill>
                  <a:srgbClr val="00B0F0"/>
                </a:solidFill>
              </a:rPr>
              <a:t> </a:t>
            </a:r>
            <a:r>
              <a:rPr lang="ro-RO" sz="2800" noProof="0" dirty="0" err="1">
                <a:solidFill>
                  <a:srgbClr val="00B0F0"/>
                </a:solidFill>
              </a:rPr>
              <a:t>internal</a:t>
            </a:r>
            <a:endParaRPr lang="ro-RO" sz="2800" noProof="0" dirty="0">
              <a:solidFill>
                <a:srgbClr val="00B0F0"/>
              </a:solidFill>
            </a:endParaRPr>
          </a:p>
          <a:p>
            <a:pPr algn="just"/>
            <a:r>
              <a:rPr lang="ro-RO" sz="2800" noProof="0" dirty="0">
                <a:solidFill>
                  <a:srgbClr val="00B0F0"/>
                </a:solidFill>
              </a:rPr>
              <a:t> private </a:t>
            </a:r>
            <a:r>
              <a:rPr lang="ro-RO" sz="2800" noProof="0" dirty="0" err="1">
                <a:solidFill>
                  <a:srgbClr val="00B0F0"/>
                </a:solidFill>
              </a:rPr>
              <a:t>protected</a:t>
            </a:r>
            <a:endParaRPr lang="ro-RO" sz="2800" noProof="0" dirty="0">
              <a:solidFill>
                <a:srgbClr val="00B0F0"/>
              </a:solidFill>
            </a:endParaRPr>
          </a:p>
        </p:txBody>
      </p:sp>
    </p:spTree>
    <p:extLst>
      <p:ext uri="{BB962C8B-B14F-4D97-AF65-F5344CB8AC3E}">
        <p14:creationId xmlns:p14="http://schemas.microsoft.com/office/powerpoint/2010/main" val="4262489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33B6E-DC52-370F-B545-C800FA98FFE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F31CAD2-8278-9C1E-FC10-325DF16164DE}"/>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B252BA1C-1F8D-B960-DBAF-9BFB8403340B}"/>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Specificatorul de acces </a:t>
            </a:r>
            <a:r>
              <a:rPr lang="ro-RO" sz="2800" noProof="0" dirty="0">
                <a:solidFill>
                  <a:schemeClr val="tx2"/>
                </a:solidFill>
              </a:rPr>
              <a:t>public</a:t>
            </a:r>
          </a:p>
          <a:p>
            <a:pPr marL="34290" indent="0" algn="just">
              <a:buNone/>
            </a:pPr>
            <a:r>
              <a:rPr lang="ro-RO" sz="2800" noProof="0" dirty="0">
                <a:solidFill>
                  <a:srgbClr val="00B0F0"/>
                </a:solidFill>
              </a:rPr>
              <a:t>Specificatorul de acces </a:t>
            </a:r>
            <a:r>
              <a:rPr lang="ro-RO" sz="2800" noProof="0" dirty="0">
                <a:solidFill>
                  <a:schemeClr val="tx2"/>
                </a:solidFill>
              </a:rPr>
              <a:t>public</a:t>
            </a:r>
            <a:r>
              <a:rPr lang="ro-RO" sz="2800" noProof="0" dirty="0">
                <a:solidFill>
                  <a:srgbClr val="00B0F0"/>
                </a:solidFill>
              </a:rPr>
              <a:t> permite unei clase să își expună variabilele și funcțiile membre către alte funcții și obiecte. Orice membru public poate fi accesat din afara clasei.</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Următorul exemplu ilustrează utilizarea unui specificator de acces public în clasa dreptunghi, care afișează aria dreptunghiului și afișarea acestuia.</a:t>
            </a:r>
          </a:p>
        </p:txBody>
      </p:sp>
    </p:spTree>
    <p:extLst>
      <p:ext uri="{BB962C8B-B14F-4D97-AF65-F5344CB8AC3E}">
        <p14:creationId xmlns:p14="http://schemas.microsoft.com/office/powerpoint/2010/main" val="819502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8A2C2-BE9C-A420-79CF-AE9DE6CFA52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26FFA88-D22E-9FB8-7EC6-F2C14367FD4D}"/>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A7512DD4-BCC8-DE4D-B6E8-347BEDE80964}"/>
              </a:ext>
            </a:extLst>
          </p:cNvPr>
          <p:cNvSpPr>
            <a:spLocks noGrp="1"/>
          </p:cNvSpPr>
          <p:nvPr>
            <p:ph idx="1"/>
          </p:nvPr>
        </p:nvSpPr>
        <p:spPr>
          <a:xfrm>
            <a:off x="463925" y="1281952"/>
            <a:ext cx="8249770" cy="5074024"/>
          </a:xfrm>
        </p:spPr>
        <p:txBody>
          <a:bodyPr>
            <a:noAutofit/>
          </a:bodyPr>
          <a:lstStyle/>
          <a:p>
            <a:pPr marL="34290" indent="0" algn="just">
              <a:buNone/>
            </a:pPr>
            <a:r>
              <a:rPr lang="ro-RO" sz="2200" b="1" i="0" noProof="0" dirty="0" err="1">
                <a:solidFill>
                  <a:srgbClr val="CC99CD"/>
                </a:solidFill>
                <a:effectLst/>
                <a:latin typeface="Courier New" panose="02070309020205020404" pitchFamily="49" charset="0"/>
              </a:rPr>
              <a:t>using</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System</a:t>
            </a:r>
            <a:r>
              <a:rPr lang="ro-RO" sz="2200" b="1" i="0" noProof="0" dirty="0">
                <a:solidFill>
                  <a:srgbClr val="CCCCCC"/>
                </a:solidFill>
                <a:effectLst/>
                <a:latin typeface="Courier New" panose="02070309020205020404" pitchFamily="49" charset="0"/>
              </a:rPr>
              <a:t>;</a:t>
            </a:r>
          </a:p>
          <a:p>
            <a:pPr marL="34290" indent="0" algn="just">
              <a:buNone/>
            </a:pPr>
            <a:r>
              <a:rPr lang="ro-RO" sz="2200" b="1" i="0" noProof="0" dirty="0" err="1">
                <a:solidFill>
                  <a:srgbClr val="CC99CD"/>
                </a:solidFill>
                <a:effectLst/>
                <a:latin typeface="Courier New" panose="02070309020205020404" pitchFamily="49" charset="0"/>
              </a:rPr>
              <a:t>namespace</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RectangleApplication</a:t>
            </a:r>
            <a:r>
              <a:rPr lang="ro-RO" sz="2200" b="1" i="0" noProof="0" dirty="0">
                <a:solidFill>
                  <a:srgbClr val="CCCCCC"/>
                </a:solidFill>
                <a:effectLst/>
                <a:latin typeface="Courier New" panose="02070309020205020404" pitchFamily="49" charset="0"/>
              </a:rPr>
              <a:t> { </a:t>
            </a:r>
          </a:p>
          <a:p>
            <a:pPr marL="34290" indent="0" algn="just">
              <a:buNone/>
            </a:pPr>
            <a:r>
              <a:rPr lang="ro-RO" sz="2200" b="1" noProof="0" dirty="0">
                <a:solidFill>
                  <a:srgbClr val="CCCCCC"/>
                </a:solidFill>
                <a:latin typeface="Courier New" panose="02070309020205020404" pitchFamily="49" charset="0"/>
              </a:rPr>
              <a:t>  </a:t>
            </a:r>
            <a:r>
              <a:rPr lang="ro-RO" sz="2200" b="1" i="0" noProof="0" dirty="0" err="1">
                <a:solidFill>
                  <a:srgbClr val="CC99CD"/>
                </a:solidFill>
                <a:effectLst/>
                <a:latin typeface="Courier New" panose="02070309020205020404" pitchFamily="49" charset="0"/>
              </a:rPr>
              <a:t>class</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Rectangle</a:t>
            </a:r>
            <a:r>
              <a:rPr lang="ro-RO" sz="2200" b="1" i="0" noProof="0" dirty="0">
                <a:solidFill>
                  <a:srgbClr val="CCCCCC"/>
                </a:solidFill>
                <a:effectLst/>
                <a:latin typeface="Courier New" panose="02070309020205020404" pitchFamily="49" charset="0"/>
              </a:rPr>
              <a:t> {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99CD"/>
                </a:solidFill>
                <a:effectLst/>
                <a:latin typeface="Courier New" panose="02070309020205020404" pitchFamily="49" charset="0"/>
              </a:rPr>
              <a:t>public</a:t>
            </a:r>
            <a:r>
              <a:rPr lang="ro-RO" sz="2200" b="1" i="0" noProof="0" dirty="0">
                <a:solidFill>
                  <a:srgbClr val="CCCCCC"/>
                </a:solidFill>
                <a:effectLst/>
                <a:latin typeface="Courier New" panose="02070309020205020404" pitchFamily="49" charset="0"/>
              </a:rPr>
              <a:t> </a:t>
            </a:r>
            <a:r>
              <a:rPr lang="ro-RO" sz="2200" b="1" i="0" noProof="0" dirty="0" err="1">
                <a:solidFill>
                  <a:srgbClr val="CC99CD"/>
                </a:solidFill>
                <a:effectLst/>
                <a:latin typeface="Courier New" panose="02070309020205020404" pitchFamily="49" charset="0"/>
              </a:rPr>
              <a:t>double</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length</a:t>
            </a:r>
            <a:r>
              <a:rPr lang="ro-RO" sz="2200" b="1" i="0" noProof="0" dirty="0">
                <a:solidFill>
                  <a:srgbClr val="CCCCCC"/>
                </a:solidFill>
                <a:effectLst/>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99CD"/>
                </a:solidFill>
                <a:effectLst/>
                <a:latin typeface="Courier New" panose="02070309020205020404" pitchFamily="49" charset="0"/>
              </a:rPr>
              <a:t>public</a:t>
            </a:r>
            <a:r>
              <a:rPr lang="ro-RO" sz="2200" b="1" i="0" noProof="0" dirty="0">
                <a:solidFill>
                  <a:srgbClr val="CCCCCC"/>
                </a:solidFill>
                <a:effectLst/>
                <a:latin typeface="Courier New" panose="02070309020205020404" pitchFamily="49" charset="0"/>
              </a:rPr>
              <a:t> </a:t>
            </a:r>
            <a:r>
              <a:rPr lang="ro-RO" sz="2200" b="1" i="0" noProof="0" dirty="0" err="1">
                <a:solidFill>
                  <a:srgbClr val="CC99CD"/>
                </a:solidFill>
                <a:effectLst/>
                <a:latin typeface="Courier New" panose="02070309020205020404" pitchFamily="49" charset="0"/>
              </a:rPr>
              <a:t>double</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width</a:t>
            </a:r>
            <a:r>
              <a:rPr lang="ro-RO" sz="2200" b="1" i="0" noProof="0" dirty="0">
                <a:solidFill>
                  <a:srgbClr val="CCCCCC"/>
                </a:solidFill>
                <a:effectLst/>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99CD"/>
                </a:solidFill>
                <a:effectLst/>
                <a:latin typeface="Courier New" panose="02070309020205020404" pitchFamily="49" charset="0"/>
              </a:rPr>
              <a:t>public</a:t>
            </a:r>
            <a:r>
              <a:rPr lang="ro-RO" sz="2200" b="1" i="0" noProof="0" dirty="0">
                <a:solidFill>
                  <a:srgbClr val="CCCCCC"/>
                </a:solidFill>
                <a:effectLst/>
                <a:latin typeface="Courier New" panose="02070309020205020404" pitchFamily="49" charset="0"/>
              </a:rPr>
              <a:t> </a:t>
            </a:r>
            <a:r>
              <a:rPr lang="ro-RO" sz="2200" b="1" i="0" noProof="0" dirty="0" err="1">
                <a:solidFill>
                  <a:srgbClr val="CC99CD"/>
                </a:solidFill>
                <a:effectLst/>
                <a:latin typeface="Courier New" panose="02070309020205020404" pitchFamily="49" charset="0"/>
              </a:rPr>
              <a:t>double</a:t>
            </a:r>
            <a:r>
              <a:rPr lang="ro-RO" sz="2200" b="1" i="0" noProof="0" dirty="0">
                <a:solidFill>
                  <a:srgbClr val="CCCCCC"/>
                </a:solidFill>
                <a:effectLst/>
                <a:latin typeface="Courier New" panose="02070309020205020404" pitchFamily="49" charset="0"/>
              </a:rPr>
              <a:t> </a:t>
            </a:r>
            <a:r>
              <a:rPr lang="ro-RO" sz="2200" b="1" i="0" noProof="0" dirty="0" err="1">
                <a:solidFill>
                  <a:srgbClr val="F08D49"/>
                </a:solidFill>
                <a:effectLst/>
                <a:latin typeface="Courier New" panose="02070309020205020404" pitchFamily="49" charset="0"/>
              </a:rPr>
              <a:t>GetArea</a:t>
            </a:r>
            <a:r>
              <a:rPr lang="ro-RO" sz="2200" b="1" i="0" noProof="0" dirty="0">
                <a:solidFill>
                  <a:srgbClr val="CCCCCC"/>
                </a:solidFill>
                <a:effectLst/>
                <a:latin typeface="Courier New" panose="02070309020205020404" pitchFamily="49" charset="0"/>
              </a:rPr>
              <a:t>() { </a:t>
            </a:r>
          </a:p>
          <a:p>
            <a:pPr marL="34290" indent="0" algn="just">
              <a:buNone/>
            </a:pPr>
            <a:r>
              <a:rPr lang="ro-RO" sz="2200" b="1" noProof="0" dirty="0">
                <a:solidFill>
                  <a:srgbClr val="CCCCCC"/>
                </a:solidFill>
                <a:latin typeface="Courier New" panose="02070309020205020404" pitchFamily="49" charset="0"/>
              </a:rPr>
              <a:t>      </a:t>
            </a:r>
            <a:r>
              <a:rPr lang="ro-RO" sz="2200" b="1" i="0" noProof="0" dirty="0" err="1">
                <a:solidFill>
                  <a:srgbClr val="CC99CD"/>
                </a:solidFill>
                <a:effectLst/>
                <a:latin typeface="Courier New" panose="02070309020205020404" pitchFamily="49" charset="0"/>
              </a:rPr>
              <a:t>return</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length</a:t>
            </a:r>
            <a:r>
              <a:rPr lang="ro-RO" sz="2200" b="1" i="0" noProof="0" dirty="0">
                <a:solidFill>
                  <a:srgbClr val="CCCCCC"/>
                </a:solidFill>
                <a:effectLst/>
                <a:latin typeface="Courier New" panose="02070309020205020404" pitchFamily="49" charset="0"/>
              </a:rPr>
              <a:t> </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width</a:t>
            </a:r>
            <a:r>
              <a:rPr lang="ro-RO" sz="2200" b="1" i="0" noProof="0" dirty="0">
                <a:solidFill>
                  <a:srgbClr val="CCCCCC"/>
                </a:solidFill>
                <a:effectLst/>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CCCC"/>
                </a:solidFill>
                <a:effectLst/>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99CD"/>
                </a:solidFill>
                <a:effectLst/>
                <a:latin typeface="Courier New" panose="02070309020205020404" pitchFamily="49" charset="0"/>
              </a:rPr>
              <a:t>public</a:t>
            </a:r>
            <a:r>
              <a:rPr lang="ro-RO" sz="2200" b="1" i="0" noProof="0" dirty="0">
                <a:solidFill>
                  <a:srgbClr val="CCCCCC"/>
                </a:solidFill>
                <a:effectLst/>
                <a:latin typeface="Courier New" panose="02070309020205020404" pitchFamily="49" charset="0"/>
              </a:rPr>
              <a:t> </a:t>
            </a:r>
            <a:r>
              <a:rPr lang="ro-RO" sz="2200" b="1" i="0" noProof="0" dirty="0" err="1">
                <a:solidFill>
                  <a:srgbClr val="CC99CD"/>
                </a:solidFill>
                <a:effectLst/>
                <a:latin typeface="Courier New" panose="02070309020205020404" pitchFamily="49" charset="0"/>
              </a:rPr>
              <a:t>void</a:t>
            </a:r>
            <a:r>
              <a:rPr lang="ro-RO" sz="2200" b="1" i="0" noProof="0" dirty="0">
                <a:solidFill>
                  <a:srgbClr val="CCCCCC"/>
                </a:solidFill>
                <a:effectLst/>
                <a:latin typeface="Courier New" panose="02070309020205020404" pitchFamily="49" charset="0"/>
              </a:rPr>
              <a:t> </a:t>
            </a:r>
            <a:r>
              <a:rPr lang="ro-RO" sz="2200" b="1" i="0" noProof="0" dirty="0">
                <a:solidFill>
                  <a:srgbClr val="F08D49"/>
                </a:solidFill>
                <a:effectLst/>
                <a:latin typeface="Courier New" panose="02070309020205020404" pitchFamily="49" charset="0"/>
              </a:rPr>
              <a:t>Display</a:t>
            </a:r>
            <a:r>
              <a:rPr lang="ro-RO" sz="2200" b="1" i="0" noProof="0" dirty="0">
                <a:solidFill>
                  <a:srgbClr val="CCCCCC"/>
                </a:solidFill>
                <a:effectLst/>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Console.</a:t>
            </a:r>
            <a:r>
              <a:rPr lang="ro-RO" sz="2200" b="1" i="0" noProof="0" dirty="0" err="1">
                <a:solidFill>
                  <a:srgbClr val="F08D49"/>
                </a:solidFill>
                <a:effectLst/>
                <a:latin typeface="Courier New" panose="02070309020205020404" pitchFamily="49" charset="0"/>
              </a:rPr>
              <a:t>WriteLine</a:t>
            </a:r>
            <a:r>
              <a:rPr lang="ro-RO" sz="2200" b="1" i="0" noProof="0" dirty="0">
                <a:solidFill>
                  <a:srgbClr val="CCCCCC"/>
                </a:solidFill>
                <a:effectLst/>
                <a:latin typeface="Courier New" panose="02070309020205020404" pitchFamily="49" charset="0"/>
              </a:rPr>
              <a:t>(</a:t>
            </a:r>
            <a:r>
              <a:rPr lang="ro-RO" sz="2200" b="1" i="0" noProof="0" dirty="0">
                <a:solidFill>
                  <a:srgbClr val="7EC699"/>
                </a:solidFill>
                <a:effectLst/>
                <a:latin typeface="Courier New" panose="02070309020205020404" pitchFamily="49" charset="0"/>
              </a:rPr>
              <a:t>"</a:t>
            </a:r>
            <a:r>
              <a:rPr lang="ro-RO" sz="2200" b="1" i="0" noProof="0" dirty="0" err="1">
                <a:solidFill>
                  <a:srgbClr val="7EC699"/>
                </a:solidFill>
                <a:effectLst/>
                <a:latin typeface="Courier New" panose="02070309020205020404" pitchFamily="49" charset="0"/>
              </a:rPr>
              <a:t>Length</a:t>
            </a:r>
            <a:r>
              <a:rPr lang="ro-RO" sz="2200" b="1" i="0" noProof="0" dirty="0">
                <a:solidFill>
                  <a:srgbClr val="7EC699"/>
                </a:solidFill>
                <a:effectLst/>
                <a:latin typeface="Courier New" panose="02070309020205020404" pitchFamily="49" charset="0"/>
              </a:rPr>
              <a:t>: {0}"</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length</a:t>
            </a:r>
            <a:r>
              <a:rPr lang="ro-RO" sz="2200" b="1" i="0" noProof="0" dirty="0">
                <a:solidFill>
                  <a:srgbClr val="CCCCCC"/>
                </a:solidFill>
                <a:effectLst/>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i="0" noProof="0" dirty="0" err="1">
                <a:solidFill>
                  <a:srgbClr val="CCCCCC"/>
                </a:solidFill>
                <a:effectLst/>
                <a:latin typeface="Courier New" panose="02070309020205020404" pitchFamily="49" charset="0"/>
              </a:rPr>
              <a:t>Console.</a:t>
            </a:r>
            <a:r>
              <a:rPr lang="ro-RO" sz="2200" b="1" i="0" noProof="0" dirty="0" err="1">
                <a:solidFill>
                  <a:srgbClr val="F08D49"/>
                </a:solidFill>
                <a:effectLst/>
                <a:latin typeface="Courier New" panose="02070309020205020404" pitchFamily="49" charset="0"/>
              </a:rPr>
              <a:t>WriteLine</a:t>
            </a:r>
            <a:r>
              <a:rPr lang="ro-RO" sz="2200" b="1" i="0" noProof="0" dirty="0">
                <a:solidFill>
                  <a:srgbClr val="CCCCCC"/>
                </a:solidFill>
                <a:effectLst/>
                <a:latin typeface="Courier New" panose="02070309020205020404" pitchFamily="49" charset="0"/>
              </a:rPr>
              <a:t>(</a:t>
            </a:r>
            <a:r>
              <a:rPr lang="ro-RO" sz="2200" b="1" i="0" noProof="0" dirty="0">
                <a:solidFill>
                  <a:srgbClr val="7EC699"/>
                </a:solidFill>
                <a:effectLst/>
                <a:latin typeface="Courier New" panose="02070309020205020404" pitchFamily="49" charset="0"/>
              </a:rPr>
              <a:t>"</a:t>
            </a:r>
            <a:r>
              <a:rPr lang="ro-RO" sz="2200" b="1" i="0" noProof="0" dirty="0" err="1">
                <a:solidFill>
                  <a:srgbClr val="7EC699"/>
                </a:solidFill>
                <a:effectLst/>
                <a:latin typeface="Courier New" panose="02070309020205020404" pitchFamily="49" charset="0"/>
              </a:rPr>
              <a:t>Width</a:t>
            </a:r>
            <a:r>
              <a:rPr lang="ro-RO" sz="2200" b="1" i="0" noProof="0" dirty="0">
                <a:solidFill>
                  <a:srgbClr val="7EC699"/>
                </a:solidFill>
                <a:effectLst/>
                <a:latin typeface="Courier New" panose="02070309020205020404" pitchFamily="49" charset="0"/>
              </a:rPr>
              <a:t>: {0}"</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width</a:t>
            </a:r>
            <a:r>
              <a:rPr lang="ro-RO" sz="2200" b="1" i="0" noProof="0" dirty="0">
                <a:solidFill>
                  <a:srgbClr val="CCCCCC"/>
                </a:solidFill>
                <a:effectLst/>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i="0" noProof="0" dirty="0" err="1">
                <a:solidFill>
                  <a:srgbClr val="CCCCCC"/>
                </a:solidFill>
                <a:effectLst/>
                <a:latin typeface="Courier New" panose="02070309020205020404" pitchFamily="49" charset="0"/>
              </a:rPr>
              <a:t>Console.</a:t>
            </a:r>
            <a:r>
              <a:rPr lang="ro-RO" sz="2200" b="1" i="0" noProof="0" dirty="0" err="1">
                <a:solidFill>
                  <a:srgbClr val="F08D49"/>
                </a:solidFill>
                <a:effectLst/>
                <a:latin typeface="Courier New" panose="02070309020205020404" pitchFamily="49" charset="0"/>
              </a:rPr>
              <a:t>WriteLine</a:t>
            </a:r>
            <a:r>
              <a:rPr lang="ro-RO" sz="2200" b="1" i="0" noProof="0" dirty="0">
                <a:solidFill>
                  <a:srgbClr val="CCCCCC"/>
                </a:solidFill>
                <a:effectLst/>
                <a:latin typeface="Courier New" panose="02070309020205020404" pitchFamily="49" charset="0"/>
              </a:rPr>
              <a:t>(</a:t>
            </a:r>
            <a:r>
              <a:rPr lang="ro-RO" sz="2200" b="1" i="0" noProof="0" dirty="0">
                <a:solidFill>
                  <a:srgbClr val="7EC699"/>
                </a:solidFill>
                <a:effectLst/>
                <a:latin typeface="Courier New" panose="02070309020205020404" pitchFamily="49" charset="0"/>
              </a:rPr>
              <a:t>"</a:t>
            </a:r>
            <a:r>
              <a:rPr lang="ro-RO" sz="2200" b="1" i="0" noProof="0" dirty="0" err="1">
                <a:solidFill>
                  <a:srgbClr val="7EC699"/>
                </a:solidFill>
                <a:effectLst/>
                <a:latin typeface="Courier New" panose="02070309020205020404" pitchFamily="49" charset="0"/>
              </a:rPr>
              <a:t>Area</a:t>
            </a:r>
            <a:r>
              <a:rPr lang="ro-RO" sz="2200" b="1" i="0" noProof="0" dirty="0">
                <a:solidFill>
                  <a:srgbClr val="7EC699"/>
                </a:solidFill>
                <a:effectLst/>
                <a:latin typeface="Courier New" panose="02070309020205020404" pitchFamily="49" charset="0"/>
              </a:rPr>
              <a:t>: {0}"</a:t>
            </a:r>
            <a:r>
              <a:rPr lang="ro-RO" sz="2200" b="1" i="0" noProof="0" dirty="0">
                <a:solidFill>
                  <a:srgbClr val="CCCCCC"/>
                </a:solidFill>
                <a:effectLst/>
                <a:latin typeface="Courier New" panose="02070309020205020404" pitchFamily="49" charset="0"/>
              </a:rPr>
              <a:t>, </a:t>
            </a:r>
            <a:r>
              <a:rPr lang="ro-RO" sz="2200" b="1" i="0" noProof="0" dirty="0" err="1">
                <a:solidFill>
                  <a:srgbClr val="F08D49"/>
                </a:solidFill>
                <a:effectLst/>
                <a:latin typeface="Courier New" panose="02070309020205020404" pitchFamily="49" charset="0"/>
              </a:rPr>
              <a:t>GetArea</a:t>
            </a:r>
            <a:r>
              <a:rPr lang="ro-RO" sz="2200" b="1" i="0" noProof="0" dirty="0">
                <a:solidFill>
                  <a:srgbClr val="CCCCCC"/>
                </a:solidFill>
                <a:effectLst/>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CCCC"/>
                </a:solidFill>
                <a:effectLst/>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CCCC"/>
                </a:solidFill>
                <a:effectLst/>
                <a:latin typeface="Courier New" panose="02070309020205020404" pitchFamily="49" charset="0"/>
              </a:rPr>
              <a:t>}</a:t>
            </a:r>
            <a:r>
              <a:rPr lang="ro-RO" sz="2200" b="1" i="0" noProof="0" dirty="0">
                <a:solidFill>
                  <a:srgbClr val="999999"/>
                </a:solidFill>
                <a:effectLst/>
                <a:latin typeface="Courier New" panose="02070309020205020404" pitchFamily="49" charset="0"/>
              </a:rPr>
              <a:t>//</a:t>
            </a:r>
            <a:r>
              <a:rPr lang="ro-RO" sz="2200" b="1" i="0" noProof="0" dirty="0" err="1">
                <a:solidFill>
                  <a:srgbClr val="999999"/>
                </a:solidFill>
                <a:effectLst/>
                <a:latin typeface="Courier New" panose="02070309020205020404" pitchFamily="49" charset="0"/>
              </a:rPr>
              <a:t>end</a:t>
            </a:r>
            <a:r>
              <a:rPr lang="ro-RO" sz="2200" b="1" i="0" noProof="0" dirty="0">
                <a:solidFill>
                  <a:srgbClr val="999999"/>
                </a:solidFill>
                <a:effectLst/>
                <a:latin typeface="Courier New" panose="02070309020205020404" pitchFamily="49" charset="0"/>
              </a:rPr>
              <a:t> </a:t>
            </a:r>
            <a:r>
              <a:rPr lang="ro-RO" sz="2200" b="1" i="0" noProof="0" dirty="0" err="1">
                <a:solidFill>
                  <a:srgbClr val="999999"/>
                </a:solidFill>
                <a:effectLst/>
                <a:latin typeface="Courier New" panose="02070309020205020404" pitchFamily="49" charset="0"/>
              </a:rPr>
              <a:t>class</a:t>
            </a:r>
            <a:r>
              <a:rPr lang="ro-RO" sz="2200" b="1" i="0" noProof="0" dirty="0">
                <a:solidFill>
                  <a:srgbClr val="999999"/>
                </a:solidFill>
                <a:effectLst/>
                <a:latin typeface="Courier New" panose="02070309020205020404" pitchFamily="49" charset="0"/>
              </a:rPr>
              <a:t> </a:t>
            </a:r>
            <a:r>
              <a:rPr lang="ro-RO" sz="2200" b="1" i="0" noProof="0" dirty="0" err="1">
                <a:solidFill>
                  <a:srgbClr val="999999"/>
                </a:solidFill>
                <a:effectLst/>
                <a:latin typeface="Courier New" panose="02070309020205020404" pitchFamily="49" charset="0"/>
              </a:rPr>
              <a:t>Rectangle</a:t>
            </a:r>
            <a:endParaRPr lang="ro-RO" sz="2200" b="1" noProof="0" dirty="0">
              <a:solidFill>
                <a:srgbClr val="00B0F0"/>
              </a:solidFill>
            </a:endParaRPr>
          </a:p>
        </p:txBody>
      </p:sp>
    </p:spTree>
    <p:extLst>
      <p:ext uri="{BB962C8B-B14F-4D97-AF65-F5344CB8AC3E}">
        <p14:creationId xmlns:p14="http://schemas.microsoft.com/office/powerpoint/2010/main" val="312033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B20F2-4153-8754-044F-AEC3FD14BB1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5250026-C042-B945-98E8-7997D824D22F}"/>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ABB41BB4-02AF-FC26-1031-5A51687DE54F}"/>
              </a:ext>
            </a:extLst>
          </p:cNvPr>
          <p:cNvSpPr>
            <a:spLocks noGrp="1"/>
          </p:cNvSpPr>
          <p:nvPr>
            <p:ph idx="1"/>
          </p:nvPr>
        </p:nvSpPr>
        <p:spPr>
          <a:xfrm>
            <a:off x="463925" y="1281952"/>
            <a:ext cx="8249770" cy="5074024"/>
          </a:xfrm>
        </p:spPr>
        <p:txBody>
          <a:bodyPr>
            <a:noAutofit/>
          </a:bodyPr>
          <a:lstStyle/>
          <a:p>
            <a:pPr marL="34290" indent="0" algn="just">
              <a:buNone/>
            </a:pPr>
            <a:r>
              <a:rPr lang="ro-RO" sz="2200" b="1" noProof="0" dirty="0">
                <a:solidFill>
                  <a:srgbClr val="CC99CD"/>
                </a:solidFill>
                <a:latin typeface="Courier New" panose="02070309020205020404" pitchFamily="49" charset="0"/>
              </a:rPr>
              <a:t>  </a:t>
            </a:r>
            <a:r>
              <a:rPr lang="ro-RO" sz="2200" b="1" noProof="0" dirty="0" err="1">
                <a:solidFill>
                  <a:srgbClr val="CC99CD"/>
                </a:solidFill>
                <a:latin typeface="Courier New" panose="02070309020205020404" pitchFamily="49" charset="0"/>
              </a:rPr>
              <a:t>class</a:t>
            </a:r>
            <a:r>
              <a:rPr lang="ro-RO" sz="2200" b="1" noProof="0" dirty="0">
                <a:solidFill>
                  <a:srgbClr val="CCCCCC"/>
                </a:solidFill>
                <a:latin typeface="Courier New" panose="02070309020205020404" pitchFamily="49" charset="0"/>
              </a:rPr>
              <a:t> </a:t>
            </a:r>
            <a:r>
              <a:rPr lang="ro-RO" sz="2200" b="1" noProof="0" dirty="0" err="1">
                <a:solidFill>
                  <a:srgbClr val="CCCCCC"/>
                </a:solidFill>
                <a:latin typeface="Courier New" panose="02070309020205020404" pitchFamily="49" charset="0"/>
              </a:rPr>
              <a:t>ExecuteRectangle</a:t>
            </a:r>
            <a:r>
              <a:rPr lang="ro-RO" sz="2200" b="1" noProof="0" dirty="0">
                <a:solidFill>
                  <a:srgbClr val="CCCCCC"/>
                </a:solidFill>
                <a:latin typeface="Courier New" panose="02070309020205020404" pitchFamily="49" charset="0"/>
              </a:rPr>
              <a:t> { </a:t>
            </a:r>
          </a:p>
          <a:p>
            <a:pPr marL="34290" indent="0" algn="just">
              <a:buNone/>
            </a:pPr>
            <a:r>
              <a:rPr lang="ro-RO" sz="2200" b="1" noProof="0" dirty="0">
                <a:solidFill>
                  <a:srgbClr val="CCCCCC"/>
                </a:solidFill>
                <a:latin typeface="Courier New" panose="02070309020205020404" pitchFamily="49" charset="0"/>
              </a:rPr>
              <a:t>    </a:t>
            </a:r>
            <a:r>
              <a:rPr lang="ro-RO" sz="2200" b="1" noProof="0" dirty="0">
                <a:solidFill>
                  <a:srgbClr val="CC99CD"/>
                </a:solidFill>
                <a:latin typeface="Courier New" panose="02070309020205020404" pitchFamily="49" charset="0"/>
              </a:rPr>
              <a:t>static</a:t>
            </a:r>
            <a:r>
              <a:rPr lang="ro-RO" sz="2200" b="1" noProof="0" dirty="0">
                <a:solidFill>
                  <a:srgbClr val="CCCCCC"/>
                </a:solidFill>
                <a:latin typeface="Courier New" panose="02070309020205020404" pitchFamily="49" charset="0"/>
              </a:rPr>
              <a:t> </a:t>
            </a:r>
            <a:r>
              <a:rPr lang="ro-RO" sz="2200" b="1" noProof="0" dirty="0" err="1">
                <a:solidFill>
                  <a:srgbClr val="CC99CD"/>
                </a:solidFill>
                <a:latin typeface="Courier New" panose="02070309020205020404" pitchFamily="49" charset="0"/>
              </a:rPr>
              <a:t>void</a:t>
            </a:r>
            <a:r>
              <a:rPr lang="ro-RO" sz="2200" b="1" noProof="0" dirty="0">
                <a:solidFill>
                  <a:srgbClr val="CCCCCC"/>
                </a:solidFill>
                <a:latin typeface="Courier New" panose="02070309020205020404" pitchFamily="49" charset="0"/>
              </a:rPr>
              <a:t> </a:t>
            </a:r>
            <a:r>
              <a:rPr lang="ro-RO" sz="2200" b="1" noProof="0" dirty="0">
                <a:solidFill>
                  <a:srgbClr val="F08D49"/>
                </a:solidFill>
                <a:latin typeface="Courier New" panose="02070309020205020404" pitchFamily="49" charset="0"/>
              </a:rPr>
              <a:t>Main</a:t>
            </a:r>
            <a:r>
              <a:rPr lang="ro-RO" sz="2200" b="1" noProof="0" dirty="0">
                <a:solidFill>
                  <a:srgbClr val="CCCCCC"/>
                </a:solidFill>
                <a:latin typeface="Courier New" panose="02070309020205020404" pitchFamily="49" charset="0"/>
              </a:rPr>
              <a:t>(</a:t>
            </a:r>
            <a:r>
              <a:rPr lang="ro-RO" sz="2200" b="1" noProof="0" dirty="0" err="1">
                <a:solidFill>
                  <a:srgbClr val="CC99CD"/>
                </a:solidFill>
                <a:latin typeface="Courier New" panose="02070309020205020404" pitchFamily="49" charset="0"/>
              </a:rPr>
              <a:t>string</a:t>
            </a:r>
            <a:r>
              <a:rPr lang="ro-RO" sz="2200" b="1" noProof="0" dirty="0">
                <a:solidFill>
                  <a:srgbClr val="CCCCCC"/>
                </a:solidFill>
                <a:latin typeface="Courier New" panose="02070309020205020404" pitchFamily="49" charset="0"/>
              </a:rPr>
              <a:t>[] </a:t>
            </a:r>
            <a:r>
              <a:rPr lang="ro-RO" sz="2200" b="1" noProof="0" dirty="0" err="1">
                <a:solidFill>
                  <a:srgbClr val="CCCCCC"/>
                </a:solidFill>
                <a:latin typeface="Courier New" panose="02070309020205020404" pitchFamily="49" charset="0"/>
              </a:rPr>
              <a:t>args</a:t>
            </a:r>
            <a:r>
              <a:rPr lang="ro-RO" sz="2200" b="1" noProof="0" dirty="0">
                <a:solidFill>
                  <a:srgbClr val="CCCCCC"/>
                </a:solidFill>
                <a:latin typeface="Courier New" panose="02070309020205020404" pitchFamily="49" charset="0"/>
              </a:rPr>
              <a:t>) { </a:t>
            </a:r>
          </a:p>
          <a:p>
            <a:pPr marL="34290" indent="0" algn="just">
              <a:buNone/>
            </a:pPr>
            <a:r>
              <a:rPr lang="ro-RO" sz="2200" b="1" noProof="0" dirty="0">
                <a:solidFill>
                  <a:srgbClr val="CCCCCC"/>
                </a:solidFill>
                <a:latin typeface="Courier New" panose="02070309020205020404" pitchFamily="49" charset="0"/>
              </a:rPr>
              <a:t>      </a:t>
            </a:r>
            <a:r>
              <a:rPr lang="ro-RO" sz="2200" b="1" noProof="0" dirty="0" err="1">
                <a:solidFill>
                  <a:srgbClr val="CCCCCC"/>
                </a:solidFill>
                <a:latin typeface="Courier New" panose="02070309020205020404" pitchFamily="49" charset="0"/>
              </a:rPr>
              <a:t>Rectangle</a:t>
            </a:r>
            <a:r>
              <a:rPr lang="ro-RO" sz="2200" b="1" noProof="0" dirty="0">
                <a:solidFill>
                  <a:srgbClr val="CCCCCC"/>
                </a:solidFill>
                <a:latin typeface="Courier New" panose="02070309020205020404" pitchFamily="49" charset="0"/>
              </a:rPr>
              <a:t> r </a:t>
            </a:r>
            <a:r>
              <a:rPr lang="ro-RO" sz="2200" b="1" noProof="0" dirty="0">
                <a:solidFill>
                  <a:srgbClr val="67CDCC"/>
                </a:solidFill>
                <a:latin typeface="Courier New" panose="02070309020205020404" pitchFamily="49" charset="0"/>
              </a:rPr>
              <a:t>=</a:t>
            </a:r>
            <a:r>
              <a:rPr lang="ro-RO" sz="2200" b="1" noProof="0" dirty="0">
                <a:solidFill>
                  <a:srgbClr val="CCCCCC"/>
                </a:solidFill>
                <a:latin typeface="Courier New" panose="02070309020205020404" pitchFamily="49" charset="0"/>
              </a:rPr>
              <a:t> </a:t>
            </a:r>
            <a:r>
              <a:rPr lang="ro-RO" sz="2200" b="1" noProof="0" dirty="0" err="1">
                <a:solidFill>
                  <a:srgbClr val="CC99CD"/>
                </a:solidFill>
                <a:latin typeface="Courier New" panose="02070309020205020404" pitchFamily="49" charset="0"/>
              </a:rPr>
              <a:t>new</a:t>
            </a:r>
            <a:r>
              <a:rPr lang="ro-RO" sz="2200" b="1" noProof="0" dirty="0">
                <a:solidFill>
                  <a:srgbClr val="CCCCCC"/>
                </a:solidFill>
                <a:latin typeface="Courier New" panose="02070309020205020404" pitchFamily="49" charset="0"/>
              </a:rPr>
              <a:t> </a:t>
            </a:r>
            <a:r>
              <a:rPr lang="ro-RO" sz="2200" b="1" noProof="0" dirty="0" err="1">
                <a:solidFill>
                  <a:srgbClr val="CCCCCC"/>
                </a:solidFill>
                <a:latin typeface="Courier New" panose="02070309020205020404" pitchFamily="49" charset="0"/>
              </a:rPr>
              <a:t>Rectangle</a:t>
            </a:r>
            <a:r>
              <a:rPr lang="ro-RO" sz="2200" b="1" noProof="0" dirty="0">
                <a:solidFill>
                  <a:srgbClr val="CCCCCC"/>
                </a:solidFill>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noProof="0" dirty="0" err="1">
                <a:solidFill>
                  <a:srgbClr val="CCCCCC"/>
                </a:solidFill>
                <a:latin typeface="Courier New" panose="02070309020205020404" pitchFamily="49" charset="0"/>
              </a:rPr>
              <a:t>r.length</a:t>
            </a:r>
            <a:r>
              <a:rPr lang="ro-RO" sz="2200" b="1" noProof="0" dirty="0">
                <a:solidFill>
                  <a:srgbClr val="CCCCCC"/>
                </a:solidFill>
                <a:latin typeface="Courier New" panose="02070309020205020404" pitchFamily="49" charset="0"/>
              </a:rPr>
              <a:t> </a:t>
            </a:r>
            <a:r>
              <a:rPr lang="ro-RO" sz="2200" b="1" noProof="0" dirty="0">
                <a:solidFill>
                  <a:srgbClr val="67CDCC"/>
                </a:solidFill>
                <a:latin typeface="Courier New" panose="02070309020205020404" pitchFamily="49" charset="0"/>
              </a:rPr>
              <a:t>=</a:t>
            </a:r>
            <a:r>
              <a:rPr lang="ro-RO" sz="2200" b="1" noProof="0" dirty="0">
                <a:solidFill>
                  <a:srgbClr val="CCCCCC"/>
                </a:solidFill>
                <a:latin typeface="Courier New" panose="02070309020205020404" pitchFamily="49" charset="0"/>
              </a:rPr>
              <a:t> </a:t>
            </a:r>
            <a:r>
              <a:rPr lang="ro-RO" sz="2200" b="1" noProof="0" dirty="0">
                <a:solidFill>
                  <a:srgbClr val="F08D49"/>
                </a:solidFill>
                <a:latin typeface="Courier New" panose="02070309020205020404" pitchFamily="49" charset="0"/>
              </a:rPr>
              <a:t>4.5</a:t>
            </a:r>
            <a:r>
              <a:rPr lang="ro-RO" sz="2200" b="1" noProof="0" dirty="0">
                <a:solidFill>
                  <a:srgbClr val="CCCCCC"/>
                </a:solidFill>
                <a:latin typeface="Courier New" panose="02070309020205020404" pitchFamily="49" charset="0"/>
              </a:rPr>
              <a:t>;</a:t>
            </a:r>
          </a:p>
          <a:p>
            <a:pPr marL="34290" indent="0" algn="just">
              <a:buNone/>
            </a:pPr>
            <a:r>
              <a:rPr lang="ro-RO" sz="2200" b="1" noProof="0" dirty="0">
                <a:solidFill>
                  <a:srgbClr val="CCCCCC"/>
                </a:solidFill>
                <a:latin typeface="Courier New" panose="02070309020205020404" pitchFamily="49" charset="0"/>
              </a:rPr>
              <a:t>      </a:t>
            </a:r>
            <a:r>
              <a:rPr lang="ro-RO" sz="2200" b="1" noProof="0" dirty="0" err="1">
                <a:solidFill>
                  <a:srgbClr val="CCCCCC"/>
                </a:solidFill>
                <a:latin typeface="Courier New" panose="02070309020205020404" pitchFamily="49" charset="0"/>
              </a:rPr>
              <a:t>r.width</a:t>
            </a:r>
            <a:r>
              <a:rPr lang="ro-RO" sz="2200" b="1" noProof="0" dirty="0">
                <a:solidFill>
                  <a:srgbClr val="CCCCCC"/>
                </a:solidFill>
                <a:latin typeface="Courier New" panose="02070309020205020404" pitchFamily="49" charset="0"/>
              </a:rPr>
              <a:t> </a:t>
            </a:r>
            <a:r>
              <a:rPr lang="ro-RO" sz="2200" b="1" noProof="0" dirty="0">
                <a:solidFill>
                  <a:srgbClr val="67CDCC"/>
                </a:solidFill>
                <a:latin typeface="Courier New" panose="02070309020205020404" pitchFamily="49" charset="0"/>
              </a:rPr>
              <a:t>=</a:t>
            </a:r>
            <a:r>
              <a:rPr lang="ro-RO" sz="2200" b="1" noProof="0" dirty="0">
                <a:solidFill>
                  <a:srgbClr val="CCCCCC"/>
                </a:solidFill>
                <a:latin typeface="Courier New" panose="02070309020205020404" pitchFamily="49" charset="0"/>
              </a:rPr>
              <a:t> </a:t>
            </a:r>
            <a:r>
              <a:rPr lang="ro-RO" sz="2200" b="1" noProof="0" dirty="0">
                <a:solidFill>
                  <a:srgbClr val="F08D49"/>
                </a:solidFill>
                <a:latin typeface="Courier New" panose="02070309020205020404" pitchFamily="49" charset="0"/>
              </a:rPr>
              <a:t>3.5</a:t>
            </a:r>
            <a:r>
              <a:rPr lang="ro-RO" sz="2200" b="1" noProof="0" dirty="0">
                <a:solidFill>
                  <a:srgbClr val="CCCCCC"/>
                </a:solidFill>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noProof="0" dirty="0" err="1">
                <a:solidFill>
                  <a:srgbClr val="CCCCCC"/>
                </a:solidFill>
                <a:latin typeface="Courier New" panose="02070309020205020404" pitchFamily="49" charset="0"/>
              </a:rPr>
              <a:t>r.</a:t>
            </a:r>
            <a:r>
              <a:rPr lang="ro-RO" sz="2200" b="1" noProof="0" dirty="0" err="1">
                <a:solidFill>
                  <a:srgbClr val="F08D49"/>
                </a:solidFill>
                <a:latin typeface="Courier New" panose="02070309020205020404" pitchFamily="49" charset="0"/>
              </a:rPr>
              <a:t>Display</a:t>
            </a:r>
            <a:r>
              <a:rPr lang="ro-RO" sz="2200" b="1" noProof="0" dirty="0">
                <a:solidFill>
                  <a:srgbClr val="CCCCCC"/>
                </a:solidFill>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noProof="0" dirty="0" err="1">
                <a:solidFill>
                  <a:srgbClr val="CCCCCC"/>
                </a:solidFill>
                <a:latin typeface="Courier New" panose="02070309020205020404" pitchFamily="49" charset="0"/>
              </a:rPr>
              <a:t>Console.</a:t>
            </a:r>
            <a:r>
              <a:rPr lang="ro-RO" sz="2200" b="1" noProof="0" dirty="0" err="1">
                <a:solidFill>
                  <a:srgbClr val="F08D49"/>
                </a:solidFill>
                <a:latin typeface="Courier New" panose="02070309020205020404" pitchFamily="49" charset="0"/>
              </a:rPr>
              <a:t>ReadLine</a:t>
            </a:r>
            <a:r>
              <a:rPr lang="ro-RO" sz="2200" b="1" noProof="0" dirty="0">
                <a:solidFill>
                  <a:srgbClr val="CCCCCC"/>
                </a:solidFill>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a:t>
            </a:r>
            <a:endParaRPr lang="ro-RO" sz="2200" noProof="0" dirty="0">
              <a:solidFill>
                <a:srgbClr val="00B0F0"/>
              </a:solidFill>
            </a:endParaRPr>
          </a:p>
        </p:txBody>
      </p:sp>
    </p:spTree>
    <p:extLst>
      <p:ext uri="{BB962C8B-B14F-4D97-AF65-F5344CB8AC3E}">
        <p14:creationId xmlns:p14="http://schemas.microsoft.com/office/powerpoint/2010/main" val="618881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A1975-9DB6-F00E-E6AD-817E85B2570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5ECE561-496C-E186-8719-B536B1A5816F}"/>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89248427-6570-3BE5-2B7C-FEA64F813EEB}"/>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Când codul de mai sus este compilat și executat, acesta produce următorul rezultat:</a:t>
            </a:r>
          </a:p>
          <a:p>
            <a:pPr marL="34290" indent="0" algn="just">
              <a:buNone/>
            </a:pPr>
            <a:endParaRPr lang="ro-RO" sz="2800" noProof="0" dirty="0">
              <a:solidFill>
                <a:srgbClr val="00B0F0"/>
              </a:solidFill>
            </a:endParaRPr>
          </a:p>
          <a:p>
            <a:pPr marL="34290" indent="0" algn="just">
              <a:buNone/>
            </a:pPr>
            <a:r>
              <a:rPr lang="ro-RO" sz="2800" noProof="0" dirty="0" err="1">
                <a:solidFill>
                  <a:srgbClr val="00B0F0"/>
                </a:solidFill>
              </a:rPr>
              <a:t>Length</a:t>
            </a:r>
            <a:r>
              <a:rPr lang="ro-RO" sz="2800" noProof="0" dirty="0">
                <a:solidFill>
                  <a:srgbClr val="00B0F0"/>
                </a:solidFill>
              </a:rPr>
              <a:t>: 4.5</a:t>
            </a:r>
          </a:p>
          <a:p>
            <a:pPr marL="34290" indent="0" algn="just">
              <a:buNone/>
            </a:pPr>
            <a:r>
              <a:rPr lang="ro-RO" sz="2800" noProof="0" dirty="0" err="1">
                <a:solidFill>
                  <a:srgbClr val="00B0F0"/>
                </a:solidFill>
              </a:rPr>
              <a:t>Width</a:t>
            </a:r>
            <a:r>
              <a:rPr lang="ro-RO" sz="2800" noProof="0" dirty="0">
                <a:solidFill>
                  <a:srgbClr val="00B0F0"/>
                </a:solidFill>
              </a:rPr>
              <a:t>: 3.5</a:t>
            </a:r>
          </a:p>
          <a:p>
            <a:pPr marL="34290" indent="0" algn="just">
              <a:buNone/>
            </a:pPr>
            <a:r>
              <a:rPr lang="ro-RO" sz="2800" noProof="0" dirty="0" err="1">
                <a:solidFill>
                  <a:srgbClr val="00B0F0"/>
                </a:solidFill>
              </a:rPr>
              <a:t>Area</a:t>
            </a:r>
            <a:r>
              <a:rPr lang="ro-RO" sz="2800" noProof="0" dirty="0">
                <a:solidFill>
                  <a:srgbClr val="00B0F0"/>
                </a:solidFill>
              </a:rPr>
              <a:t>: 15.75</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4185983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66631-29AC-C106-51FE-5F7F67DB6C8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3808D9-7180-35B7-45DA-76C686041B22}"/>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F73A41C1-1C60-E2D9-D98D-6737F9A5A9E8}"/>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În exemplul precedent, variabilele membre </a:t>
            </a:r>
            <a:r>
              <a:rPr lang="ro-RO" sz="2800" noProof="0" dirty="0" err="1">
                <a:solidFill>
                  <a:srgbClr val="00B0F0"/>
                </a:solidFill>
              </a:rPr>
              <a:t>length</a:t>
            </a:r>
            <a:r>
              <a:rPr lang="ro-RO" sz="2800" noProof="0" dirty="0">
                <a:solidFill>
                  <a:srgbClr val="00B0F0"/>
                </a:solidFill>
              </a:rPr>
              <a:t> și </a:t>
            </a:r>
            <a:r>
              <a:rPr lang="ro-RO" sz="2800" noProof="0" dirty="0" err="1">
                <a:solidFill>
                  <a:srgbClr val="00B0F0"/>
                </a:solidFill>
              </a:rPr>
              <a:t>width</a:t>
            </a:r>
            <a:r>
              <a:rPr lang="ro-RO" sz="2800" noProof="0" dirty="0">
                <a:solidFill>
                  <a:srgbClr val="00B0F0"/>
                </a:solidFill>
              </a:rPr>
              <a:t> sunt declarate publice, deci pot fi accesate din funcția Main() folosind o instanță a clasei </a:t>
            </a:r>
            <a:r>
              <a:rPr lang="ro-RO" sz="2800" noProof="0" dirty="0" err="1">
                <a:solidFill>
                  <a:srgbClr val="00B0F0"/>
                </a:solidFill>
              </a:rPr>
              <a:t>Rectangle</a:t>
            </a:r>
            <a:r>
              <a:rPr lang="ro-RO" sz="2800" noProof="0" dirty="0">
                <a:solidFill>
                  <a:srgbClr val="00B0F0"/>
                </a:solidFill>
              </a:rPr>
              <a:t>, numită r.</a:t>
            </a:r>
          </a:p>
          <a:p>
            <a:pPr marL="34290" indent="0" algn="just">
              <a:buNone/>
            </a:pPr>
            <a:r>
              <a:rPr lang="ro-RO" sz="2800" noProof="0" dirty="0">
                <a:solidFill>
                  <a:srgbClr val="00B0F0"/>
                </a:solidFill>
              </a:rPr>
              <a:t>Funcțiile membre Display() și </a:t>
            </a:r>
            <a:r>
              <a:rPr lang="ro-RO" sz="2800" noProof="0" dirty="0" err="1">
                <a:solidFill>
                  <a:srgbClr val="00B0F0"/>
                </a:solidFill>
              </a:rPr>
              <a:t>GetArea</a:t>
            </a:r>
            <a:r>
              <a:rPr lang="ro-RO" sz="2800" noProof="0" dirty="0">
                <a:solidFill>
                  <a:srgbClr val="00B0F0"/>
                </a:solidFill>
              </a:rPr>
              <a:t>() pot, de asemenea, accesa aceste variabile direct fără a utiliza nicio instanță a clasei.</a:t>
            </a:r>
          </a:p>
          <a:p>
            <a:pPr marL="34290" indent="0" algn="just">
              <a:buNone/>
            </a:pPr>
            <a:r>
              <a:rPr lang="ro-RO" sz="2800" noProof="0" dirty="0">
                <a:solidFill>
                  <a:srgbClr val="00B0F0"/>
                </a:solidFill>
              </a:rPr>
              <a:t>Funcțiile membre Display() sunt, de asemenea, declarate publice, deci pot fi accesate și din Main() folosind o instanță a clasei </a:t>
            </a:r>
            <a:r>
              <a:rPr lang="ro-RO" sz="2800" noProof="0" dirty="0" err="1">
                <a:solidFill>
                  <a:srgbClr val="00B0F0"/>
                </a:solidFill>
              </a:rPr>
              <a:t>Rectangle</a:t>
            </a:r>
            <a:r>
              <a:rPr lang="ro-RO" sz="2800" noProof="0" dirty="0">
                <a:solidFill>
                  <a:srgbClr val="00B0F0"/>
                </a:solidFill>
              </a:rPr>
              <a:t>, numită r.</a:t>
            </a:r>
          </a:p>
        </p:txBody>
      </p:sp>
    </p:spTree>
    <p:extLst>
      <p:ext uri="{BB962C8B-B14F-4D97-AF65-F5344CB8AC3E}">
        <p14:creationId xmlns:p14="http://schemas.microsoft.com/office/powerpoint/2010/main" val="180360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4E0C5-029C-A20B-1DFE-532DD035343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B39D38B-932D-3964-360C-5F8F609242B3}"/>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554C0759-F1F1-0E57-0335-6B4B34AFEBDA}"/>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Specificatorul de acces </a:t>
            </a:r>
            <a:r>
              <a:rPr lang="ro-RO" sz="2800" noProof="0" dirty="0">
                <a:solidFill>
                  <a:schemeClr val="tx2"/>
                </a:solidFill>
              </a:rPr>
              <a:t>private</a:t>
            </a:r>
          </a:p>
          <a:p>
            <a:pPr marL="34290" indent="0" algn="just">
              <a:buNone/>
            </a:pPr>
            <a:r>
              <a:rPr lang="ro-RO" sz="2800" noProof="0" dirty="0">
                <a:solidFill>
                  <a:srgbClr val="00B0F0"/>
                </a:solidFill>
              </a:rPr>
              <a:t>Specificatorul de acces </a:t>
            </a:r>
            <a:r>
              <a:rPr lang="ro-RO" sz="2800" noProof="0" dirty="0">
                <a:solidFill>
                  <a:schemeClr val="tx2"/>
                </a:solidFill>
              </a:rPr>
              <a:t>private</a:t>
            </a:r>
            <a:r>
              <a:rPr lang="ro-RO" sz="2800" noProof="0" dirty="0">
                <a:solidFill>
                  <a:srgbClr val="00B0F0"/>
                </a:solidFill>
              </a:rPr>
              <a:t> permite unei clase să ascundă variabilele și funcțiile membre de alte funcții și obiecte. Doar funcțiile aceleiași clase pot accesa membrii săi privați. </a:t>
            </a:r>
          </a:p>
          <a:p>
            <a:pPr marL="34290" indent="0" algn="just">
              <a:buNone/>
            </a:pPr>
            <a:r>
              <a:rPr lang="ro-RO" sz="2800" noProof="0" dirty="0">
                <a:solidFill>
                  <a:srgbClr val="00B0F0"/>
                </a:solidFill>
              </a:rPr>
              <a:t>Nici măcar o instanță a unei clase nu poate accesa membrii săi privați.</a:t>
            </a:r>
          </a:p>
          <a:p>
            <a:pPr marL="34290" indent="0" algn="just">
              <a:buNone/>
            </a:pPr>
            <a:r>
              <a:rPr lang="ro-RO" sz="2800" noProof="0" dirty="0">
                <a:solidFill>
                  <a:srgbClr val="00B0F0"/>
                </a:solidFill>
              </a:rPr>
              <a:t>În exemplul următor, creăm o clasă dreptunghi în care folosim variabila membru private pentru a ascunde variabila membru.</a:t>
            </a:r>
          </a:p>
        </p:txBody>
      </p:sp>
    </p:spTree>
    <p:extLst>
      <p:ext uri="{BB962C8B-B14F-4D97-AF65-F5344CB8AC3E}">
        <p14:creationId xmlns:p14="http://schemas.microsoft.com/office/powerpoint/2010/main" val="1439576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2C781-7D43-A6C9-38D5-B6928B202D0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7BC5B74-F3EE-D55E-3C39-2606061ACD69}"/>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17DF08D2-6485-D3FC-DA90-8B9168685140}"/>
              </a:ext>
            </a:extLst>
          </p:cNvPr>
          <p:cNvSpPr>
            <a:spLocks noGrp="1"/>
          </p:cNvSpPr>
          <p:nvPr>
            <p:ph idx="1"/>
          </p:nvPr>
        </p:nvSpPr>
        <p:spPr>
          <a:xfrm>
            <a:off x="463925" y="1281952"/>
            <a:ext cx="8249770" cy="5074024"/>
          </a:xfrm>
        </p:spPr>
        <p:txBody>
          <a:bodyPr>
            <a:noAutofit/>
          </a:bodyPr>
          <a:lstStyle/>
          <a:p>
            <a:pPr marL="34290" indent="0" algn="just">
              <a:buNone/>
            </a:pPr>
            <a:r>
              <a:rPr lang="ro-RO" sz="2000" b="1" i="0" noProof="0" dirty="0" err="1">
                <a:solidFill>
                  <a:srgbClr val="CC99CD"/>
                </a:solidFill>
                <a:effectLst/>
                <a:latin typeface="Courier New" panose="02070309020205020404" pitchFamily="49" charset="0"/>
              </a:rPr>
              <a:t>using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System</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err="1">
                <a:solidFill>
                  <a:srgbClr val="CC99CD"/>
                </a:solidFill>
                <a:effectLst/>
                <a:latin typeface="Courier New" panose="02070309020205020404" pitchFamily="49" charset="0"/>
              </a:rPr>
              <a:t>namespace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RectangleApplication</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class</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Rectangle</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a:solidFill>
                  <a:srgbClr val="CC99CD"/>
                </a:solidFill>
                <a:effectLst/>
                <a:latin typeface="Courier New" panose="02070309020205020404" pitchFamily="49" charset="0"/>
              </a:rPr>
              <a:t>private</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double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length</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private</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double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width</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public</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void</a:t>
            </a:r>
            <a:r>
              <a:rPr lang="ro-RO" sz="2000" b="1" i="0" noProof="0" dirty="0">
                <a:solidFill>
                  <a:srgbClr val="CCCCCC"/>
                </a:solidFill>
                <a:effectLst/>
                <a:latin typeface="Courier New" panose="02070309020205020404" pitchFamily="49" charset="0"/>
              </a:rPr>
              <a:t> </a:t>
            </a:r>
            <a:r>
              <a:rPr lang="ro-RO" sz="2000" b="1" i="0" noProof="0" dirty="0" err="1">
                <a:solidFill>
                  <a:srgbClr val="F08D49"/>
                </a:solidFill>
                <a:effectLst/>
                <a:latin typeface="Courier New" panose="02070309020205020404" pitchFamily="49" charset="0"/>
              </a:rPr>
              <a:t>Acceptdetails</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err="1">
                <a:solidFill>
                  <a:srgbClr val="7EC699"/>
                </a:solidFill>
                <a:effectLst/>
                <a:latin typeface="Courier New" panose="02070309020205020404" pitchFamily="49" charset="0"/>
              </a:rPr>
              <a:t>Enter</a:t>
            </a:r>
            <a:r>
              <a:rPr lang="ro-RO" sz="2000" b="1" i="0" noProof="0" dirty="0">
                <a:solidFill>
                  <a:srgbClr val="7EC699"/>
                </a:solidFill>
                <a:effectLst/>
                <a:latin typeface="Courier New" panose="02070309020205020404" pitchFamily="49" charset="0"/>
              </a:rPr>
              <a:t> </a:t>
            </a:r>
            <a:r>
              <a:rPr lang="ro-RO" sz="2000" b="1" i="0" noProof="0" dirty="0" err="1">
                <a:solidFill>
                  <a:srgbClr val="7EC699"/>
                </a:solidFill>
                <a:effectLst/>
                <a:latin typeface="Courier New" panose="02070309020205020404" pitchFamily="49" charset="0"/>
              </a:rPr>
              <a:t>Length</a:t>
            </a:r>
            <a:r>
              <a:rPr lang="ro-RO" sz="2000" b="1" i="0" noProof="0" dirty="0">
                <a:solidFill>
                  <a:srgbClr val="7EC699"/>
                </a:solidFill>
                <a:effectLst/>
                <a:latin typeface="Courier New" panose="02070309020205020404" pitchFamily="49" charset="0"/>
              </a:rPr>
              <a:t>: "</a:t>
            </a:r>
            <a:r>
              <a:rPr lang="ro-RO" sz="2000" b="1" i="0" noProof="0" dirty="0">
                <a:solidFill>
                  <a:srgbClr val="CCCCCC"/>
                </a:solidFill>
                <a:effectLst/>
                <a:latin typeface="Courier New" panose="02070309020205020404" pitchFamily="49" charset="0"/>
              </a:rPr>
              <a:t>);</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length</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Convert.</a:t>
            </a:r>
            <a:r>
              <a:rPr lang="ro-RO" sz="2000" b="1" i="0" noProof="0" dirty="0" err="1">
                <a:solidFill>
                  <a:srgbClr val="F08D49"/>
                </a:solidFill>
                <a:effectLst/>
                <a:latin typeface="Courier New" panose="02070309020205020404" pitchFamily="49" charset="0"/>
              </a:rPr>
              <a:t>ToDouble</a:t>
            </a:r>
            <a:r>
              <a:rPr lang="ro-RO" sz="2000" b="1" i="0" noProof="0" dirty="0">
                <a:solidFill>
                  <a:srgbClr val="CCCCCC"/>
                </a:solidFill>
                <a:effectLst/>
                <a:latin typeface="Courier New" panose="02070309020205020404" pitchFamily="49" charset="0"/>
              </a:rPr>
              <a:t>(</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ReadLine</a:t>
            </a:r>
            <a:r>
              <a:rPr lang="ro-RO" sz="2000" b="1" i="0" noProof="0" dirty="0">
                <a:solidFill>
                  <a:srgbClr val="CCCCCC"/>
                </a:solidFill>
                <a:effectLst/>
                <a:latin typeface="Courier New" panose="02070309020205020404" pitchFamily="49" charset="0"/>
              </a:rPr>
              <a:t>());</a:t>
            </a:r>
          </a:p>
          <a:p>
            <a:pPr marL="34290" indent="0" algn="just">
              <a:buNone/>
            </a:pP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err="1">
                <a:solidFill>
                  <a:srgbClr val="7EC699"/>
                </a:solidFill>
                <a:effectLst/>
                <a:latin typeface="Courier New" panose="02070309020205020404" pitchFamily="49" charset="0"/>
              </a:rPr>
              <a:t>Enter</a:t>
            </a:r>
            <a:r>
              <a:rPr lang="ro-RO" sz="2000" b="1" i="0" noProof="0" dirty="0">
                <a:solidFill>
                  <a:srgbClr val="7EC699"/>
                </a:solidFill>
                <a:effectLst/>
                <a:latin typeface="Courier New" panose="02070309020205020404" pitchFamily="49" charset="0"/>
              </a:rPr>
              <a:t> </a:t>
            </a:r>
            <a:r>
              <a:rPr lang="ro-RO" sz="2000" b="1" i="0" noProof="0" dirty="0" err="1">
                <a:solidFill>
                  <a:srgbClr val="7EC699"/>
                </a:solidFill>
                <a:effectLst/>
                <a:latin typeface="Courier New" panose="02070309020205020404" pitchFamily="49" charset="0"/>
              </a:rPr>
              <a:t>Width</a:t>
            </a:r>
            <a:r>
              <a:rPr lang="ro-RO" sz="2000" b="1" i="0" noProof="0" dirty="0">
                <a:solidFill>
                  <a:srgbClr val="7EC699"/>
                </a:solidFill>
                <a:effectLst/>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width</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Convert.</a:t>
            </a:r>
            <a:r>
              <a:rPr lang="ro-RO" sz="2000" b="1" i="0" noProof="0" dirty="0" err="1">
                <a:solidFill>
                  <a:srgbClr val="F08D49"/>
                </a:solidFill>
                <a:effectLst/>
                <a:latin typeface="Courier New" panose="02070309020205020404" pitchFamily="49" charset="0"/>
              </a:rPr>
              <a:t>ToDouble</a:t>
            </a:r>
            <a:r>
              <a:rPr lang="ro-RO" sz="2000" b="1" i="0" noProof="0" dirty="0">
                <a:solidFill>
                  <a:srgbClr val="CCCCCC"/>
                </a:solidFill>
                <a:effectLst/>
                <a:latin typeface="Courier New" panose="02070309020205020404" pitchFamily="49" charset="0"/>
              </a:rPr>
              <a:t>(</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ReadLine</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a:solidFill>
                  <a:srgbClr val="CC99CD"/>
                </a:solidFill>
                <a:effectLst/>
                <a:latin typeface="Courier New" panose="02070309020205020404" pitchFamily="49" charset="0"/>
              </a:rPr>
              <a:t>public</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double</a:t>
            </a:r>
            <a:r>
              <a:rPr lang="ro-RO" sz="2000" b="1" i="0" noProof="0" dirty="0">
                <a:solidFill>
                  <a:srgbClr val="CCCCCC"/>
                </a:solidFill>
                <a:effectLst/>
                <a:latin typeface="Courier New" panose="02070309020205020404" pitchFamily="49" charset="0"/>
              </a:rPr>
              <a:t> </a:t>
            </a:r>
            <a:r>
              <a:rPr lang="ro-RO" sz="2000" b="1" i="0" noProof="0" dirty="0" err="1">
                <a:solidFill>
                  <a:srgbClr val="F08D49"/>
                </a:solidFill>
                <a:effectLst/>
                <a:latin typeface="Courier New" panose="02070309020205020404" pitchFamily="49" charset="0"/>
              </a:rPr>
              <a:t>GetArea</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return</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length</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width</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a:t>
            </a:r>
            <a:endParaRPr lang="ro-RO" sz="2000" b="1" noProof="0" dirty="0">
              <a:solidFill>
                <a:srgbClr val="00B0F0"/>
              </a:solidFill>
            </a:endParaRPr>
          </a:p>
        </p:txBody>
      </p:sp>
    </p:spTree>
    <p:extLst>
      <p:ext uri="{BB962C8B-B14F-4D97-AF65-F5344CB8AC3E}">
        <p14:creationId xmlns:p14="http://schemas.microsoft.com/office/powerpoint/2010/main" val="2413539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F439F-AC61-799E-87D0-A5CD2DC70F1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382B64C-8965-AF76-E7C3-2043205BB549}"/>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34E1F172-8429-E22D-A2F9-9C9754837F6F}"/>
              </a:ext>
            </a:extLst>
          </p:cNvPr>
          <p:cNvSpPr>
            <a:spLocks noGrp="1"/>
          </p:cNvSpPr>
          <p:nvPr>
            <p:ph idx="1"/>
          </p:nvPr>
        </p:nvSpPr>
        <p:spPr>
          <a:xfrm>
            <a:off x="463925" y="1281952"/>
            <a:ext cx="8249770" cy="5074024"/>
          </a:xfrm>
        </p:spPr>
        <p:txBody>
          <a:bodyPr>
            <a:noAutofit/>
          </a:bodyPr>
          <a:lstStyle/>
          <a:p>
            <a:pPr marL="34290" indent="0" algn="just">
              <a:buNone/>
            </a:pPr>
            <a:r>
              <a:rPr kumimoji="0" lang="ro-RO"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    public</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99CD"/>
                </a:solidFill>
                <a:effectLst/>
                <a:uLnTx/>
                <a:uFillTx/>
                <a:latin typeface="Courier New" panose="020703090202050204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a:ln>
                  <a:noFill/>
                </a:ln>
                <a:solidFill>
                  <a:srgbClr val="F08D49"/>
                </a:solidFill>
                <a:effectLst/>
                <a:uLnTx/>
                <a:uFillTx/>
                <a:latin typeface="Courier New" panose="02070309020205020404" pitchFamily="49" charset="0"/>
                <a:ea typeface="+mn-ea"/>
                <a:cs typeface="+mn-cs"/>
              </a:rPr>
              <a:t>Display</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indent="0" algn="just">
              <a:buNone/>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Console.</a:t>
            </a:r>
            <a:r>
              <a:rPr kumimoji="0" lang="ro-RO"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err="1">
                <a:ln>
                  <a:noFill/>
                </a:ln>
                <a:solidFill>
                  <a:srgbClr val="7EC699"/>
                </a:solidFill>
                <a:effectLst/>
                <a:uLnTx/>
                <a:uFillTx/>
                <a:latin typeface="Courier New" panose="02070309020205020404" pitchFamily="49" charset="0"/>
                <a:ea typeface="+mn-ea"/>
                <a:cs typeface="+mn-cs"/>
              </a:rPr>
              <a:t>Length</a:t>
            </a:r>
            <a:r>
              <a:rPr kumimoji="0" lang="ro-RO" sz="20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 {0}"</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p>
          <a:p>
            <a:pPr marL="34290" indent="0" algn="just">
              <a:buNone/>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Console.</a:t>
            </a:r>
            <a:r>
              <a:rPr kumimoji="0" lang="ro-RO"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err="1">
                <a:ln>
                  <a:noFill/>
                </a:ln>
                <a:solidFill>
                  <a:srgbClr val="7EC699"/>
                </a:solidFill>
                <a:effectLst/>
                <a:uLnTx/>
                <a:uFillTx/>
                <a:latin typeface="Courier New" panose="02070309020205020404" pitchFamily="49" charset="0"/>
                <a:ea typeface="+mn-ea"/>
                <a:cs typeface="+mn-cs"/>
              </a:rPr>
              <a:t>Width</a:t>
            </a:r>
            <a:r>
              <a:rPr kumimoji="0" lang="ro-RO" sz="20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 {0}"</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width</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p>
          <a:p>
            <a:pPr marL="34290" indent="0" algn="just">
              <a:buNone/>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Console.</a:t>
            </a:r>
            <a:r>
              <a:rPr kumimoji="0" lang="ro-RO"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err="1">
                <a:ln>
                  <a:noFill/>
                </a:ln>
                <a:solidFill>
                  <a:srgbClr val="7EC699"/>
                </a:solidFill>
                <a:effectLst/>
                <a:uLnTx/>
                <a:uFillTx/>
                <a:latin typeface="Courier New" panose="02070309020205020404" pitchFamily="49" charset="0"/>
                <a:ea typeface="+mn-ea"/>
                <a:cs typeface="+mn-cs"/>
              </a:rPr>
              <a:t>Area</a:t>
            </a:r>
            <a:r>
              <a:rPr kumimoji="0" lang="ro-RO" sz="20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 {0}"</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GetArea</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indent="0" algn="just">
              <a:buNone/>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p>
          <a:p>
            <a:pPr marL="34290" indent="0" algn="just">
              <a:buNone/>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 </a:t>
            </a:r>
            <a:r>
              <a:rPr kumimoji="0" lang="ro-RO" sz="2000" b="1" i="0" u="none" strike="noStrike" kern="1200" cap="none" spc="0" normalizeH="0" baseline="0" noProof="0" dirty="0">
                <a:ln>
                  <a:noFill/>
                </a:ln>
                <a:solidFill>
                  <a:srgbClr val="999999"/>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err="1">
                <a:ln>
                  <a:noFill/>
                </a:ln>
                <a:solidFill>
                  <a:srgbClr val="999999"/>
                </a:solidFill>
                <a:effectLst/>
                <a:uLnTx/>
                <a:uFillTx/>
                <a:latin typeface="Courier New" panose="02070309020205020404" pitchFamily="49" charset="0"/>
                <a:ea typeface="+mn-ea"/>
                <a:cs typeface="+mn-cs"/>
              </a:rPr>
              <a:t>end</a:t>
            </a:r>
            <a:r>
              <a:rPr kumimoji="0" lang="ro-RO" sz="2000" b="1" i="0" u="none" strike="noStrike" kern="1200" cap="none" spc="0" normalizeH="0" baseline="0" noProof="0" dirty="0">
                <a:ln>
                  <a:noFill/>
                </a:ln>
                <a:solidFill>
                  <a:srgbClr val="999999"/>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999999"/>
                </a:solidFill>
                <a:effectLst/>
                <a:uLnTx/>
                <a:uFillTx/>
                <a:latin typeface="Courier New" panose="02070309020205020404" pitchFamily="49" charset="0"/>
                <a:ea typeface="+mn-ea"/>
                <a:cs typeface="+mn-cs"/>
              </a:rPr>
              <a:t>class</a:t>
            </a:r>
            <a:r>
              <a:rPr kumimoji="0" lang="ro-RO" sz="2000" b="1" i="0" u="none" strike="noStrike" kern="1200" cap="none" spc="0" normalizeH="0" baseline="0" noProof="0" dirty="0">
                <a:ln>
                  <a:noFill/>
                </a:ln>
                <a:solidFill>
                  <a:srgbClr val="999999"/>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999999"/>
                </a:solidFill>
                <a:effectLst/>
                <a:uLnTx/>
                <a:uFillTx/>
                <a:latin typeface="Courier New" panose="02070309020205020404" pitchFamily="49" charset="0"/>
                <a:ea typeface="+mn-ea"/>
                <a:cs typeface="+mn-cs"/>
              </a:rPr>
              <a:t>Rectangle</a:t>
            </a:r>
            <a:r>
              <a:rPr kumimoji="0" lang="ro-RO" sz="2000" b="1" i="0" u="none" strike="noStrike" kern="1200" cap="none" spc="0" normalizeH="0" baseline="0" noProof="0" dirty="0">
                <a:ln>
                  <a:noFill/>
                </a:ln>
                <a:solidFill>
                  <a:srgbClr val="999999"/>
                </a:solidFill>
                <a:effectLst/>
                <a:uLnTx/>
                <a:uFillTx/>
                <a:latin typeface="Courier New" panose="02070309020205020404" pitchFamily="49" charset="0"/>
                <a:ea typeface="+mn-ea"/>
                <a:cs typeface="+mn-cs"/>
              </a:rPr>
              <a:t> </a:t>
            </a:r>
          </a:p>
          <a:p>
            <a:pPr marL="34290" indent="0" algn="just">
              <a:buNone/>
            </a:pPr>
            <a:r>
              <a:rPr lang="ro-RO" sz="2000" b="1" noProof="0" dirty="0">
                <a:solidFill>
                  <a:srgbClr val="999999"/>
                </a:solidFill>
                <a:latin typeface="Courier New" panose="02070309020205020404" pitchFamily="49" charset="0"/>
              </a:rPr>
              <a:t>  </a:t>
            </a:r>
            <a:r>
              <a:rPr kumimoji="0" lang="ro-RO" sz="2000" b="1" i="0" u="none" strike="noStrike" kern="1200" cap="none" spc="0" normalizeH="0" baseline="0" noProof="0" dirty="0" err="1">
                <a:ln>
                  <a:noFill/>
                </a:ln>
                <a:solidFill>
                  <a:srgbClr val="CC99CD"/>
                </a:solidFill>
                <a:effectLst/>
                <a:uLnTx/>
                <a:uFillTx/>
                <a:latin typeface="Courier New" panose="020703090202050204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ExecuteRectangle</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 </a:t>
            </a:r>
          </a:p>
          <a:p>
            <a:pPr marL="34290" indent="0" algn="just">
              <a:buNone/>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99CD"/>
                </a:solidFill>
                <a:effectLst/>
                <a:uLnTx/>
                <a:uFillTx/>
                <a:latin typeface="Courier New" panose="020703090202050204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a:ln>
                  <a:noFill/>
                </a:ln>
                <a:solidFill>
                  <a:srgbClr val="F08D49"/>
                </a:solidFill>
                <a:effectLst/>
                <a:uLnTx/>
                <a:uFillTx/>
                <a:latin typeface="Courier New" panose="020703090202050204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err="1">
                <a:ln>
                  <a:noFill/>
                </a:ln>
                <a:solidFill>
                  <a:srgbClr val="CC99CD"/>
                </a:solidFill>
                <a:effectLst/>
                <a:uLnTx/>
                <a:uFillTx/>
                <a:latin typeface="Courier New" panose="020703090202050204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args</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 </a:t>
            </a:r>
          </a:p>
          <a:p>
            <a:pPr marL="34290" indent="0" algn="just">
              <a:buNone/>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Rectangle</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r </a:t>
            </a:r>
            <a:r>
              <a:rPr kumimoji="0" lang="ro-RO" sz="2000" b="1" i="0" u="none" strike="noStrike" kern="1200" cap="none" spc="0" normalizeH="0" baseline="0" noProof="0" dirty="0">
                <a:ln>
                  <a:noFill/>
                </a:ln>
                <a:solidFill>
                  <a:srgbClr val="67CDCC"/>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99CD"/>
                </a:solidFill>
                <a:effectLst/>
                <a:uLnTx/>
                <a:uFillTx/>
                <a:latin typeface="Courier New" panose="020703090202050204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Rectangle</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p>
          <a:p>
            <a:pPr marL="34290" indent="0" algn="just">
              <a:buNone/>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r.</a:t>
            </a:r>
            <a:r>
              <a:rPr kumimoji="0" lang="ro-RO"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Acceptdetails</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p>
          <a:p>
            <a:pPr marL="34290" indent="0" algn="just">
              <a:buNone/>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r.</a:t>
            </a:r>
            <a:r>
              <a:rPr kumimoji="0" lang="ro-RO"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Display</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p>
          <a:p>
            <a:pPr marL="34290" indent="0" algn="just">
              <a:buNone/>
            </a:pP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p>
          <a:p>
            <a:pPr marL="34290" indent="0" algn="just">
              <a:buNone/>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indent="0" algn="just">
              <a:buNone/>
            </a:pP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endParaRPr lang="ro-RO" sz="2800" noProof="0" dirty="0">
              <a:solidFill>
                <a:srgbClr val="00B0F0"/>
              </a:solidFill>
            </a:endParaRPr>
          </a:p>
        </p:txBody>
      </p:sp>
    </p:spTree>
    <p:extLst>
      <p:ext uri="{BB962C8B-B14F-4D97-AF65-F5344CB8AC3E}">
        <p14:creationId xmlns:p14="http://schemas.microsoft.com/office/powerpoint/2010/main" val="1242911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227C8-38C4-6DFA-AAAA-0BFC4D82ACF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3F9936A-9DC0-00DB-0F75-2D9E5E1CDFCD}"/>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74AF0C75-8AEE-7AA7-E029-912017A59B18}"/>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Când codul de mai sus este compilat și executat, acesta produce următorul rezultat:</a:t>
            </a:r>
          </a:p>
          <a:p>
            <a:pPr marL="34290" indent="0" algn="just">
              <a:buNone/>
            </a:pPr>
            <a:r>
              <a:rPr lang="ro-RO" sz="2800" noProof="0" dirty="0" err="1">
                <a:solidFill>
                  <a:srgbClr val="00B0F0"/>
                </a:solidFill>
              </a:rPr>
              <a:t>Enter</a:t>
            </a:r>
            <a:r>
              <a:rPr lang="ro-RO" sz="2800" noProof="0" dirty="0">
                <a:solidFill>
                  <a:srgbClr val="00B0F0"/>
                </a:solidFill>
              </a:rPr>
              <a:t> </a:t>
            </a:r>
            <a:r>
              <a:rPr lang="ro-RO" sz="2800" noProof="0" dirty="0" err="1">
                <a:solidFill>
                  <a:srgbClr val="00B0F0"/>
                </a:solidFill>
              </a:rPr>
              <a:t>Length</a:t>
            </a:r>
            <a:r>
              <a:rPr lang="ro-RO" sz="2800" noProof="0" dirty="0">
                <a:solidFill>
                  <a:srgbClr val="00B0F0"/>
                </a:solidFill>
              </a:rPr>
              <a:t>:</a:t>
            </a:r>
          </a:p>
          <a:p>
            <a:pPr marL="34290" indent="0" algn="just">
              <a:buNone/>
            </a:pPr>
            <a:r>
              <a:rPr lang="ro-RO" sz="2800" noProof="0" dirty="0">
                <a:solidFill>
                  <a:srgbClr val="00B0F0"/>
                </a:solidFill>
              </a:rPr>
              <a:t>4.4</a:t>
            </a:r>
          </a:p>
          <a:p>
            <a:pPr marL="34290" indent="0" algn="just">
              <a:buNone/>
            </a:pPr>
            <a:r>
              <a:rPr lang="ro-RO" sz="2800" noProof="0" dirty="0" err="1">
                <a:solidFill>
                  <a:srgbClr val="00B0F0"/>
                </a:solidFill>
              </a:rPr>
              <a:t>Enter</a:t>
            </a:r>
            <a:r>
              <a:rPr lang="ro-RO" sz="2800" noProof="0" dirty="0">
                <a:solidFill>
                  <a:srgbClr val="00B0F0"/>
                </a:solidFill>
              </a:rPr>
              <a:t> </a:t>
            </a:r>
            <a:r>
              <a:rPr lang="ro-RO" sz="2800" noProof="0" dirty="0" err="1">
                <a:solidFill>
                  <a:srgbClr val="00B0F0"/>
                </a:solidFill>
              </a:rPr>
              <a:t>Width</a:t>
            </a:r>
            <a:r>
              <a:rPr lang="ro-RO" sz="2800" noProof="0" dirty="0">
                <a:solidFill>
                  <a:srgbClr val="00B0F0"/>
                </a:solidFill>
              </a:rPr>
              <a:t>:</a:t>
            </a:r>
          </a:p>
          <a:p>
            <a:pPr marL="34290" indent="0" algn="just">
              <a:buNone/>
            </a:pPr>
            <a:r>
              <a:rPr lang="ro-RO" sz="2800" noProof="0" dirty="0">
                <a:solidFill>
                  <a:srgbClr val="00B0F0"/>
                </a:solidFill>
              </a:rPr>
              <a:t>3.3</a:t>
            </a:r>
          </a:p>
          <a:p>
            <a:pPr marL="34290" indent="0" algn="just">
              <a:buNone/>
            </a:pPr>
            <a:r>
              <a:rPr lang="ro-RO" sz="2800" noProof="0" dirty="0" err="1">
                <a:solidFill>
                  <a:srgbClr val="00B0F0"/>
                </a:solidFill>
              </a:rPr>
              <a:t>Length</a:t>
            </a:r>
            <a:r>
              <a:rPr lang="ro-RO" sz="2800" noProof="0" dirty="0">
                <a:solidFill>
                  <a:srgbClr val="00B0F0"/>
                </a:solidFill>
              </a:rPr>
              <a:t>: 4.4</a:t>
            </a:r>
          </a:p>
          <a:p>
            <a:pPr marL="34290" indent="0" algn="just">
              <a:buNone/>
            </a:pPr>
            <a:r>
              <a:rPr lang="ro-RO" sz="2800" noProof="0" dirty="0" err="1">
                <a:solidFill>
                  <a:srgbClr val="00B0F0"/>
                </a:solidFill>
              </a:rPr>
              <a:t>Width</a:t>
            </a:r>
            <a:r>
              <a:rPr lang="ro-RO" sz="2800" noProof="0" dirty="0">
                <a:solidFill>
                  <a:srgbClr val="00B0F0"/>
                </a:solidFill>
              </a:rPr>
              <a:t>: 3.3</a:t>
            </a:r>
          </a:p>
          <a:p>
            <a:pPr marL="34290" indent="0" algn="just">
              <a:buNone/>
            </a:pPr>
            <a:r>
              <a:rPr lang="ro-RO" sz="2800" noProof="0" dirty="0" err="1">
                <a:solidFill>
                  <a:srgbClr val="00B0F0"/>
                </a:solidFill>
              </a:rPr>
              <a:t>Area</a:t>
            </a:r>
            <a:r>
              <a:rPr lang="ro-RO" sz="2800" noProof="0" dirty="0">
                <a:solidFill>
                  <a:srgbClr val="00B0F0"/>
                </a:solidFill>
              </a:rPr>
              <a:t>: 14.52</a:t>
            </a:r>
          </a:p>
        </p:txBody>
      </p:sp>
    </p:spTree>
    <p:extLst>
      <p:ext uri="{BB962C8B-B14F-4D97-AF65-F5344CB8AC3E}">
        <p14:creationId xmlns:p14="http://schemas.microsoft.com/office/powerpoint/2010/main" val="2382326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65AA8-FB8D-0137-343F-BECD63F9254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097BA78-D842-B323-218B-3A0A389BC23A}"/>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C5360667-E7B9-8CEF-2FE0-CD5DA65D24E6}"/>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În exemplul precedent, variabilele membre </a:t>
            </a:r>
            <a:r>
              <a:rPr lang="ro-RO" sz="2800" noProof="0" dirty="0" err="1">
                <a:solidFill>
                  <a:srgbClr val="00B0F0"/>
                </a:solidFill>
              </a:rPr>
              <a:t>length</a:t>
            </a:r>
            <a:r>
              <a:rPr lang="ro-RO" sz="2800" noProof="0" dirty="0">
                <a:solidFill>
                  <a:srgbClr val="00B0F0"/>
                </a:solidFill>
              </a:rPr>
              <a:t> și </a:t>
            </a:r>
            <a:r>
              <a:rPr lang="ro-RO" sz="2800" noProof="0" dirty="0" err="1">
                <a:solidFill>
                  <a:srgbClr val="00B0F0"/>
                </a:solidFill>
              </a:rPr>
              <a:t>width</a:t>
            </a:r>
            <a:r>
              <a:rPr lang="ro-RO" sz="2800" noProof="0" dirty="0">
                <a:solidFill>
                  <a:srgbClr val="00B0F0"/>
                </a:solidFill>
              </a:rPr>
              <a:t> sunt declarate private, deci nu pot fi accesate din funcția Main(). Funcțiile membre </a:t>
            </a:r>
            <a:r>
              <a:rPr lang="ro-RO" sz="2800" noProof="0" dirty="0" err="1">
                <a:solidFill>
                  <a:srgbClr val="00B0F0"/>
                </a:solidFill>
              </a:rPr>
              <a:t>AcceptDetails</a:t>
            </a:r>
            <a:r>
              <a:rPr lang="ro-RO" sz="2800" noProof="0" dirty="0">
                <a:solidFill>
                  <a:srgbClr val="00B0F0"/>
                </a:solidFill>
              </a:rPr>
              <a:t>() și Display() pot accesa aceste variabile. Deoarece funcțiile membre </a:t>
            </a:r>
            <a:r>
              <a:rPr lang="ro-RO" sz="2800" noProof="0" dirty="0" err="1">
                <a:solidFill>
                  <a:srgbClr val="00B0F0"/>
                </a:solidFill>
              </a:rPr>
              <a:t>AcceptDetails</a:t>
            </a:r>
            <a:r>
              <a:rPr lang="ro-RO" sz="2800" noProof="0" dirty="0">
                <a:solidFill>
                  <a:srgbClr val="00B0F0"/>
                </a:solidFill>
              </a:rPr>
              <a:t>() și Display() sunt declarate publice, acestea pot fi accesate din Main() folosind o instanță a clasei </a:t>
            </a:r>
            <a:r>
              <a:rPr lang="ro-RO" sz="2800" noProof="0" dirty="0" err="1">
                <a:solidFill>
                  <a:srgbClr val="00B0F0"/>
                </a:solidFill>
              </a:rPr>
              <a:t>Rectangle</a:t>
            </a:r>
            <a:r>
              <a:rPr lang="ro-RO" sz="2800" noProof="0" dirty="0">
                <a:solidFill>
                  <a:srgbClr val="00B0F0"/>
                </a:solidFill>
              </a:rPr>
              <a:t>, numită r.</a:t>
            </a:r>
          </a:p>
        </p:txBody>
      </p:sp>
    </p:spTree>
    <p:extLst>
      <p:ext uri="{BB962C8B-B14F-4D97-AF65-F5344CB8AC3E}">
        <p14:creationId xmlns:p14="http://schemas.microsoft.com/office/powerpoint/2010/main" val="1048270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9981-9B9D-442A-0A13-46DC32C527B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551F093-0588-2B04-3FD2-B748A2F9F932}"/>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F999B992-2883-CDA8-456E-A6592375696D}"/>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Specificatorul de acces </a:t>
            </a:r>
            <a:r>
              <a:rPr lang="ro-RO" sz="2800" noProof="0" dirty="0" err="1">
                <a:solidFill>
                  <a:schemeClr val="tx2"/>
                </a:solidFill>
              </a:rPr>
              <a:t>protected</a:t>
            </a:r>
            <a:endParaRPr lang="ro-RO" sz="2800" noProof="0" dirty="0">
              <a:solidFill>
                <a:schemeClr val="tx2"/>
              </a:solidFill>
            </a:endParaRPr>
          </a:p>
          <a:p>
            <a:pPr marL="34290" indent="0" algn="just">
              <a:buNone/>
            </a:pPr>
            <a:r>
              <a:rPr lang="ro-RO" sz="2800" noProof="0" dirty="0">
                <a:solidFill>
                  <a:srgbClr val="00B0F0"/>
                </a:solidFill>
              </a:rPr>
              <a:t>Specificatorul de acces </a:t>
            </a:r>
            <a:r>
              <a:rPr lang="ro-RO" sz="2800" noProof="0" dirty="0" err="1">
                <a:solidFill>
                  <a:schemeClr val="tx2"/>
                </a:solidFill>
              </a:rPr>
              <a:t>protected</a:t>
            </a:r>
            <a:r>
              <a:rPr lang="ro-RO" sz="2800" noProof="0" dirty="0">
                <a:solidFill>
                  <a:schemeClr val="tx2"/>
                </a:solidFill>
              </a:rPr>
              <a:t> </a:t>
            </a:r>
            <a:r>
              <a:rPr lang="ro-RO" sz="2800" noProof="0" dirty="0">
                <a:solidFill>
                  <a:srgbClr val="00B0F0"/>
                </a:solidFill>
              </a:rPr>
              <a:t>permite unei clase derivate să acceseze variabilele și funcțiile membre ale clasei sale de bază. În acest fel, ajută la implementarea moștenirii. Vom discuta acest lucru mai detaliat în capitolul despre moștenire.</a:t>
            </a:r>
          </a:p>
          <a:p>
            <a:pPr marL="34290" indent="0" algn="just">
              <a:buNone/>
            </a:pPr>
            <a:r>
              <a:rPr lang="ro-RO" sz="2800" noProof="0" dirty="0">
                <a:solidFill>
                  <a:srgbClr val="00B0F0"/>
                </a:solidFill>
              </a:rPr>
              <a:t>În următorul exemplu, creăm o clasă de dreptunghiuri care calculează aria unui dreptunghi și folosim specificatorii de acces </a:t>
            </a:r>
            <a:r>
              <a:rPr lang="ro-RO" sz="2800" noProof="0" dirty="0" err="1">
                <a:solidFill>
                  <a:srgbClr val="00B0F0"/>
                </a:solidFill>
              </a:rPr>
              <a:t>protected</a:t>
            </a:r>
            <a:r>
              <a:rPr lang="ro-RO" sz="2800" noProof="0" dirty="0">
                <a:solidFill>
                  <a:srgbClr val="00B0F0"/>
                </a:solidFill>
              </a:rPr>
              <a:t> pentru lungime și lățime.</a:t>
            </a:r>
          </a:p>
        </p:txBody>
      </p:sp>
    </p:spTree>
    <p:extLst>
      <p:ext uri="{BB962C8B-B14F-4D97-AF65-F5344CB8AC3E}">
        <p14:creationId xmlns:p14="http://schemas.microsoft.com/office/powerpoint/2010/main" val="2758583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C0E1C-E6A3-C923-0E2E-F4C98EFDEC2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55AA5C9-9BF5-7386-B84D-F3B03FC63C27}"/>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9C259717-8764-F854-AAC2-B471AB8D3F68}"/>
              </a:ext>
            </a:extLst>
          </p:cNvPr>
          <p:cNvSpPr>
            <a:spLocks noGrp="1"/>
          </p:cNvSpPr>
          <p:nvPr>
            <p:ph idx="1"/>
          </p:nvPr>
        </p:nvSpPr>
        <p:spPr>
          <a:xfrm>
            <a:off x="463925" y="1281952"/>
            <a:ext cx="8249770" cy="5074024"/>
          </a:xfrm>
        </p:spPr>
        <p:txBody>
          <a:bodyPr>
            <a:noAutofit/>
          </a:bodyPr>
          <a:lstStyle/>
          <a:p>
            <a:pPr marL="34290" indent="0" algn="just">
              <a:buNone/>
            </a:pPr>
            <a:r>
              <a:rPr lang="ro-RO" sz="2000" b="1" i="0" noProof="0" dirty="0" err="1">
                <a:solidFill>
                  <a:srgbClr val="CC99CD"/>
                </a:solidFill>
                <a:effectLst/>
                <a:latin typeface="Courier New" panose="02070309020205020404" pitchFamily="49" charset="0"/>
              </a:rPr>
              <a:t>using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System</a:t>
            </a:r>
            <a:r>
              <a:rPr lang="ro-RO" sz="2000" b="1" i="0" noProof="0" dirty="0">
                <a:solidFill>
                  <a:srgbClr val="CCCCCC"/>
                </a:solidFill>
                <a:effectLst/>
                <a:latin typeface="Courier New" panose="02070309020205020404" pitchFamily="49" charset="0"/>
              </a:rPr>
              <a:t>;</a:t>
            </a:r>
          </a:p>
          <a:p>
            <a:pPr marL="34290" indent="0" algn="just">
              <a:buNone/>
            </a:pPr>
            <a:r>
              <a:rPr lang="ro-RO" sz="2000" b="1" i="0" noProof="0" dirty="0" err="1">
                <a:solidFill>
                  <a:srgbClr val="CC99CD"/>
                </a:solidFill>
                <a:effectLst/>
                <a:latin typeface="Courier New" panose="02070309020205020404" pitchFamily="49" charset="0"/>
              </a:rPr>
              <a:t>namespace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RectangleApplication</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class</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Rectangle</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protected</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double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length</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protected</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double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width</a:t>
            </a:r>
            <a:r>
              <a:rPr lang="ro-RO" sz="2000" b="1" i="0" noProof="0" dirty="0">
                <a:solidFill>
                  <a:srgbClr val="CCCCCC"/>
                </a:solidFill>
                <a:effectLst/>
                <a:latin typeface="Courier New" panose="02070309020205020404" pitchFamily="49" charset="0"/>
              </a:rPr>
              <a:t>; </a:t>
            </a:r>
            <a:endParaRPr lang="ro-RO" sz="2000" b="1" i="0" noProof="0" dirty="0">
              <a:solidFill>
                <a:srgbClr val="999999"/>
              </a:solidFill>
              <a:effectLst/>
              <a:latin typeface="Courier New" panose="02070309020205020404" pitchFamily="49" charset="0"/>
            </a:endParaRPr>
          </a:p>
          <a:p>
            <a:pPr marL="34290" indent="0" algn="just">
              <a:buNone/>
            </a:pPr>
            <a:r>
              <a:rPr lang="ro-RO" sz="2000" b="1" noProof="0" dirty="0">
                <a:solidFill>
                  <a:srgbClr val="999999"/>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public</a:t>
            </a:r>
            <a:r>
              <a:rPr lang="ro-RO" sz="2000" b="1" i="0" noProof="0" dirty="0">
                <a:solidFill>
                  <a:srgbClr val="CCCCCC"/>
                </a:solidFill>
                <a:effectLst/>
                <a:latin typeface="Courier New" panose="02070309020205020404" pitchFamily="49" charset="0"/>
              </a:rPr>
              <a:t> </a:t>
            </a:r>
            <a:r>
              <a:rPr lang="ro-RO" sz="2000" b="1" i="0" noProof="0" dirty="0" err="1">
                <a:solidFill>
                  <a:srgbClr val="F08D49"/>
                </a:solidFill>
                <a:effectLst/>
                <a:latin typeface="Courier New" panose="02070309020205020404" pitchFamily="49" charset="0"/>
              </a:rPr>
              <a:t>Rectangle</a:t>
            </a:r>
            <a:r>
              <a:rPr lang="ro-RO" sz="2000" b="1" i="0" noProof="0" dirty="0">
                <a:solidFill>
                  <a:srgbClr val="CCCCCC"/>
                </a:solidFill>
                <a:effectLst/>
                <a:latin typeface="Courier New" panose="02070309020205020404" pitchFamily="49" charset="0"/>
              </a:rPr>
              <a:t>(</a:t>
            </a:r>
            <a:r>
              <a:rPr lang="ro-RO" sz="2000" b="1" i="0" noProof="0" dirty="0" err="1">
                <a:solidFill>
                  <a:srgbClr val="CC99CD"/>
                </a:solidFill>
                <a:effectLst/>
                <a:latin typeface="Courier New" panose="02070309020205020404" pitchFamily="49" charset="0"/>
              </a:rPr>
              <a:t>double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length</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double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width</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this</a:t>
            </a:r>
            <a:r>
              <a:rPr lang="ro-RO" sz="2000" b="1" i="0" noProof="0" dirty="0" err="1">
                <a:solidFill>
                  <a:srgbClr val="CCCCCC"/>
                </a:solidFill>
                <a:effectLst/>
                <a:latin typeface="Courier New" panose="02070309020205020404" pitchFamily="49" charset="0"/>
              </a:rPr>
              <a:t>.length</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length</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this</a:t>
            </a:r>
            <a:r>
              <a:rPr lang="ro-RO" sz="2000" b="1" i="0" noProof="0" dirty="0" err="1">
                <a:solidFill>
                  <a:srgbClr val="CCCCCC"/>
                </a:solidFill>
                <a:effectLst/>
                <a:latin typeface="Courier New" panose="02070309020205020404" pitchFamily="49" charset="0"/>
              </a:rPr>
              <a:t>.width</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width</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endParaRPr lang="ro-RO" sz="2000" b="1" i="0" noProof="0" dirty="0">
              <a:solidFill>
                <a:srgbClr val="999999"/>
              </a:solidFill>
              <a:effectLst/>
              <a:latin typeface="Courier New" panose="02070309020205020404" pitchFamily="49" charset="0"/>
            </a:endParaRPr>
          </a:p>
          <a:p>
            <a:pPr marL="34290" indent="0" algn="just">
              <a:buNone/>
            </a:pPr>
            <a:r>
              <a:rPr lang="ro-RO" sz="2000" b="1" noProof="0" dirty="0">
                <a:solidFill>
                  <a:srgbClr val="999999"/>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double</a:t>
            </a:r>
            <a:r>
              <a:rPr lang="ro-RO" sz="2000" b="1" i="0" noProof="0" dirty="0">
                <a:solidFill>
                  <a:srgbClr val="CCCCCC"/>
                </a:solidFill>
                <a:effectLst/>
                <a:latin typeface="Courier New" panose="02070309020205020404" pitchFamily="49" charset="0"/>
              </a:rPr>
              <a:t> </a:t>
            </a:r>
            <a:r>
              <a:rPr lang="ro-RO" sz="2000" b="1" i="0" noProof="0" dirty="0" err="1">
                <a:solidFill>
                  <a:srgbClr val="F08D49"/>
                </a:solidFill>
                <a:effectLst/>
                <a:latin typeface="Courier New" panose="02070309020205020404" pitchFamily="49" charset="0"/>
              </a:rPr>
              <a:t>GetArea</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return</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length</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width</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endParaRPr lang="ro-RO" sz="2000" b="1" i="0" noProof="0" dirty="0">
              <a:solidFill>
                <a:srgbClr val="999999"/>
              </a:solidFill>
              <a:effectLst/>
              <a:latin typeface="Courier New" panose="02070309020205020404" pitchFamily="49" charset="0"/>
            </a:endParaRPr>
          </a:p>
          <a:p>
            <a:pPr marL="34290" indent="0" algn="just">
              <a:buNone/>
            </a:pPr>
            <a:r>
              <a:rPr lang="ro-RO" sz="2000" b="1" noProof="0" dirty="0">
                <a:solidFill>
                  <a:srgbClr val="999999"/>
                </a:solidFill>
                <a:latin typeface="Courier New" panose="02070309020205020404" pitchFamily="49" charset="0"/>
              </a:rPr>
              <a:t>    </a:t>
            </a:r>
            <a:endParaRPr lang="ro-RO" sz="2000" b="1" noProof="0" dirty="0">
              <a:solidFill>
                <a:srgbClr val="00B0F0"/>
              </a:solidFill>
            </a:endParaRPr>
          </a:p>
        </p:txBody>
      </p:sp>
    </p:spTree>
    <p:extLst>
      <p:ext uri="{BB962C8B-B14F-4D97-AF65-F5344CB8AC3E}">
        <p14:creationId xmlns:p14="http://schemas.microsoft.com/office/powerpoint/2010/main" val="2486396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A4858-8760-819B-D80D-1DE431BF0A0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7D01D0E-D1F9-C8BE-DA58-36777ACBC368}"/>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33945FB8-340E-8453-5EAA-B41D1CE53ADC}"/>
              </a:ext>
            </a:extLst>
          </p:cNvPr>
          <p:cNvSpPr>
            <a:spLocks noGrp="1"/>
          </p:cNvSpPr>
          <p:nvPr>
            <p:ph idx="1"/>
          </p:nvPr>
        </p:nvSpPr>
        <p:spPr>
          <a:xfrm>
            <a:off x="463925" y="1281952"/>
            <a:ext cx="8249770" cy="5074024"/>
          </a:xfrm>
        </p:spPr>
        <p:txBody>
          <a:bodyPr>
            <a:noAutofit/>
          </a:bodyPr>
          <a:lstStyle/>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    public</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99CD"/>
                </a:solidFill>
                <a:effectLst/>
                <a:uLnTx/>
                <a:uFillTx/>
                <a:latin typeface="Courier New" panose="020703090202050204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a:ln>
                  <a:noFill/>
                </a:ln>
                <a:solidFill>
                  <a:srgbClr val="F08D49"/>
                </a:solidFill>
                <a:effectLst/>
                <a:uLnTx/>
                <a:uFillTx/>
                <a:latin typeface="Courier New" panose="02070309020205020404" pitchFamily="49" charset="0"/>
                <a:ea typeface="+mn-ea"/>
                <a:cs typeface="+mn-cs"/>
              </a:rPr>
              <a:t>Display</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Console.</a:t>
            </a:r>
            <a:r>
              <a:rPr kumimoji="0" lang="ro-RO"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err="1">
                <a:ln>
                  <a:noFill/>
                </a:ln>
                <a:solidFill>
                  <a:srgbClr val="7EC699"/>
                </a:solidFill>
                <a:effectLst/>
                <a:uLnTx/>
                <a:uFillTx/>
                <a:latin typeface="Courier New" panose="02070309020205020404" pitchFamily="49" charset="0"/>
                <a:ea typeface="+mn-ea"/>
                <a:cs typeface="+mn-cs"/>
              </a:rPr>
              <a:t>Length</a:t>
            </a:r>
            <a:r>
              <a:rPr kumimoji="0" lang="ro-RO" sz="20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 {0}"</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Console.</a:t>
            </a:r>
            <a:r>
              <a:rPr kumimoji="0" lang="ro-RO"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err="1">
                <a:ln>
                  <a:noFill/>
                </a:ln>
                <a:solidFill>
                  <a:srgbClr val="7EC699"/>
                </a:solidFill>
                <a:effectLst/>
                <a:uLnTx/>
                <a:uFillTx/>
                <a:latin typeface="Courier New" panose="02070309020205020404" pitchFamily="49" charset="0"/>
                <a:ea typeface="+mn-ea"/>
                <a:cs typeface="+mn-cs"/>
              </a:rPr>
              <a:t>Width</a:t>
            </a:r>
            <a:r>
              <a:rPr kumimoji="0" lang="ro-RO" sz="20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 {0}"</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width</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Console.</a:t>
            </a:r>
            <a:r>
              <a:rPr kumimoji="0" lang="ro-RO"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err="1">
                <a:ln>
                  <a:noFill/>
                </a:ln>
                <a:solidFill>
                  <a:srgbClr val="7EC699"/>
                </a:solidFill>
                <a:effectLst/>
                <a:uLnTx/>
                <a:uFillTx/>
                <a:latin typeface="Courier New" panose="02070309020205020404" pitchFamily="49" charset="0"/>
                <a:ea typeface="+mn-ea"/>
                <a:cs typeface="+mn-cs"/>
              </a:rPr>
              <a:t>Area</a:t>
            </a:r>
            <a:r>
              <a:rPr kumimoji="0" lang="ro-RO" sz="20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 {0}"</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GetArea</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err="1">
                <a:ln>
                  <a:noFill/>
                </a:ln>
                <a:solidFill>
                  <a:srgbClr val="CC99CD"/>
                </a:solidFill>
                <a:effectLst/>
                <a:uLnTx/>
                <a:uFillTx/>
                <a:latin typeface="Courier New" panose="020703090202050204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ExecuteRectangle</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99CD"/>
                </a:solidFill>
                <a:effectLst/>
                <a:uLnTx/>
                <a:uFillTx/>
                <a:latin typeface="Courier New" panose="020703090202050204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a:ln>
                  <a:noFill/>
                </a:ln>
                <a:solidFill>
                  <a:srgbClr val="F08D49"/>
                </a:solidFill>
                <a:effectLst/>
                <a:uLnTx/>
                <a:uFillTx/>
                <a:latin typeface="Courier New" panose="020703090202050204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err="1">
                <a:ln>
                  <a:noFill/>
                </a:ln>
                <a:solidFill>
                  <a:srgbClr val="CC99CD"/>
                </a:solidFill>
                <a:effectLst/>
                <a:uLnTx/>
                <a:uFillTx/>
                <a:latin typeface="Courier New" panose="020703090202050204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args</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Rectangle</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r </a:t>
            </a:r>
            <a:r>
              <a:rPr kumimoji="0" lang="ro-RO" sz="2000" b="1" i="0" u="none" strike="noStrike" kern="1200" cap="none" spc="0" normalizeH="0" baseline="0" noProof="0" dirty="0">
                <a:ln>
                  <a:noFill/>
                </a:ln>
                <a:solidFill>
                  <a:srgbClr val="67CDCC"/>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99CD"/>
                </a:solidFill>
                <a:effectLst/>
                <a:uLnTx/>
                <a:uFillTx/>
                <a:latin typeface="Courier New" panose="020703090202050204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Rectangle</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a:ln>
                  <a:noFill/>
                </a:ln>
                <a:solidFill>
                  <a:srgbClr val="F08D49"/>
                </a:solidFill>
                <a:effectLst/>
                <a:uLnTx/>
                <a:uFillTx/>
                <a:latin typeface="Courier New" panose="02070309020205020404" pitchFamily="49" charset="0"/>
                <a:ea typeface="+mn-ea"/>
                <a:cs typeface="+mn-cs"/>
              </a:rPr>
              <a:t>4.5</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a:ln>
                  <a:noFill/>
                </a:ln>
                <a:solidFill>
                  <a:srgbClr val="F08D49"/>
                </a:solidFill>
                <a:effectLst/>
                <a:uLnTx/>
                <a:uFillTx/>
                <a:latin typeface="Courier New" panose="02070309020205020404" pitchFamily="49" charset="0"/>
                <a:ea typeface="+mn-ea"/>
                <a:cs typeface="+mn-cs"/>
              </a:rPr>
              <a:t>3.5</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r.</a:t>
            </a:r>
            <a:r>
              <a:rPr kumimoji="0" lang="ro-RO"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Display</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endParaRPr kumimoji="0" lang="ro-RO" sz="2000" b="1" i="0" u="none" strike="noStrike" kern="1200" cap="none" spc="0" normalizeH="0" baseline="0" noProof="0" dirty="0">
              <a:ln>
                <a:noFill/>
              </a:ln>
              <a:solidFill>
                <a:srgbClr val="00B0F0"/>
              </a:solidFill>
              <a:effectLst/>
              <a:uLnTx/>
              <a:uFillTx/>
              <a:latin typeface="Arial"/>
              <a:ea typeface="+mn-ea"/>
              <a:cs typeface="+mn-cs"/>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73890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E5F17-E31C-FC1B-AF32-27746D2EB4F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CAC4B01-55D0-50E4-2A90-023A5D8438E3}"/>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20712CCC-364A-830B-54B3-6ED9EBBD067E}"/>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Specificator de acces </a:t>
            </a:r>
            <a:r>
              <a:rPr lang="ro-RO" sz="2800" noProof="0" dirty="0" err="1">
                <a:solidFill>
                  <a:schemeClr val="tx2"/>
                </a:solidFill>
              </a:rPr>
              <a:t>internal</a:t>
            </a:r>
            <a:endParaRPr lang="ro-RO" sz="2800" noProof="0" dirty="0">
              <a:solidFill>
                <a:schemeClr val="tx2"/>
              </a:solidFill>
            </a:endParaRPr>
          </a:p>
          <a:p>
            <a:pPr marL="34290" indent="0" algn="just">
              <a:buNone/>
            </a:pPr>
            <a:r>
              <a:rPr lang="ro-RO" sz="2800" noProof="0" dirty="0">
                <a:solidFill>
                  <a:srgbClr val="00B0F0"/>
                </a:solidFill>
              </a:rPr>
              <a:t>Specificatorul de acces </a:t>
            </a:r>
            <a:r>
              <a:rPr lang="ro-RO" sz="2800" noProof="0" dirty="0" err="1">
                <a:solidFill>
                  <a:schemeClr val="tx2"/>
                </a:solidFill>
              </a:rPr>
              <a:t>internal</a:t>
            </a:r>
            <a:r>
              <a:rPr lang="ro-RO" sz="2800" noProof="0" dirty="0">
                <a:solidFill>
                  <a:schemeClr val="tx2"/>
                </a:solidFill>
              </a:rPr>
              <a:t> </a:t>
            </a:r>
            <a:r>
              <a:rPr lang="ro-RO" sz="2800" noProof="0" dirty="0">
                <a:solidFill>
                  <a:srgbClr val="00B0F0"/>
                </a:solidFill>
              </a:rPr>
              <a:t>permite unei clase să își expună variabilele și funcțiile membre către alte funcții și obiecte din ansamblul curent. Cu alte cuvinte, orice membru cu specificator de acces </a:t>
            </a:r>
            <a:r>
              <a:rPr lang="ro-RO" sz="2800" noProof="0" dirty="0" err="1">
                <a:solidFill>
                  <a:srgbClr val="00B0F0"/>
                </a:solidFill>
              </a:rPr>
              <a:t>internal</a:t>
            </a:r>
            <a:r>
              <a:rPr lang="ro-RO" sz="2800" noProof="0" dirty="0">
                <a:solidFill>
                  <a:srgbClr val="00B0F0"/>
                </a:solidFill>
              </a:rPr>
              <a:t> poate fi accesat din orice clasă sau metodă definită în cadrul aplicației în care este definit membrul.</a:t>
            </a:r>
          </a:p>
        </p:txBody>
      </p:sp>
    </p:spTree>
    <p:extLst>
      <p:ext uri="{BB962C8B-B14F-4D97-AF65-F5344CB8AC3E}">
        <p14:creationId xmlns:p14="http://schemas.microsoft.com/office/powerpoint/2010/main" val="490245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61417-9817-A484-E23B-8D2CD569245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1F4AC71-D2EA-19E1-E65C-45372EB3CF87}"/>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17410A88-308E-8637-D1E7-F280EC11079E}"/>
              </a:ext>
            </a:extLst>
          </p:cNvPr>
          <p:cNvSpPr>
            <a:spLocks noGrp="1"/>
          </p:cNvSpPr>
          <p:nvPr>
            <p:ph idx="1"/>
          </p:nvPr>
        </p:nvSpPr>
        <p:spPr>
          <a:xfrm>
            <a:off x="463925" y="1281952"/>
            <a:ext cx="8249770" cy="5074024"/>
          </a:xfrm>
        </p:spPr>
        <p:txBody>
          <a:bodyPr>
            <a:noAutofit/>
          </a:bodyPr>
          <a:lstStyle/>
          <a:p>
            <a:pPr marL="34290" indent="0" algn="just">
              <a:buNone/>
            </a:pPr>
            <a:r>
              <a:rPr lang="ro-RO" sz="2000" b="1" i="0" noProof="0" dirty="0" err="1">
                <a:solidFill>
                  <a:srgbClr val="CC99CD"/>
                </a:solidFill>
                <a:effectLst/>
                <a:latin typeface="Courier New" panose="02070309020205020404" pitchFamily="49" charset="0"/>
              </a:rPr>
              <a:t>using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System</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err="1">
                <a:solidFill>
                  <a:srgbClr val="CC99CD"/>
                </a:solidFill>
                <a:effectLst/>
                <a:latin typeface="Courier New" panose="02070309020205020404" pitchFamily="49" charset="0"/>
              </a:rPr>
              <a:t>namespace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RectangleApplication</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class</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Rectangle</a:t>
            </a:r>
            <a:r>
              <a:rPr lang="ro-RO" sz="2000" b="1" i="0" noProof="0" dirty="0">
                <a:solidFill>
                  <a:srgbClr val="CCCCCC"/>
                </a:solidFill>
                <a:effectLst/>
                <a:latin typeface="Courier New" panose="02070309020205020404" pitchFamily="49" charset="0"/>
              </a:rPr>
              <a:t> { </a:t>
            </a:r>
            <a:endParaRPr lang="ro-RO" sz="2000" b="1" i="0" noProof="0" dirty="0">
              <a:solidFill>
                <a:srgbClr val="999999"/>
              </a:solidFill>
              <a:effectLst/>
              <a:latin typeface="Courier New" panose="02070309020205020404" pitchFamily="49" charset="0"/>
            </a:endParaRPr>
          </a:p>
          <a:p>
            <a:pPr marL="34290" indent="0" algn="just">
              <a:buNone/>
            </a:pPr>
            <a:r>
              <a:rPr lang="ro-RO" sz="2000" b="1" noProof="0" dirty="0">
                <a:solidFill>
                  <a:srgbClr val="999999"/>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internal</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double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length</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internal</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double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width</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double</a:t>
            </a:r>
            <a:r>
              <a:rPr lang="ro-RO" sz="2000" b="1" i="0" noProof="0" dirty="0">
                <a:solidFill>
                  <a:srgbClr val="CCCCCC"/>
                </a:solidFill>
                <a:effectLst/>
                <a:latin typeface="Courier New" panose="02070309020205020404" pitchFamily="49" charset="0"/>
              </a:rPr>
              <a:t> </a:t>
            </a:r>
            <a:r>
              <a:rPr lang="ro-RO" sz="2000" b="1" i="0" noProof="0" dirty="0" err="1">
                <a:solidFill>
                  <a:srgbClr val="F08D49"/>
                </a:solidFill>
                <a:effectLst/>
                <a:latin typeface="Courier New" panose="02070309020205020404" pitchFamily="49" charset="0"/>
              </a:rPr>
              <a:t>GetArea</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return</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length</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width</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public</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void</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Display</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err="1">
                <a:solidFill>
                  <a:srgbClr val="7EC699"/>
                </a:solidFill>
                <a:effectLst/>
                <a:latin typeface="Courier New" panose="02070309020205020404" pitchFamily="49" charset="0"/>
              </a:rPr>
              <a:t>Length</a:t>
            </a:r>
            <a:r>
              <a:rPr lang="ro-RO" sz="2000" b="1" i="0" noProof="0" dirty="0">
                <a:solidFill>
                  <a:srgbClr val="7EC699"/>
                </a:solidFill>
                <a:effectLst/>
                <a:latin typeface="Courier New" panose="02070309020205020404" pitchFamily="49" charset="0"/>
              </a:rPr>
              <a:t>: {0}"</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length</a:t>
            </a:r>
            <a:r>
              <a:rPr lang="ro-RO" sz="2000" b="1" i="0" noProof="0" dirty="0">
                <a:solidFill>
                  <a:srgbClr val="CCCCCC"/>
                </a:solidFill>
                <a:effectLst/>
                <a:latin typeface="Courier New" panose="02070309020205020404" pitchFamily="49" charset="0"/>
              </a:rPr>
              <a:t>);</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err="1">
                <a:solidFill>
                  <a:srgbClr val="7EC699"/>
                </a:solidFill>
                <a:effectLst/>
                <a:latin typeface="Courier New" panose="02070309020205020404" pitchFamily="49" charset="0"/>
              </a:rPr>
              <a:t>Width</a:t>
            </a:r>
            <a:r>
              <a:rPr lang="ro-RO" sz="2000" b="1" i="0" noProof="0" dirty="0">
                <a:solidFill>
                  <a:srgbClr val="7EC699"/>
                </a:solidFill>
                <a:effectLst/>
                <a:latin typeface="Courier New" panose="02070309020205020404" pitchFamily="49" charset="0"/>
              </a:rPr>
              <a:t>: {0}"</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width</a:t>
            </a:r>
            <a:r>
              <a:rPr lang="ro-RO" sz="2000" b="1" i="0" noProof="0" dirty="0">
                <a:solidFill>
                  <a:srgbClr val="CCCCCC"/>
                </a:solidFill>
                <a:effectLst/>
                <a:latin typeface="Courier New" panose="02070309020205020404" pitchFamily="49" charset="0"/>
              </a:rPr>
              <a:t>);</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err="1">
                <a:solidFill>
                  <a:srgbClr val="7EC699"/>
                </a:solidFill>
                <a:effectLst/>
                <a:latin typeface="Courier New" panose="02070309020205020404" pitchFamily="49" charset="0"/>
              </a:rPr>
              <a:t>Area</a:t>
            </a:r>
            <a:r>
              <a:rPr lang="ro-RO" sz="2000" b="1" i="0" noProof="0" dirty="0">
                <a:solidFill>
                  <a:srgbClr val="7EC699"/>
                </a:solidFill>
                <a:effectLst/>
                <a:latin typeface="Courier New" panose="02070309020205020404" pitchFamily="49" charset="0"/>
              </a:rPr>
              <a:t>: {0}"</a:t>
            </a:r>
            <a:r>
              <a:rPr lang="ro-RO" sz="2000" b="1" i="0" noProof="0" dirty="0">
                <a:solidFill>
                  <a:srgbClr val="CCCCCC"/>
                </a:solidFill>
                <a:effectLst/>
                <a:latin typeface="Courier New" panose="02070309020205020404" pitchFamily="49" charset="0"/>
              </a:rPr>
              <a:t>, </a:t>
            </a:r>
            <a:r>
              <a:rPr lang="ro-RO" sz="2000" b="1" i="0" noProof="0" dirty="0" err="1">
                <a:solidFill>
                  <a:srgbClr val="F08D49"/>
                </a:solidFill>
                <a:effectLst/>
                <a:latin typeface="Courier New" panose="02070309020205020404" pitchFamily="49" charset="0"/>
              </a:rPr>
              <a:t>GetArea</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a:t>
            </a:r>
            <a:endParaRPr lang="ro-RO" sz="2000" b="1" noProof="0" dirty="0">
              <a:solidFill>
                <a:srgbClr val="999999"/>
              </a:solidFill>
              <a:latin typeface="Courier New" panose="02070309020205020404" pitchFamily="49" charset="0"/>
            </a:endParaRPr>
          </a:p>
        </p:txBody>
      </p:sp>
    </p:spTree>
    <p:extLst>
      <p:ext uri="{BB962C8B-B14F-4D97-AF65-F5344CB8AC3E}">
        <p14:creationId xmlns:p14="http://schemas.microsoft.com/office/powerpoint/2010/main" val="2897833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647E9-258D-6925-D18A-041F3412B0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AB5FC0D-8998-48F2-7CD5-FDBA98EF5B45}"/>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8078E7A7-5792-8295-F635-288E18A440E6}"/>
              </a:ext>
            </a:extLst>
          </p:cNvPr>
          <p:cNvSpPr>
            <a:spLocks noGrp="1"/>
          </p:cNvSpPr>
          <p:nvPr>
            <p:ph idx="1"/>
          </p:nvPr>
        </p:nvSpPr>
        <p:spPr>
          <a:xfrm>
            <a:off x="463925" y="1281952"/>
            <a:ext cx="8249770" cy="5074024"/>
          </a:xfrm>
        </p:spPr>
        <p:txBody>
          <a:bodyPr>
            <a:noAutofit/>
          </a:bodyPr>
          <a:lstStyle/>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99CD"/>
                </a:solidFill>
                <a:effectLst/>
                <a:uLnTx/>
                <a:uFillTx/>
                <a:latin typeface="Courier New" panose="020703090202050204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ExecuteRectangle</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99CD"/>
                </a:solidFill>
                <a:effectLst/>
                <a:uLnTx/>
                <a:uFillTx/>
                <a:latin typeface="Courier New" panose="020703090202050204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a:ln>
                  <a:noFill/>
                </a:ln>
                <a:solidFill>
                  <a:srgbClr val="F08D49"/>
                </a:solidFill>
                <a:effectLst/>
                <a:uLnTx/>
                <a:uFillTx/>
                <a:latin typeface="Courier New" panose="020703090202050204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err="1">
                <a:ln>
                  <a:noFill/>
                </a:ln>
                <a:solidFill>
                  <a:srgbClr val="CC99CD"/>
                </a:solidFill>
                <a:effectLst/>
                <a:uLnTx/>
                <a:uFillTx/>
                <a:latin typeface="Courier New" panose="020703090202050204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args</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Rectangle</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r </a:t>
            </a:r>
            <a:r>
              <a:rPr kumimoji="0" lang="ro-RO" sz="2000" b="1" i="0" u="none" strike="noStrike" kern="1200" cap="none" spc="0" normalizeH="0" baseline="0" noProof="0" dirty="0">
                <a:ln>
                  <a:noFill/>
                </a:ln>
                <a:solidFill>
                  <a:srgbClr val="67CDCC"/>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99CD"/>
                </a:solidFill>
                <a:effectLst/>
                <a:uLnTx/>
                <a:uFillTx/>
                <a:latin typeface="Courier New" panose="020703090202050204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Rectangle</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r.length</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a:ln>
                  <a:noFill/>
                </a:ln>
                <a:solidFill>
                  <a:srgbClr val="67CDCC"/>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a:ln>
                  <a:noFill/>
                </a:ln>
                <a:solidFill>
                  <a:srgbClr val="F08D49"/>
                </a:solidFill>
                <a:effectLst/>
                <a:uLnTx/>
                <a:uFillTx/>
                <a:latin typeface="Courier New" panose="02070309020205020404" pitchFamily="49" charset="0"/>
                <a:ea typeface="+mn-ea"/>
                <a:cs typeface="+mn-cs"/>
              </a:rPr>
              <a:t>4.5</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r.width</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a:ln>
                  <a:noFill/>
                </a:ln>
                <a:solidFill>
                  <a:srgbClr val="67CDCC"/>
                </a:solidFill>
                <a:effectLst/>
                <a:uLnTx/>
                <a:uFillTx/>
                <a:latin typeface="Courier New" panose="020703090202050204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000" b="1" i="0" u="none" strike="noStrike" kern="1200" cap="none" spc="0" normalizeH="0" baseline="0" noProof="0" dirty="0">
                <a:ln>
                  <a:noFill/>
                </a:ln>
                <a:solidFill>
                  <a:srgbClr val="F08D49"/>
                </a:solidFill>
                <a:effectLst/>
                <a:uLnTx/>
                <a:uFillTx/>
                <a:latin typeface="Courier New" panose="02070309020205020404" pitchFamily="49" charset="0"/>
                <a:ea typeface="+mn-ea"/>
                <a:cs typeface="+mn-cs"/>
              </a:rPr>
              <a:t>3.5</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r.</a:t>
            </a:r>
            <a:r>
              <a:rPr kumimoji="0" lang="ro-RO"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Display</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Console.</a:t>
            </a:r>
            <a:r>
              <a:rPr kumimoji="0" lang="ro-RO"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ReadLine</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000" b="1" noProof="0" dirty="0">
                <a:solidFill>
                  <a:srgbClr val="CCCCCC"/>
                </a:solidFill>
                <a:latin typeface="Courier New" panose="02070309020205020404" pitchFamily="49" charset="0"/>
              </a:rPr>
              <a:t>  </a:t>
            </a: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endParaRPr kumimoji="0" lang="ro-RO" sz="2000" b="1" i="0" u="none" strike="noStrike" kern="1200" cap="none" spc="0" normalizeH="0" baseline="0" noProof="0" dirty="0">
              <a:ln>
                <a:noFill/>
              </a:ln>
              <a:solidFill>
                <a:srgbClr val="00B0F0"/>
              </a:solidFill>
              <a:effectLst/>
              <a:uLnTx/>
              <a:uFillTx/>
              <a:latin typeface="Arial"/>
              <a:ea typeface="+mn-ea"/>
              <a:cs typeface="+mn-cs"/>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985752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9B835-157C-F0DA-FD3F-D73E46831B0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214D7E9-44B0-08E9-D468-58B3324B1CCC}"/>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DCF4208E-84FC-4A1D-EF5C-6A4D56BC6A4F}"/>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Când codul de mai sus este compilat și executat, acesta produce următorul rezultat</a:t>
            </a:r>
          </a:p>
          <a:p>
            <a:pPr marL="34290" indent="0" algn="just">
              <a:buNone/>
            </a:pPr>
            <a:r>
              <a:rPr lang="en-US" sz="2800" dirty="0">
                <a:solidFill>
                  <a:srgbClr val="00B0F0"/>
                </a:solidFill>
              </a:rPr>
              <a:t>Length: 4.5</a:t>
            </a:r>
          </a:p>
          <a:p>
            <a:pPr marL="34290" indent="0" algn="just">
              <a:buNone/>
            </a:pPr>
            <a:r>
              <a:rPr lang="en-US" sz="2800" dirty="0">
                <a:solidFill>
                  <a:srgbClr val="00B0F0"/>
                </a:solidFill>
              </a:rPr>
              <a:t>Width: 3.5</a:t>
            </a:r>
          </a:p>
          <a:p>
            <a:pPr marL="34290" indent="0" algn="just">
              <a:buNone/>
            </a:pPr>
            <a:r>
              <a:rPr lang="en-US" sz="2800" dirty="0">
                <a:solidFill>
                  <a:srgbClr val="00B0F0"/>
                </a:solidFill>
              </a:rPr>
              <a:t>Area: 15.75</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În exemplul precedent, observați că funcția membru </a:t>
            </a:r>
            <a:r>
              <a:rPr lang="ro-RO" sz="2800" noProof="0" dirty="0" err="1">
                <a:solidFill>
                  <a:srgbClr val="00B0F0"/>
                </a:solidFill>
              </a:rPr>
              <a:t>GetArea</a:t>
            </a:r>
            <a:r>
              <a:rPr lang="ro-RO" sz="2800" noProof="0" dirty="0">
                <a:solidFill>
                  <a:srgbClr val="00B0F0"/>
                </a:solidFill>
              </a:rPr>
              <a:t>() nu este declarată cu </a:t>
            </a:r>
            <a:r>
              <a:rPr lang="ro-RO" sz="2800" noProof="0" dirty="0">
                <a:solidFill>
                  <a:schemeClr val="tx2"/>
                </a:solidFill>
              </a:rPr>
              <a:t>niciun specificator de acces</a:t>
            </a:r>
            <a:r>
              <a:rPr lang="ro-RO" sz="2800" noProof="0" dirty="0">
                <a:solidFill>
                  <a:srgbClr val="00B0F0"/>
                </a:solidFill>
              </a:rPr>
              <a:t>. Atunci, care ar fi specificatorul de acces implicit al unui membru al clasei dacă nu menționăm niciunul? </a:t>
            </a:r>
            <a:r>
              <a:rPr lang="ro-RO" sz="2800" noProof="0" dirty="0">
                <a:solidFill>
                  <a:schemeClr val="tx2"/>
                </a:solidFill>
              </a:rPr>
              <a:t>Este privat.</a:t>
            </a:r>
          </a:p>
        </p:txBody>
      </p:sp>
    </p:spTree>
    <p:extLst>
      <p:ext uri="{BB962C8B-B14F-4D97-AF65-F5344CB8AC3E}">
        <p14:creationId xmlns:p14="http://schemas.microsoft.com/office/powerpoint/2010/main" val="25269878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679BA-0D1D-4FF1-96DD-4F5A38DE07D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D050445-2081-0DE0-1C05-701E71CDE6DC}"/>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0E6E7A35-A159-E32B-84E0-81B89FBBD779}"/>
              </a:ext>
            </a:extLst>
          </p:cNvPr>
          <p:cNvSpPr>
            <a:spLocks noGrp="1"/>
          </p:cNvSpPr>
          <p:nvPr>
            <p:ph idx="1"/>
          </p:nvPr>
        </p:nvSpPr>
        <p:spPr>
          <a:xfrm>
            <a:off x="463925" y="1281952"/>
            <a:ext cx="8249770" cy="5074024"/>
          </a:xfrm>
        </p:spPr>
        <p:txBody>
          <a:bodyPr>
            <a:noAutofit/>
          </a:bodyPr>
          <a:lstStyle/>
          <a:p>
            <a:pPr marL="34290" indent="0" algn="just">
              <a:buNone/>
            </a:pPr>
            <a:r>
              <a:rPr lang="ro-RO" sz="2800" dirty="0">
                <a:solidFill>
                  <a:srgbClr val="00B0F0"/>
                </a:solidFill>
              </a:rPr>
              <a:t>Specificator de acces </a:t>
            </a:r>
            <a:r>
              <a:rPr lang="ro-RO" sz="2800" dirty="0" err="1">
                <a:solidFill>
                  <a:schemeClr val="tx2"/>
                </a:solidFill>
              </a:rPr>
              <a:t>prote</a:t>
            </a:r>
            <a:r>
              <a:rPr lang="en-US" sz="2800" dirty="0" err="1">
                <a:solidFill>
                  <a:schemeClr val="tx2"/>
                </a:solidFill>
              </a:rPr>
              <a:t>cted</a:t>
            </a:r>
            <a:r>
              <a:rPr lang="en-US" sz="2800" dirty="0">
                <a:solidFill>
                  <a:schemeClr val="tx2"/>
                </a:solidFill>
              </a:rPr>
              <a:t> </a:t>
            </a:r>
            <a:r>
              <a:rPr lang="ro-RO" sz="2800" dirty="0">
                <a:solidFill>
                  <a:schemeClr val="tx2"/>
                </a:solidFill>
              </a:rPr>
              <a:t>intern</a:t>
            </a:r>
            <a:r>
              <a:rPr lang="en-US" sz="2800" dirty="0">
                <a:solidFill>
                  <a:schemeClr val="tx2"/>
                </a:solidFill>
              </a:rPr>
              <a:t>al</a:t>
            </a:r>
          </a:p>
          <a:p>
            <a:pPr marL="34290" indent="0" algn="just">
              <a:buNone/>
            </a:pPr>
            <a:r>
              <a:rPr lang="ro-RO" sz="2800" dirty="0">
                <a:solidFill>
                  <a:srgbClr val="00B0F0"/>
                </a:solidFill>
              </a:rPr>
              <a:t>Specificatorul de acces </a:t>
            </a:r>
            <a:r>
              <a:rPr lang="ro-RO" sz="2800" dirty="0" err="1">
                <a:solidFill>
                  <a:schemeClr val="tx2"/>
                </a:solidFill>
              </a:rPr>
              <a:t>prote</a:t>
            </a:r>
            <a:r>
              <a:rPr lang="en-US" sz="2800" dirty="0" err="1">
                <a:solidFill>
                  <a:schemeClr val="tx2"/>
                </a:solidFill>
              </a:rPr>
              <a:t>cted</a:t>
            </a:r>
            <a:r>
              <a:rPr lang="en-US" sz="2800" dirty="0">
                <a:solidFill>
                  <a:schemeClr val="tx2"/>
                </a:solidFill>
              </a:rPr>
              <a:t> </a:t>
            </a:r>
            <a:r>
              <a:rPr lang="ro-RO" sz="2800" dirty="0">
                <a:solidFill>
                  <a:schemeClr val="tx2"/>
                </a:solidFill>
              </a:rPr>
              <a:t>intern</a:t>
            </a:r>
            <a:r>
              <a:rPr lang="en-US" sz="2800" dirty="0">
                <a:solidFill>
                  <a:schemeClr val="tx2"/>
                </a:solidFill>
              </a:rPr>
              <a:t>al</a:t>
            </a:r>
            <a:r>
              <a:rPr lang="ro-RO" sz="2800" dirty="0">
                <a:solidFill>
                  <a:schemeClr val="tx2"/>
                </a:solidFill>
              </a:rPr>
              <a:t> </a:t>
            </a:r>
            <a:r>
              <a:rPr lang="ro-RO" sz="2800" dirty="0">
                <a:solidFill>
                  <a:srgbClr val="00B0F0"/>
                </a:solidFill>
              </a:rPr>
              <a:t>permite unei clase să își ascundă variabilele și funcțiile membre de alte obiecte și funcții ale clasei, cu excepția unei clase </a:t>
            </a:r>
            <a:r>
              <a:rPr lang="en-US" sz="2800" dirty="0">
                <a:solidFill>
                  <a:srgbClr val="00B0F0"/>
                </a:solidFill>
              </a:rPr>
              <a:t>derivate</a:t>
            </a:r>
            <a:r>
              <a:rPr lang="ro-RO" sz="2800" dirty="0">
                <a:solidFill>
                  <a:srgbClr val="00B0F0"/>
                </a:solidFill>
              </a:rPr>
              <a:t> din cadrul aceleiași aplicații. Acest lucru este utilizat și la implementarea moștenirii.</a:t>
            </a:r>
            <a:endParaRPr lang="ro-RO" sz="2800" noProof="0" dirty="0">
              <a:solidFill>
                <a:srgbClr val="00B0F0"/>
              </a:solidFill>
            </a:endParaRPr>
          </a:p>
        </p:txBody>
      </p:sp>
    </p:spTree>
    <p:extLst>
      <p:ext uri="{BB962C8B-B14F-4D97-AF65-F5344CB8AC3E}">
        <p14:creationId xmlns:p14="http://schemas.microsoft.com/office/powerpoint/2010/main" val="1883318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38EA4-482D-168A-BA6C-7127CBFA905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8A8913-67DD-ED4F-700C-C3A3E500B1A0}"/>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FC5BC1C0-F419-DB82-0F10-CE71F178DFFE}"/>
              </a:ext>
            </a:extLst>
          </p:cNvPr>
          <p:cNvSpPr>
            <a:spLocks noGrp="1"/>
          </p:cNvSpPr>
          <p:nvPr>
            <p:ph idx="1"/>
          </p:nvPr>
        </p:nvSpPr>
        <p:spPr>
          <a:xfrm>
            <a:off x="463925" y="1281952"/>
            <a:ext cx="8249770" cy="5074024"/>
          </a:xfrm>
        </p:spPr>
        <p:txBody>
          <a:bodyPr>
            <a:noAutofit/>
          </a:bodyPr>
          <a:lstStyle/>
          <a:p>
            <a:pPr marL="34290" indent="0" algn="just">
              <a:buNone/>
            </a:pPr>
            <a:r>
              <a:rPr lang="en-US" sz="2000" b="1" i="0" dirty="0">
                <a:solidFill>
                  <a:srgbClr val="CC99CD"/>
                </a:solidFill>
                <a:effectLst/>
                <a:latin typeface="Courier New" panose="02070309020205020404" pitchFamily="49" charset="0"/>
              </a:rPr>
              <a:t>using</a:t>
            </a:r>
            <a:r>
              <a:rPr lang="en-US" sz="2000" b="1" i="0" dirty="0">
                <a:solidFill>
                  <a:srgbClr val="CCCCCC"/>
                </a:solidFill>
                <a:effectLst/>
                <a:latin typeface="Courier New" panose="02070309020205020404" pitchFamily="49" charset="0"/>
              </a:rPr>
              <a:t> System; </a:t>
            </a:r>
          </a:p>
          <a:p>
            <a:pPr marL="34290" indent="0" algn="just">
              <a:buNone/>
            </a:pPr>
            <a:r>
              <a:rPr lang="en-US" sz="2000" b="1" i="0" dirty="0">
                <a:solidFill>
                  <a:srgbClr val="CC99CD"/>
                </a:solidFill>
                <a:effectLst/>
                <a:latin typeface="Courier New" panose="02070309020205020404" pitchFamily="49" charset="0"/>
              </a:rPr>
              <a:t>namespace</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RectangleApplication</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class</a:t>
            </a:r>
            <a:r>
              <a:rPr lang="en-US" sz="2000" b="1" i="0" dirty="0">
                <a:solidFill>
                  <a:srgbClr val="CCCCCC"/>
                </a:solidFill>
                <a:effectLst/>
                <a:latin typeface="Courier New" panose="02070309020205020404" pitchFamily="49" charset="0"/>
              </a:rPr>
              <a:t> Rectangle { </a:t>
            </a:r>
            <a:endParaRPr lang="en-US" sz="2000" b="1" i="0" dirty="0">
              <a:solidFill>
                <a:srgbClr val="999999"/>
              </a:solidFill>
              <a:effectLst/>
              <a:latin typeface="Courier New" panose="02070309020205020404" pitchFamily="49" charset="0"/>
            </a:endParaRPr>
          </a:p>
          <a:p>
            <a:pPr marL="34290" indent="0" algn="just">
              <a:buNone/>
            </a:pPr>
            <a:r>
              <a:rPr lang="en-US" sz="2000" b="1" dirty="0">
                <a:solidFill>
                  <a:srgbClr val="999999"/>
                </a:solidFill>
                <a:latin typeface="Courier New" panose="02070309020205020404" pitchFamily="49" charset="0"/>
              </a:rPr>
              <a:t>    </a:t>
            </a:r>
            <a:r>
              <a:rPr lang="en-US" sz="2000" b="1" i="0" dirty="0">
                <a:solidFill>
                  <a:srgbClr val="CC99CD"/>
                </a:solidFill>
                <a:effectLst/>
                <a:latin typeface="Courier New" panose="02070309020205020404" pitchFamily="49" charset="0"/>
              </a:rPr>
              <a:t>protected</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internal</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double</a:t>
            </a:r>
            <a:r>
              <a:rPr lang="en-US" sz="2000" b="1" i="0" dirty="0">
                <a:solidFill>
                  <a:srgbClr val="CCCCCC"/>
                </a:solidFill>
                <a:effectLst/>
                <a:latin typeface="Courier New" panose="02070309020205020404" pitchFamily="49" charset="0"/>
              </a:rPr>
              <a:t> length;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protected</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internal</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double</a:t>
            </a:r>
            <a:r>
              <a:rPr lang="en-US" sz="2000" b="1" i="0" dirty="0">
                <a:solidFill>
                  <a:srgbClr val="CCCCCC"/>
                </a:solidFill>
                <a:effectLst/>
                <a:latin typeface="Courier New" panose="02070309020205020404" pitchFamily="49" charset="0"/>
              </a:rPr>
              <a:t> width;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double</a:t>
            </a:r>
            <a:r>
              <a:rPr lang="en-US" sz="2000" b="1" i="0" dirty="0">
                <a:solidFill>
                  <a:srgbClr val="CCCCCC"/>
                </a:solidFill>
                <a:effectLst/>
                <a:latin typeface="Courier New" panose="02070309020205020404" pitchFamily="49" charset="0"/>
              </a:rPr>
              <a:t> </a:t>
            </a:r>
            <a:r>
              <a:rPr lang="en-US" sz="2000" b="1" i="0" dirty="0" err="1">
                <a:solidFill>
                  <a:srgbClr val="F08D49"/>
                </a:solidFill>
                <a:effectLst/>
                <a:latin typeface="Courier New" panose="02070309020205020404" pitchFamily="49" charset="0"/>
              </a:rPr>
              <a:t>GetArea</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return</a:t>
            </a:r>
            <a:r>
              <a:rPr lang="en-US" sz="2000" b="1" i="0" dirty="0">
                <a:solidFill>
                  <a:srgbClr val="CCCCCC"/>
                </a:solidFill>
                <a:effectLst/>
                <a:latin typeface="Courier New" panose="02070309020205020404" pitchFamily="49" charset="0"/>
              </a:rPr>
              <a:t> length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width;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public</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void</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Display</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Console.</a:t>
            </a:r>
            <a:r>
              <a:rPr lang="en-US" sz="2000" b="1" i="0" dirty="0" err="1">
                <a:solidFill>
                  <a:srgbClr val="F08D49"/>
                </a:solidFill>
                <a:effectLst/>
                <a:latin typeface="Courier New" panose="02070309020205020404" pitchFamily="49" charset="0"/>
              </a:rPr>
              <a:t>WriteLine</a:t>
            </a:r>
            <a:r>
              <a:rPr lang="en-US" sz="2000" b="1" i="0" dirty="0">
                <a:solidFill>
                  <a:srgbClr val="CCCCCC"/>
                </a:solidFill>
                <a:effectLst/>
                <a:latin typeface="Courier New" panose="02070309020205020404" pitchFamily="49" charset="0"/>
              </a:rPr>
              <a:t>(</a:t>
            </a:r>
            <a:r>
              <a:rPr lang="en-US" sz="2000" b="1" i="0" dirty="0">
                <a:solidFill>
                  <a:srgbClr val="7EC699"/>
                </a:solidFill>
                <a:effectLst/>
                <a:latin typeface="Courier New" panose="02070309020205020404" pitchFamily="49" charset="0"/>
              </a:rPr>
              <a:t>"Length: {0}"</a:t>
            </a:r>
            <a:r>
              <a:rPr lang="en-US" sz="2000" b="1" i="0" dirty="0">
                <a:solidFill>
                  <a:srgbClr val="CCCCCC"/>
                </a:solidFill>
                <a:effectLst/>
                <a:latin typeface="Courier New" panose="02070309020205020404" pitchFamily="49" charset="0"/>
              </a:rPr>
              <a:t>, length);</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Console.</a:t>
            </a:r>
            <a:r>
              <a:rPr lang="en-US" sz="2000" b="1" i="0" dirty="0" err="1">
                <a:solidFill>
                  <a:srgbClr val="F08D49"/>
                </a:solidFill>
                <a:effectLst/>
                <a:latin typeface="Courier New" panose="02070309020205020404" pitchFamily="49" charset="0"/>
              </a:rPr>
              <a:t>WriteLine</a:t>
            </a:r>
            <a:r>
              <a:rPr lang="en-US" sz="2000" b="1" i="0" dirty="0">
                <a:solidFill>
                  <a:srgbClr val="CCCCCC"/>
                </a:solidFill>
                <a:effectLst/>
                <a:latin typeface="Courier New" panose="02070309020205020404" pitchFamily="49" charset="0"/>
              </a:rPr>
              <a:t>(</a:t>
            </a:r>
            <a:r>
              <a:rPr lang="en-US" sz="2000" b="1" i="0" dirty="0">
                <a:solidFill>
                  <a:srgbClr val="7EC699"/>
                </a:solidFill>
                <a:effectLst/>
                <a:latin typeface="Courier New" panose="02070309020205020404" pitchFamily="49" charset="0"/>
              </a:rPr>
              <a:t>"Width: {0}"</a:t>
            </a:r>
            <a:r>
              <a:rPr lang="en-US" sz="2000" b="1" i="0" dirty="0">
                <a:solidFill>
                  <a:srgbClr val="CCCCCC"/>
                </a:solidFill>
                <a:effectLst/>
                <a:latin typeface="Courier New" panose="02070309020205020404" pitchFamily="49" charset="0"/>
              </a:rPr>
              <a:t>, width);</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Console.</a:t>
            </a:r>
            <a:r>
              <a:rPr lang="en-US" sz="2000" b="1" i="0" dirty="0" err="1">
                <a:solidFill>
                  <a:srgbClr val="F08D49"/>
                </a:solidFill>
                <a:effectLst/>
                <a:latin typeface="Courier New" panose="02070309020205020404" pitchFamily="49" charset="0"/>
              </a:rPr>
              <a:t>WriteLine</a:t>
            </a:r>
            <a:r>
              <a:rPr lang="en-US" sz="2000" b="1" i="0" dirty="0">
                <a:solidFill>
                  <a:srgbClr val="CCCCCC"/>
                </a:solidFill>
                <a:effectLst/>
                <a:latin typeface="Courier New" panose="02070309020205020404" pitchFamily="49" charset="0"/>
              </a:rPr>
              <a:t>(</a:t>
            </a:r>
            <a:r>
              <a:rPr lang="en-US" sz="2000" b="1" i="0" dirty="0">
                <a:solidFill>
                  <a:srgbClr val="7EC699"/>
                </a:solidFill>
                <a:effectLst/>
                <a:latin typeface="Courier New" panose="02070309020205020404" pitchFamily="49" charset="0"/>
              </a:rPr>
              <a:t>"Area: {0}"</a:t>
            </a:r>
            <a:r>
              <a:rPr lang="en-US" sz="2000" b="1" i="0" dirty="0">
                <a:solidFill>
                  <a:srgbClr val="CCCCCC"/>
                </a:solidFill>
                <a:effectLst/>
                <a:latin typeface="Courier New" panose="02070309020205020404" pitchFamily="49" charset="0"/>
              </a:rPr>
              <a:t>, </a:t>
            </a:r>
            <a:r>
              <a:rPr lang="en-US" sz="2000" b="1" i="0" dirty="0" err="1">
                <a:solidFill>
                  <a:srgbClr val="F08D49"/>
                </a:solidFill>
                <a:effectLst/>
                <a:latin typeface="Courier New" panose="02070309020205020404" pitchFamily="49" charset="0"/>
              </a:rPr>
              <a:t>GetArea</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a:t>
            </a:r>
            <a:r>
              <a:rPr lang="en-US" sz="2000" b="1" i="0" dirty="0">
                <a:solidFill>
                  <a:srgbClr val="999999"/>
                </a:solidFill>
                <a:effectLst/>
                <a:latin typeface="Courier New" panose="02070309020205020404" pitchFamily="49" charset="0"/>
              </a:rPr>
              <a:t>// end class Rectangle</a:t>
            </a:r>
            <a:endParaRPr lang="ro-RO" sz="2000" b="1" noProof="0" dirty="0">
              <a:solidFill>
                <a:srgbClr val="00B0F0"/>
              </a:solidFill>
            </a:endParaRPr>
          </a:p>
        </p:txBody>
      </p:sp>
    </p:spTree>
    <p:extLst>
      <p:ext uri="{BB962C8B-B14F-4D97-AF65-F5344CB8AC3E}">
        <p14:creationId xmlns:p14="http://schemas.microsoft.com/office/powerpoint/2010/main" val="556101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CFE11-B918-9083-B2E7-97E3DECD5C0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C376A90-EAA2-2AFB-817A-4271F3457803}"/>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57FB8079-047E-AB47-32BD-B7DB7B96346D}"/>
              </a:ext>
            </a:extLst>
          </p:cNvPr>
          <p:cNvSpPr>
            <a:spLocks noGrp="1"/>
          </p:cNvSpPr>
          <p:nvPr>
            <p:ph idx="1"/>
          </p:nvPr>
        </p:nvSpPr>
        <p:spPr>
          <a:xfrm>
            <a:off x="463925" y="1281952"/>
            <a:ext cx="8249770" cy="5074024"/>
          </a:xfrm>
        </p:spPr>
        <p:txBody>
          <a:bodyPr>
            <a:noAutofit/>
          </a:bodyPr>
          <a:lstStyle/>
          <a:p>
            <a:pPr marL="34290" indent="0" algn="just">
              <a:buNone/>
            </a:pPr>
            <a:r>
              <a:rPr kumimoji="0" lang="en-US"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  class</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ExecuteRectangle</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 </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static</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void</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F08D49"/>
                </a:solidFill>
                <a:effectLst/>
                <a:uLnTx/>
                <a:uFillTx/>
                <a:latin typeface="Courier New" panose="02070309020205020404" pitchFamily="49" charset="0"/>
                <a:ea typeface="+mn-ea"/>
                <a:cs typeface="+mn-cs"/>
              </a:rPr>
              <a:t>Main</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en-US"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string</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args</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 </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Rectangle r </a:t>
            </a:r>
            <a:r>
              <a:rPr kumimoji="0" lang="en-US" sz="2000" b="1" i="0" u="none" strike="noStrike" kern="1200" cap="none" spc="0" normalizeH="0" baseline="0" noProof="0" dirty="0">
                <a:ln>
                  <a:noFill/>
                </a:ln>
                <a:solidFill>
                  <a:srgbClr val="67CDCC"/>
                </a:solidFill>
                <a:effectLst/>
                <a:uLnTx/>
                <a:uFillTx/>
                <a:latin typeface="Courier New" panose="02070309020205020404" pitchFamily="49" charset="0"/>
                <a:ea typeface="+mn-ea"/>
                <a:cs typeface="+mn-cs"/>
              </a:rPr>
              <a:t>=</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new</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Rectangle(); </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r.length</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67CDCC"/>
                </a:solidFill>
                <a:effectLst/>
                <a:uLnTx/>
                <a:uFillTx/>
                <a:latin typeface="Courier New" panose="02070309020205020404" pitchFamily="49" charset="0"/>
                <a:ea typeface="+mn-ea"/>
                <a:cs typeface="+mn-cs"/>
              </a:rPr>
              <a:t>=</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F08D49"/>
                </a:solidFill>
                <a:effectLst/>
                <a:uLnTx/>
                <a:uFillTx/>
                <a:latin typeface="Courier New" panose="02070309020205020404" pitchFamily="49" charset="0"/>
                <a:ea typeface="+mn-ea"/>
                <a:cs typeface="+mn-cs"/>
              </a:rPr>
              <a:t>4.5</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r.width</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67CDCC"/>
                </a:solidFill>
                <a:effectLst/>
                <a:uLnTx/>
                <a:uFillTx/>
                <a:latin typeface="Courier New" panose="02070309020205020404" pitchFamily="49" charset="0"/>
                <a:ea typeface="+mn-ea"/>
                <a:cs typeface="+mn-cs"/>
              </a:rPr>
              <a:t>=</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F08D49"/>
                </a:solidFill>
                <a:effectLst/>
                <a:uLnTx/>
                <a:uFillTx/>
                <a:latin typeface="Courier New" panose="02070309020205020404" pitchFamily="49" charset="0"/>
                <a:ea typeface="+mn-ea"/>
                <a:cs typeface="+mn-cs"/>
              </a:rPr>
              <a:t>3.5</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r.</a:t>
            </a:r>
            <a:r>
              <a:rPr kumimoji="0" lang="en-US"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Display</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Console.</a:t>
            </a:r>
            <a:r>
              <a:rPr kumimoji="0" lang="en-US"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ReadLine</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indent="0" algn="just">
              <a:buNone/>
            </a:pP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endParaRPr lang="ro-RO" sz="2800" noProof="0" dirty="0">
              <a:solidFill>
                <a:srgbClr val="00B0F0"/>
              </a:solidFill>
            </a:endParaRPr>
          </a:p>
        </p:txBody>
      </p:sp>
    </p:spTree>
    <p:extLst>
      <p:ext uri="{BB962C8B-B14F-4D97-AF65-F5344CB8AC3E}">
        <p14:creationId xmlns:p14="http://schemas.microsoft.com/office/powerpoint/2010/main" val="35878598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171CB-1DA7-0EC4-FFDC-477A7CF9331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63DB851-3661-A846-B672-1D4FEF040406}"/>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9D157B92-B26B-41EB-3EA0-170603397548}"/>
              </a:ext>
            </a:extLst>
          </p:cNvPr>
          <p:cNvSpPr>
            <a:spLocks noGrp="1"/>
          </p:cNvSpPr>
          <p:nvPr>
            <p:ph idx="1"/>
          </p:nvPr>
        </p:nvSpPr>
        <p:spPr>
          <a:xfrm>
            <a:off x="463925" y="1281952"/>
            <a:ext cx="8249770" cy="5074024"/>
          </a:xfrm>
        </p:spPr>
        <p:txBody>
          <a:bodyPr>
            <a:noAutofit/>
          </a:bodyPr>
          <a:lstStyle/>
          <a:p>
            <a:pPr marL="34290" indent="0" algn="just">
              <a:buNone/>
            </a:pPr>
            <a:r>
              <a:rPr lang="en-US" sz="2800" dirty="0" err="1">
                <a:solidFill>
                  <a:srgbClr val="00B0F0"/>
                </a:solidFill>
              </a:rPr>
              <a:t>Specificatorul</a:t>
            </a:r>
            <a:r>
              <a:rPr lang="en-US" sz="2800" dirty="0">
                <a:solidFill>
                  <a:srgbClr val="00B0F0"/>
                </a:solidFill>
              </a:rPr>
              <a:t> de </a:t>
            </a:r>
            <a:r>
              <a:rPr lang="en-US" sz="2800" dirty="0" err="1">
                <a:solidFill>
                  <a:srgbClr val="00B0F0"/>
                </a:solidFill>
              </a:rPr>
              <a:t>acces</a:t>
            </a:r>
            <a:r>
              <a:rPr lang="en-US" sz="2800" dirty="0">
                <a:solidFill>
                  <a:srgbClr val="00B0F0"/>
                </a:solidFill>
              </a:rPr>
              <a:t> </a:t>
            </a:r>
            <a:r>
              <a:rPr lang="ro-RO" sz="2800" dirty="0">
                <a:solidFill>
                  <a:schemeClr val="tx2"/>
                </a:solidFill>
              </a:rPr>
              <a:t>private </a:t>
            </a:r>
            <a:r>
              <a:rPr lang="ro-RO" sz="2800" dirty="0" err="1">
                <a:solidFill>
                  <a:schemeClr val="tx2"/>
                </a:solidFill>
              </a:rPr>
              <a:t>protected</a:t>
            </a:r>
            <a:r>
              <a:rPr lang="ro-RO" sz="2800" dirty="0">
                <a:solidFill>
                  <a:srgbClr val="00B0F0"/>
                </a:solidFill>
              </a:rPr>
              <a:t> </a:t>
            </a:r>
            <a:endParaRPr lang="en-US" sz="2800" dirty="0">
              <a:solidFill>
                <a:srgbClr val="00B0F0"/>
              </a:solidFill>
            </a:endParaRPr>
          </a:p>
          <a:p>
            <a:pPr marL="34290" indent="0" algn="just">
              <a:buNone/>
            </a:pPr>
            <a:r>
              <a:rPr lang="ro-RO" sz="2800" dirty="0">
                <a:solidFill>
                  <a:srgbClr val="00B0F0"/>
                </a:solidFill>
              </a:rPr>
              <a:t>Membrul este accesibil numai în cadrul aceleiași clase și al claselor derivate din aceeași asamblare.</a:t>
            </a:r>
            <a:endParaRPr lang="ro-RO" sz="2800" noProof="0" dirty="0">
              <a:solidFill>
                <a:srgbClr val="00B0F0"/>
              </a:solidFill>
            </a:endParaRPr>
          </a:p>
        </p:txBody>
      </p:sp>
    </p:spTree>
    <p:extLst>
      <p:ext uri="{BB962C8B-B14F-4D97-AF65-F5344CB8AC3E}">
        <p14:creationId xmlns:p14="http://schemas.microsoft.com/office/powerpoint/2010/main" val="29002711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3CAA5-E1F5-895B-1D87-CAD89F6D010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8826443-CDFD-333C-C0CC-18747BD22DCA}"/>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288F4997-48D9-59AC-A721-C4B6A7E1B7E2}"/>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Încapsulare</a:t>
            </a:r>
            <a:r>
              <a:rPr lang="en-US" sz="2800" noProof="0" dirty="0">
                <a:solidFill>
                  <a:srgbClr val="00B0F0"/>
                </a:solidFill>
              </a:rPr>
              <a:t>a</a:t>
            </a:r>
            <a:r>
              <a:rPr lang="ro-RO" sz="2800" noProof="0" dirty="0">
                <a:solidFill>
                  <a:srgbClr val="00B0F0"/>
                </a:solidFill>
              </a:rPr>
              <a:t> folosind câmpuri și metode </a:t>
            </a:r>
            <a:r>
              <a:rPr lang="ro-RO" sz="2800" noProof="0" dirty="0">
                <a:solidFill>
                  <a:schemeClr val="tx2"/>
                </a:solidFill>
              </a:rPr>
              <a:t>private</a:t>
            </a:r>
          </a:p>
          <a:p>
            <a:pPr marL="34290" indent="0" algn="just">
              <a:buNone/>
            </a:pPr>
            <a:r>
              <a:rPr lang="ro-RO" sz="2800" noProof="0" dirty="0">
                <a:solidFill>
                  <a:srgbClr val="00B0F0"/>
                </a:solidFill>
              </a:rPr>
              <a:t>Puteți implementa încapsularea utilizând câmpuri și metode private, care restricționează accesul direct la câmpuri și pot controla datele prin utilizarea proprietăților sau metodelor publice.</a:t>
            </a:r>
          </a:p>
        </p:txBody>
      </p:sp>
    </p:spTree>
    <p:extLst>
      <p:ext uri="{BB962C8B-B14F-4D97-AF65-F5344CB8AC3E}">
        <p14:creationId xmlns:p14="http://schemas.microsoft.com/office/powerpoint/2010/main" val="32825209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6154E-75FC-D817-E21F-639689BF424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E8A3892-3043-7232-9714-684BBFEB1E12}"/>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023E81F9-E4D8-CA35-CCC7-2B7183C3486B}"/>
              </a:ext>
            </a:extLst>
          </p:cNvPr>
          <p:cNvSpPr>
            <a:spLocks noGrp="1"/>
          </p:cNvSpPr>
          <p:nvPr>
            <p:ph idx="1"/>
          </p:nvPr>
        </p:nvSpPr>
        <p:spPr>
          <a:xfrm>
            <a:off x="463925" y="1281952"/>
            <a:ext cx="8249770" cy="5074024"/>
          </a:xfrm>
        </p:spPr>
        <p:txBody>
          <a:bodyPr>
            <a:noAutofit/>
          </a:bodyPr>
          <a:lstStyle/>
          <a:p>
            <a:pPr marL="34290" indent="0" algn="just">
              <a:buNone/>
            </a:pPr>
            <a:r>
              <a:rPr lang="en-US" sz="2000" b="1" i="0" dirty="0">
                <a:solidFill>
                  <a:srgbClr val="CC99CD"/>
                </a:solidFill>
                <a:effectLst/>
                <a:latin typeface="Courier New" panose="02070309020205020404" pitchFamily="49" charset="0"/>
              </a:rPr>
              <a:t>using</a:t>
            </a:r>
            <a:r>
              <a:rPr lang="en-US" sz="2000" b="1" i="0" dirty="0">
                <a:solidFill>
                  <a:srgbClr val="CCCCCC"/>
                </a:solidFill>
                <a:effectLst/>
                <a:latin typeface="Courier New" panose="02070309020205020404" pitchFamily="49" charset="0"/>
              </a:rPr>
              <a:t> System; </a:t>
            </a:r>
          </a:p>
          <a:p>
            <a:pPr marL="34290" indent="0" algn="just">
              <a:buNone/>
            </a:pPr>
            <a:r>
              <a:rPr lang="en-US" sz="2000" b="1" i="0" dirty="0">
                <a:solidFill>
                  <a:srgbClr val="CC99CD"/>
                </a:solidFill>
                <a:effectLst/>
                <a:latin typeface="Courier New" panose="02070309020205020404" pitchFamily="49" charset="0"/>
              </a:rPr>
              <a:t>class</a:t>
            </a:r>
            <a:r>
              <a:rPr lang="en-US" sz="2000" b="1" i="0" dirty="0">
                <a:solidFill>
                  <a:srgbClr val="CCCCCC"/>
                </a:solidFill>
                <a:effectLst/>
                <a:latin typeface="Courier New" panose="02070309020205020404" pitchFamily="49" charset="0"/>
              </a:rPr>
              <a:t> Person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private</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string</a:t>
            </a:r>
            <a:r>
              <a:rPr lang="en-US" sz="2000" b="1" i="0" dirty="0">
                <a:solidFill>
                  <a:srgbClr val="CCCCCC"/>
                </a:solidFill>
                <a:effectLst/>
                <a:latin typeface="Courier New" panose="02070309020205020404" pitchFamily="49" charset="0"/>
              </a:rPr>
              <a:t> name; </a:t>
            </a:r>
            <a:endParaRPr lang="en-US" sz="2000" b="1" i="0" dirty="0">
              <a:solidFill>
                <a:srgbClr val="999999"/>
              </a:solidFill>
              <a:effectLst/>
              <a:latin typeface="Courier New" panose="02070309020205020404" pitchFamily="49" charset="0"/>
            </a:endParaRPr>
          </a:p>
          <a:p>
            <a:pPr marL="34290" indent="0" algn="just">
              <a:buNone/>
            </a:pPr>
            <a:r>
              <a:rPr lang="en-US" sz="2000" b="1" dirty="0">
                <a:solidFill>
                  <a:srgbClr val="999999"/>
                </a:solidFill>
                <a:latin typeface="Courier New" panose="02070309020205020404" pitchFamily="49" charset="0"/>
              </a:rPr>
              <a:t>  </a:t>
            </a:r>
            <a:r>
              <a:rPr lang="en-US" sz="2000" b="1" i="0" dirty="0">
                <a:solidFill>
                  <a:srgbClr val="CC99CD"/>
                </a:solidFill>
                <a:effectLst/>
                <a:latin typeface="Courier New" panose="02070309020205020404" pitchFamily="49" charset="0"/>
              </a:rPr>
              <a:t>public</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void</a:t>
            </a:r>
            <a:r>
              <a:rPr lang="en-US" sz="2000" b="1" i="0" dirty="0">
                <a:solidFill>
                  <a:srgbClr val="CCCCCC"/>
                </a:solidFill>
                <a:effectLst/>
                <a:latin typeface="Courier New" panose="02070309020205020404" pitchFamily="49" charset="0"/>
              </a:rPr>
              <a:t> </a:t>
            </a:r>
            <a:r>
              <a:rPr lang="en-US" sz="2000" b="1" i="0" dirty="0" err="1">
                <a:solidFill>
                  <a:srgbClr val="F08D49"/>
                </a:solidFill>
                <a:effectLst/>
                <a:latin typeface="Courier New" panose="02070309020205020404" pitchFamily="49" charset="0"/>
              </a:rPr>
              <a:t>SetName</a:t>
            </a:r>
            <a:r>
              <a:rPr lang="en-US" sz="2000" b="1" i="0" dirty="0">
                <a:solidFill>
                  <a:srgbClr val="CCCCCC"/>
                </a:solidFill>
                <a:effectLst/>
                <a:latin typeface="Courier New" panose="02070309020205020404" pitchFamily="49" charset="0"/>
              </a:rPr>
              <a:t>(</a:t>
            </a:r>
            <a:r>
              <a:rPr lang="en-US" sz="2000" b="1" i="0" dirty="0">
                <a:solidFill>
                  <a:srgbClr val="CC99CD"/>
                </a:solidFill>
                <a:effectLst/>
                <a:latin typeface="Courier New" panose="02070309020205020404" pitchFamily="49" charset="0"/>
              </a:rPr>
              <a:t>string</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newName</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if</a:t>
            </a:r>
            <a:r>
              <a:rPr lang="en-US" sz="2000" b="1" i="0" dirty="0">
                <a:solidFill>
                  <a:srgbClr val="CCCCCC"/>
                </a:solidFill>
                <a:effectLst/>
                <a:latin typeface="Courier New" panose="02070309020205020404" pitchFamily="49" charset="0"/>
              </a:rPr>
              <a:t> (</a:t>
            </a:r>
            <a:r>
              <a:rPr lang="en-US" sz="2000" b="1" i="0" dirty="0">
                <a:solidFill>
                  <a:srgbClr val="67CDCC"/>
                </a:solidFill>
                <a:effectLst/>
                <a:latin typeface="Courier New" panose="02070309020205020404" pitchFamily="49" charset="0"/>
              </a:rPr>
              <a:t>!</a:t>
            </a:r>
            <a:r>
              <a:rPr lang="en-US" sz="2000" b="1" i="0" dirty="0" err="1">
                <a:solidFill>
                  <a:srgbClr val="CC99CD"/>
                </a:solidFill>
                <a:effectLst/>
                <a:latin typeface="Courier New" panose="02070309020205020404" pitchFamily="49" charset="0"/>
              </a:rPr>
              <a:t>string</a:t>
            </a:r>
            <a:r>
              <a:rPr lang="en-US" sz="2000" b="1" i="0" dirty="0" err="1">
                <a:solidFill>
                  <a:srgbClr val="CCCCCC"/>
                </a:solidFill>
                <a:effectLst/>
                <a:latin typeface="Courier New" panose="02070309020205020404" pitchFamily="49" charset="0"/>
              </a:rPr>
              <a:t>.</a:t>
            </a:r>
            <a:r>
              <a:rPr lang="en-US" sz="2000" b="1" i="0" dirty="0" err="1">
                <a:solidFill>
                  <a:srgbClr val="F08D49"/>
                </a:solidFill>
                <a:effectLst/>
                <a:latin typeface="Courier New" panose="02070309020205020404" pitchFamily="49" charset="0"/>
              </a:rPr>
              <a:t>IsNullOrEmpty</a:t>
            </a:r>
            <a:r>
              <a:rPr lang="en-US" sz="2000" b="1" i="0" dirty="0">
                <a:solidFill>
                  <a:srgbClr val="CCCCCC"/>
                </a:solidFill>
                <a:effectLst/>
                <a:latin typeface="Courier New" panose="02070309020205020404" pitchFamily="49" charset="0"/>
              </a:rPr>
              <a:t>(</a:t>
            </a:r>
            <a:r>
              <a:rPr lang="en-US" sz="2000" b="1" i="0" dirty="0" err="1">
                <a:solidFill>
                  <a:srgbClr val="CCCCCC"/>
                </a:solidFill>
                <a:effectLst/>
                <a:latin typeface="Courier New" panose="02070309020205020404" pitchFamily="49" charset="0"/>
              </a:rPr>
              <a:t>newName</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name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err="1">
                <a:solidFill>
                  <a:srgbClr val="CCCCCC"/>
                </a:solidFill>
                <a:effectLst/>
                <a:latin typeface="Courier New" panose="02070309020205020404" pitchFamily="49" charset="0"/>
              </a:rPr>
              <a:t>newName</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else</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err="1">
                <a:solidFill>
                  <a:srgbClr val="CCCCCC"/>
                </a:solidFill>
                <a:effectLst/>
                <a:latin typeface="Courier New" panose="02070309020205020404" pitchFamily="49" charset="0"/>
              </a:rPr>
              <a:t>Console.</a:t>
            </a:r>
            <a:r>
              <a:rPr lang="en-US" sz="2000" b="1" i="0" dirty="0" err="1">
                <a:solidFill>
                  <a:srgbClr val="F08D49"/>
                </a:solidFill>
                <a:effectLst/>
                <a:latin typeface="Courier New" panose="02070309020205020404" pitchFamily="49" charset="0"/>
              </a:rPr>
              <a:t>WriteLine</a:t>
            </a:r>
            <a:r>
              <a:rPr lang="en-US" sz="2000" b="1" i="0" dirty="0">
                <a:solidFill>
                  <a:srgbClr val="CCCCCC"/>
                </a:solidFill>
                <a:effectLst/>
                <a:latin typeface="Courier New" panose="02070309020205020404" pitchFamily="49" charset="0"/>
              </a:rPr>
              <a:t>(</a:t>
            </a:r>
            <a:r>
              <a:rPr lang="en-US" sz="2000" b="1" i="0" dirty="0">
                <a:solidFill>
                  <a:srgbClr val="7EC699"/>
                </a:solidFill>
                <a:effectLst/>
                <a:latin typeface="Courier New" panose="02070309020205020404" pitchFamily="49" charset="0"/>
              </a:rPr>
              <a:t>"Name cannot be empty."</a:t>
            </a:r>
            <a:r>
              <a:rPr lang="en-US" sz="2000" b="1" i="0" dirty="0">
                <a:solidFill>
                  <a:srgbClr val="CCCCCC"/>
                </a:solidFill>
                <a:effectLst/>
                <a:latin typeface="Courier New" panose="02070309020205020404" pitchFamily="49" charset="0"/>
              </a:rPr>
              <a:t>); </a:t>
            </a:r>
          </a:p>
          <a:p>
            <a:pPr marL="34290" indent="0" algn="just">
              <a:buNone/>
            </a:pP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endParaRPr lang="en-US" sz="2000" b="1" i="0" dirty="0">
              <a:solidFill>
                <a:srgbClr val="999999"/>
              </a:solidFill>
              <a:effectLst/>
              <a:latin typeface="Courier New" panose="02070309020205020404" pitchFamily="49" charset="0"/>
            </a:endParaRPr>
          </a:p>
          <a:p>
            <a:pPr marL="34290" indent="0" algn="just">
              <a:buNone/>
            </a:pPr>
            <a:r>
              <a:rPr lang="en-US" sz="2000" b="1" dirty="0">
                <a:solidFill>
                  <a:srgbClr val="999999"/>
                </a:solidFill>
                <a:latin typeface="Courier New" panose="02070309020205020404" pitchFamily="49" charset="0"/>
              </a:rPr>
              <a:t>  </a:t>
            </a:r>
            <a:r>
              <a:rPr lang="en-US" sz="2000" b="1" i="0" dirty="0">
                <a:solidFill>
                  <a:srgbClr val="CC99CD"/>
                </a:solidFill>
                <a:effectLst/>
                <a:latin typeface="Courier New" panose="02070309020205020404" pitchFamily="49" charset="0"/>
              </a:rPr>
              <a:t>public</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string</a:t>
            </a:r>
            <a:r>
              <a:rPr lang="en-US" sz="2000" b="1" i="0" dirty="0">
                <a:solidFill>
                  <a:srgbClr val="CCCCCC"/>
                </a:solidFill>
                <a:effectLst/>
                <a:latin typeface="Courier New" panose="02070309020205020404" pitchFamily="49" charset="0"/>
              </a:rPr>
              <a:t> </a:t>
            </a:r>
            <a:r>
              <a:rPr lang="en-US" sz="2000" b="1" i="0" dirty="0" err="1">
                <a:solidFill>
                  <a:srgbClr val="F08D49"/>
                </a:solidFill>
                <a:effectLst/>
                <a:latin typeface="Courier New" panose="02070309020205020404" pitchFamily="49" charset="0"/>
              </a:rPr>
              <a:t>GetName</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return</a:t>
            </a:r>
            <a:r>
              <a:rPr lang="en-US" sz="2000" b="1" i="0" dirty="0">
                <a:solidFill>
                  <a:srgbClr val="CCCCCC"/>
                </a:solidFill>
                <a:effectLst/>
                <a:latin typeface="Courier New" panose="02070309020205020404" pitchFamily="49" charset="0"/>
              </a:rPr>
              <a:t> name;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a:t>
            </a:r>
          </a:p>
          <a:p>
            <a:pPr marL="34290" indent="0" algn="just">
              <a:buNone/>
            </a:pPr>
            <a:r>
              <a:rPr lang="en-US" sz="2000" b="1" i="0" dirty="0">
                <a:solidFill>
                  <a:srgbClr val="CCCCCC"/>
                </a:solidFill>
                <a:effectLst/>
                <a:latin typeface="Courier New" panose="02070309020205020404" pitchFamily="49" charset="0"/>
              </a:rPr>
              <a:t>}</a:t>
            </a:r>
            <a:endParaRPr lang="ro-RO" sz="2000" b="1" noProof="0" dirty="0">
              <a:solidFill>
                <a:srgbClr val="00B0F0"/>
              </a:solidFill>
            </a:endParaRPr>
          </a:p>
        </p:txBody>
      </p:sp>
    </p:spTree>
    <p:extLst>
      <p:ext uri="{BB962C8B-B14F-4D97-AF65-F5344CB8AC3E}">
        <p14:creationId xmlns:p14="http://schemas.microsoft.com/office/powerpoint/2010/main" val="35756721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2B01D-EE97-7C4A-7016-FE3F39DD1D4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7B99F24-AC57-21E9-9F35-1AC9F9CF90B6}"/>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B5DEF2E0-256C-DC65-FAA3-608A829AE4F7}"/>
              </a:ext>
            </a:extLst>
          </p:cNvPr>
          <p:cNvSpPr>
            <a:spLocks noGrp="1"/>
          </p:cNvSpPr>
          <p:nvPr>
            <p:ph idx="1"/>
          </p:nvPr>
        </p:nvSpPr>
        <p:spPr>
          <a:xfrm>
            <a:off x="463925" y="1281952"/>
            <a:ext cx="8249770" cy="5074024"/>
          </a:xfrm>
        </p:spPr>
        <p:txBody>
          <a:bodyPr>
            <a:noAutofit/>
          </a:bodyPr>
          <a:lstStyle/>
          <a:p>
            <a:pPr marL="34290" indent="0" algn="just">
              <a:buNone/>
            </a:pPr>
            <a:r>
              <a:rPr kumimoji="0" lang="en-US"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class</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Program { </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static</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void</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F08D49"/>
                </a:solidFill>
                <a:effectLst/>
                <a:uLnTx/>
                <a:uFillTx/>
                <a:latin typeface="Courier New" panose="02070309020205020404" pitchFamily="49" charset="0"/>
                <a:ea typeface="+mn-ea"/>
                <a:cs typeface="+mn-cs"/>
              </a:rPr>
              <a:t>Main</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 </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Person </a:t>
            </a:r>
            <a:r>
              <a:rPr kumimoji="0" lang="en-US"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person</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67CDCC"/>
                </a:solidFill>
                <a:effectLst/>
                <a:uLnTx/>
                <a:uFillTx/>
                <a:latin typeface="Courier New" panose="02070309020205020404" pitchFamily="49" charset="0"/>
                <a:ea typeface="+mn-ea"/>
                <a:cs typeface="+mn-cs"/>
              </a:rPr>
              <a:t>=</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new</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Person();</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person.</a:t>
            </a:r>
            <a:r>
              <a:rPr kumimoji="0" lang="en-US"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SetName</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en-US" sz="20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"Sudhir Sharma"</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Console.</a:t>
            </a:r>
            <a:r>
              <a:rPr kumimoji="0" lang="en-US"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WriteLine</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en-US" sz="20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"Person's Name: "</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67CDCC"/>
                </a:solidFill>
                <a:effectLst/>
                <a:uLnTx/>
                <a:uFillTx/>
                <a:latin typeface="Courier New" panose="02070309020205020404" pitchFamily="49" charset="0"/>
                <a:ea typeface="+mn-ea"/>
                <a:cs typeface="+mn-cs"/>
              </a:rPr>
              <a:t>+</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person.</a:t>
            </a:r>
            <a:r>
              <a:rPr kumimoji="0" lang="en-US"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GetName</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 </a:t>
            </a:r>
          </a:p>
          <a:p>
            <a:pPr marL="34290" indent="0" algn="just">
              <a:buNone/>
            </a:pP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endParaRPr lang="ro-RO" sz="2800" noProof="0" dirty="0">
              <a:solidFill>
                <a:srgbClr val="00B0F0"/>
              </a:solidFill>
            </a:endParaRPr>
          </a:p>
        </p:txBody>
      </p:sp>
    </p:spTree>
    <p:extLst>
      <p:ext uri="{BB962C8B-B14F-4D97-AF65-F5344CB8AC3E}">
        <p14:creationId xmlns:p14="http://schemas.microsoft.com/office/powerpoint/2010/main" val="36075259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0F2C8-5F1E-E7AC-5C88-0BB6C590E8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6AFECBB-ADB9-221D-A229-359EB4B227B8}"/>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73268408-C50D-075C-89A0-F755ECB9A8CC}"/>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Încapsulare folosind </a:t>
            </a:r>
            <a:r>
              <a:rPr lang="ro-RO" sz="2800" noProof="0" dirty="0">
                <a:solidFill>
                  <a:schemeClr val="tx2"/>
                </a:solidFill>
              </a:rPr>
              <a:t>proprietăți</a:t>
            </a:r>
          </a:p>
          <a:p>
            <a:pPr marL="34290" indent="0" algn="just">
              <a:buNone/>
            </a:pPr>
            <a:r>
              <a:rPr lang="ro-RO" sz="2800" noProof="0" dirty="0">
                <a:solidFill>
                  <a:srgbClr val="00B0F0"/>
                </a:solidFill>
              </a:rPr>
              <a:t>Există o altă modalitate de a implementa încapsularea folosind proprietățile (set și get).</a:t>
            </a:r>
            <a:endParaRPr lang="en-US" sz="2800" noProof="0" dirty="0">
              <a:solidFill>
                <a:srgbClr val="00B0F0"/>
              </a:solidFill>
            </a:endParaRPr>
          </a:p>
          <a:p>
            <a:pPr marL="34290" indent="0" algn="just">
              <a:buNone/>
            </a:pPr>
            <a:endParaRPr lang="en-US" sz="2800" dirty="0">
              <a:solidFill>
                <a:srgbClr val="00B0F0"/>
              </a:solidFill>
            </a:endParaRPr>
          </a:p>
          <a:p>
            <a:pPr marL="34290" indent="0" algn="just">
              <a:buNone/>
            </a:pPr>
            <a:r>
              <a:rPr lang="ro-RO" sz="2800" dirty="0">
                <a:solidFill>
                  <a:srgbClr val="00B0F0"/>
                </a:solidFill>
              </a:rPr>
              <a:t>În exemplul următor, folosim un câmp privat pentru a stoca salariul și o proprietate publică (Salariu) cu logică de validare pentru a controla modul în care este setat salariul:</a:t>
            </a:r>
            <a:endParaRPr lang="ro-RO" sz="2800" noProof="0" dirty="0">
              <a:solidFill>
                <a:srgbClr val="00B0F0"/>
              </a:solidFill>
            </a:endParaRPr>
          </a:p>
        </p:txBody>
      </p:sp>
    </p:spTree>
    <p:extLst>
      <p:ext uri="{BB962C8B-B14F-4D97-AF65-F5344CB8AC3E}">
        <p14:creationId xmlns:p14="http://schemas.microsoft.com/office/powerpoint/2010/main" val="10451536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6396C-6167-0FCB-B7A9-C774152A33A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E1D9AC-00BE-6954-A30A-9030B9F95412}"/>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A15A08E4-F6F9-077A-D594-AAADBAA271E9}"/>
              </a:ext>
            </a:extLst>
          </p:cNvPr>
          <p:cNvSpPr>
            <a:spLocks noGrp="1"/>
          </p:cNvSpPr>
          <p:nvPr>
            <p:ph idx="1"/>
          </p:nvPr>
        </p:nvSpPr>
        <p:spPr>
          <a:xfrm>
            <a:off x="463925" y="1281952"/>
            <a:ext cx="8249770" cy="5074024"/>
          </a:xfrm>
        </p:spPr>
        <p:txBody>
          <a:bodyPr>
            <a:noAutofit/>
          </a:bodyPr>
          <a:lstStyle/>
          <a:p>
            <a:pPr marL="34290" indent="0" algn="just">
              <a:buNone/>
            </a:pPr>
            <a:r>
              <a:rPr lang="en-US" sz="2000" b="1" i="0" dirty="0">
                <a:solidFill>
                  <a:srgbClr val="CC99CD"/>
                </a:solidFill>
                <a:effectLst/>
                <a:latin typeface="Courier New" panose="02070309020205020404" pitchFamily="49" charset="0"/>
              </a:rPr>
              <a:t>using</a:t>
            </a:r>
            <a:r>
              <a:rPr lang="en-US" sz="2000" b="1" i="0" dirty="0">
                <a:solidFill>
                  <a:srgbClr val="CCCCCC"/>
                </a:solidFill>
                <a:effectLst/>
                <a:latin typeface="Courier New" panose="02070309020205020404" pitchFamily="49" charset="0"/>
              </a:rPr>
              <a:t> System; </a:t>
            </a:r>
          </a:p>
          <a:p>
            <a:pPr marL="34290" indent="0" algn="just">
              <a:buNone/>
            </a:pPr>
            <a:r>
              <a:rPr lang="en-US" sz="2000" b="1" i="0" dirty="0">
                <a:solidFill>
                  <a:srgbClr val="CC99CD"/>
                </a:solidFill>
                <a:effectLst/>
                <a:latin typeface="Courier New" panose="02070309020205020404" pitchFamily="49" charset="0"/>
              </a:rPr>
              <a:t>class</a:t>
            </a:r>
            <a:r>
              <a:rPr lang="en-US" sz="2000" b="1" i="0" dirty="0">
                <a:solidFill>
                  <a:srgbClr val="CCCCCC"/>
                </a:solidFill>
                <a:effectLst/>
                <a:latin typeface="Courier New" panose="02070309020205020404" pitchFamily="49" charset="0"/>
              </a:rPr>
              <a:t> Employee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private</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double</a:t>
            </a:r>
            <a:r>
              <a:rPr lang="en-US" sz="2000" b="1" i="0" dirty="0">
                <a:solidFill>
                  <a:srgbClr val="CCCCCC"/>
                </a:solidFill>
                <a:effectLst/>
                <a:latin typeface="Courier New" panose="02070309020205020404" pitchFamily="49" charset="0"/>
              </a:rPr>
              <a:t> salary;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public</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double</a:t>
            </a:r>
            <a:r>
              <a:rPr lang="en-US" sz="2000" b="1" i="0" dirty="0">
                <a:solidFill>
                  <a:srgbClr val="CCCCCC"/>
                </a:solidFill>
                <a:effectLst/>
                <a:latin typeface="Courier New" panose="02070309020205020404" pitchFamily="49" charset="0"/>
              </a:rPr>
              <a:t> Salary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get</a:t>
            </a:r>
            <a:r>
              <a:rPr lang="en-US" sz="2000" b="1" i="0" dirty="0">
                <a:solidFill>
                  <a:srgbClr val="CCCCCC"/>
                </a:solidFill>
                <a:effectLst/>
                <a:latin typeface="Courier New" panose="02070309020205020404" pitchFamily="49" charset="0"/>
              </a:rPr>
              <a:t> { </a:t>
            </a:r>
            <a:r>
              <a:rPr lang="en-US" sz="2000" b="1" i="0" dirty="0">
                <a:solidFill>
                  <a:srgbClr val="CC99CD"/>
                </a:solidFill>
                <a:effectLst/>
                <a:latin typeface="Courier New" panose="02070309020205020404" pitchFamily="49" charset="0"/>
              </a:rPr>
              <a:t>return</a:t>
            </a:r>
            <a:r>
              <a:rPr lang="en-US" sz="2000" b="1" i="0" dirty="0">
                <a:solidFill>
                  <a:srgbClr val="CCCCCC"/>
                </a:solidFill>
                <a:effectLst/>
                <a:latin typeface="Courier New" panose="02070309020205020404" pitchFamily="49" charset="0"/>
              </a:rPr>
              <a:t> salary;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set</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if</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value</a:t>
            </a:r>
            <a:r>
              <a:rPr lang="en-US" sz="2000" b="1" i="0" dirty="0">
                <a:solidFill>
                  <a:srgbClr val="CCCCCC"/>
                </a:solidFill>
                <a:effectLst/>
                <a:latin typeface="Courier New" panose="02070309020205020404" pitchFamily="49" charset="0"/>
              </a:rPr>
              <a:t> </a:t>
            </a:r>
            <a:r>
              <a:rPr lang="en-US" sz="2000" b="1" i="0" dirty="0">
                <a:solidFill>
                  <a:srgbClr val="67CDCC"/>
                </a:solidFill>
                <a:effectLst/>
                <a:latin typeface="Courier New" panose="02070309020205020404" pitchFamily="49" charset="0"/>
              </a:rPr>
              <a:t>&gt;=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3000</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salary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value</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else</a:t>
            </a:r>
            <a:r>
              <a:rPr lang="en-US" sz="2000" b="1" i="0" dirty="0">
                <a:solidFill>
                  <a:srgbClr val="CCCCCC"/>
                </a:solidFill>
                <a:effectLst/>
                <a:latin typeface="Courier New" panose="02070309020205020404" pitchFamily="49" charset="0"/>
              </a:rPr>
              <a:t> { </a:t>
            </a:r>
          </a:p>
          <a:p>
            <a:pPr marL="34290" indent="0" algn="just">
              <a:buNone/>
            </a:pPr>
            <a:r>
              <a:rPr lang="en-US" sz="2000" b="1" dirty="0">
                <a:solidFill>
                  <a:srgbClr val="CCCCCC"/>
                </a:solidFill>
                <a:latin typeface="Courier New" panose="02070309020205020404" pitchFamily="49" charset="0"/>
              </a:rPr>
              <a:t>        </a:t>
            </a:r>
            <a:r>
              <a:rPr lang="en-US" sz="2000" b="1" i="0" dirty="0" err="1">
                <a:solidFill>
                  <a:srgbClr val="CCCCCC"/>
                </a:solidFill>
                <a:effectLst/>
                <a:latin typeface="Courier New" panose="02070309020205020404" pitchFamily="49" charset="0"/>
              </a:rPr>
              <a:t>Console.</a:t>
            </a:r>
            <a:r>
              <a:rPr lang="en-US" sz="2000" b="1" i="0" dirty="0" err="1">
                <a:solidFill>
                  <a:srgbClr val="F08D49"/>
                </a:solidFill>
                <a:effectLst/>
                <a:latin typeface="Courier New" panose="02070309020205020404" pitchFamily="49" charset="0"/>
              </a:rPr>
              <a:t>WriteLine</a:t>
            </a:r>
            <a:r>
              <a:rPr lang="en-US" sz="2000" b="1" i="0" dirty="0">
                <a:solidFill>
                  <a:srgbClr val="CCCCCC"/>
                </a:solidFill>
                <a:effectLst/>
                <a:latin typeface="Courier New" panose="02070309020205020404" pitchFamily="49" charset="0"/>
              </a:rPr>
              <a:t>(</a:t>
            </a:r>
            <a:r>
              <a:rPr lang="en-US" sz="2000" b="1" i="0" dirty="0">
                <a:solidFill>
                  <a:srgbClr val="7EC699"/>
                </a:solidFill>
                <a:effectLst/>
                <a:latin typeface="Courier New" panose="02070309020205020404" pitchFamily="49" charset="0"/>
              </a:rPr>
              <a:t>"Salary must be at least 3000."</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p>
          <a:p>
            <a:pPr marL="34290" indent="0" algn="just">
              <a:buNone/>
            </a:pPr>
            <a:r>
              <a:rPr lang="en-US"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p>
          <a:p>
            <a:pPr marL="34290" indent="0" algn="just">
              <a:buNone/>
            </a:pPr>
            <a:r>
              <a:rPr lang="en-US" sz="2000" b="1" i="0" dirty="0">
                <a:solidFill>
                  <a:srgbClr val="CCCCCC"/>
                </a:solidFill>
                <a:effectLst/>
                <a:latin typeface="Courier New" panose="02070309020205020404" pitchFamily="49" charset="0"/>
              </a:rPr>
              <a:t>}</a:t>
            </a:r>
            <a:endParaRPr lang="ro-RO" sz="2000" b="1" noProof="0" dirty="0">
              <a:solidFill>
                <a:srgbClr val="00B0F0"/>
              </a:solidFill>
            </a:endParaRPr>
          </a:p>
        </p:txBody>
      </p:sp>
    </p:spTree>
    <p:extLst>
      <p:ext uri="{BB962C8B-B14F-4D97-AF65-F5344CB8AC3E}">
        <p14:creationId xmlns:p14="http://schemas.microsoft.com/office/powerpoint/2010/main" val="30563475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9B583-A387-E621-4FA4-CCEE1CC9F7E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0252C24-3C9C-4F64-B589-7C9F6BB62F8B}"/>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3F6FD11D-3173-B063-E135-76CF253BF16B}"/>
              </a:ext>
            </a:extLst>
          </p:cNvPr>
          <p:cNvSpPr>
            <a:spLocks noGrp="1"/>
          </p:cNvSpPr>
          <p:nvPr>
            <p:ph idx="1"/>
          </p:nvPr>
        </p:nvSpPr>
        <p:spPr>
          <a:xfrm>
            <a:off x="463925" y="1281952"/>
            <a:ext cx="8249770" cy="5074024"/>
          </a:xfrm>
        </p:spPr>
        <p:txBody>
          <a:bodyPr>
            <a:noAutofit/>
          </a:bodyPr>
          <a:lstStyle/>
          <a:p>
            <a:pPr marL="34290" indent="0" algn="just">
              <a:buNone/>
            </a:pPr>
            <a:r>
              <a:rPr kumimoji="0" lang="en-US"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class</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Program { </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static</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void</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F08D49"/>
                </a:solidFill>
                <a:effectLst/>
                <a:uLnTx/>
                <a:uFillTx/>
                <a:latin typeface="Courier New" panose="02070309020205020404" pitchFamily="49" charset="0"/>
                <a:ea typeface="+mn-ea"/>
                <a:cs typeface="+mn-cs"/>
              </a:rPr>
              <a:t>Main</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  </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Employee emp </a:t>
            </a:r>
            <a:r>
              <a:rPr kumimoji="0" lang="en-US" sz="2000" b="1" i="0" u="none" strike="noStrike" kern="1200" cap="none" spc="0" normalizeH="0" baseline="0" noProof="0" dirty="0">
                <a:ln>
                  <a:noFill/>
                </a:ln>
                <a:solidFill>
                  <a:srgbClr val="67CDCC"/>
                </a:solidFill>
                <a:effectLst/>
                <a:uLnTx/>
                <a:uFillTx/>
                <a:latin typeface="Courier New" panose="02070309020205020404" pitchFamily="49" charset="0"/>
                <a:ea typeface="+mn-ea"/>
                <a:cs typeface="+mn-cs"/>
              </a:rPr>
              <a:t>=</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new</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Employee(); </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emp.Salary</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67CDCC"/>
                </a:solidFill>
                <a:effectLst/>
                <a:uLnTx/>
                <a:uFillTx/>
                <a:latin typeface="Courier New" panose="02070309020205020404" pitchFamily="49" charset="0"/>
                <a:ea typeface="+mn-ea"/>
                <a:cs typeface="+mn-cs"/>
              </a:rPr>
              <a:t>=</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F08D49"/>
                </a:solidFill>
                <a:effectLst/>
                <a:uLnTx/>
                <a:uFillTx/>
                <a:latin typeface="Courier New" panose="02070309020205020404" pitchFamily="49" charset="0"/>
                <a:ea typeface="+mn-ea"/>
                <a:cs typeface="+mn-cs"/>
              </a:rPr>
              <a:t>5000</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999999"/>
                </a:solidFill>
                <a:effectLst/>
                <a:uLnTx/>
                <a:uFillTx/>
                <a:latin typeface="Courier New" panose="02070309020205020404" pitchFamily="49" charset="0"/>
                <a:ea typeface="+mn-ea"/>
                <a:cs typeface="+mn-cs"/>
              </a:rPr>
              <a:t>// Valid salary</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Console.</a:t>
            </a:r>
            <a:r>
              <a:rPr kumimoji="0" lang="en-US"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WriteLine</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en-US" sz="20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"Employee Salary: "</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67CDCC"/>
                </a:solidFill>
                <a:effectLst/>
                <a:uLnTx/>
                <a:uFillTx/>
                <a:latin typeface="Courier New" panose="02070309020205020404" pitchFamily="49" charset="0"/>
                <a:ea typeface="+mn-ea"/>
                <a:cs typeface="+mn-cs"/>
              </a:rPr>
              <a:t>+</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emp.Salary</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emp.Salary</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67CDCC"/>
                </a:solidFill>
                <a:effectLst/>
                <a:uLnTx/>
                <a:uFillTx/>
                <a:latin typeface="Courier New" panose="02070309020205020404" pitchFamily="49" charset="0"/>
                <a:ea typeface="+mn-ea"/>
                <a:cs typeface="+mn-cs"/>
              </a:rPr>
              <a:t>=</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F08D49"/>
                </a:solidFill>
                <a:effectLst/>
                <a:uLnTx/>
                <a:uFillTx/>
                <a:latin typeface="Courier New" panose="02070309020205020404" pitchFamily="49" charset="0"/>
                <a:ea typeface="+mn-ea"/>
                <a:cs typeface="+mn-cs"/>
              </a:rPr>
              <a:t>2000</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999999"/>
                </a:solidFill>
                <a:effectLst/>
                <a:uLnTx/>
                <a:uFillTx/>
                <a:latin typeface="Courier New" panose="02070309020205020404" pitchFamily="49" charset="0"/>
                <a:ea typeface="+mn-ea"/>
                <a:cs typeface="+mn-cs"/>
              </a:rPr>
              <a:t>// Invalid salary</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Console.</a:t>
            </a:r>
            <a:r>
              <a:rPr kumimoji="0" lang="en-US" sz="20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WriteLine</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en-US" sz="20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"Updated Salary: "</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a:ln>
                  <a:noFill/>
                </a:ln>
                <a:solidFill>
                  <a:srgbClr val="67CDCC"/>
                </a:solidFill>
                <a:effectLst/>
                <a:uLnTx/>
                <a:uFillTx/>
                <a:latin typeface="Courier New" panose="02070309020205020404" pitchFamily="49" charset="0"/>
                <a:ea typeface="+mn-ea"/>
                <a:cs typeface="+mn-cs"/>
              </a:rPr>
              <a:t>+</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0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emp.Salary</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indent="0" algn="just">
              <a:buNone/>
            </a:pPr>
            <a:r>
              <a:rPr lang="en-US" sz="2000" b="1" dirty="0">
                <a:solidFill>
                  <a:srgbClr val="CCCCCC"/>
                </a:solidFill>
                <a:latin typeface="Courier New" panose="02070309020205020404" pitchFamily="49" charset="0"/>
              </a:rPr>
              <a:t>  </a:t>
            </a: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indent="0" algn="just">
              <a:buNone/>
            </a:pPr>
            <a:r>
              <a:rPr kumimoji="0" lang="en-US" sz="20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endParaRPr lang="ro-RO" sz="2800" noProof="0" dirty="0">
              <a:solidFill>
                <a:srgbClr val="00B0F0"/>
              </a:solidFill>
            </a:endParaRPr>
          </a:p>
        </p:txBody>
      </p:sp>
    </p:spTree>
    <p:extLst>
      <p:ext uri="{BB962C8B-B14F-4D97-AF65-F5344CB8AC3E}">
        <p14:creationId xmlns:p14="http://schemas.microsoft.com/office/powerpoint/2010/main" val="16577595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F8FA0-B855-90DD-176C-67306F97271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9A3B485-1862-0933-F771-911A129147B3}"/>
              </a:ext>
            </a:extLst>
          </p:cNvPr>
          <p:cNvSpPr>
            <a:spLocks noGrp="1"/>
          </p:cNvSpPr>
          <p:nvPr>
            <p:ph type="title"/>
          </p:nvPr>
        </p:nvSpPr>
        <p:spPr>
          <a:xfrm>
            <a:off x="463925" y="582705"/>
            <a:ext cx="7819465" cy="504265"/>
          </a:xfrm>
        </p:spPr>
        <p:txBody>
          <a:bodyPr>
            <a:noAutofit/>
          </a:bodyPr>
          <a:lstStyle/>
          <a:p>
            <a:r>
              <a:rPr lang="ro-RO" sz="3200" noProof="0" dirty="0"/>
              <a:t>C#POO - Cursul 1</a:t>
            </a:r>
          </a:p>
        </p:txBody>
      </p:sp>
      <p:sp>
        <p:nvSpPr>
          <p:cNvPr id="5" name="Content Placeholder 4">
            <a:extLst>
              <a:ext uri="{FF2B5EF4-FFF2-40B4-BE49-F238E27FC236}">
                <a16:creationId xmlns:a16="http://schemas.microsoft.com/office/drawing/2014/main" id="{FD195DD1-1044-277D-B2CD-C7BFCC6BEAE1}"/>
              </a:ext>
            </a:extLst>
          </p:cNvPr>
          <p:cNvSpPr>
            <a:spLocks noGrp="1"/>
          </p:cNvSpPr>
          <p:nvPr>
            <p:ph idx="1"/>
          </p:nvPr>
        </p:nvSpPr>
        <p:spPr>
          <a:xfrm>
            <a:off x="463925" y="1281952"/>
            <a:ext cx="8249770" cy="5074024"/>
          </a:xfrm>
        </p:spPr>
        <p:txBody>
          <a:bodyPr>
            <a:noAutofit/>
          </a:bodyPr>
          <a:lstStyle/>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https://learn.microsoft.com/en-us/dotnet/</a:t>
            </a:r>
          </a:p>
        </p:txBody>
      </p:sp>
    </p:spTree>
    <p:extLst>
      <p:ext uri="{BB962C8B-B14F-4D97-AF65-F5344CB8AC3E}">
        <p14:creationId xmlns:p14="http://schemas.microsoft.com/office/powerpoint/2010/main" val="30094732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ldThem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oldTheme" id="{E044F4A2-B66D-45C2-96C7-FCDC24F4574A}" vid="{A3C9D0F2-0975-40A9-A9D7-E4850D5DE04F}"/>
    </a:ext>
  </a:extLst>
</a:theme>
</file>

<file path=docProps/app.xml><?xml version="1.0" encoding="utf-8"?>
<Properties xmlns="http://schemas.openxmlformats.org/officeDocument/2006/extended-properties" xmlns:vt="http://schemas.openxmlformats.org/officeDocument/2006/docPropsVTypes">
  <Template/>
  <TotalTime>1757</TotalTime>
  <Words>1935</Words>
  <Application>Microsoft Office PowerPoint</Application>
  <PresentationFormat>On-screen Show (4:3)</PresentationFormat>
  <Paragraphs>265</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Courier New</vt:lpstr>
      <vt:lpstr>Wingdings</vt:lpstr>
      <vt:lpstr>oldTheme</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lpstr>C#POO - Cursul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Licenta A3 - Facultatea de Informatica și Ştiinţe</dc:creator>
  <cp:lastModifiedBy>Licenta A3 - Facultatea de Informatica și Ştiinţe</cp:lastModifiedBy>
  <cp:revision>13</cp:revision>
  <dcterms:created xsi:type="dcterms:W3CDTF">2025-10-05T09:43:55Z</dcterms:created>
  <dcterms:modified xsi:type="dcterms:W3CDTF">2026-02-24T08:29:29Z</dcterms:modified>
</cp:coreProperties>
</file>
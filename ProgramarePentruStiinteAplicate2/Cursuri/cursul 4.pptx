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92" r:id="rId2"/>
    <p:sldId id="293" r:id="rId3"/>
    <p:sldId id="294" r:id="rId4"/>
    <p:sldId id="295" r:id="rId5"/>
    <p:sldId id="296" r:id="rId6"/>
    <p:sldId id="297" r:id="rId7"/>
    <p:sldId id="298" r:id="rId8"/>
    <p:sldId id="299" r:id="rId9"/>
    <p:sldId id="300" r:id="rId10"/>
    <p:sldId id="301" r:id="rId11"/>
    <p:sldId id="302" r:id="rId12"/>
    <p:sldId id="303" r:id="rId13"/>
    <p:sldId id="304" r:id="rId14"/>
    <p:sldId id="305" r:id="rId15"/>
    <p:sldId id="306" r:id="rId16"/>
    <p:sldId id="307" r:id="rId17"/>
    <p:sldId id="308" r:id="rId18"/>
    <p:sldId id="309" r:id="rId19"/>
    <p:sldId id="310" r:id="rId20"/>
    <p:sldId id="313" r:id="rId21"/>
    <p:sldId id="311" r:id="rId22"/>
    <p:sldId id="312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0AE89"/>
    <a:srgbClr val="262F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63" autoAdjust="0"/>
    <p:restoredTop sz="94660"/>
  </p:normalViewPr>
  <p:slideViewPr>
    <p:cSldViewPr snapToGrid="0">
      <p:cViewPr varScale="1">
        <p:scale>
          <a:sx n="99" d="100"/>
          <a:sy n="99" d="100"/>
        </p:scale>
        <p:origin x="75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516625"/>
            <a:ext cx="7315200" cy="259502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5166530"/>
            <a:ext cx="7315200" cy="1144632"/>
          </a:xfrm>
        </p:spPr>
        <p:txBody>
          <a:bodyPr>
            <a:normAutofit/>
          </a:bodyPr>
          <a:lstStyle>
            <a:lvl1pPr marL="0" indent="0" algn="l">
              <a:buNone/>
              <a:defRPr sz="165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56C7F-C199-47A3-AF94-EAE81E21E31B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13EF8AE-9767-4E5A-802F-66A2B36F74A8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9876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56C7F-C199-47A3-AF94-EAE81E21E31B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EF8AE-9767-4E5A-802F-66A2B36F74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9584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017572"/>
            <a:ext cx="7315200" cy="1293592"/>
          </a:xfrm>
        </p:spPr>
        <p:txBody>
          <a:bodyPr anchor="t"/>
          <a:lstStyle>
            <a:lvl1pPr algn="l">
              <a:defRPr sz="3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3865099"/>
            <a:ext cx="7315200" cy="1098439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56C7F-C199-47A3-AF94-EAE81E21E31B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EF8AE-9767-4E5A-802F-66A2B36F74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4266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56C7F-C199-47A3-AF94-EAE81E21E31B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EF8AE-9767-4E5A-802F-66A2B36F74A8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914400" y="1544717"/>
            <a:ext cx="7315200" cy="115409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914400" y="2743200"/>
            <a:ext cx="3566160" cy="359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81728" y="2743202"/>
            <a:ext cx="3566160" cy="35956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973136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6348" y="2743200"/>
            <a:ext cx="3364992" cy="621792"/>
          </a:xfrm>
        </p:spPr>
        <p:txBody>
          <a:bodyPr anchor="b">
            <a:noAutofit/>
          </a:bodyPr>
          <a:lstStyle>
            <a:lvl1pPr marL="0" indent="0">
              <a:buNone/>
              <a:defRPr sz="1500" b="1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5145" y="2743200"/>
            <a:ext cx="3362062" cy="621792"/>
          </a:xfrm>
        </p:spPr>
        <p:txBody>
          <a:bodyPr anchor="b">
            <a:noAutofit/>
          </a:bodyPr>
          <a:lstStyle>
            <a:lvl1pPr marL="0" indent="0">
              <a:buNone/>
              <a:defRPr sz="1500" b="1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56C7F-C199-47A3-AF94-EAE81E21E31B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EF8AE-9767-4E5A-802F-66A2B36F74A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914400" y="1544717"/>
            <a:ext cx="7315200" cy="115409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914400" y="3383280"/>
            <a:ext cx="3566160" cy="29535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81727" y="3383280"/>
            <a:ext cx="3566160" cy="29535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6342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56C7F-C199-47A3-AF94-EAE81E21E31B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EF8AE-9767-4E5A-802F-66A2B36F74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1286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56C7F-C199-47A3-AF94-EAE81E21E31B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EF8AE-9767-4E5A-802F-66A2B36F74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0982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825364"/>
            <a:ext cx="2950936" cy="2173015"/>
          </a:xfrm>
        </p:spPr>
        <p:txBody>
          <a:bodyPr anchor="b">
            <a:normAutofit/>
          </a:bodyPr>
          <a:lstStyle>
            <a:lvl1pPr algn="l">
              <a:defRPr sz="21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21752" y="1826709"/>
            <a:ext cx="4207848" cy="4476614"/>
          </a:xfrm>
        </p:spPr>
        <p:txBody>
          <a:bodyPr anchor="ctr"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4061097"/>
            <a:ext cx="2950936" cy="224538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56C7F-C199-47A3-AF94-EAE81E21E31B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EF8AE-9767-4E5A-802F-66A2B36F74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687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828800"/>
            <a:ext cx="2953512" cy="2176272"/>
          </a:xfrm>
        </p:spPr>
        <p:txBody>
          <a:bodyPr anchor="b">
            <a:normAutofit/>
          </a:bodyPr>
          <a:lstStyle>
            <a:lvl1pPr algn="l">
              <a:defRPr sz="21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191000" y="2286000"/>
            <a:ext cx="4038600" cy="3352800"/>
          </a:xfrm>
          <a:solidFill>
            <a:schemeClr val="accent2"/>
          </a:solidFill>
          <a:ln w="12700">
            <a:noFill/>
          </a:ln>
          <a:effectLst>
            <a:reflection blurRad="12700" stA="30000" endPos="30000" dist="31750" dir="5400000" sy="-100000" algn="bl" rotWithShape="0"/>
          </a:effectLst>
          <a:scene3d>
            <a:camera prst="perspectiveRight" fov="2700000">
              <a:rot lat="240000" lon="900000" rev="0"/>
            </a:camera>
            <a:lightRig rig="threePt" dir="t">
              <a:rot lat="0" lon="0" rev="2700000"/>
            </a:lightRig>
          </a:scene3d>
          <a:sp3d/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4059936"/>
            <a:ext cx="2953512" cy="2249424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56C7F-C199-47A3-AF94-EAE81E21E31B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EF8AE-9767-4E5A-802F-66A2B36F74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268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56C7F-C199-47A3-AF94-EAE81E21E31B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EF8AE-9767-4E5A-802F-66A2B36F74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162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48401" y="1826709"/>
            <a:ext cx="1492499" cy="448445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4524" y="1826709"/>
            <a:ext cx="5241476" cy="448445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56C7F-C199-47A3-AF94-EAE81E21E31B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EF8AE-9767-4E5A-802F-66A2B36F74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6274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8435268" y="573807"/>
            <a:ext cx="86236" cy="5723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1" name="Rectangle 10"/>
          <p:cNvSpPr/>
          <p:nvPr/>
        </p:nvSpPr>
        <p:spPr>
          <a:xfrm>
            <a:off x="8569419" y="573807"/>
            <a:ext cx="576072" cy="5723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4400" y="1544717"/>
            <a:ext cx="7315200" cy="11540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2769835"/>
            <a:ext cx="7315200" cy="35395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07691" y="548797"/>
            <a:ext cx="1189132" cy="29791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fld id="{C7856C7F-C199-47A3-AF94-EAE81E21E31B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314416" y="548797"/>
            <a:ext cx="941203" cy="3017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E13EF8AE-9767-4E5A-802F-66A2B36F74A8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08689" y="855958"/>
            <a:ext cx="2246489" cy="301227"/>
          </a:xfrm>
          <a:prstGeom prst="rect">
            <a:avLst/>
          </a:prstGeom>
        </p:spPr>
        <p:txBody>
          <a:bodyPr vert="horz" lIns="91440" tIns="0" rIns="91440" bIns="45720" rtlCol="0" anchor="t"/>
          <a:lstStyle>
            <a:lvl1pPr algn="l">
              <a:defRPr sz="7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79216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85800" rtl="0" eaLnBrk="1" latinLnBrk="0" hangingPunct="1">
        <a:spcBef>
          <a:spcPct val="0"/>
        </a:spcBef>
        <a:buNone/>
        <a:defRPr sz="30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171450" indent="-137160" algn="l" defTabSz="6858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77190" indent="-137160" algn="l" defTabSz="6858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indent="-137160" algn="l" defTabSz="6858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137160" algn="l" defTabSz="6858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857250" indent="-137160" algn="l" defTabSz="6858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050" kern="1200">
          <a:solidFill>
            <a:schemeClr val="tx1"/>
          </a:solidFill>
          <a:latin typeface="+mn-lt"/>
          <a:ea typeface="+mn-ea"/>
          <a:cs typeface="+mn-cs"/>
        </a:defRPr>
      </a:lvl5pPr>
      <a:lvl6pPr marL="1028700" indent="-137160" algn="l" defTabSz="6858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1200150" indent="-137160" algn="l" defTabSz="6858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1371600" indent="-137160" algn="l" defTabSz="6858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1543050" indent="-137160" algn="l" defTabSz="6858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DBC78-9C7F-3616-C499-4CEC5E7C9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55FE838-81AC-BB3F-2F6C-711B3483F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 - Cursul 4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A5E4350-88E5-5B7B-D187-C2951ADF04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Funcții(metode) în C#</a:t>
            </a:r>
          </a:p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O metodă este un bloc de cod care conține un grup de instrucțiuni care împreună execută o sarcină. Fiecare program C# are cel puțin o clasă cu o metodă numită Main.</a:t>
            </a: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Pentru a utiliza o metodă, trebuie să:</a:t>
            </a:r>
          </a:p>
          <a:p>
            <a:pPr algn="just"/>
            <a:r>
              <a:rPr lang="ro-RO" sz="2800" noProof="0" dirty="0">
                <a:solidFill>
                  <a:srgbClr val="00B0F0"/>
                </a:solidFill>
              </a:rPr>
              <a:t>Definim metoda</a:t>
            </a:r>
          </a:p>
          <a:p>
            <a:pPr algn="just"/>
            <a:r>
              <a:rPr lang="ro-RO" sz="2800" noProof="0" dirty="0">
                <a:solidFill>
                  <a:srgbClr val="00B0F0"/>
                </a:solidFill>
              </a:rPr>
              <a:t>Apelam metoda</a:t>
            </a: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22766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315A4-31A8-84C9-438C-A68FDDA08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CA29141-CC5D-D89B-E991-B42EF4758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 - Cursul 4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9EF1170-3E7C-8A2A-DCD6-066D3B493C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Funcții(metode) în C#</a:t>
            </a:r>
          </a:p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Definirea metodelor în C#</a:t>
            </a:r>
          </a:p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Când definim o metodă, declaram practic elementele structurii sale. Sintaxa pentru definirea unei metode în C# este următoarea:</a:t>
            </a:r>
          </a:p>
          <a:p>
            <a:pPr marL="34290" indent="0" algn="just">
              <a:buNone/>
            </a:pPr>
            <a:endParaRPr lang="ro-RO" sz="2000" b="1" i="0" noProof="0" dirty="0">
              <a:solidFill>
                <a:srgbClr val="67CDCC"/>
              </a:solidFill>
              <a:effectLst/>
              <a:latin typeface="Courier New" panose="02070309020205020404" pitchFamily="49" charset="0"/>
            </a:endParaRPr>
          </a:p>
          <a:p>
            <a:pPr marL="34290" indent="0" algn="just">
              <a:buNone/>
            </a:pPr>
            <a:r>
              <a:rPr lang="ro-RO" sz="20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&lt;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Access </a:t>
            </a:r>
            <a:r>
              <a:rPr lang="ro-RO" sz="20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Specifier</a:t>
            </a:r>
            <a:r>
              <a:rPr lang="ro-RO" sz="20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&gt;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&lt;</a:t>
            </a:r>
            <a:r>
              <a:rPr lang="ro-RO" sz="20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Return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Type</a:t>
            </a:r>
            <a:r>
              <a:rPr lang="ro-RO" sz="20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&gt;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&lt;</a:t>
            </a:r>
            <a:r>
              <a:rPr lang="ro-RO" sz="20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Method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Name</a:t>
            </a:r>
            <a:r>
              <a:rPr lang="ro-RO" sz="20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&gt; 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ro-RO" sz="20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Parameter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List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) </a:t>
            </a:r>
          </a:p>
          <a:p>
            <a:pPr marL="34290" indent="0" algn="just">
              <a:buNone/>
            </a:pP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{ 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</a:t>
            </a:r>
            <a:r>
              <a:rPr lang="ro-RO" sz="20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Method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Body </a:t>
            </a:r>
          </a:p>
          <a:p>
            <a:pPr marL="34290" indent="0" algn="just">
              <a:buNone/>
            </a:pP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}</a:t>
            </a:r>
            <a:endParaRPr lang="ro-RO" sz="2000" b="1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64450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641915-CAE2-12BB-0B15-334522ACC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4EE5444-188A-63A1-6A72-278B0B02B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 - Cursul 4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74FD0BB-9A9B-275C-6656-B0ACABB82C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Funcții(metode) în C#</a:t>
            </a:r>
          </a:p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Elementele unei metode C#</a:t>
            </a:r>
          </a:p>
          <a:p>
            <a:pPr algn="just"/>
            <a:endParaRPr lang="ro-RO" sz="2800" noProof="0" dirty="0">
              <a:solidFill>
                <a:srgbClr val="00B0F0"/>
              </a:solidFill>
            </a:endParaRPr>
          </a:p>
          <a:p>
            <a:pPr algn="just"/>
            <a:r>
              <a:rPr lang="ro-RO" sz="2800" noProof="0" dirty="0">
                <a:solidFill>
                  <a:srgbClr val="00B0F0"/>
                </a:solidFill>
              </a:rPr>
              <a:t>Specificatorul de acces − Acesta determină vizibilitatea unei variabile sau a unei metode dintr-o altă clasă.</a:t>
            </a: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  <a:p>
            <a:pPr algn="just"/>
            <a:r>
              <a:rPr lang="ro-RO" sz="2800" noProof="0" dirty="0">
                <a:solidFill>
                  <a:srgbClr val="00B0F0"/>
                </a:solidFill>
              </a:rPr>
              <a:t>Tipul returnat − O metodă poate returna o valoare. Tipul returnat este tipul de date al valorii returnate de metodă. Dacă metoda nu returnează nicio valoare, atunci tipul returnat este </a:t>
            </a:r>
            <a:r>
              <a:rPr lang="ro-RO" sz="2800" noProof="0" dirty="0" err="1">
                <a:solidFill>
                  <a:srgbClr val="00B0F0"/>
                </a:solidFill>
              </a:rPr>
              <a:t>void</a:t>
            </a:r>
            <a:r>
              <a:rPr lang="ro-RO" sz="2800" noProof="0" dirty="0">
                <a:solidFill>
                  <a:srgbClr val="00B0F0"/>
                </a:solidFill>
              </a:rPr>
              <a:t>.</a:t>
            </a: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95039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93EBC2-0D9C-849E-E514-337C1F0EF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B668D2B-3B8E-CF83-2D0E-E83182840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 - Cursul 4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477AA0C-F1D8-3A4A-8283-8AE2D8C2C7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Funcții(metode) în C#</a:t>
            </a:r>
          </a:p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Elementele unei metode C#</a:t>
            </a:r>
          </a:p>
          <a:p>
            <a:pPr algn="just"/>
            <a:r>
              <a:rPr lang="ro-RO" sz="2800" noProof="0" dirty="0">
                <a:solidFill>
                  <a:srgbClr val="00B0F0"/>
                </a:solidFill>
              </a:rPr>
              <a:t>Numele metodei − este un identificator unic și este sensibil la majuscule/minuscule. Nu poate fi același cu niciun alt identificator declarat în clasă.</a:t>
            </a:r>
          </a:p>
          <a:p>
            <a:pPr algn="just"/>
            <a:r>
              <a:rPr lang="ro-RO" sz="2800" noProof="0" dirty="0">
                <a:solidFill>
                  <a:srgbClr val="00B0F0"/>
                </a:solidFill>
              </a:rPr>
              <a:t>Lista de parametri − Între paranteze, parametrii sunt utilizați pentru a transmite și a primi date de la o metodă. Lista de parametri se referă la tipul, ordinea și numărul parametrilor unei metode. Parametrii sunt opționali; adică, o metodă nu poate conține parametri.</a:t>
            </a:r>
          </a:p>
          <a:p>
            <a:pPr algn="just"/>
            <a:endParaRPr lang="ro-RO" sz="2800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08574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6E51F6-FC33-A066-4BB5-A52678A75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62811A5-C6F8-7A62-8707-CFCCEDD68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 - Cursul 4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11798DB-5A67-A047-69D5-DE38DFC1D8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Funcții(metode) în C#</a:t>
            </a:r>
          </a:p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Elementele unei metode C#</a:t>
            </a: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  <a:p>
            <a:pPr algn="just"/>
            <a:r>
              <a:rPr lang="ro-RO" sz="2800" noProof="0" dirty="0">
                <a:solidFill>
                  <a:srgbClr val="00B0F0"/>
                </a:solidFill>
              </a:rPr>
              <a:t>Corpul metodei − Acesta conține setul de instrucțiuni necesare pentru a finaliza activitatea solicitată.</a:t>
            </a: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43077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99F0DD-EE46-616B-C451-085C3DFCB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10F80CF-5B79-362F-F62B-733B89771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 - Cursul 4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C2C1DC7-30AD-6B35-6F99-BE6D6913FA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Funcții(metode) în C#</a:t>
            </a:r>
          </a:p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Definirea unei metode – exemplu</a:t>
            </a:r>
          </a:p>
          <a:p>
            <a:pPr marL="34290" indent="0" algn="just">
              <a:buNone/>
            </a:pPr>
            <a:r>
              <a:rPr lang="ro-RO" sz="20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class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NumberManipulator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{ 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</a:t>
            </a:r>
            <a:r>
              <a:rPr lang="ro-RO" sz="2000" b="1" i="0" noProof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public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FindMax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ro-RO" sz="20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num1, </a:t>
            </a:r>
            <a:r>
              <a:rPr lang="ro-RO" sz="20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num2) { 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lang="ro-RO" sz="20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result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; 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lang="ro-RO" sz="20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if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(num1 </a:t>
            </a:r>
            <a:r>
              <a:rPr lang="ro-RO" sz="20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&gt;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num2) 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  </a:t>
            </a:r>
            <a:r>
              <a:rPr lang="ro-RO" sz="20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result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num1; 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lang="ro-RO" sz="20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else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  </a:t>
            </a:r>
            <a:r>
              <a:rPr lang="ro-RO" sz="20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result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num2; 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lang="ro-RO" sz="20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return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result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; 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} 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</a:t>
            </a:r>
            <a:r>
              <a:rPr lang="ro-RO" sz="20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..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. 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</a:t>
            </a:r>
            <a:r>
              <a:rPr lang="ro-RO" sz="20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..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. </a:t>
            </a:r>
          </a:p>
          <a:p>
            <a:pPr marL="34290" indent="0" algn="just">
              <a:buNone/>
            </a:pP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}</a:t>
            </a:r>
            <a:endParaRPr lang="ro-RO" sz="2000" b="1" noProof="0" dirty="0">
              <a:solidFill>
                <a:srgbClr val="00B0F0"/>
              </a:solidFill>
            </a:endParaRP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67571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B5C2B-F144-6579-138D-7081B76AD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3CDA460-7C46-243D-0E38-A3B6F1C90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 - Cursul 4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F677843-27A6-E8F9-AC2C-FAF4AF9C4D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Funcții(metode) în C#</a:t>
            </a:r>
          </a:p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Apelul metodelor</a:t>
            </a:r>
          </a:p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Putem apela o metodă folosind numele acesteia împreună cu paranteze (). Dacă metoda aparține unui obiect, o apelați folosind numele obiectului urmat de un punct (.). Dacă este o metodă statică, o apelați folosind numele clasei.</a:t>
            </a:r>
          </a:p>
        </p:txBody>
      </p:sp>
    </p:spTree>
    <p:extLst>
      <p:ext uri="{BB962C8B-B14F-4D97-AF65-F5344CB8AC3E}">
        <p14:creationId xmlns:p14="http://schemas.microsoft.com/office/powerpoint/2010/main" val="29849455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8D3CC9-EBBD-EF65-5B66-1487F0C8F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ED96997-8AEB-7577-B3CF-685FA5CF2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 - Cursul 4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0B2B3E-AD37-F703-004C-2097AD1CD5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Funcții(metode) în C# - exemplu apel metoda</a:t>
            </a:r>
          </a:p>
          <a:p>
            <a:pPr marL="34290" indent="0" algn="just">
              <a:buNone/>
            </a:pPr>
            <a:r>
              <a:rPr lang="ro-RO" sz="20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using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System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; </a:t>
            </a:r>
          </a:p>
          <a:p>
            <a:pPr marL="34290" indent="0" algn="just">
              <a:buNone/>
            </a:pPr>
            <a:r>
              <a:rPr lang="ro-RO" sz="20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namespace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CalculatorApplication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{</a:t>
            </a:r>
          </a:p>
          <a:p>
            <a:pPr marL="34290" indent="0" algn="just">
              <a:buNone/>
            </a:pPr>
            <a:r>
              <a:rPr lang="ro-RO" sz="20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class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NumberManipulator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{ 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</a:t>
            </a:r>
            <a:r>
              <a:rPr lang="ro-RO" sz="2000" b="1" i="0" noProof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public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FindMax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ro-RO" sz="20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num1, </a:t>
            </a:r>
            <a:r>
              <a:rPr lang="ro-RO" sz="20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num2) { 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result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; 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lang="ro-RO" sz="20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if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(num1 </a:t>
            </a:r>
            <a:r>
              <a:rPr lang="ro-RO" sz="20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&gt;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num2) </a:t>
            </a:r>
            <a:r>
              <a:rPr lang="ro-RO" sz="20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result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num1; 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lang="ro-RO" sz="20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else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result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num2; 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lang="ro-RO" sz="20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return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result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; 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}</a:t>
            </a:r>
            <a:endParaRPr lang="ro-RO" sz="2800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04591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2D3ACA-7ADC-4FE6-8992-BEF4FB786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EF41BBE-3024-2109-B4B1-806941892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 - Cursul 4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B2E8978-9896-64FF-0225-2F531E4F14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Funcții(metode) în C#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99CD"/>
                </a:solidFill>
                <a:latin typeface="Courier New" panose="02070309020205020404" pitchFamily="49" charset="0"/>
              </a:rPr>
              <a:t>  static</a:t>
            </a: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CC99CD"/>
                </a:solidFill>
                <a:latin typeface="Courier New" panose="02070309020205020404" pitchFamily="49" charset="0"/>
              </a:rPr>
              <a:t>void</a:t>
            </a: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r>
              <a:rPr lang="ro-RO" sz="2000" b="1" noProof="0" dirty="0">
                <a:solidFill>
                  <a:srgbClr val="F08D49"/>
                </a:solidFill>
                <a:latin typeface="Courier New" panose="02070309020205020404" pitchFamily="49" charset="0"/>
              </a:rPr>
              <a:t>Main</a:t>
            </a: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(</a:t>
            </a:r>
            <a:r>
              <a:rPr lang="ro-RO" sz="2000" b="1" noProof="0" dirty="0" err="1">
                <a:solidFill>
                  <a:srgbClr val="CC99CD"/>
                </a:solidFill>
                <a:latin typeface="Courier New" panose="02070309020205020404" pitchFamily="49" charset="0"/>
              </a:rPr>
              <a:t>string</a:t>
            </a: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[] </a:t>
            </a:r>
            <a:r>
              <a:rPr lang="ro-RO" sz="2000" b="1" noProof="0" dirty="0" err="1">
                <a:solidFill>
                  <a:srgbClr val="CCCCCC"/>
                </a:solidFill>
                <a:latin typeface="Courier New" panose="02070309020205020404" pitchFamily="49" charset="0"/>
              </a:rPr>
              <a:t>args</a:t>
            </a: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) {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lang="ro-RO" sz="2000" b="1" noProof="0" dirty="0" err="1">
                <a:solidFill>
                  <a:srgbClr val="CC99CD"/>
                </a:solidFill>
                <a:latin typeface="Courier New" panose="02070309020205020404" pitchFamily="49" charset="0"/>
              </a:rPr>
              <a:t>int</a:t>
            </a: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a </a:t>
            </a:r>
            <a:r>
              <a:rPr lang="ro-RO" sz="2000" b="1" noProof="0" dirty="0">
                <a:solidFill>
                  <a:srgbClr val="67CDCC"/>
                </a:solidFill>
                <a:latin typeface="Courier New" panose="02070309020205020404" pitchFamily="49" charset="0"/>
              </a:rPr>
              <a:t>=</a:t>
            </a: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r>
              <a:rPr lang="ro-RO" sz="2000" b="1" noProof="0" dirty="0">
                <a:solidFill>
                  <a:srgbClr val="F08D49"/>
                </a:solidFill>
                <a:latin typeface="Courier New" panose="02070309020205020404" pitchFamily="49" charset="0"/>
              </a:rPr>
              <a:t>100</a:t>
            </a: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; 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lang="ro-RO" sz="2000" b="1" noProof="0" dirty="0" err="1">
                <a:solidFill>
                  <a:srgbClr val="CC99CD"/>
                </a:solidFill>
                <a:latin typeface="Courier New" panose="02070309020205020404" pitchFamily="49" charset="0"/>
              </a:rPr>
              <a:t>int</a:t>
            </a: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b </a:t>
            </a:r>
            <a:r>
              <a:rPr lang="ro-RO" sz="2000" b="1" noProof="0" dirty="0">
                <a:solidFill>
                  <a:srgbClr val="67CDCC"/>
                </a:solidFill>
                <a:latin typeface="Courier New" panose="02070309020205020404" pitchFamily="49" charset="0"/>
              </a:rPr>
              <a:t>=</a:t>
            </a: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r>
              <a:rPr lang="ro-RO" sz="2000" b="1" noProof="0" dirty="0">
                <a:solidFill>
                  <a:srgbClr val="F08D49"/>
                </a:solidFill>
                <a:latin typeface="Courier New" panose="02070309020205020404" pitchFamily="49" charset="0"/>
              </a:rPr>
              <a:t>200</a:t>
            </a: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; 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lang="ro-RO" sz="2000" b="1" noProof="0" dirty="0" err="1">
                <a:solidFill>
                  <a:srgbClr val="CC99CD"/>
                </a:solidFill>
                <a:latin typeface="Courier New" panose="02070309020205020404" pitchFamily="49" charset="0"/>
              </a:rPr>
              <a:t>int</a:t>
            </a: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ret;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lang="ro-RO" sz="2000" b="1" noProof="0" dirty="0" err="1">
                <a:solidFill>
                  <a:srgbClr val="CCCCCC"/>
                </a:solidFill>
                <a:latin typeface="Courier New" panose="02070309020205020404" pitchFamily="49" charset="0"/>
              </a:rPr>
              <a:t>NumberManipulator</a:t>
            </a: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n </a:t>
            </a:r>
            <a:r>
              <a:rPr lang="ro-RO" sz="2000" b="1" noProof="0" dirty="0">
                <a:solidFill>
                  <a:srgbClr val="67CDCC"/>
                </a:solidFill>
                <a:latin typeface="Courier New" panose="02070309020205020404" pitchFamily="49" charset="0"/>
              </a:rPr>
              <a:t>=</a:t>
            </a: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CC99CD"/>
                </a:solidFill>
                <a:latin typeface="Courier New" panose="02070309020205020404" pitchFamily="49" charset="0"/>
              </a:rPr>
              <a:t>new</a:t>
            </a: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CCCCCC"/>
                </a:solidFill>
                <a:latin typeface="Courier New" panose="02070309020205020404" pitchFamily="49" charset="0"/>
              </a:rPr>
              <a:t>NumberManipulator</a:t>
            </a: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();    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ret </a:t>
            </a:r>
            <a:r>
              <a:rPr lang="ro-RO" sz="2000" b="1" noProof="0" dirty="0">
                <a:solidFill>
                  <a:srgbClr val="67CDCC"/>
                </a:solidFill>
                <a:latin typeface="Courier New" panose="02070309020205020404" pitchFamily="49" charset="0"/>
              </a:rPr>
              <a:t>=</a:t>
            </a: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CCCCCC"/>
                </a:solidFill>
                <a:latin typeface="Courier New" panose="02070309020205020404" pitchFamily="49" charset="0"/>
              </a:rPr>
              <a:t>n.</a:t>
            </a:r>
            <a:r>
              <a:rPr lang="ro-RO" sz="2000" b="1" noProof="0" dirty="0" err="1">
                <a:solidFill>
                  <a:srgbClr val="F08D49"/>
                </a:solidFill>
                <a:latin typeface="Courier New" panose="02070309020205020404" pitchFamily="49" charset="0"/>
              </a:rPr>
              <a:t>FindMax</a:t>
            </a: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(a, b); 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lang="ro-RO" sz="2000" b="1" noProof="0" dirty="0" err="1">
                <a:solidFill>
                  <a:srgbClr val="CCCCCC"/>
                </a:solidFill>
                <a:latin typeface="Courier New" panose="02070309020205020404" pitchFamily="49" charset="0"/>
              </a:rPr>
              <a:t>Console.</a:t>
            </a:r>
            <a:r>
              <a:rPr lang="ro-RO" sz="2000" b="1" noProof="0" dirty="0" err="1">
                <a:solidFill>
                  <a:srgbClr val="F08D49"/>
                </a:solidFill>
                <a:latin typeface="Courier New" panose="02070309020205020404" pitchFamily="49" charset="0"/>
              </a:rPr>
              <a:t>WriteLine</a:t>
            </a: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(</a:t>
            </a:r>
            <a:r>
              <a:rPr lang="ro-RO" sz="2000" b="1" noProof="0" dirty="0">
                <a:solidFill>
                  <a:srgbClr val="7EC699"/>
                </a:solidFill>
                <a:latin typeface="Courier New" panose="02070309020205020404" pitchFamily="49" charset="0"/>
              </a:rPr>
              <a:t>"Max </a:t>
            </a:r>
            <a:r>
              <a:rPr lang="ro-RO" sz="2000" b="1" noProof="0" dirty="0" err="1">
                <a:solidFill>
                  <a:srgbClr val="7EC699"/>
                </a:solidFill>
                <a:latin typeface="Courier New" panose="02070309020205020404" pitchFamily="49" charset="0"/>
              </a:rPr>
              <a:t>value</a:t>
            </a:r>
            <a:r>
              <a:rPr lang="ro-RO" sz="2000" b="1" noProof="0" dirty="0">
                <a:solidFill>
                  <a:srgbClr val="7EC699"/>
                </a:solidFill>
                <a:latin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7EC699"/>
                </a:solidFill>
                <a:latin typeface="Courier New" panose="02070309020205020404" pitchFamily="49" charset="0"/>
              </a:rPr>
              <a:t>is</a:t>
            </a:r>
            <a:r>
              <a:rPr lang="ro-RO" sz="2000" b="1" noProof="0" dirty="0">
                <a:solidFill>
                  <a:srgbClr val="7EC699"/>
                </a:solidFill>
                <a:latin typeface="Courier New" panose="02070309020205020404" pitchFamily="49" charset="0"/>
              </a:rPr>
              <a:t> : {0}"</a:t>
            </a: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, ret );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}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}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}</a:t>
            </a:r>
            <a:endParaRPr lang="ro-RO" sz="2000" b="1" noProof="0" dirty="0">
              <a:solidFill>
                <a:srgbClr val="00B0F0"/>
              </a:solidFill>
            </a:endParaRPr>
          </a:p>
          <a:p>
            <a:pPr marL="34290" indent="0" algn="just">
              <a:buNone/>
            </a:pPr>
            <a:endParaRPr lang="ro-RO" sz="3600" noProof="0" dirty="0">
              <a:solidFill>
                <a:srgbClr val="00B0F0"/>
              </a:solidFill>
            </a:endParaRP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60106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E50991-246C-C6AA-8B4C-92B2B7A30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41C8D1A-F720-CBBA-1332-8E25537EC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 - Cursul 4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AB574A4-9BE2-6E08-225A-542EFDF2A8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Funcții(metode) în C#</a:t>
            </a:r>
          </a:p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Apelul recursiv al unei metode</a:t>
            </a:r>
          </a:p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O metodă se poate apela singură. Aceasta se numește apel recursiv. Exemplu: funcția factorial.</a:t>
            </a:r>
          </a:p>
          <a:p>
            <a:pPr marL="34290" indent="0" algn="just">
              <a:buNone/>
            </a:pPr>
            <a:r>
              <a:rPr lang="ro-RO" sz="20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using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System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; </a:t>
            </a:r>
          </a:p>
          <a:p>
            <a:pPr marL="34290" indent="0" algn="just">
              <a:buNone/>
            </a:pPr>
            <a:r>
              <a:rPr lang="ro-RO" sz="20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namespace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CalculatorApplication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{</a:t>
            </a:r>
          </a:p>
          <a:p>
            <a:pPr marL="34290" indent="0" algn="just">
              <a:buNone/>
            </a:pPr>
            <a:r>
              <a:rPr lang="ro-RO" sz="20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class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NumberManipulator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{ 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</a:t>
            </a:r>
            <a:r>
              <a:rPr lang="ro-RO" sz="2000" b="1" i="0" noProof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public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factorial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ro-RO" sz="20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num) { 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result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; 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lang="ro-RO" sz="20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if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(num </a:t>
            </a:r>
            <a:r>
              <a:rPr lang="ro-RO" sz="20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==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) { </a:t>
            </a:r>
            <a:r>
              <a:rPr lang="ro-RO" sz="20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return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; } 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lang="ro-RO" sz="20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else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{ 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  </a:t>
            </a:r>
            <a:r>
              <a:rPr lang="ro-RO" sz="20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result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factorial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(num </a:t>
            </a:r>
            <a:r>
              <a:rPr lang="ro-RO" sz="20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-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) </a:t>
            </a:r>
            <a:r>
              <a:rPr lang="ro-RO" sz="20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*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num;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 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return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result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; 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}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}</a:t>
            </a:r>
            <a:endParaRPr lang="ro-RO" sz="2000" b="1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29592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771D2-6772-F9A0-B139-6DA97769A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ECCE128-9DCF-1FCD-30AC-0DDBB5A8B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 - Cursul 4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35141F9-8007-A951-F808-EBBE4E899E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Funcții(metode) în C#</a:t>
            </a:r>
          </a:p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Apelul recursiv al unei metode</a:t>
            </a:r>
          </a:p>
          <a:p>
            <a:pPr marL="34290" indent="0" algn="just">
              <a:buNone/>
            </a:pPr>
            <a:r>
              <a:rPr lang="ro-RO" sz="28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</a:t>
            </a:r>
            <a:r>
              <a:rPr lang="ro-RO" sz="2000" b="1" noProof="0" dirty="0">
                <a:solidFill>
                  <a:srgbClr val="CC99CD"/>
                </a:solidFill>
                <a:latin typeface="Courier New" panose="02070309020205020404" pitchFamily="49" charset="0"/>
              </a:rPr>
              <a:t>static</a:t>
            </a: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CC99CD"/>
                </a:solidFill>
                <a:latin typeface="Courier New" panose="02070309020205020404" pitchFamily="49" charset="0"/>
              </a:rPr>
              <a:t>void</a:t>
            </a: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r>
              <a:rPr lang="ro-RO" sz="2000" b="1" noProof="0" dirty="0">
                <a:solidFill>
                  <a:srgbClr val="F08D49"/>
                </a:solidFill>
                <a:latin typeface="Courier New" panose="02070309020205020404" pitchFamily="49" charset="0"/>
              </a:rPr>
              <a:t>Main</a:t>
            </a: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(</a:t>
            </a:r>
            <a:r>
              <a:rPr lang="ro-RO" sz="2000" b="1" noProof="0" dirty="0" err="1">
                <a:solidFill>
                  <a:srgbClr val="CC99CD"/>
                </a:solidFill>
                <a:latin typeface="Courier New" panose="02070309020205020404" pitchFamily="49" charset="0"/>
              </a:rPr>
              <a:t>string</a:t>
            </a: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[] </a:t>
            </a:r>
            <a:r>
              <a:rPr lang="ro-RO" sz="2000" b="1" noProof="0" dirty="0" err="1">
                <a:solidFill>
                  <a:srgbClr val="CCCCCC"/>
                </a:solidFill>
                <a:latin typeface="Courier New" panose="02070309020205020404" pitchFamily="49" charset="0"/>
              </a:rPr>
              <a:t>args</a:t>
            </a: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) {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 </a:t>
            </a:r>
            <a:r>
              <a:rPr lang="ro-RO" sz="2000" b="1" noProof="0" dirty="0" err="1">
                <a:solidFill>
                  <a:srgbClr val="CCCCCC"/>
                </a:solidFill>
                <a:latin typeface="Courier New" panose="02070309020205020404" pitchFamily="49" charset="0"/>
              </a:rPr>
              <a:t>NumberManipulator</a:t>
            </a: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n </a:t>
            </a:r>
            <a:r>
              <a:rPr lang="ro-RO" sz="2000" b="1" noProof="0" dirty="0">
                <a:solidFill>
                  <a:srgbClr val="67CDCC"/>
                </a:solidFill>
                <a:latin typeface="Courier New" panose="02070309020205020404" pitchFamily="49" charset="0"/>
              </a:rPr>
              <a:t>=</a:t>
            </a: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CC99CD"/>
                </a:solidFill>
                <a:latin typeface="Courier New" panose="02070309020205020404" pitchFamily="49" charset="0"/>
              </a:rPr>
              <a:t>new</a:t>
            </a: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CCCCCC"/>
                </a:solidFill>
                <a:latin typeface="Courier New" panose="02070309020205020404" pitchFamily="49" charset="0"/>
              </a:rPr>
              <a:t>NumberManipulator</a:t>
            </a: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();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 </a:t>
            </a:r>
            <a:r>
              <a:rPr lang="ro-RO" sz="2000" b="1" noProof="0" dirty="0" err="1">
                <a:solidFill>
                  <a:srgbClr val="CCCCCC"/>
                </a:solidFill>
                <a:latin typeface="Courier New" panose="02070309020205020404" pitchFamily="49" charset="0"/>
              </a:rPr>
              <a:t>Console.</a:t>
            </a:r>
            <a:r>
              <a:rPr lang="ro-RO" sz="2000" b="1" noProof="0" dirty="0" err="1">
                <a:solidFill>
                  <a:srgbClr val="F08D49"/>
                </a:solidFill>
                <a:latin typeface="Courier New" panose="02070309020205020404" pitchFamily="49" charset="0"/>
              </a:rPr>
              <a:t>WriteLine</a:t>
            </a: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(</a:t>
            </a:r>
            <a:r>
              <a:rPr lang="ro-RO" sz="2000" b="1" noProof="0" dirty="0">
                <a:solidFill>
                  <a:srgbClr val="7EC699"/>
                </a:solidFill>
                <a:latin typeface="Courier New" panose="02070309020205020404" pitchFamily="49" charset="0"/>
              </a:rPr>
              <a:t>"Factorial of 7 </a:t>
            </a:r>
            <a:r>
              <a:rPr lang="ro-RO" sz="2000" b="1" noProof="0" dirty="0" err="1">
                <a:solidFill>
                  <a:srgbClr val="7EC699"/>
                </a:solidFill>
                <a:latin typeface="Courier New" panose="02070309020205020404" pitchFamily="49" charset="0"/>
              </a:rPr>
              <a:t>is</a:t>
            </a:r>
            <a:r>
              <a:rPr lang="ro-RO" sz="2000" b="1" noProof="0" dirty="0">
                <a:solidFill>
                  <a:srgbClr val="7EC699"/>
                </a:solidFill>
                <a:latin typeface="Courier New" panose="02070309020205020404" pitchFamily="49" charset="0"/>
              </a:rPr>
              <a:t> : {0}"</a:t>
            </a: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, </a:t>
            </a:r>
            <a:r>
              <a:rPr lang="ro-RO" sz="2000" b="1" noProof="0" dirty="0" err="1">
                <a:solidFill>
                  <a:srgbClr val="CCCCCC"/>
                </a:solidFill>
                <a:latin typeface="Courier New" panose="02070309020205020404" pitchFamily="49" charset="0"/>
              </a:rPr>
              <a:t>n.</a:t>
            </a:r>
            <a:r>
              <a:rPr lang="ro-RO" sz="2000" b="1" noProof="0" dirty="0" err="1">
                <a:solidFill>
                  <a:srgbClr val="F08D49"/>
                </a:solidFill>
                <a:latin typeface="Courier New" panose="02070309020205020404" pitchFamily="49" charset="0"/>
              </a:rPr>
              <a:t>factorial</a:t>
            </a: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(</a:t>
            </a:r>
            <a:r>
              <a:rPr lang="ro-RO" sz="2000" b="1" noProof="0" dirty="0">
                <a:solidFill>
                  <a:srgbClr val="F08D49"/>
                </a:solidFill>
                <a:latin typeface="Courier New" panose="02070309020205020404" pitchFamily="49" charset="0"/>
              </a:rPr>
              <a:t>7</a:t>
            </a: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)); 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 </a:t>
            </a:r>
            <a:r>
              <a:rPr lang="ro-RO" sz="2000" b="1" noProof="0" dirty="0" err="1">
                <a:solidFill>
                  <a:srgbClr val="CCCCCC"/>
                </a:solidFill>
                <a:latin typeface="Courier New" panose="02070309020205020404" pitchFamily="49" charset="0"/>
              </a:rPr>
              <a:t>Console.</a:t>
            </a:r>
            <a:r>
              <a:rPr lang="ro-RO" sz="2000" b="1" noProof="0" dirty="0" err="1">
                <a:solidFill>
                  <a:srgbClr val="F08D49"/>
                </a:solidFill>
                <a:latin typeface="Courier New" panose="02070309020205020404" pitchFamily="49" charset="0"/>
              </a:rPr>
              <a:t>WriteLine</a:t>
            </a: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(</a:t>
            </a:r>
            <a:r>
              <a:rPr lang="ro-RO" sz="2000" b="1" noProof="0" dirty="0">
                <a:solidFill>
                  <a:srgbClr val="7EC699"/>
                </a:solidFill>
                <a:latin typeface="Courier New" panose="02070309020205020404" pitchFamily="49" charset="0"/>
              </a:rPr>
              <a:t>"Factorial of 8 </a:t>
            </a:r>
            <a:r>
              <a:rPr lang="ro-RO" sz="2000" b="1" noProof="0" dirty="0" err="1">
                <a:solidFill>
                  <a:srgbClr val="7EC699"/>
                </a:solidFill>
                <a:latin typeface="Courier New" panose="02070309020205020404" pitchFamily="49" charset="0"/>
              </a:rPr>
              <a:t>is</a:t>
            </a:r>
            <a:r>
              <a:rPr lang="ro-RO" sz="2000" b="1" noProof="0" dirty="0">
                <a:solidFill>
                  <a:srgbClr val="7EC699"/>
                </a:solidFill>
                <a:latin typeface="Courier New" panose="02070309020205020404" pitchFamily="49" charset="0"/>
              </a:rPr>
              <a:t> : {0}"</a:t>
            </a: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, </a:t>
            </a:r>
            <a:r>
              <a:rPr lang="ro-RO" sz="2000" b="1" noProof="0" dirty="0" err="1">
                <a:solidFill>
                  <a:srgbClr val="CCCCCC"/>
                </a:solidFill>
                <a:latin typeface="Courier New" panose="02070309020205020404" pitchFamily="49" charset="0"/>
              </a:rPr>
              <a:t>n.</a:t>
            </a:r>
            <a:r>
              <a:rPr lang="ro-RO" sz="2000" b="1" noProof="0" dirty="0" err="1">
                <a:solidFill>
                  <a:srgbClr val="F08D49"/>
                </a:solidFill>
                <a:latin typeface="Courier New" panose="02070309020205020404" pitchFamily="49" charset="0"/>
              </a:rPr>
              <a:t>factorial</a:t>
            </a: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(</a:t>
            </a:r>
            <a:r>
              <a:rPr lang="ro-RO" sz="2000" b="1" noProof="0" dirty="0">
                <a:solidFill>
                  <a:srgbClr val="F08D49"/>
                </a:solidFill>
                <a:latin typeface="Courier New" panose="02070309020205020404" pitchFamily="49" charset="0"/>
              </a:rPr>
              <a:t>8</a:t>
            </a: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)); 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}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}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}</a:t>
            </a:r>
            <a:endParaRPr lang="ro-RO" sz="2000" b="1" noProof="0" dirty="0">
              <a:solidFill>
                <a:srgbClr val="00B0F0"/>
              </a:solidFill>
            </a:endParaRP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34433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3F82B7-1265-EF08-4C97-AD841816E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54EA504-B750-8960-5E22-8BF5663BD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 - Cursul 4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DE22262-429C-F46B-3258-03E6F31A56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Funcții(metode) în C#</a:t>
            </a:r>
          </a:p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Tipuri de metode în C#</a:t>
            </a:r>
          </a:p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Pe baza funcționalităților, metodele C# pot fi împărțite în următoarele tipuri:</a:t>
            </a:r>
          </a:p>
          <a:p>
            <a:pPr algn="just"/>
            <a:r>
              <a:rPr lang="ro-RO" sz="2800" noProof="0" dirty="0">
                <a:solidFill>
                  <a:srgbClr val="00B0F0"/>
                </a:solidFill>
              </a:rPr>
              <a:t> Metodă simplă fără parametri</a:t>
            </a:r>
          </a:p>
          <a:p>
            <a:pPr algn="just"/>
            <a:r>
              <a:rPr lang="ro-RO" sz="2800" noProof="0" dirty="0">
                <a:solidFill>
                  <a:srgbClr val="00B0F0"/>
                </a:solidFill>
              </a:rPr>
              <a:t> Metodă cu parametri</a:t>
            </a:r>
          </a:p>
          <a:p>
            <a:pPr algn="just"/>
            <a:r>
              <a:rPr lang="ro-RO" sz="2800" noProof="0" dirty="0">
                <a:solidFill>
                  <a:srgbClr val="00B0F0"/>
                </a:solidFill>
              </a:rPr>
              <a:t> Metodă cu valoare returnată</a:t>
            </a:r>
          </a:p>
          <a:p>
            <a:pPr algn="just"/>
            <a:r>
              <a:rPr lang="ro-RO" sz="2800" noProof="0" dirty="0">
                <a:solidFill>
                  <a:srgbClr val="00B0F0"/>
                </a:solidFill>
              </a:rPr>
              <a:t> Supraîncărcarea metodei (aceeași metodă, parametri diferiți)</a:t>
            </a:r>
          </a:p>
          <a:p>
            <a:pPr algn="just"/>
            <a:r>
              <a:rPr lang="ro-RO" sz="2800" noProof="0" dirty="0">
                <a:solidFill>
                  <a:srgbClr val="00B0F0"/>
                </a:solidFill>
              </a:rPr>
              <a:t> Metodă cu parametri impliciți</a:t>
            </a: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93492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664B4-AEB8-8703-9E53-5FBAF9718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54879B6-DA4E-E252-5BB0-60BC63087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 - Cursul 4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D940145-0BC7-8D91-A0F7-8A42206022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Funcții(metode) în C#</a:t>
            </a:r>
          </a:p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Exemplu metoda cu parametru cu valoare implicita</a:t>
            </a:r>
          </a:p>
          <a:p>
            <a:pPr marL="34290" indent="0" algn="just">
              <a:buNone/>
            </a:pPr>
            <a:r>
              <a:rPr lang="ro-RO" sz="22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using</a:t>
            </a:r>
            <a:r>
              <a:rPr lang="ro-RO" sz="22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2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System</a:t>
            </a:r>
            <a:r>
              <a:rPr lang="ro-RO" sz="22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; </a:t>
            </a:r>
          </a:p>
          <a:p>
            <a:pPr marL="34290" indent="0" algn="just">
              <a:buNone/>
            </a:pPr>
            <a:r>
              <a:rPr lang="ro-RO" sz="22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class</a:t>
            </a:r>
            <a:r>
              <a:rPr lang="ro-RO" sz="22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Program { </a:t>
            </a:r>
          </a:p>
          <a:p>
            <a:pPr marL="34290" indent="0" algn="just">
              <a:buNone/>
            </a:pPr>
            <a:r>
              <a:rPr lang="ro-RO" sz="22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</a:t>
            </a:r>
            <a:r>
              <a:rPr lang="ro-RO" sz="2200" b="1" i="0" noProof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static</a:t>
            </a:r>
            <a:r>
              <a:rPr lang="ro-RO" sz="22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2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void</a:t>
            </a:r>
            <a:r>
              <a:rPr lang="ro-RO" sz="22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200" b="1" i="0" noProof="0" dirty="0" err="1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WelcomeMsg</a:t>
            </a:r>
            <a:r>
              <a:rPr lang="ro-RO" sz="22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ro-RO" sz="22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string</a:t>
            </a:r>
            <a:r>
              <a:rPr lang="ro-RO" sz="22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2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name</a:t>
            </a:r>
            <a:r>
              <a:rPr lang="ro-RO" sz="22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2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ro-RO" sz="22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2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ro-RO" sz="2200" b="1" i="0" noProof="0" dirty="0" err="1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Guest</a:t>
            </a:r>
            <a:r>
              <a:rPr lang="ro-RO" sz="22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ro-RO" sz="22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)   </a:t>
            </a:r>
          </a:p>
          <a:p>
            <a:pPr marL="34290" indent="0" algn="just">
              <a:buNone/>
            </a:pPr>
            <a:r>
              <a:rPr lang="ro-RO" sz="22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</a:t>
            </a:r>
            <a:r>
              <a:rPr lang="ro-RO" sz="22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{ </a:t>
            </a:r>
          </a:p>
          <a:p>
            <a:pPr marL="34290" indent="0" algn="just">
              <a:buNone/>
            </a:pPr>
            <a:r>
              <a:rPr lang="ro-RO" sz="22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ro-RO" sz="22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Console.</a:t>
            </a:r>
            <a:r>
              <a:rPr lang="ro-RO" sz="2200" b="1" i="0" noProof="0" dirty="0" err="1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WriteLine</a:t>
            </a:r>
            <a:r>
              <a:rPr lang="ro-RO" sz="22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ro-RO" sz="22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ro-RO" sz="2200" b="1" i="0" noProof="0" dirty="0" err="1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Hello</a:t>
            </a:r>
            <a:r>
              <a:rPr lang="ro-RO" sz="22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, "</a:t>
            </a:r>
            <a:r>
              <a:rPr lang="ro-RO" sz="22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2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+</a:t>
            </a:r>
            <a:r>
              <a:rPr lang="ro-RO" sz="22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2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name</a:t>
            </a:r>
            <a:r>
              <a:rPr lang="ro-RO" sz="22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);</a:t>
            </a:r>
          </a:p>
          <a:p>
            <a:pPr marL="34290" indent="0" algn="just">
              <a:buNone/>
            </a:pPr>
            <a:r>
              <a:rPr lang="ro-RO" sz="22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r>
              <a:rPr lang="ro-RO" sz="22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}</a:t>
            </a:r>
          </a:p>
          <a:p>
            <a:pPr marL="34290" indent="0" algn="just">
              <a:buNone/>
            </a:pPr>
            <a:r>
              <a:rPr lang="ro-RO" sz="22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</a:t>
            </a:r>
            <a:r>
              <a:rPr lang="ro-RO" sz="2200" b="1" i="0" noProof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static</a:t>
            </a:r>
            <a:r>
              <a:rPr lang="ro-RO" sz="22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2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void</a:t>
            </a:r>
            <a:r>
              <a:rPr lang="ro-RO" sz="22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200" b="1" i="0" noProof="0" dirty="0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Main</a:t>
            </a:r>
            <a:r>
              <a:rPr lang="ro-RO" sz="22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() { </a:t>
            </a:r>
          </a:p>
          <a:p>
            <a:pPr marL="34290" indent="0" algn="just">
              <a:buNone/>
            </a:pPr>
            <a:r>
              <a:rPr lang="ro-RO" sz="22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lang="ro-RO" sz="2200" b="1" i="0" noProof="0" dirty="0" err="1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WelcomeMsg</a:t>
            </a:r>
            <a:r>
              <a:rPr lang="ro-RO" sz="22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(); </a:t>
            </a:r>
            <a:r>
              <a:rPr lang="ro-RO" sz="2200" b="1" i="0" noProof="0" dirty="0">
                <a:solidFill>
                  <a:srgbClr val="999999"/>
                </a:solidFill>
                <a:effectLst/>
                <a:latin typeface="Courier New" panose="02070309020205020404" pitchFamily="49" charset="0"/>
              </a:rPr>
              <a:t>// </a:t>
            </a:r>
            <a:r>
              <a:rPr lang="ro-RO" sz="2200" b="1" i="0" noProof="0" dirty="0" err="1">
                <a:solidFill>
                  <a:srgbClr val="999999"/>
                </a:solidFill>
                <a:effectLst/>
                <a:latin typeface="Courier New" panose="02070309020205020404" pitchFamily="49" charset="0"/>
              </a:rPr>
              <a:t>Uses</a:t>
            </a:r>
            <a:r>
              <a:rPr lang="ro-RO" sz="2200" b="1" i="0" noProof="0" dirty="0">
                <a:solidFill>
                  <a:srgbClr val="999999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200" b="1" i="0" noProof="0" dirty="0" err="1">
                <a:solidFill>
                  <a:srgbClr val="999999"/>
                </a:solidFill>
                <a:effectLst/>
                <a:latin typeface="Courier New" panose="02070309020205020404" pitchFamily="49" charset="0"/>
              </a:rPr>
              <a:t>default</a:t>
            </a:r>
            <a:r>
              <a:rPr lang="ro-RO" sz="2200" b="1" i="0" noProof="0" dirty="0">
                <a:solidFill>
                  <a:srgbClr val="999999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200" b="1" i="0" noProof="0" dirty="0" err="1">
                <a:solidFill>
                  <a:srgbClr val="999999"/>
                </a:solidFill>
                <a:effectLst/>
                <a:latin typeface="Courier New" panose="02070309020205020404" pitchFamily="49" charset="0"/>
              </a:rPr>
              <a:t>value</a:t>
            </a:r>
            <a:endParaRPr lang="ro-RO" sz="2200" b="1" i="0" noProof="0" dirty="0">
              <a:solidFill>
                <a:srgbClr val="999999"/>
              </a:solidFill>
              <a:effectLst/>
              <a:latin typeface="Courier New" panose="02070309020205020404" pitchFamily="49" charset="0"/>
            </a:endParaRPr>
          </a:p>
          <a:p>
            <a:pPr marL="34290" indent="0" algn="just">
              <a:buNone/>
            </a:pPr>
            <a:r>
              <a:rPr lang="ro-RO" sz="2200" b="1" noProof="0" dirty="0">
                <a:solidFill>
                  <a:srgbClr val="999999"/>
                </a:solidFill>
                <a:latin typeface="Courier New" panose="02070309020205020404" pitchFamily="49" charset="0"/>
              </a:rPr>
              <a:t>   </a:t>
            </a:r>
            <a:r>
              <a:rPr lang="ro-RO" sz="22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200" b="1" i="0" noProof="0" dirty="0" err="1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WelcomeMsg</a:t>
            </a:r>
            <a:r>
              <a:rPr lang="ro-RO" sz="22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ro-RO" sz="22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"Krishna K."</a:t>
            </a:r>
            <a:r>
              <a:rPr lang="ro-RO" sz="22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); </a:t>
            </a:r>
            <a:r>
              <a:rPr lang="ro-RO" sz="2200" b="1" i="0" noProof="0" dirty="0">
                <a:solidFill>
                  <a:srgbClr val="999999"/>
                </a:solidFill>
                <a:effectLst/>
                <a:latin typeface="Courier New" panose="02070309020205020404" pitchFamily="49" charset="0"/>
              </a:rPr>
              <a:t>// </a:t>
            </a:r>
            <a:r>
              <a:rPr lang="ro-RO" sz="2200" b="1" i="0" noProof="0" dirty="0" err="1">
                <a:solidFill>
                  <a:srgbClr val="999999"/>
                </a:solidFill>
                <a:effectLst/>
                <a:latin typeface="Courier New" panose="02070309020205020404" pitchFamily="49" charset="0"/>
              </a:rPr>
              <a:t>Uses</a:t>
            </a:r>
            <a:r>
              <a:rPr lang="ro-RO" sz="2200" b="1" i="0" noProof="0" dirty="0">
                <a:solidFill>
                  <a:srgbClr val="999999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200" b="1" i="0" noProof="0" dirty="0" err="1">
                <a:solidFill>
                  <a:srgbClr val="999999"/>
                </a:solidFill>
                <a:effectLst/>
                <a:latin typeface="Courier New" panose="02070309020205020404" pitchFamily="49" charset="0"/>
              </a:rPr>
              <a:t>provided</a:t>
            </a:r>
            <a:r>
              <a:rPr lang="ro-RO" sz="2200" b="1" i="0" noProof="0" dirty="0">
                <a:solidFill>
                  <a:srgbClr val="999999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200" b="1" i="0" noProof="0" dirty="0" err="1">
                <a:solidFill>
                  <a:srgbClr val="999999"/>
                </a:solidFill>
                <a:effectLst/>
                <a:latin typeface="Courier New" panose="02070309020205020404" pitchFamily="49" charset="0"/>
              </a:rPr>
              <a:t>value</a:t>
            </a:r>
            <a:r>
              <a:rPr lang="ro-RO" sz="22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pPr marL="34290" indent="0" algn="just">
              <a:buNone/>
            </a:pPr>
            <a:r>
              <a:rPr lang="ro-RO" sz="22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</a:t>
            </a:r>
            <a:r>
              <a:rPr lang="ro-RO" sz="22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}</a:t>
            </a:r>
          </a:p>
          <a:p>
            <a:pPr marL="34290" indent="0" algn="just">
              <a:buNone/>
            </a:pPr>
            <a:r>
              <a:rPr lang="ro-RO" sz="22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}</a:t>
            </a:r>
            <a:endParaRPr lang="ro-RO" sz="2200" b="1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55351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3B557-B387-D2C7-9A20-01E197D98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BBDCBFF-A61C-37C3-BAF6-556DF3175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 - Cursul 4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9F4416D-8F32-19EC-73ED-58F9D85CFE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Funcții(metode) în C#</a:t>
            </a:r>
          </a:p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Transmiterea parametrilor către o metodă</a:t>
            </a:r>
          </a:p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Când se apelează o metodă cu parametri, trebuie să transmiteți parametrii către metodă. Există trei moduri în care parametrii pot fi transmiși unei metode:</a:t>
            </a:r>
          </a:p>
          <a:p>
            <a:pPr algn="just"/>
            <a:r>
              <a:rPr lang="ro-RO" sz="2800" noProof="0" dirty="0">
                <a:solidFill>
                  <a:srgbClr val="00B0F0"/>
                </a:solidFill>
              </a:rPr>
              <a:t>Transmiterea prin valoare - acest mod copiază valoarea reală a unui argument în parametrul formal al funcției. În acest caz, modificările aduse parametrului din cadrul funcției nu au niciun efect asupra argumentului.</a:t>
            </a: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55580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950F3-D566-E134-2EDB-2E00E0C33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37F12F2-0E55-7DE6-4474-F9B839159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 - Cursul 4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0E54B81-BE9A-7077-2901-B9D2864104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Funcții(metode) în C#</a:t>
            </a:r>
          </a:p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Transmiterea parametrilor către o metodă</a:t>
            </a:r>
          </a:p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Există trei moduri în care parametrii pot fi transmiși unei metode:</a:t>
            </a:r>
          </a:p>
          <a:p>
            <a:pPr algn="just"/>
            <a:r>
              <a:rPr lang="ro-RO" sz="2800" noProof="0" dirty="0">
                <a:solidFill>
                  <a:srgbClr val="00B0F0"/>
                </a:solidFill>
              </a:rPr>
              <a:t>Transmiterea prin referință - acest mod copiază referința la locația de memorie a unui argument în parametrul formal. Aceasta înseamnă că modificările aduse parametrului afectează argumentul.</a:t>
            </a:r>
          </a:p>
          <a:p>
            <a:pPr algn="just"/>
            <a:r>
              <a:rPr lang="ro-RO" sz="2800" noProof="0" dirty="0">
                <a:solidFill>
                  <a:srgbClr val="00B0F0"/>
                </a:solidFill>
              </a:rPr>
              <a:t>Prin parametri de ieșire - acest mod ajută la returnarea mai multor valori.</a:t>
            </a: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77903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28228-C8AF-4636-69E1-CAAC8DF78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2A6407D-8460-64DF-7165-7F289E32C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 - Cursul 4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B7140DE-CFA6-E44A-873C-EB47A3E410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Funcții(metode) în C# - exemplu transmitere parametru prin valoare</a:t>
            </a:r>
          </a:p>
          <a:p>
            <a:pPr marL="34290" indent="0" algn="just">
              <a:buNone/>
            </a:pPr>
            <a:r>
              <a:rPr lang="ro-RO" sz="20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using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System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; </a:t>
            </a:r>
          </a:p>
          <a:p>
            <a:pPr marL="34290" indent="0" algn="just">
              <a:buNone/>
            </a:pPr>
            <a:r>
              <a:rPr lang="ro-RO" sz="20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class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Program { 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</a:t>
            </a:r>
            <a:r>
              <a:rPr lang="ro-RO" sz="2000" b="1" i="0" noProof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static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void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Square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ro-RO" sz="20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num) { 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num </a:t>
            </a:r>
            <a:r>
              <a:rPr lang="ro-RO" sz="20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num </a:t>
            </a:r>
            <a:r>
              <a:rPr lang="ro-RO" sz="20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*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num; 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lang="ro-RO" sz="20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Console.</a:t>
            </a:r>
            <a:r>
              <a:rPr lang="ro-RO" sz="2000" b="1" i="0" noProof="0" dirty="0" err="1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WriteLine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ro-RO" sz="20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ro-RO" sz="2000" b="1" i="0" noProof="0" dirty="0" err="1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Inside</a:t>
            </a:r>
            <a:r>
              <a:rPr lang="ro-RO" sz="20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method</a:t>
            </a:r>
            <a:r>
              <a:rPr lang="ro-RO" sz="20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: "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+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num); 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} 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</a:t>
            </a:r>
            <a:r>
              <a:rPr lang="ro-RO" sz="2000" b="1" i="0" noProof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static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void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Main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() { 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lang="ro-RO" sz="20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number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5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; 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lang="ro-RO" sz="2000" b="1" i="0" noProof="0" dirty="0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Square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ro-RO" sz="20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number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); 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lang="ro-RO" sz="20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Console.</a:t>
            </a:r>
            <a:r>
              <a:rPr lang="ro-RO" sz="2000" b="1" i="0" noProof="0" dirty="0" err="1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WriteLine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ro-RO" sz="20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ro-RO" sz="2000" b="1" i="0" noProof="0" dirty="0" err="1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Outside</a:t>
            </a:r>
            <a:r>
              <a:rPr lang="ro-RO" sz="20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method</a:t>
            </a:r>
            <a:r>
              <a:rPr lang="ro-RO" sz="20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: "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+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number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); 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} </a:t>
            </a:r>
          </a:p>
          <a:p>
            <a:pPr marL="34290" indent="0" algn="just">
              <a:buNone/>
            </a:pP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}</a:t>
            </a:r>
            <a:endParaRPr lang="ro-RO" sz="2000" b="1" noProof="0" dirty="0">
              <a:solidFill>
                <a:srgbClr val="00B0F0"/>
              </a:solidFill>
            </a:endParaRP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26424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91B3E1-7975-30C1-7DDA-FD1C28ECD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8191F98-AE9A-BC5A-F3ED-D2CF26953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 - Cursul 4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922BD39-B3FD-A1E0-A595-94AE5074CF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Funcții(metode) în C# - transmiterea parametrilor prin referință</a:t>
            </a:r>
          </a:p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Un parametru referință este o referință la o locație de memorie a unei variabile. Când transmiteți parametri prin referință, spre deosebire de parametrii de valoare, nu se creează o nouă locație de stocare pentru acești parametri. Parametrii de referință reprezintă aceeași locație de memorie ca și parametrii efectivi furnizați metodei.</a:t>
            </a:r>
          </a:p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Declararea unui parametru de referință se face cu cuvântul cheie </a:t>
            </a:r>
            <a:r>
              <a:rPr lang="ro-RO" sz="2800" noProof="0" dirty="0" err="1">
                <a:solidFill>
                  <a:srgbClr val="00B0F0"/>
                </a:solidFill>
              </a:rPr>
              <a:t>ref</a:t>
            </a:r>
            <a:r>
              <a:rPr lang="ro-RO" sz="2800" noProof="0" dirty="0">
                <a:solidFill>
                  <a:srgbClr val="00B0F0"/>
                </a:solidFill>
              </a:rPr>
              <a:t>.</a:t>
            </a: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13418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93778-E75A-A554-E1E3-F3218E4D7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21E3E1C-7F3E-F404-D363-E2E38F7BD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 - Cursul 4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3EEF7BC-5227-8D8B-B088-1F34A59287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Funcții(metode) în C# - exemplu transmiterea parametrilor prin referință</a:t>
            </a:r>
          </a:p>
          <a:p>
            <a:pPr marL="34290" indent="0" algn="just">
              <a:buNone/>
            </a:pPr>
            <a:r>
              <a:rPr lang="ro-RO" sz="20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using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System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; </a:t>
            </a:r>
          </a:p>
          <a:p>
            <a:pPr marL="34290" indent="0" algn="just">
              <a:buNone/>
            </a:pPr>
            <a:r>
              <a:rPr lang="ro-RO" sz="20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namespace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CalculatorApplication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{ 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</a:t>
            </a:r>
            <a:r>
              <a:rPr lang="ro-RO" sz="20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class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NumberManipulator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{ 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lang="ro-RO" sz="2000" b="1" i="0" noProof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public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void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swap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ro-RO" sz="20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ref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x, </a:t>
            </a:r>
            <a:r>
              <a:rPr lang="ro-RO" sz="20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ref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y) { 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  </a:t>
            </a:r>
            <a:r>
              <a:rPr lang="ro-RO" sz="20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temp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; 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  </a:t>
            </a:r>
            <a:r>
              <a:rPr lang="ro-RO" sz="20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temp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x; </a:t>
            </a:r>
            <a:r>
              <a:rPr lang="ro-RO" sz="2000" b="1" i="0" noProof="0" dirty="0">
                <a:solidFill>
                  <a:srgbClr val="999999"/>
                </a:solidFill>
                <a:effectLst/>
                <a:latin typeface="Courier New" panose="02070309020205020404" pitchFamily="49" charset="0"/>
              </a:rPr>
              <a:t>/* </a:t>
            </a:r>
            <a:r>
              <a:rPr lang="ro-RO" sz="2000" b="1" i="0" noProof="0" dirty="0" err="1">
                <a:solidFill>
                  <a:srgbClr val="999999"/>
                </a:solidFill>
                <a:effectLst/>
                <a:latin typeface="Courier New" panose="02070309020205020404" pitchFamily="49" charset="0"/>
              </a:rPr>
              <a:t>save</a:t>
            </a:r>
            <a:r>
              <a:rPr lang="ro-RO" sz="2000" b="1" i="0" noProof="0" dirty="0">
                <a:solidFill>
                  <a:srgbClr val="999999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999999"/>
                </a:solidFill>
                <a:effectLst/>
                <a:latin typeface="Courier New" panose="02070309020205020404" pitchFamily="49" charset="0"/>
              </a:rPr>
              <a:t>the</a:t>
            </a:r>
            <a:r>
              <a:rPr lang="ro-RO" sz="2000" b="1" i="0" noProof="0" dirty="0">
                <a:solidFill>
                  <a:srgbClr val="999999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999999"/>
                </a:solidFill>
                <a:effectLst/>
                <a:latin typeface="Courier New" panose="02070309020205020404" pitchFamily="49" charset="0"/>
              </a:rPr>
              <a:t>value</a:t>
            </a:r>
            <a:r>
              <a:rPr lang="ro-RO" sz="2000" b="1" i="0" noProof="0" dirty="0">
                <a:solidFill>
                  <a:srgbClr val="999999"/>
                </a:solidFill>
                <a:effectLst/>
                <a:latin typeface="Courier New" panose="02070309020205020404" pitchFamily="49" charset="0"/>
              </a:rPr>
              <a:t> of x */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  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x </a:t>
            </a:r>
            <a:r>
              <a:rPr lang="ro-RO" sz="20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y; </a:t>
            </a:r>
            <a:r>
              <a:rPr lang="ro-RO" sz="2000" b="1" i="0" noProof="0" dirty="0">
                <a:solidFill>
                  <a:srgbClr val="999999"/>
                </a:solidFill>
                <a:effectLst/>
                <a:latin typeface="Courier New" panose="02070309020205020404" pitchFamily="49" charset="0"/>
              </a:rPr>
              <a:t>/* put y </a:t>
            </a:r>
            <a:r>
              <a:rPr lang="ro-RO" sz="2000" b="1" i="0" noProof="0" dirty="0" err="1">
                <a:solidFill>
                  <a:srgbClr val="999999"/>
                </a:solidFill>
                <a:effectLst/>
                <a:latin typeface="Courier New" panose="02070309020205020404" pitchFamily="49" charset="0"/>
              </a:rPr>
              <a:t>into</a:t>
            </a:r>
            <a:r>
              <a:rPr lang="ro-RO" sz="2000" b="1" i="0" noProof="0" dirty="0">
                <a:solidFill>
                  <a:srgbClr val="999999"/>
                </a:solidFill>
                <a:effectLst/>
                <a:latin typeface="Courier New" panose="02070309020205020404" pitchFamily="49" charset="0"/>
              </a:rPr>
              <a:t> x */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  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y </a:t>
            </a:r>
            <a:r>
              <a:rPr lang="ro-RO" sz="20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temp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; </a:t>
            </a:r>
            <a:r>
              <a:rPr lang="ro-RO" sz="2000" b="1" i="0" noProof="0" dirty="0">
                <a:solidFill>
                  <a:srgbClr val="999999"/>
                </a:solidFill>
                <a:effectLst/>
                <a:latin typeface="Courier New" panose="02070309020205020404" pitchFamily="49" charset="0"/>
              </a:rPr>
              <a:t>/* put </a:t>
            </a:r>
            <a:r>
              <a:rPr lang="ro-RO" sz="2000" b="1" i="0" noProof="0" dirty="0" err="1">
                <a:solidFill>
                  <a:srgbClr val="999999"/>
                </a:solidFill>
                <a:effectLst/>
                <a:latin typeface="Courier New" panose="02070309020205020404" pitchFamily="49" charset="0"/>
              </a:rPr>
              <a:t>temp</a:t>
            </a:r>
            <a:r>
              <a:rPr lang="ro-RO" sz="2000" b="1" i="0" noProof="0" dirty="0">
                <a:solidFill>
                  <a:srgbClr val="999999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999999"/>
                </a:solidFill>
                <a:effectLst/>
                <a:latin typeface="Courier New" panose="02070309020205020404" pitchFamily="49" charset="0"/>
              </a:rPr>
              <a:t>into</a:t>
            </a:r>
            <a:r>
              <a:rPr lang="ro-RO" sz="2000" b="1" i="0" noProof="0" dirty="0">
                <a:solidFill>
                  <a:srgbClr val="999999"/>
                </a:solidFill>
                <a:effectLst/>
                <a:latin typeface="Courier New" panose="02070309020205020404" pitchFamily="49" charset="0"/>
              </a:rPr>
              <a:t> y */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}</a:t>
            </a:r>
            <a:endParaRPr lang="ro-RO" sz="2800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62768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9873D-EDA8-F68A-0D22-F4996118D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CE75CE9-E9FA-A199-8189-6C16D4AD3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 - Cursul 4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FCEBB81-2B44-721B-0167-E28356A7F7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Funcții(metode) în C# - exemplu transmiterea parametrilor prin referință</a:t>
            </a:r>
          </a:p>
          <a:p>
            <a:pPr marL="34290" indent="0" algn="just">
              <a:buNone/>
            </a:pPr>
            <a:r>
              <a:rPr lang="ro-RO" sz="2000" b="1" i="0" noProof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    static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void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Main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ro-RO" sz="20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string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[] </a:t>
            </a:r>
            <a:r>
              <a:rPr lang="ro-RO" sz="20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args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) {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 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NumberManipulator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n </a:t>
            </a:r>
            <a:r>
              <a:rPr lang="ro-RO" sz="20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new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NumberManipulator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(); </a:t>
            </a:r>
            <a:r>
              <a:rPr lang="ro-RO" sz="2000" b="1" noProof="0" dirty="0">
                <a:solidFill>
                  <a:srgbClr val="999999"/>
                </a:solidFill>
                <a:latin typeface="Courier New" panose="02070309020205020404" pitchFamily="49" charset="0"/>
              </a:rPr>
              <a:t>   </a:t>
            </a:r>
          </a:p>
          <a:p>
            <a:pPr marL="34290" indent="0" algn="just">
              <a:buNone/>
            </a:pPr>
            <a:r>
              <a:rPr lang="ro-RO" sz="2000" b="1" i="0" noProof="0" dirty="0">
                <a:solidFill>
                  <a:srgbClr val="999999"/>
                </a:solidFill>
                <a:effectLst/>
                <a:latin typeface="Courier New" panose="02070309020205020404" pitchFamily="49" charset="0"/>
              </a:rPr>
              <a:t>      </a:t>
            </a:r>
            <a:r>
              <a:rPr lang="ro-RO" sz="20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a </a:t>
            </a:r>
            <a:r>
              <a:rPr lang="ro-RO" sz="20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100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; </a:t>
            </a:r>
            <a:r>
              <a:rPr lang="ro-RO" sz="20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b </a:t>
            </a:r>
            <a:r>
              <a:rPr lang="ro-RO" sz="20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200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;</a:t>
            </a:r>
          </a:p>
          <a:p>
            <a:pPr marL="34290" indent="0" algn="just">
              <a:buNone/>
            </a:pP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     </a:t>
            </a:r>
            <a:r>
              <a:rPr lang="ro-RO" sz="20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Console.</a:t>
            </a:r>
            <a:r>
              <a:rPr lang="ro-RO" sz="2000" b="1" i="0" noProof="0" dirty="0" err="1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WriteLine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ro-RO" sz="20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ro-RO" sz="2000" b="1" i="0" noProof="0" dirty="0" err="1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Before</a:t>
            </a:r>
            <a:r>
              <a:rPr lang="ro-RO" sz="20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swap</a:t>
            </a:r>
            <a:r>
              <a:rPr lang="ro-RO" sz="20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ro-RO" sz="2000" b="1" i="0" noProof="0" dirty="0" err="1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value</a:t>
            </a:r>
            <a:r>
              <a:rPr lang="ro-RO" sz="20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 of a : {0} </a:t>
            </a:r>
            <a:r>
              <a:rPr lang="ro-RO" sz="2000" b="1" i="0" noProof="0" dirty="0" err="1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and</a:t>
            </a:r>
            <a:r>
              <a:rPr lang="ro-RO" sz="20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value</a:t>
            </a:r>
            <a:r>
              <a:rPr lang="ro-RO" sz="20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 of b: {1}"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, a, b); </a:t>
            </a:r>
          </a:p>
          <a:p>
            <a:pPr marL="34290" indent="0" algn="just">
              <a:buNone/>
            </a:pP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     </a:t>
            </a:r>
            <a:r>
              <a:rPr lang="ro-RO" sz="20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n.</a:t>
            </a:r>
            <a:r>
              <a:rPr lang="ro-RO" sz="2000" b="1" i="0" noProof="0" dirty="0" err="1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swap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ro-RO" sz="20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ref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a, </a:t>
            </a:r>
            <a:r>
              <a:rPr lang="ro-RO" sz="20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ref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b); 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  </a:t>
            </a:r>
            <a:r>
              <a:rPr lang="ro-RO" sz="20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Console.</a:t>
            </a:r>
            <a:r>
              <a:rPr lang="ro-RO" sz="2000" b="1" i="0" noProof="0" dirty="0" err="1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WriteLine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ro-RO" sz="20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ro-RO" sz="2000" b="1" i="0" noProof="0" dirty="0" err="1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After</a:t>
            </a:r>
            <a:r>
              <a:rPr lang="ro-RO" sz="20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swap</a:t>
            </a:r>
            <a:r>
              <a:rPr lang="ro-RO" sz="20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ro-RO" sz="2000" b="1" i="0" noProof="0" dirty="0" err="1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value</a:t>
            </a:r>
            <a:r>
              <a:rPr lang="ro-RO" sz="20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 of a : {0} </a:t>
            </a:r>
            <a:r>
              <a:rPr lang="ro-RO" sz="2000" b="1" i="0" noProof="0" dirty="0" err="1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and</a:t>
            </a:r>
            <a:r>
              <a:rPr lang="ro-RO" sz="20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value</a:t>
            </a:r>
            <a:r>
              <a:rPr lang="ro-RO" sz="20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 of b: {1}"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, a ,b);</a:t>
            </a:r>
          </a:p>
          <a:p>
            <a:pPr marL="34290" indent="0" algn="just">
              <a:buNone/>
            </a:pP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   }</a:t>
            </a:r>
          </a:p>
          <a:p>
            <a:pPr marL="34290" indent="0" algn="just">
              <a:buNone/>
            </a:pP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 } </a:t>
            </a:r>
          </a:p>
          <a:p>
            <a:pPr marL="34290" indent="0" algn="just">
              <a:buNone/>
            </a:pP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}</a:t>
            </a:r>
            <a:endParaRPr lang="ro-RO" sz="2000" b="1" noProof="0" dirty="0">
              <a:solidFill>
                <a:srgbClr val="00B0F0"/>
              </a:solidFill>
            </a:endParaRP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43463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D7CF1-260C-5C76-E198-2D1B603DD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B68436B-0E7D-9E86-C056-8D7AA768A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 - Cursul 4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66C9E28-FEFE-E128-6010-A903FE873D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Funcții(metode) în C# - parametri de ieșire</a:t>
            </a:r>
          </a:p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O instrucțiune </a:t>
            </a:r>
            <a:r>
              <a:rPr lang="ro-RO" sz="2800" noProof="0" dirty="0" err="1">
                <a:solidFill>
                  <a:srgbClr val="00B0F0"/>
                </a:solidFill>
              </a:rPr>
              <a:t>return</a:t>
            </a:r>
            <a:r>
              <a:rPr lang="ro-RO" sz="2800" noProof="0" dirty="0">
                <a:solidFill>
                  <a:srgbClr val="00B0F0"/>
                </a:solidFill>
              </a:rPr>
              <a:t> poate fi utilizată pentru a returna o singură valoare dintr-o funcție. Cu toate acestea, folosind parametrii out, puteți returna două valori dintr-o funcție. Parametrii out sunt similari cu parametrii de referință, cu excepția faptului că transferă date în afara metodei, nu în aceasta.</a:t>
            </a:r>
          </a:p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Sintaxa: </a:t>
            </a:r>
            <a:r>
              <a:rPr lang="ro-RO" sz="20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void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MethodName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ro-RO" sz="2000" b="1" i="0" noProof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out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DataType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parameter1, </a:t>
            </a:r>
            <a:r>
              <a:rPr lang="ro-RO" sz="2000" b="1" i="0" noProof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out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DataType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parameter2)</a:t>
            </a:r>
          </a:p>
          <a:p>
            <a:pPr marL="34290" indent="0" algn="just">
              <a:buNone/>
            </a:pPr>
            <a:r>
              <a:rPr lang="ro-RO" sz="2400" noProof="0" dirty="0">
                <a:solidFill>
                  <a:srgbClr val="00B0F0"/>
                </a:solidFill>
              </a:rPr>
              <a:t>Apelul: </a:t>
            </a:r>
            <a:r>
              <a:rPr lang="ro-RO" sz="2000" b="1" i="0" noProof="0" dirty="0" err="1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MethodName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ro-RO" sz="2000" b="1" i="0" noProof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out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variable1, </a:t>
            </a:r>
            <a:r>
              <a:rPr lang="ro-RO" sz="2000" b="1" i="0" noProof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out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variable2);</a:t>
            </a:r>
            <a:endParaRPr lang="ro-RO" sz="2000" b="1" noProof="0" dirty="0">
              <a:solidFill>
                <a:srgbClr val="00B0F0"/>
              </a:solidFill>
            </a:endParaRP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84220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AA10B-B93D-67DC-1918-DB53367F6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2F04B0C-B774-15B9-B5A1-52BDB130B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 - Cursul 4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9297287-FB9C-AEF4-C84C-29717F8C4F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Funcții(metode) în C# - exemplu parametri de ieșire</a:t>
            </a:r>
          </a:p>
          <a:p>
            <a:pPr marL="34290" indent="0" algn="just">
              <a:buNone/>
            </a:pPr>
            <a:r>
              <a:rPr lang="ro-RO" sz="20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using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System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; </a:t>
            </a:r>
          </a:p>
          <a:p>
            <a:pPr marL="34290" indent="0" algn="just">
              <a:buNone/>
            </a:pPr>
            <a:r>
              <a:rPr lang="ro-RO" sz="20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namespace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CalculatorApplication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{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</a:t>
            </a:r>
            <a:r>
              <a:rPr lang="ro-RO" sz="20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class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NumberManipulator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{ 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lang="ro-RO" sz="2000" b="1" i="0" noProof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public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void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getValues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ro-RO" sz="2000" b="1" i="0" noProof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out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x, </a:t>
            </a:r>
            <a:r>
              <a:rPr lang="ro-RO" sz="2000" b="1" i="0" noProof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out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y) {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 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Console.</a:t>
            </a:r>
            <a:r>
              <a:rPr lang="ro-RO" sz="2000" b="1" i="0" noProof="0" dirty="0" err="1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WriteLine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ro-RO" sz="20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ro-RO" sz="2000" b="1" i="0" noProof="0" dirty="0" err="1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Enter</a:t>
            </a:r>
            <a:r>
              <a:rPr lang="ro-RO" sz="20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the</a:t>
            </a:r>
            <a:r>
              <a:rPr lang="ro-RO" sz="20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first</a:t>
            </a:r>
            <a:r>
              <a:rPr lang="ro-RO" sz="20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value</a:t>
            </a:r>
            <a:r>
              <a:rPr lang="ro-RO" sz="20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: "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); 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  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x </a:t>
            </a:r>
            <a:r>
              <a:rPr lang="ro-RO" sz="20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Convert.</a:t>
            </a:r>
            <a:r>
              <a:rPr lang="ro-RO" sz="2000" b="1" i="0" noProof="0" dirty="0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ToInt32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ro-RO" sz="20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Console.</a:t>
            </a:r>
            <a:r>
              <a:rPr lang="ro-RO" sz="2000" b="1" i="0" noProof="0" dirty="0" err="1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ReadLine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()); 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  </a:t>
            </a:r>
            <a:r>
              <a:rPr lang="ro-RO" sz="20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Console.</a:t>
            </a:r>
            <a:r>
              <a:rPr lang="ro-RO" sz="2000" b="1" i="0" noProof="0" dirty="0" err="1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WriteLine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ro-RO" sz="20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ro-RO" sz="2000" b="1" i="0" noProof="0" dirty="0" err="1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Enter</a:t>
            </a:r>
            <a:r>
              <a:rPr lang="ro-RO" sz="20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the</a:t>
            </a:r>
            <a:r>
              <a:rPr lang="ro-RO" sz="20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second</a:t>
            </a:r>
            <a:r>
              <a:rPr lang="ro-RO" sz="20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value</a:t>
            </a:r>
            <a:r>
              <a:rPr lang="ro-RO" sz="20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: "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);   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  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y </a:t>
            </a:r>
            <a:r>
              <a:rPr lang="ro-RO" sz="20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Convert.</a:t>
            </a:r>
            <a:r>
              <a:rPr lang="ro-RO" sz="2000" b="1" i="0" noProof="0" dirty="0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ToInt32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ro-RO" sz="20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Console.</a:t>
            </a:r>
            <a:r>
              <a:rPr lang="ro-RO" sz="2000" b="1" i="0" noProof="0" dirty="0" err="1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ReadLine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()); 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}</a:t>
            </a:r>
            <a:endParaRPr lang="ro-RO" sz="2000" b="1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03944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33BB9-7803-C666-AFA2-8A65A089D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079DA97-2CB5-08A3-D0A6-C558129ED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 - Cursul 4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2FE58AB-68F0-B73E-8209-48E5061C2F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Funcții(metode) în C# - </a:t>
            </a:r>
            <a:r>
              <a:rPr lang="en-US" sz="2800" noProof="0" dirty="0" err="1">
                <a:solidFill>
                  <a:srgbClr val="00B0F0"/>
                </a:solidFill>
              </a:rPr>
              <a:t>exemplu</a:t>
            </a:r>
            <a:r>
              <a:rPr lang="en-US" sz="2800" noProof="0" dirty="0">
                <a:solidFill>
                  <a:srgbClr val="00B0F0"/>
                </a:solidFill>
              </a:rPr>
              <a:t> </a:t>
            </a:r>
            <a:r>
              <a:rPr lang="ro-RO" sz="2800" noProof="0" dirty="0">
                <a:solidFill>
                  <a:srgbClr val="00B0F0"/>
                </a:solidFill>
              </a:rPr>
              <a:t>parametri de ieșire</a:t>
            </a:r>
          </a:p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  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99CD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static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99CD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void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F08D4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Main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99CD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string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[]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args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) {</a:t>
            </a:r>
          </a:p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NumberManipulator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n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67CD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=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99CD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new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NumberManipulator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();    </a:t>
            </a:r>
          </a:p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 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99CD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int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a, b; </a:t>
            </a:r>
            <a:endParaRPr kumimoji="0" lang="ro-RO" sz="2000" b="1" i="0" u="none" strike="noStrike" kern="1200" cap="none" spc="0" normalizeH="0" baseline="0" noProof="0" dirty="0">
              <a:ln>
                <a:noFill/>
              </a:ln>
              <a:solidFill>
                <a:srgbClr val="999999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lang="ro-RO" sz="2000" b="1" noProof="0" dirty="0">
                <a:solidFill>
                  <a:srgbClr val="999999"/>
                </a:solidFill>
                <a:latin typeface="Courier New" panose="02070309020205020404" pitchFamily="49" charset="0"/>
              </a:rPr>
              <a:t>     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n.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F08D4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getValues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99CD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out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a,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99CD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out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b);</a:t>
            </a:r>
          </a:p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Console.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F08D4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WriteLine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7EC6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"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7EC6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After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7EC6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7EC6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method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7EC6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7EC6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call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7EC6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,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7EC6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value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7EC6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of a: {0}"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, a); </a:t>
            </a:r>
          </a:p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 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Console.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F08D4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WriteLine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7EC6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"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7EC6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After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7EC6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7EC6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method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7EC6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7EC6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call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7EC6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,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7EC6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value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7EC6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of b: {0}"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, b); </a:t>
            </a: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s</a:t>
            </a:r>
            <a:endParaRPr kumimoji="0" lang="ro-RO" sz="2000" b="1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}</a:t>
            </a:r>
          </a:p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}</a:t>
            </a:r>
          </a:p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}</a:t>
            </a:r>
            <a:endParaRPr kumimoji="0" lang="ro-RO" sz="20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821329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ldTheme">
  <a:themeElements>
    <a:clrScheme name="Perspective">
      <a:dk1>
        <a:sysClr val="windowText" lastClr="000000"/>
      </a:dk1>
      <a:lt1>
        <a:sysClr val="window" lastClr="FFFFFF"/>
      </a:lt1>
      <a:dk2>
        <a:srgbClr val="283138"/>
      </a:dk2>
      <a:lt2>
        <a:srgbClr val="FF8600"/>
      </a:lt2>
      <a:accent1>
        <a:srgbClr val="838D9B"/>
      </a:accent1>
      <a:accent2>
        <a:srgbClr val="D2610C"/>
      </a:accent2>
      <a:accent3>
        <a:srgbClr val="80716A"/>
      </a:accent3>
      <a:accent4>
        <a:srgbClr val="94147C"/>
      </a:accent4>
      <a:accent5>
        <a:srgbClr val="5D5AD2"/>
      </a:accent5>
      <a:accent6>
        <a:srgbClr val="6F6C7D"/>
      </a:accent6>
      <a:hlink>
        <a:srgbClr val="6187E3"/>
      </a:hlink>
      <a:folHlink>
        <a:srgbClr val="7B8EB8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erspec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alpha val="100000"/>
                <a:satMod val="160000"/>
                <a:lumMod val="105000"/>
              </a:schemeClr>
            </a:gs>
            <a:gs pos="41000">
              <a:schemeClr val="phClr">
                <a:tint val="57000"/>
                <a:satMod val="180000"/>
                <a:lumMod val="99000"/>
              </a:schemeClr>
            </a:gs>
            <a:gs pos="100000">
              <a:schemeClr val="phClr">
                <a:tint val="80000"/>
                <a:satMod val="200000"/>
                <a:lumMod val="104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6000"/>
                <a:satMod val="130000"/>
                <a:lumMod val="114000"/>
              </a:schemeClr>
            </a:gs>
            <a:gs pos="60000">
              <a:schemeClr val="phClr">
                <a:tint val="100000"/>
                <a:satMod val="106000"/>
                <a:lumMod val="110000"/>
              </a:schemeClr>
            </a:gs>
            <a:gs pos="100000">
              <a:schemeClr val="phClr"/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47625" dist="38100" dir="5400000" sy="98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woPt" dir="br">
              <a:rot lat="0" lon="0" rev="8700000"/>
            </a:lightRig>
          </a:scene3d>
          <a:sp3d prstMaterial="matte">
            <a:bevelT w="25400" h="53975"/>
          </a:sp3d>
        </a:effectStyle>
        <a:effectStyle>
          <a:effectLst>
            <a:reflection blurRad="12700" stA="24000" endPos="28000" dist="50800" dir="5400000" sy="-100000" rotWithShape="0"/>
          </a:effectLst>
          <a:scene3d>
            <a:camera prst="orthographicFront">
              <a:rot lat="0" lon="0" rev="0"/>
            </a:camera>
            <a:lightRig rig="threePt" dir="t">
              <a:rot lat="0" lon="0" rev="4800000"/>
            </a:lightRig>
          </a:scene3d>
          <a:sp3d>
            <a:bevelT w="69850" h="3175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80000"/>
                <a:satMod val="100000"/>
                <a:lumMod val="100000"/>
              </a:schemeClr>
            </a:gs>
            <a:gs pos="65000">
              <a:schemeClr val="phClr">
                <a:tint val="100000"/>
                <a:shade val="95000"/>
                <a:satMod val="100000"/>
                <a:lumMod val="100000"/>
              </a:schemeClr>
            </a:gs>
            <a:gs pos="100000">
              <a:schemeClr val="phClr">
                <a:tint val="88000"/>
                <a:shade val="100000"/>
                <a:satMod val="400000"/>
                <a:lumMod val="1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  <a:satMod val="90000"/>
              </a:schemeClr>
              <a:schemeClr val="phClr">
                <a:shade val="92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ldTheme" id="{E044F4A2-B66D-45C2-96C7-FCDC24F4574A}" vid="{A3C9D0F2-0975-40A9-A9D7-E4850D5DE04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9977</TotalTime>
  <Words>1667</Words>
  <Application>Microsoft Office PowerPoint</Application>
  <PresentationFormat>On-screen Show (4:3)</PresentationFormat>
  <Paragraphs>202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Courier New</vt:lpstr>
      <vt:lpstr>Wingdings</vt:lpstr>
      <vt:lpstr>oldTheme</vt:lpstr>
      <vt:lpstr>C# - Cursul 4</vt:lpstr>
      <vt:lpstr>C# - Cursul 4</vt:lpstr>
      <vt:lpstr>C# - Cursul 4</vt:lpstr>
      <vt:lpstr>C# - Cursul 4</vt:lpstr>
      <vt:lpstr>C# - Cursul 4</vt:lpstr>
      <vt:lpstr>C# - Cursul 4</vt:lpstr>
      <vt:lpstr>C# - Cursul 4</vt:lpstr>
      <vt:lpstr>C# - Cursul 4</vt:lpstr>
      <vt:lpstr>C# - Cursul 4</vt:lpstr>
      <vt:lpstr>C# - Cursul 4</vt:lpstr>
      <vt:lpstr>C# - Cursul 4</vt:lpstr>
      <vt:lpstr>C# - Cursul 4</vt:lpstr>
      <vt:lpstr>C# - Cursul 4</vt:lpstr>
      <vt:lpstr>C# - Cursul 4</vt:lpstr>
      <vt:lpstr>C# - Cursul 4</vt:lpstr>
      <vt:lpstr>C# - Cursul 4</vt:lpstr>
      <vt:lpstr>C# - Cursul 4</vt:lpstr>
      <vt:lpstr>C# - Cursul 4</vt:lpstr>
      <vt:lpstr>C# - Cursul 4</vt:lpstr>
      <vt:lpstr>C# - Cursul 4</vt:lpstr>
      <vt:lpstr>C# - Cursul 4</vt:lpstr>
      <vt:lpstr>C# - Cursul 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Licenta A3 - Facultatea de Informatica și Ştiinţe</dc:creator>
  <cp:lastModifiedBy>Licenta A3 - Facultatea de Informatica și Ştiinţe</cp:lastModifiedBy>
  <cp:revision>85</cp:revision>
  <dcterms:created xsi:type="dcterms:W3CDTF">2025-10-05T09:43:55Z</dcterms:created>
  <dcterms:modified xsi:type="dcterms:W3CDTF">2026-03-17T07:08:42Z</dcterms:modified>
</cp:coreProperties>
</file>
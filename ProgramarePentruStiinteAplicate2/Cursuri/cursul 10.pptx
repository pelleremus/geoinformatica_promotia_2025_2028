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71B79-AD63-DB37-67C7-C575BD37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B65007-A43F-3FCE-F922-09007594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Programarea orientată pe obiecte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chemeClr val="tx2"/>
                </a:solidFill>
              </a:rPr>
              <a:t>delegates</a:t>
            </a:r>
            <a:r>
              <a:rPr lang="ro-RO" sz="2800" noProof="0" dirty="0">
                <a:solidFill>
                  <a:schemeClr val="tx2"/>
                </a:solidFill>
              </a:rPr>
              <a:t>(delegați)</a:t>
            </a: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regular </a:t>
            </a:r>
            <a:r>
              <a:rPr lang="ro-RO" sz="2800" noProof="0" dirty="0" err="1">
                <a:solidFill>
                  <a:schemeClr val="tx2"/>
                </a:solidFill>
              </a:rPr>
              <a:t>expressions</a:t>
            </a:r>
            <a:r>
              <a:rPr lang="ro-RO" sz="2800" noProof="0" dirty="0">
                <a:solidFill>
                  <a:schemeClr val="tx2"/>
                </a:solidFill>
              </a:rPr>
              <a:t>(expresii regulate)</a:t>
            </a:r>
            <a:endParaRPr lang="ro-RO" sz="2650" noProof="0" dirty="0">
              <a:solidFill>
                <a:schemeClr val="tx2"/>
              </a:solidFill>
            </a:endParaRPr>
          </a:p>
          <a:p>
            <a:pPr algn="just"/>
            <a:endParaRPr lang="ro-RO" sz="28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50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2083-9218-959D-088C-9F562AAA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3686E0-AD59-D7BA-F184-7154722D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D4DFB8-43CB-6E8D-ABE6-B776D408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 err="1">
                <a:solidFill>
                  <a:schemeClr val="tx2"/>
                </a:solidFill>
              </a:rPr>
              <a:t>Delegates</a:t>
            </a:r>
            <a:endParaRPr lang="ro-RO" sz="2800" noProof="0" dirty="0">
              <a:solidFill>
                <a:schemeClr val="tx2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Delegații C# </a:t>
            </a:r>
            <a:r>
              <a:rPr lang="ro-RO" sz="2800" noProof="0" dirty="0">
                <a:solidFill>
                  <a:srgbClr val="00B0F0"/>
                </a:solidFill>
              </a:rPr>
              <a:t>sunt similari pointerilor către funcții, în C sau C++. Un delegat este o variabilă de tip referință care conține referința la o metodă. Referința poate fi modificată în timpul execuției.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Delegații sunt utilizați în special pentru implementarea evenimentelor și a metodelor de apel invers(</a:t>
            </a:r>
            <a:r>
              <a:rPr lang="ro-RO" sz="2800" noProof="0" dirty="0" err="1">
                <a:solidFill>
                  <a:srgbClr val="00B0F0"/>
                </a:solidFill>
              </a:rPr>
              <a:t>call</a:t>
            </a:r>
            <a:r>
              <a:rPr lang="ro-RO" sz="2800" noProof="0" dirty="0">
                <a:solidFill>
                  <a:srgbClr val="00B0F0"/>
                </a:solidFill>
              </a:rPr>
              <a:t>-back). Toți delegații sunt derivați implicit din clasa </a:t>
            </a:r>
            <a:r>
              <a:rPr lang="ro-RO" sz="2800" noProof="0" dirty="0" err="1">
                <a:solidFill>
                  <a:schemeClr val="tx2"/>
                </a:solidFill>
              </a:rPr>
              <a:t>System.Delegate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466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A596-8956-20DD-2F2E-872A4B53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3A3B9-8066-3FE1-9937-D11BB41A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ADBE2F-AD10-63E8-98AE-74D99510E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Declararea delegaților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Declararea delegatului determină metodele la care poate face referire delegatul. 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Un delegat poate face referire la o metodă care are aceeași semnătură ca și cea a delegatului.</a:t>
            </a:r>
          </a:p>
        </p:txBody>
      </p:sp>
    </p:spTree>
    <p:extLst>
      <p:ext uri="{BB962C8B-B14F-4D97-AF65-F5344CB8AC3E}">
        <p14:creationId xmlns:p14="http://schemas.microsoft.com/office/powerpoint/2010/main" val="363535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2CE84-DF80-AD74-ED42-9919AFFF0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0374F-DF92-DFFC-9F19-9877D6B6C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44B586-F4A4-183A-8B7E-5AB24A01F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  exemplu considerăm delegatul: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delegate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MyDelegate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s);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Delegatul de mai sus poate fi utilizat pentru a face referire la orice metodă care are un singur parametru de tip șir de caractere și returnează o variabilă de tip int.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Sintaxa pentru declararea unui delegate: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delegate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delegate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parameter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025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3067-B0FC-04A0-8764-AC8365EB5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2391F1-57A2-D77E-7177-252C1F73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881C09-B028-0546-900D-7F339DAC5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 err="1">
                <a:solidFill>
                  <a:schemeClr val="tx2"/>
                </a:solidFill>
              </a:rPr>
              <a:t>Instanțierea</a:t>
            </a:r>
            <a:r>
              <a:rPr lang="ro-RO" sz="2800" noProof="0" dirty="0">
                <a:solidFill>
                  <a:schemeClr val="tx2"/>
                </a:solidFill>
              </a:rPr>
              <a:t> Delegaților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Odată ce un tip de delegat este declarat, un obiect delegat trebuie creat cu 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 și trebuie asociat cu o anumită metodă.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La crearea unui delegat, argumentul transmis noii expresii este scris similar unui apel de metodă, dar fără argumentele metodei.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delegate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printString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s); 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printString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ps1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printString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WriteToScreen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printString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ps2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printString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WriteToFile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85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CD8DB-78D4-7D47-F09B-1A664C19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AB2ED1-AA0C-4877-D0AA-83045AF8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796B48-B1E5-3242-2EB2-10744490E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implementare </a:t>
            </a:r>
            <a:r>
              <a:rPr lang="ro-RO" sz="2800" noProof="0" dirty="0" err="1">
                <a:solidFill>
                  <a:srgbClr val="00B0F0"/>
                </a:solidFill>
              </a:rPr>
              <a:t>delegates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delegate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NumberChanger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n);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DelegateAppl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TestDelegate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AddNum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num;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MultNum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q)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*=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q;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3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7C11-FFD7-E827-24F8-6605328B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B416D3-8EA9-3E2A-1AD7-E7425056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212173-6487-90A6-D5A2-9464646A1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{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num; 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 </a:t>
            </a:r>
          </a:p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nc1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AddNum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nc2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MultNum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nc1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25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Num: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nc2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5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Num: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}</a:t>
            </a:r>
          </a:p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// </a:t>
            </a:r>
            <a:r>
              <a:rPr lang="ro-RO" sz="2000" b="1" noProof="0" dirty="0" err="1">
                <a:solidFill>
                  <a:srgbClr val="00B050"/>
                </a:solidFill>
                <a:latin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 of Num: 35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// </a:t>
            </a:r>
            <a:r>
              <a:rPr lang="ro-RO" sz="2000" b="1" noProof="0" dirty="0" err="1">
                <a:solidFill>
                  <a:srgbClr val="00B050"/>
                </a:solidFill>
                <a:latin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 of Num: 175</a:t>
            </a:r>
            <a:endParaRPr lang="ro-RO" sz="2800" noProof="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470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E3FA-FE70-1247-E74D-42F4FFD6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8B9801-1FCE-E604-326B-03A94BA4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2D135C-8791-48A5-1DBB-52D0123C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Delegați </a:t>
            </a:r>
            <a:r>
              <a:rPr lang="ro-RO" sz="2800" noProof="0" dirty="0" err="1">
                <a:solidFill>
                  <a:schemeClr val="tx2"/>
                </a:solidFill>
              </a:rPr>
              <a:t>multicast</a:t>
            </a:r>
            <a:r>
              <a:rPr lang="ro-RO" sz="2800" noProof="0" dirty="0">
                <a:solidFill>
                  <a:schemeClr val="tx2"/>
                </a:solidFill>
              </a:rPr>
              <a:t>(</a:t>
            </a:r>
            <a:r>
              <a:rPr lang="ro-RO" sz="2800" noProof="0" dirty="0" err="1">
                <a:solidFill>
                  <a:schemeClr val="tx2"/>
                </a:solidFill>
              </a:rPr>
              <a:t>muticast</a:t>
            </a:r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noProof="0" dirty="0" err="1">
                <a:solidFill>
                  <a:schemeClr val="tx2"/>
                </a:solidFill>
              </a:rPr>
              <a:t>delegates</a:t>
            </a:r>
            <a:r>
              <a:rPr lang="ro-RO" sz="2800" noProof="0" dirty="0">
                <a:solidFill>
                  <a:schemeClr val="tx2"/>
                </a:solidFill>
              </a:rPr>
              <a:t>)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Obiectele delegate pot fi compuse folosind operatorul „+”. Un delegat compus apelează cei doi delegați din care a fost compus. Pot fi compuși doar delegați de același tip. Operatorul „-” poate fi utilizat pentru a elimina un delegat component dintr-un delegat compus.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Folosind această proprietate a delegaților, puteți crea o listă de invocare a metodelor care vor fi apelate atunci când un delegat este invocat. Aceasta se numește </a:t>
            </a:r>
            <a:r>
              <a:rPr lang="ro-RO" sz="2800" noProof="0" dirty="0" err="1">
                <a:solidFill>
                  <a:schemeClr val="tx2"/>
                </a:solidFill>
              </a:rPr>
              <a:t>multicasting</a:t>
            </a:r>
            <a:r>
              <a:rPr lang="ro-RO" sz="2800" noProof="0" dirty="0">
                <a:solidFill>
                  <a:srgbClr val="00B0F0"/>
                </a:solidFill>
              </a:rPr>
              <a:t> al unui delegat.</a:t>
            </a:r>
          </a:p>
        </p:txBody>
      </p:sp>
    </p:spTree>
    <p:extLst>
      <p:ext uri="{BB962C8B-B14F-4D97-AF65-F5344CB8AC3E}">
        <p14:creationId xmlns:p14="http://schemas.microsoft.com/office/powerpoint/2010/main" val="251824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BF52-1272-EE59-DCD6-9116C889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182B9F-D2FC-6620-42C7-079A3672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7EFCB3-C5C0-5E68-590A-314D3695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delegate </a:t>
            </a:r>
            <a:r>
              <a:rPr lang="ro-RO" sz="2800" noProof="0" dirty="0" err="1">
                <a:solidFill>
                  <a:srgbClr val="00B0F0"/>
                </a:solidFill>
              </a:rPr>
              <a:t>muticast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delegate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NumberChanger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n);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DelegateAppl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TestDelegate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AddNum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MultNum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q)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*=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q;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num;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96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5A3C-6539-7C23-8C23-E0C220FE9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2EC9CD-24C5-D38E-D5E3-5F411845A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27CB01-BD86-7E45-4807-847709271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{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num; 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nc1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AddNum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  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nc2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NumberChanger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MultNum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nc1;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nc2;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calling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multicast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5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Num: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getNum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()); </a:t>
            </a:r>
          </a:p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} </a:t>
            </a:r>
          </a:p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// </a:t>
            </a:r>
            <a:r>
              <a:rPr lang="ro-RO" sz="2000" b="1" noProof="0" dirty="0" err="1">
                <a:solidFill>
                  <a:srgbClr val="00B050"/>
                </a:solidFill>
                <a:latin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 of Num: 75</a:t>
            </a:r>
            <a:endParaRPr lang="ro-RO" sz="2800" noProof="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333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06D76-2301-65F5-2498-5F970F61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045426-8D24-E7B8-3E1F-871D8EE3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40A30D-8DF2-5CA9-9E13-F9D912B36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Utilizarea delegaților ca referințe la metode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Delegații pot fi utilizați pentru a încapsula referințe la metode care permit transmiterea metodelor ca parametri și invocarea lor dinamică.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Următorul exemplu demonstrează utilizarea delegatului </a:t>
            </a:r>
            <a:r>
              <a:rPr lang="ro-RO" sz="2800" noProof="0" dirty="0" err="1">
                <a:solidFill>
                  <a:srgbClr val="00B0F0"/>
                </a:solidFill>
              </a:rPr>
              <a:t>printString</a:t>
            </a:r>
            <a:r>
              <a:rPr lang="ro-RO" sz="2800" noProof="0" dirty="0">
                <a:solidFill>
                  <a:srgbClr val="00B0F0"/>
                </a:solidFill>
              </a:rPr>
              <a:t>. Acesta poate fi folosit pentru a face referire la o metodă care primește un șir de caractere ca intrare și nu returnează nimic.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Folosim acest delegat pentru a apela două metode, prima afișează șirul de caractere în consolă, iar a doua îl scrie într-un fișier.</a:t>
            </a:r>
          </a:p>
        </p:txBody>
      </p:sp>
    </p:spTree>
    <p:extLst>
      <p:ext uri="{BB962C8B-B14F-4D97-AF65-F5344CB8AC3E}">
        <p14:creationId xmlns:p14="http://schemas.microsoft.com/office/powerpoint/2010/main" val="95673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C6F79-D779-CCF4-3A7E-F4A720D9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735C39-37A3-CF13-1815-15F09D87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49A45C-5CEC-EA2A-B884-F947FAAFE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System.IO;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DelegateAppl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PrintString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FileStream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StreamWriter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    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delegate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printString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WriteToScreen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"The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{0}"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 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noProof="0" dirty="0">
              <a:solidFill>
                <a:srgbClr val="999999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WriteToFile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FileStream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"c:\\message.txt"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FileMode.Append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FileAccess.Write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StreamWriter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sw.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(s);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sw.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Flush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sw.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Close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fs.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Close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}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627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D97B9-20EC-A763-81B7-148853C4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92C6C5-4669-A4CC-D6E3-E9389BA6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85D3C5-EB53-FF1C-0EEA-D102FF5CB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this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takes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delegate as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parameter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and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uses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it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as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required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sendString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Hello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World"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ps1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WriteToScreen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ps2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WriteToFile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sendString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(ps1);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sendString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(ps2);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indent="0" algn="just">
              <a:buNone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745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B769-5EE9-FD0C-6A88-F18BB202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DBC39-5330-F435-6CCD-4B6B0659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5A18D2-9CB7-3DDF-BDA2-25A06EC4F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Delegați încorporați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Următorul tabel prezintă delegații generici încorporați în C#: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FA2451-F87C-C2BD-C2AE-A5DC7CFCE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966178"/>
              </p:ext>
            </p:extLst>
          </p:nvPr>
        </p:nvGraphicFramePr>
        <p:xfrm>
          <a:off x="627526" y="2938929"/>
          <a:ext cx="7915839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9">
                  <a:extLst>
                    <a:ext uri="{9D8B030D-6E8A-4147-A177-3AD203B41FA5}">
                      <a16:colId xmlns:a16="http://schemas.microsoft.com/office/drawing/2014/main" val="3482353597"/>
                    </a:ext>
                  </a:extLst>
                </a:gridCol>
                <a:gridCol w="1146306">
                  <a:extLst>
                    <a:ext uri="{9D8B030D-6E8A-4147-A177-3AD203B41FA5}">
                      <a16:colId xmlns:a16="http://schemas.microsoft.com/office/drawing/2014/main" val="1861305038"/>
                    </a:ext>
                  </a:extLst>
                </a:gridCol>
                <a:gridCol w="5144754">
                  <a:extLst>
                    <a:ext uri="{9D8B030D-6E8A-4147-A177-3AD203B41FA5}">
                      <a16:colId xmlns:a16="http://schemas.microsoft.com/office/drawing/2014/main" val="2412055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sz="1350" b="1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Delegate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1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Descriere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1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Exemplu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685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&lt;T&gt;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Returneaza</a:t>
                      </a:r>
                      <a:endParaRPr lang="ro-RO" sz="1350" b="0" i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greet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=&gt;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Console.WriteLine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8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&lt;T,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TResult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Returneaza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valoare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(a, b) =&gt; a + b;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744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Predicate&lt;T&gt;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0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Returneaza</a:t>
                      </a:r>
                      <a:r>
                        <a:rPr lang="ro-RO" sz="13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Predicate&lt;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ro-RO" sz="1350" b="1" i="0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isEven</a:t>
                      </a:r>
                      <a:r>
                        <a:rPr lang="ro-RO" sz="1350" b="1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n =&gt; n % 2 == 0;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10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855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8AE65-D043-4EBA-1826-39189B67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26C076-0270-A66B-0FBF-2F72BEDB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2CCE2A-3B94-9B07-792F-69001500B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delegați încorporați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subtract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(a, b)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Difference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subtract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)}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Predicate&lt;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isShort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s.Length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$"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'Hi'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short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?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isShort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"Hi"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)}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988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4927-1422-DEC7-C96E-A71E13D9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CA1243-D35F-6747-D909-A9338DB3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45109-2455-DDC8-0027-95CF9832A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Expresii regulate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 </a:t>
            </a:r>
            <a:r>
              <a:rPr lang="ro-RO" sz="2800" noProof="0" dirty="0">
                <a:solidFill>
                  <a:schemeClr val="tx2"/>
                </a:solidFill>
              </a:rPr>
              <a:t>expresie regulată </a:t>
            </a:r>
            <a:r>
              <a:rPr lang="ro-RO" sz="2800" noProof="0" dirty="0">
                <a:solidFill>
                  <a:srgbClr val="00B0F0"/>
                </a:solidFill>
              </a:rPr>
              <a:t>este un model care poate fi comparat cu un text de intrare. Framework-</a:t>
            </a:r>
            <a:r>
              <a:rPr lang="ro-RO" sz="2800" noProof="0" dirty="0" err="1">
                <a:solidFill>
                  <a:srgbClr val="00B0F0"/>
                </a:solidFill>
              </a:rPr>
              <a:t>ul</a:t>
            </a:r>
            <a:r>
              <a:rPr lang="ro-RO" sz="2800" noProof="0" dirty="0">
                <a:solidFill>
                  <a:srgbClr val="00B0F0"/>
                </a:solidFill>
              </a:rPr>
              <a:t> .Net oferă un motor de expresii regulate care permite o astfel de comparare.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Un model constă </a:t>
            </a:r>
            <a:r>
              <a:rPr lang="ro-RO" sz="2800" noProof="0" dirty="0" err="1">
                <a:solidFill>
                  <a:srgbClr val="00B0F0"/>
                </a:solidFill>
              </a:rPr>
              <a:t>dintr</a:t>
            </a:r>
            <a:r>
              <a:rPr lang="ro-RO" sz="2800" noProof="0" dirty="0">
                <a:solidFill>
                  <a:srgbClr val="00B0F0"/>
                </a:solidFill>
              </a:rPr>
              <a:t>-unul sau mai mulți literali de caractere, operatori sau construcții.</a:t>
            </a:r>
          </a:p>
        </p:txBody>
      </p:sp>
    </p:spTree>
    <p:extLst>
      <p:ext uri="{BB962C8B-B14F-4D97-AF65-F5344CB8AC3E}">
        <p14:creationId xmlns:p14="http://schemas.microsoft.com/office/powerpoint/2010/main" val="220075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171C-980B-6CB6-8839-FA4F55DAD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175400-BBE5-677D-8EA5-EF7F43F7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10" y="590828"/>
            <a:ext cx="7315200" cy="511830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861EEF-9DCE-8448-7055-9D24DCC612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565" y="1102658"/>
            <a:ext cx="6896010" cy="3593592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Construcții pentru definirea expresiilor regulate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Există diverse categorii de caractere, operatori și construcții care vă permit să definiți expresii regulate.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800" noProof="0" dirty="0">
                <a:solidFill>
                  <a:srgbClr val="00B0F0"/>
                </a:solidFill>
              </a:rPr>
              <a:t>Structuri pentru definirea expresiilor regulate: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5B2EB9-356C-2ED9-452F-D4CBC65312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566" y="4312026"/>
            <a:ext cx="8122382" cy="2178421"/>
          </a:xfrm>
        </p:spPr>
        <p:txBody>
          <a:bodyPr numCol="2">
            <a:noAutofit/>
          </a:bodyPr>
          <a:lstStyle/>
          <a:p>
            <a:pPr lvl="0" algn="just">
              <a:buClr>
                <a:srgbClr val="FF8600"/>
              </a:buClr>
              <a:defRPr/>
            </a:pPr>
            <a:r>
              <a:rPr lang="ro-RO" sz="2200" noProof="0" dirty="0" err="1">
                <a:solidFill>
                  <a:srgbClr val="00B0F0"/>
                </a:solidFill>
              </a:rPr>
              <a:t>Escape</a:t>
            </a:r>
            <a:r>
              <a:rPr lang="ro-RO" sz="2200" noProof="0" dirty="0">
                <a:solidFill>
                  <a:srgbClr val="00B0F0"/>
                </a:solidFill>
              </a:rPr>
              <a:t>-uri de caractere</a:t>
            </a:r>
          </a:p>
          <a:p>
            <a:pPr lvl="0" algn="just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Clase de caractere</a:t>
            </a:r>
          </a:p>
          <a:p>
            <a:pPr lvl="0" algn="just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Ancore</a:t>
            </a:r>
          </a:p>
          <a:p>
            <a:pPr lvl="0" algn="just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Structuri de grupare</a:t>
            </a:r>
          </a:p>
          <a:p>
            <a:pPr lvl="0" algn="just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Cuantificatori </a:t>
            </a:r>
          </a:p>
          <a:p>
            <a:pPr lvl="0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Structuri de referință inversă</a:t>
            </a:r>
          </a:p>
          <a:p>
            <a:pPr lvl="0" algn="just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Structuri de alternare</a:t>
            </a:r>
          </a:p>
          <a:p>
            <a:pPr lvl="0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Substituții</a:t>
            </a:r>
          </a:p>
          <a:p>
            <a:pPr lvl="0" algn="just">
              <a:buClr>
                <a:srgbClr val="FF8600"/>
              </a:buClr>
              <a:defRPr/>
            </a:pPr>
            <a:r>
              <a:rPr lang="ro-RO" sz="2200" noProof="0" dirty="0">
                <a:solidFill>
                  <a:srgbClr val="00B0F0"/>
                </a:solidFill>
              </a:rPr>
              <a:t>Structuri diverse</a:t>
            </a:r>
          </a:p>
          <a:p>
            <a:pPr marL="34290" indent="0">
              <a:buNone/>
            </a:pPr>
            <a:endParaRPr lang="ro-RO" sz="2400" noProof="0" dirty="0"/>
          </a:p>
        </p:txBody>
      </p:sp>
    </p:spTree>
    <p:extLst>
      <p:ext uri="{BB962C8B-B14F-4D97-AF65-F5344CB8AC3E}">
        <p14:creationId xmlns:p14="http://schemas.microsoft.com/office/powerpoint/2010/main" val="3509459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97CDE-6E97-BF6C-49C2-0DB5FE0E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9B6369-6796-C148-94E9-3DA93C70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AB9358-A62D-AF3E-B1FE-35FD6571A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800" noProof="0" dirty="0">
                <a:solidFill>
                  <a:schemeClr val="tx2"/>
                </a:solidFill>
              </a:rPr>
              <a:t>Clasa </a:t>
            </a:r>
            <a:r>
              <a:rPr lang="ro-RO" sz="2800" noProof="0" dirty="0" err="1">
                <a:solidFill>
                  <a:schemeClr val="tx2"/>
                </a:solidFill>
              </a:rPr>
              <a:t>Regex</a:t>
            </a:r>
            <a:r>
              <a:rPr lang="ro-RO" sz="2800" noProof="0" dirty="0">
                <a:solidFill>
                  <a:schemeClr val="tx2"/>
                </a:solidFill>
              </a:rPr>
              <a:t> - metode</a:t>
            </a: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lang="ro-RO" sz="2800" noProof="0" dirty="0">
                <a:solidFill>
                  <a:srgbClr val="00B0F0"/>
                </a:solidFill>
              </a:rPr>
              <a:t>Clasa </a:t>
            </a:r>
            <a:r>
              <a:rPr lang="ro-RO" sz="2800" noProof="0" dirty="0" err="1">
                <a:solidFill>
                  <a:schemeClr val="tx2"/>
                </a:solidFill>
              </a:rPr>
              <a:t>Regex</a:t>
            </a:r>
            <a:r>
              <a:rPr lang="ro-RO" sz="2800" noProof="0" dirty="0">
                <a:solidFill>
                  <a:srgbClr val="00B0F0"/>
                </a:solidFill>
              </a:rPr>
              <a:t> este utilizată pentru reprezentarea unei expresii regulate. Are următoarele metode:</a:t>
            </a:r>
          </a:p>
          <a:p>
            <a:r>
              <a:rPr lang="ro-RO" sz="24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public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IsMatch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o-RO" sz="2400" noProof="0" dirty="0">
                <a:solidFill>
                  <a:srgbClr val="00B0F0"/>
                </a:solidFill>
              </a:rPr>
              <a:t>indică dacă expresia regulată specificată în constructorul </a:t>
            </a:r>
            <a:r>
              <a:rPr lang="ro-RO" sz="2400" noProof="0" dirty="0" err="1">
                <a:solidFill>
                  <a:srgbClr val="00B0F0"/>
                </a:solidFill>
              </a:rPr>
              <a:t>Regex</a:t>
            </a:r>
            <a:r>
              <a:rPr lang="ro-RO" sz="2400" noProof="0" dirty="0">
                <a:solidFill>
                  <a:srgbClr val="00B0F0"/>
                </a:solidFill>
              </a:rPr>
              <a:t> găsește o potrivire într-un șir de intrare specificat.</a:t>
            </a:r>
          </a:p>
          <a:p>
            <a:r>
              <a:rPr lang="ro-RO" sz="24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public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IsMatch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ro-RO" sz="2400" b="0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startat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o-RO" sz="2400" noProof="0" dirty="0">
                <a:solidFill>
                  <a:srgbClr val="00B0F0"/>
                </a:solidFill>
              </a:rPr>
              <a:t>Indică dacă expresia regulată specificată în constructorul </a:t>
            </a:r>
            <a:r>
              <a:rPr lang="ro-RO" sz="2400" noProof="0" dirty="0" err="1">
                <a:solidFill>
                  <a:srgbClr val="00B0F0"/>
                </a:solidFill>
              </a:rPr>
              <a:t>Regex</a:t>
            </a:r>
            <a:r>
              <a:rPr lang="ro-RO" sz="2400" noProof="0" dirty="0">
                <a:solidFill>
                  <a:srgbClr val="00B0F0"/>
                </a:solidFill>
              </a:rPr>
              <a:t> găsește o potrivire în șirul de intrare specificat, începând de la poziția inițială specificată în șir.</a:t>
            </a:r>
          </a:p>
          <a:p>
            <a:r>
              <a:rPr lang="ro-RO" sz="2400" noProof="0" dirty="0">
                <a:solidFill>
                  <a:srgbClr val="569CD6"/>
                </a:solidFill>
                <a:latin typeface="Consolas" panose="020B0609020204030204" pitchFamily="49" charset="0"/>
              </a:rPr>
              <a:t> public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400" noProof="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400" noProof="0" dirty="0" err="1">
                <a:solidFill>
                  <a:srgbClr val="92D050"/>
                </a:solidFill>
                <a:latin typeface="Consolas" panose="020B0609020204030204" pitchFamily="49" charset="0"/>
              </a:rPr>
              <a:t>bool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400" noProof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IsMatch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o-RO" sz="2400" noProof="0" dirty="0" err="1">
                <a:solidFill>
                  <a:srgbClr val="92D050"/>
                </a:solidFill>
                <a:latin typeface="Consolas" panose="020B0609020204030204" pitchFamily="49" charset="0"/>
              </a:rPr>
              <a:t>string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400" noProof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ro-RO" sz="2400" noProof="0" dirty="0" err="1">
                <a:solidFill>
                  <a:srgbClr val="92D050"/>
                </a:solidFill>
                <a:latin typeface="Consolas" panose="020B0609020204030204" pitchFamily="49" charset="0"/>
              </a:rPr>
              <a:t>string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400" noProof="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pattern</a:t>
            </a:r>
            <a:r>
              <a:rPr lang="ro-RO" sz="2400" noProof="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ro-RO" sz="2400" noProof="0" dirty="0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ro-RO" sz="2400" noProof="0" dirty="0">
                <a:solidFill>
                  <a:srgbClr val="00B0F0"/>
                </a:solidFill>
              </a:rPr>
              <a:t>ndică dacă expresia regulată specificată găsește o potrivire în șirul de intrare specificat.</a:t>
            </a:r>
          </a:p>
          <a:p>
            <a:pPr marL="34290" indent="0">
              <a:buNone/>
            </a:pPr>
            <a:endParaRPr lang="ro-RO" sz="2400" noProof="0" dirty="0">
              <a:solidFill>
                <a:srgbClr val="00B0F0"/>
              </a:solidFill>
            </a:endParaRPr>
          </a:p>
          <a:p>
            <a:pPr algn="just">
              <a:buClr>
                <a:srgbClr val="FF8600"/>
              </a:buClr>
              <a:defRPr/>
            </a:pPr>
            <a:endParaRPr lang="ro-RO" sz="2400" noProof="0" dirty="0">
              <a:solidFill>
                <a:srgbClr val="00B0F0"/>
              </a:solidFill>
            </a:endParaRPr>
          </a:p>
          <a:p>
            <a:pPr marL="34290" lvl="0" indent="0" algn="just">
              <a:buClr>
                <a:srgbClr val="FF8600"/>
              </a:buClr>
              <a:buNone/>
              <a:defRPr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285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A4D7-A2BB-FA71-8779-F3FC2AF9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3836CC-540C-5133-B9B4-B774656B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5B2DC2-F034-FC1F-10E7-A0EE613C6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Clasa </a:t>
            </a:r>
            <a:r>
              <a:rPr lang="ro-RO" sz="2800" noProof="0" dirty="0" err="1">
                <a:solidFill>
                  <a:schemeClr val="tx2"/>
                </a:solidFill>
              </a:rPr>
              <a:t>Regex</a:t>
            </a:r>
            <a:r>
              <a:rPr lang="ro-RO" sz="2800" noProof="0" dirty="0">
                <a:solidFill>
                  <a:schemeClr val="tx2"/>
                </a:solidFill>
              </a:rPr>
              <a:t> - metode</a:t>
            </a:r>
          </a:p>
          <a:p>
            <a:r>
              <a:rPr lang="ro-RO" sz="24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public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MatchCollection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Matches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0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o-RO" sz="2400" b="0" noProof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ro-RO" sz="2400" noProof="0" dirty="0">
                <a:solidFill>
                  <a:srgbClr val="00B0F0"/>
                </a:solidFill>
              </a:rPr>
              <a:t>aută în șirul de intrare specificat toate aparițiile unei expresii regulate.</a:t>
            </a:r>
          </a:p>
          <a:p>
            <a:r>
              <a:rPr lang="ro-RO" sz="2400" noProof="0" dirty="0">
                <a:solidFill>
                  <a:srgbClr val="00B0F0"/>
                </a:solidFill>
              </a:rPr>
              <a:t> </a:t>
            </a:r>
            <a:r>
              <a:rPr lang="ro-RO" sz="24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replacement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o-RO" sz="2400" noProof="0" dirty="0">
                <a:solidFill>
                  <a:srgbClr val="00B0F0"/>
                </a:solidFill>
              </a:rPr>
              <a:t>într-un șir de intrare specificat, înlocuiește toate șirurile care corespund unui model de expresie regulată cu un șir de înlocuire specificat.</a:t>
            </a:r>
          </a:p>
          <a:p>
            <a:r>
              <a:rPr lang="ro-RO" sz="24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public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ro-RO" sz="2400" b="0" noProof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0" noProof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0" noProof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ro-RO" sz="24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o-RO" sz="2400" b="0" noProof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î</a:t>
            </a:r>
            <a:r>
              <a:rPr lang="ro-RO" sz="2400" noProof="0" dirty="0">
                <a:solidFill>
                  <a:srgbClr val="00B0F0"/>
                </a:solidFill>
              </a:rPr>
              <a:t>mparte un șir de caractere de intrare într-o matrice de subșiruri la pozițiile definite de un model de expresie regulată specificat în constructorul </a:t>
            </a:r>
            <a:r>
              <a:rPr lang="ro-RO" sz="2400" noProof="0" dirty="0" err="1">
                <a:solidFill>
                  <a:srgbClr val="00B0F0"/>
                </a:solidFill>
              </a:rPr>
              <a:t>Regex</a:t>
            </a:r>
            <a:r>
              <a:rPr lang="ro-RO" sz="24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0238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C3BA-1A0A-5A42-2F48-8AEA6E78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68C2F5-3137-0ED8-9024-F2D0A9C48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4D69AC-E36B-A7D8-7333-477404B4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Utilizarea expresiilor regulate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Mai jos sunt câteva utilizări ale expresiilor regulate:</a:t>
            </a:r>
          </a:p>
          <a:p>
            <a:pPr algn="just"/>
            <a:r>
              <a:rPr lang="ro-RO" sz="2600" noProof="0" dirty="0">
                <a:solidFill>
                  <a:srgbClr val="00B0F0"/>
                </a:solidFill>
              </a:rPr>
              <a:t>Potrivirea modelelor – pentru a găsi modele de text în șiruri de caractere.</a:t>
            </a:r>
          </a:p>
          <a:p>
            <a:pPr algn="just"/>
            <a:r>
              <a:rPr lang="ro-RO" sz="2600" noProof="0" dirty="0">
                <a:solidFill>
                  <a:srgbClr val="00B0F0"/>
                </a:solidFill>
              </a:rPr>
              <a:t>Validare – pentru diferite tipuri de validări, cum ar fi validarea adresei de e-mail, a numerelor de telefon etc.</a:t>
            </a:r>
          </a:p>
          <a:p>
            <a:pPr algn="just"/>
            <a:r>
              <a:rPr lang="ro-RO" sz="2600" noProof="0" dirty="0">
                <a:solidFill>
                  <a:srgbClr val="00B0F0"/>
                </a:solidFill>
              </a:rPr>
              <a:t>Înlocuire – pentru a înlocui anumite modele în text.</a:t>
            </a:r>
          </a:p>
          <a:p>
            <a:pPr algn="just"/>
            <a:r>
              <a:rPr lang="ro-RO" sz="2600" noProof="0" dirty="0">
                <a:solidFill>
                  <a:srgbClr val="00B0F0"/>
                </a:solidFill>
              </a:rPr>
              <a:t>Extragere – pentru a extrage anumite părți ale unui șir de caractere în funcție de cerințele dvs.</a:t>
            </a:r>
          </a:p>
        </p:txBody>
      </p:sp>
    </p:spTree>
    <p:extLst>
      <p:ext uri="{BB962C8B-B14F-4D97-AF65-F5344CB8AC3E}">
        <p14:creationId xmlns:p14="http://schemas.microsoft.com/office/powerpoint/2010/main" val="3854008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C4012-0A36-0F79-9271-239FB3D4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494A3B-BC01-1C11-9504-BADE98E9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70891C-6B87-0A87-022B-E262AA7FD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Spații de nume necesare pentru expresii regulate (</a:t>
            </a:r>
            <a:r>
              <a:rPr lang="ro-RO" sz="2800" noProof="0" dirty="0" err="1">
                <a:solidFill>
                  <a:srgbClr val="00B0F0"/>
                </a:solidFill>
              </a:rPr>
              <a:t>RegEx</a:t>
            </a:r>
            <a:r>
              <a:rPr lang="ro-RO" sz="2800" noProof="0" dirty="0">
                <a:solidFill>
                  <a:srgbClr val="00B0F0"/>
                </a:solidFill>
              </a:rPr>
              <a:t>)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Pentru a lucra cu </a:t>
            </a:r>
            <a:r>
              <a:rPr lang="ro-RO" sz="2800" noProof="0" dirty="0" err="1">
                <a:solidFill>
                  <a:srgbClr val="00B0F0"/>
                </a:solidFill>
              </a:rPr>
              <a:t>Regex</a:t>
            </a:r>
            <a:r>
              <a:rPr lang="ro-RO" sz="2800" noProof="0" dirty="0">
                <a:solidFill>
                  <a:srgbClr val="00B0F0"/>
                </a:solidFill>
              </a:rPr>
              <a:t> în C#, trebuie să includeți </a:t>
            </a:r>
            <a:r>
              <a:rPr lang="ro-RO" sz="2800" noProof="0" dirty="0" err="1">
                <a:solidFill>
                  <a:srgbClr val="00B0F0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-urile: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400" i="0" noProof="0" dirty="0" err="1"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400" i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i="0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ro-RO" sz="2400" i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i="0" noProof="0" dirty="0" err="1"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400" i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i="0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System.Text.RegularExpressions</a:t>
            </a:r>
            <a:r>
              <a:rPr lang="ro-RO" sz="2400" i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ro-RO" sz="2400" noProof="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493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9D4B6-8BFC-2269-3B52-D56D5D7C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5D545-08EF-B461-A32C-BD37AD258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5D4F9B-A61D-EDFD-111E-2F2630E76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Sintaxă </a:t>
            </a:r>
            <a:r>
              <a:rPr lang="ro-RO" sz="2800" noProof="0" dirty="0" err="1">
                <a:solidFill>
                  <a:srgbClr val="00B0F0"/>
                </a:solidFill>
              </a:rPr>
              <a:t>Regex</a:t>
            </a:r>
            <a:r>
              <a:rPr lang="ro-RO" sz="2800" noProof="0" dirty="0">
                <a:solidFill>
                  <a:srgbClr val="00B0F0"/>
                </a:solidFill>
              </a:rPr>
              <a:t> de bază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Sintaxele unor elemente </a:t>
            </a:r>
            <a:r>
              <a:rPr lang="ro-RO" sz="2800" noProof="0" dirty="0" err="1">
                <a:solidFill>
                  <a:srgbClr val="00B0F0"/>
                </a:solidFill>
              </a:rPr>
              <a:t>Regex</a:t>
            </a:r>
            <a:r>
              <a:rPr lang="ro-RO" sz="2800" noProof="0" dirty="0">
                <a:solidFill>
                  <a:srgbClr val="00B0F0"/>
                </a:solidFill>
              </a:rPr>
              <a:t> esențiale: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87C110-BDB5-E16D-1504-4C5F72EE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492649"/>
              </p:ext>
            </p:extLst>
          </p:nvPr>
        </p:nvGraphicFramePr>
        <p:xfrm>
          <a:off x="537882" y="2401047"/>
          <a:ext cx="8142194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254">
                  <a:extLst>
                    <a:ext uri="{9D8B030D-6E8A-4147-A177-3AD203B41FA5}">
                      <a16:colId xmlns:a16="http://schemas.microsoft.com/office/drawing/2014/main" val="3582226649"/>
                    </a:ext>
                  </a:extLst>
                </a:gridCol>
                <a:gridCol w="2500089">
                  <a:extLst>
                    <a:ext uri="{9D8B030D-6E8A-4147-A177-3AD203B41FA5}">
                      <a16:colId xmlns:a16="http://schemas.microsoft.com/office/drawing/2014/main" val="487471641"/>
                    </a:ext>
                  </a:extLst>
                </a:gridCol>
                <a:gridCol w="5012851">
                  <a:extLst>
                    <a:ext uri="{9D8B030D-6E8A-4147-A177-3AD203B41FA5}">
                      <a16:colId xmlns:a16="http://schemas.microsoft.com/office/drawing/2014/main" val="918075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Tipar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1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Descriere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350" b="1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Exemplu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04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b="1" noProof="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Orice caracter singular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„h.t” se potrivește cu „hat”, „hit”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99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Orice cifră (0-9)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„abc123” = Rezultă 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40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Orice caracter </a:t>
                      </a:r>
                      <a:r>
                        <a:rPr lang="ro-RO" noProof="0" dirty="0"/>
                        <a:t>din </a:t>
                      </a:r>
                      <a:r>
                        <a:rPr lang="pt-BR" noProof="0" dirty="0"/>
                        <a:t>cuvânt (a-z, A-Z, 0-9, _)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</a:t>
                      </a:r>
                      <a:r>
                        <a:rPr lang="en-US" dirty="0" err="1">
                          <a:effectLst/>
                        </a:rPr>
                        <a:t>hello_world</a:t>
                      </a:r>
                      <a:r>
                        <a:rPr lang="en-US" dirty="0">
                          <a:effectLst/>
                        </a:rPr>
                        <a:t>"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100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Orice spațiu alb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"hello world"</a:t>
                      </a:r>
                      <a:endParaRPr lang="ro-RO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1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\b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Limita de cuvinte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„\</a:t>
                      </a:r>
                      <a:r>
                        <a:rPr lang="ro-RO" noProof="0" dirty="0" err="1"/>
                        <a:t>bcat</a:t>
                      </a:r>
                      <a:r>
                        <a:rPr lang="ro-RO" noProof="0" dirty="0"/>
                        <a:t>\b” se potrivește cu „cat”, nu cu „</a:t>
                      </a:r>
                      <a:r>
                        <a:rPr lang="ro-RO" noProof="0" dirty="0" err="1"/>
                        <a:t>category</a:t>
                      </a:r>
                      <a:r>
                        <a:rPr lang="ro-RO" noProof="0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419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Începutul șirului de caractere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„^Salut” se potrivește cu „Salut” la începutul </a:t>
                      </a:r>
                      <a:r>
                        <a:rPr lang="ro-RO" noProof="0" dirty="0" err="1"/>
                        <a:t>sirului</a:t>
                      </a:r>
                      <a:r>
                        <a:rPr lang="ro-RO" noProof="0" dirty="0"/>
                        <a:t> de caractere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6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Sfârșitul șirului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„World$” se </a:t>
                      </a:r>
                      <a:r>
                        <a:rPr lang="en-US" noProof="0" dirty="0" err="1"/>
                        <a:t>potrivește</a:t>
                      </a:r>
                      <a:r>
                        <a:rPr lang="en-US" noProof="0" dirty="0"/>
                        <a:t> cu „World” la </a:t>
                      </a:r>
                      <a:r>
                        <a:rPr lang="en-US" noProof="0" dirty="0" err="1"/>
                        <a:t>sfârșit</a:t>
                      </a:r>
                      <a:r>
                        <a:rPr lang="ro-RO" noProof="0" dirty="0" err="1"/>
                        <a:t>ul</a:t>
                      </a:r>
                      <a:r>
                        <a:rPr lang="ro-RO" noProof="0" dirty="0"/>
                        <a:t> </a:t>
                      </a:r>
                      <a:r>
                        <a:rPr lang="ro-RO" noProof="0" dirty="0" err="1"/>
                        <a:t>sirului</a:t>
                      </a:r>
                      <a:r>
                        <a:rPr lang="ro-RO" noProof="0" dirty="0"/>
                        <a:t> de caractere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79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b="1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Zero sau mai multe apariții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„A*” se potrivește cu „A”, „AA”, „”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62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b="1" noProof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noProof="0" dirty="0"/>
                        <a:t>Una sau mai multe apariții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„A+” se potrivește cu „A”, „AA”, nu cu „”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26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sz="13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n,m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ro-RO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Între n și m apariții</a:t>
                      </a:r>
                      <a:endParaRPr lang="ro-RO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noProof="0" dirty="0"/>
                        <a:t>„\d{2,4}” se potrivește cu 12, 123, 1234</a:t>
                      </a:r>
                      <a:r>
                        <a:rPr lang="ro-RO" noProof="0" dirty="0"/>
                        <a:t> 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493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963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92F5B-A0AC-0DF5-7676-609CE513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0F3B91-3540-2314-7196-46D841239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879E00-75E2-E610-DC22-1E0678FB4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Potrivirea tiparelor de șiruri folosind </a:t>
            </a:r>
            <a:r>
              <a:rPr lang="ro-RO" sz="2800" dirty="0" err="1">
                <a:solidFill>
                  <a:srgbClr val="00B0F0"/>
                </a:solidFill>
              </a:rPr>
              <a:t>RegEx</a:t>
            </a:r>
            <a:endParaRPr lang="ro-RO" sz="280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Puteți verifica dacă un șir se potrivește cu un anumit tipar utilizând funcția </a:t>
            </a:r>
            <a:r>
              <a:rPr lang="ro-RO" sz="2800" dirty="0" err="1">
                <a:solidFill>
                  <a:srgbClr val="00B0F0"/>
                </a:solidFill>
              </a:rPr>
              <a:t>Regex.Matches</a:t>
            </a:r>
            <a:r>
              <a:rPr lang="ro-RO" sz="2800" dirty="0">
                <a:solidFill>
                  <a:srgbClr val="00B0F0"/>
                </a:solidFill>
              </a:rPr>
              <a:t>().</a:t>
            </a:r>
          </a:p>
          <a:p>
            <a:pPr>
              <a:buNone/>
            </a:pPr>
            <a:r>
              <a:rPr lang="en-US" sz="24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RegularExpressions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RegExApplication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showMatch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 Expression: "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MatchCollection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mc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Regex</a:t>
            </a:r>
            <a:r>
              <a:rPr lang="en-US" sz="24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Matches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  </a:t>
            </a:r>
            <a:r>
              <a:rPr lang="en-US" sz="20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</a:p>
        </p:txBody>
      </p:sp>
    </p:spTree>
    <p:extLst>
      <p:ext uri="{BB962C8B-B14F-4D97-AF65-F5344CB8AC3E}">
        <p14:creationId xmlns:p14="http://schemas.microsoft.com/office/powerpoint/2010/main" val="3628701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E44F3-C776-800F-BB36-D9FEBED3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120BA5-7817-EC89-8AFF-98BD4C16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38892F-62F9-6AFC-D04C-4752E8CFE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buNone/>
            </a:pPr>
            <a:r>
              <a:rPr kumimoji="0" lang="ro-RO" sz="240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lang="en-US" sz="2400" dirty="0">
                <a:solidFill>
                  <a:srgbClr val="C586C0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4EC9B0"/>
                </a:solidFill>
                <a:latin typeface="Consolas" panose="020B0609020204030204" pitchFamily="49" charset="0"/>
              </a:rPr>
              <a:t>Match</a:t>
            </a: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m</a:t>
            </a: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mc</a:t>
            </a: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m</a:t>
            </a: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24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 marL="171450" marR="0" lvl="0" indent="-137160" algn="l" defTabSz="6858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[]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171450" marR="0" lvl="0" indent="-137160" algn="l" defTabSz="6858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 Thousand Splendid Suns"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171450" marR="0" lvl="0" indent="-137160" algn="l" defTabSz="6858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WriteLine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"Matching words that start with 'S': "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showMatch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@"\bS\S*"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171450" marR="0" lvl="0" indent="-137160" algn="l" defTabSz="6858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ro-RO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171450" marR="0" lvl="0" indent="-137160" algn="l" defTabSz="6858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ro-RO" sz="24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903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1635-B994-C32C-E47D-FCB0912B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6C0BB7-98D7-DBAF-2140-A91C6DFE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647AD0-4432-0DD9-ACC7-7BAB76BD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RegularExpressions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RegExApplication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showMatch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 Expression: 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MatchCollection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Matches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191284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9EEEC-E9C9-3EDA-C46F-965EFA78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722EE1-759D-CED3-7ACE-25DFAAF7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7F29EF-16FC-817D-950A-481F585F3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"make maze and manage to measure it"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"Matching words start with 'm' and ends with 'e':"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showMatch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@"\bm\S*e\b"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6408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49B01-51B3-6DAE-CAD6-D9529B90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FF98F4-D81C-EDA9-8590-78C4F6F6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95977B-1492-595A-7156-DE936339A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Înlocuirea șirurilor de caractere folosind </a:t>
            </a:r>
            <a:r>
              <a:rPr lang="ro-RO" sz="2800" dirty="0" err="1">
                <a:solidFill>
                  <a:srgbClr val="00B0F0"/>
                </a:solidFill>
              </a:rPr>
              <a:t>RegEx</a:t>
            </a:r>
            <a:endParaRPr lang="ro-RO" sz="280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Putem înlocui mai multe spații cu un singur spațiu într-un șir de caractere folosind funcția </a:t>
            </a:r>
            <a:r>
              <a:rPr lang="ro-RO" sz="2800" dirty="0" err="1">
                <a:solidFill>
                  <a:srgbClr val="00B0F0"/>
                </a:solidFill>
              </a:rPr>
              <a:t>Regex.Replace</a:t>
            </a:r>
            <a:r>
              <a:rPr lang="ro-RO" sz="2800" dirty="0">
                <a:solidFill>
                  <a:srgbClr val="00B0F0"/>
                </a:solidFill>
              </a:rPr>
              <a:t>().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RegularExpressions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RegExApplication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  World   </a:t>
            </a:r>
            <a:r>
              <a:rPr lang="ro-R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\\s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replacement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</a:p>
        </p:txBody>
      </p:sp>
    </p:spTree>
    <p:extLst>
      <p:ext uri="{BB962C8B-B14F-4D97-AF65-F5344CB8AC3E}">
        <p14:creationId xmlns:p14="http://schemas.microsoft.com/office/powerpoint/2010/main" val="272644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3EDC-6348-427C-AE55-4E6C6DD0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EEA462-FFC6-8120-58A0-57C9649F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087901-026D-ECB4-7DBA-F374A1E6A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ro-R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rgx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rgx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replacement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ro-R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"Original String: {0}"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"Replacement String: {0}"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4531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F6C4-F5F6-C81D-10CA-1EC43C378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C872A1-3165-D322-A666-C51D95AB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83AC45-195C-929F-FAB9-B98664698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o-RO" sz="2800" dirty="0">
                <a:solidFill>
                  <a:srgbClr val="00B0F0"/>
                </a:solidFill>
              </a:rPr>
              <a:t>Validarea e-mailurilor folosind </a:t>
            </a:r>
            <a:r>
              <a:rPr lang="ro-RO" sz="2800" dirty="0" err="1">
                <a:solidFill>
                  <a:srgbClr val="00B0F0"/>
                </a:solidFill>
              </a:rPr>
              <a:t>RegEx</a:t>
            </a:r>
            <a:endParaRPr lang="ro-RO" sz="2800" dirty="0">
              <a:solidFill>
                <a:srgbClr val="00B0F0"/>
              </a:solidFill>
            </a:endParaRPr>
          </a:p>
          <a:p>
            <a:pPr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Puteți valida o adresă de e-mail folosind o expresie regulată care verifică formatul corect.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RegularExpressions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RegExApplication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"test@example.com"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@"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sz="24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[a-zA-Z0-9._%+-]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4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@[a-zA-Z0-9.-]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4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\.[a-zA-Z]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{2,}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</a:p>
        </p:txBody>
      </p:sp>
    </p:spTree>
    <p:extLst>
      <p:ext uri="{BB962C8B-B14F-4D97-AF65-F5344CB8AC3E}">
        <p14:creationId xmlns:p14="http://schemas.microsoft.com/office/powerpoint/2010/main" val="503117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C77E-ACAF-1794-361E-0276A92C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71C9E0-2166-CE4F-DBAB-BBCE5523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8696DC-7FB8-F81C-F838-0589EB6FC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rgx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Regex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isValid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rgx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IsMatch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isValid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 email address is valid."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 email address is invalid."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ro-RO" sz="2400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3591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5584</TotalTime>
  <Words>2409</Words>
  <Application>Microsoft Office PowerPoint</Application>
  <PresentationFormat>On-screen Show (4:3)</PresentationFormat>
  <Paragraphs>319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Consolas</vt:lpstr>
      <vt:lpstr>Courier New</vt:lpstr>
      <vt:lpstr>Wingdings</vt:lpstr>
      <vt:lpstr>oldTheme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  <vt:lpstr>C#POO - Cursul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81</cp:revision>
  <dcterms:created xsi:type="dcterms:W3CDTF">2025-10-05T09:43:55Z</dcterms:created>
  <dcterms:modified xsi:type="dcterms:W3CDTF">2026-04-30T13:17:33Z</dcterms:modified>
</cp:coreProperties>
</file>
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2" r:id="rId2"/>
    <p:sldId id="257" r:id="rId3"/>
    <p:sldId id="258" r:id="rId4"/>
    <p:sldId id="259" r:id="rId5"/>
    <p:sldId id="260" r:id="rId6"/>
    <p:sldId id="283" r:id="rId7"/>
    <p:sldId id="261" r:id="rId8"/>
    <p:sldId id="262" r:id="rId9"/>
    <p:sldId id="285" r:id="rId10"/>
    <p:sldId id="286" r:id="rId11"/>
    <p:sldId id="284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7" r:id="rId32"/>
    <p:sldId id="288" r:id="rId33"/>
    <p:sldId id="289" r:id="rId34"/>
    <p:sldId id="290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3" autoAdjust="0"/>
    <p:restoredTop sz="94660"/>
  </p:normalViewPr>
  <p:slideViewPr>
    <p:cSldViewPr snapToGrid="0">
      <p:cViewPr varScale="1">
        <p:scale>
          <a:sx n="99" d="100"/>
          <a:sy n="99" d="100"/>
        </p:scale>
        <p:origin x="7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5"/>
            <a:ext cx="7315200" cy="2595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8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5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9"/>
            <a:ext cx="7315200" cy="1098439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2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2"/>
            <a:ext cx="356616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731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5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4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2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9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4"/>
            <a:ext cx="2950936" cy="2173015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7"/>
            <a:ext cx="2950936" cy="224538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8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1" y="1826709"/>
            <a:ext cx="1492499" cy="4484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2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5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1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C7856C7F-C199-47A3-AF94-EAE81E21E31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6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9" y="855958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92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3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14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c5-nested-switch.cs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40D7-66EA-6FDC-4B6E-8E20C444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43489E-6B54-D8B2-F575-E8492357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872B83-ED77-7381-36B9-FFE44AAC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Instrucțiuni condiționale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Structurile decizionale necesită ca programatorul să specifice una sau mai multe condiții care să fie evaluate sau testate de către program, împreună cu o instrucțiune sau instrucțiuni care să fie executate dacă condiția este considerată adevărată și, opțional, alte instrucțiuni care să fie executate dacă condiția este considerată falsă.</a:t>
            </a:r>
          </a:p>
        </p:txBody>
      </p:sp>
    </p:spTree>
    <p:extLst>
      <p:ext uri="{BB962C8B-B14F-4D97-AF65-F5344CB8AC3E}">
        <p14:creationId xmlns:p14="http://schemas.microsoft.com/office/powerpoint/2010/main" val="70780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5DB9B-9E97-997E-00C8-A8E670BC2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12F9F5-5FD0-BE2C-B5A9-F801A5912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B90E5B-A06C-297E-FF7E-91138F92D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Instrucțiuni condiționale în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Mai jos este prezentată forma generală a unei structuri tipice de luare a deciziilor întâlnite în majoritatea limbajelor de programare.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pic>
        <p:nvPicPr>
          <p:cNvPr id="1026" name="Picture 2" descr="Decision making statements in C#">
            <a:extLst>
              <a:ext uri="{FF2B5EF4-FFF2-40B4-BE49-F238E27FC236}">
                <a16:creationId xmlns:a16="http://schemas.microsoft.com/office/drawing/2014/main" id="{D81D04F9-A096-3DE7-AE5C-F3AEE5330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94" y="3210176"/>
            <a:ext cx="2524125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28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EB5E0-3DE2-14A2-8328-4699825FC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4173C1-644E-4EB0-A2C9-3C458E753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35DC03-B50F-F192-3F71-85EE9C171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Instrucțiuni decizionale în C#</a:t>
            </a:r>
          </a:p>
          <a:p>
            <a:pPr marL="548640" indent="-514350" algn="just">
              <a:buFont typeface="+mj-lt"/>
              <a:buAutoNum type="arabicPeriod"/>
            </a:pPr>
            <a:r>
              <a:rPr lang="ro-RO" sz="2800" noProof="0" dirty="0">
                <a:solidFill>
                  <a:srgbClr val="00B0F0"/>
                </a:solidFill>
              </a:rPr>
              <a:t>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- O instrucțiune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constă dintr-o expresie booleană urmată de una sau mai multe instrucțiuni.</a:t>
            </a:r>
          </a:p>
          <a:p>
            <a:pPr marL="548640" indent="-514350" algn="just">
              <a:buFont typeface="+mj-lt"/>
              <a:buAutoNum type="arabicPeriod"/>
            </a:pPr>
            <a:r>
              <a:rPr lang="ro-RO" sz="2800" noProof="0" dirty="0">
                <a:solidFill>
                  <a:srgbClr val="00B0F0"/>
                </a:solidFill>
              </a:rPr>
              <a:t>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...</a:t>
            </a:r>
            <a:r>
              <a:rPr lang="ro-RO" sz="2800" noProof="0" dirty="0" err="1">
                <a:solidFill>
                  <a:srgbClr val="00B0F0"/>
                </a:solidFill>
              </a:rPr>
              <a:t>else</a:t>
            </a:r>
            <a:r>
              <a:rPr lang="ro-RO" sz="2800" noProof="0" dirty="0">
                <a:solidFill>
                  <a:srgbClr val="00B0F0"/>
                </a:solidFill>
              </a:rPr>
              <a:t> - O instrucțiune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poate fi urmată de o instrucțiune </a:t>
            </a:r>
            <a:r>
              <a:rPr lang="ro-RO" sz="2800" noProof="0" dirty="0" err="1">
                <a:solidFill>
                  <a:srgbClr val="00B0F0"/>
                </a:solidFill>
              </a:rPr>
              <a:t>else</a:t>
            </a:r>
            <a:r>
              <a:rPr lang="ro-RO" sz="2800" noProof="0" dirty="0">
                <a:solidFill>
                  <a:srgbClr val="00B0F0"/>
                </a:solidFill>
              </a:rPr>
              <a:t> opțională, care se execută atunci când expresia booleană este falsă.</a:t>
            </a:r>
          </a:p>
          <a:p>
            <a:pPr marL="548640" indent="-514350" algn="just">
              <a:buFont typeface="+mj-lt"/>
              <a:buAutoNum type="arabicPeriod"/>
            </a:pPr>
            <a:r>
              <a:rPr lang="ro-RO" sz="2800" noProof="0" dirty="0">
                <a:solidFill>
                  <a:srgbClr val="00B0F0"/>
                </a:solidFill>
              </a:rPr>
              <a:t>Instrucțiuni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​​imbricate - Puteți utiliza o instrucțiune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sau </a:t>
            </a:r>
            <a:r>
              <a:rPr lang="ro-RO" sz="2800" noProof="0" dirty="0" err="1">
                <a:solidFill>
                  <a:srgbClr val="00B0F0"/>
                </a:solidFill>
              </a:rPr>
              <a:t>else</a:t>
            </a:r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în interiorul altei instrucțiuni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​​sau </a:t>
            </a:r>
            <a:r>
              <a:rPr lang="ro-RO" sz="2800" noProof="0" dirty="0" err="1">
                <a:solidFill>
                  <a:srgbClr val="00B0F0"/>
                </a:solidFill>
              </a:rPr>
              <a:t>else</a:t>
            </a:r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8206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87714-E66A-AC2B-9F97-46A01848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988FAB-8165-82A6-F6F5-8249E8CB6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0A4DA0-B843-5865-73E1-6A1FC7588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Instrucțiuni decizionale în C#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548640" indent="-514350" algn="just">
              <a:buFont typeface="+mj-lt"/>
              <a:buAutoNum type="arabicPeriod" startAt="4"/>
            </a:pPr>
            <a:r>
              <a:rPr lang="ro-RO" sz="2800" noProof="0" dirty="0">
                <a:solidFill>
                  <a:srgbClr val="00B0F0"/>
                </a:solidFill>
              </a:rPr>
              <a:t>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- O instrucțiune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permite testarea egalității unei variabile cu o listă de valori.</a:t>
            </a:r>
          </a:p>
          <a:p>
            <a:pPr marL="548640" indent="-514350" algn="just">
              <a:buFont typeface="+mj-lt"/>
              <a:buAutoNum type="arabicPeriod" startAt="4"/>
            </a:pPr>
            <a:r>
              <a:rPr lang="ro-RO" sz="2800" noProof="0" dirty="0">
                <a:solidFill>
                  <a:srgbClr val="00B0F0"/>
                </a:solidFill>
              </a:rPr>
              <a:t>Instrucțiuni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imbricate - Puteți utiliza o instrucțiune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în interiorul altei instrucțiuni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34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3B37-1F33-8B87-2168-DA8D0D8F6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E1AEBF-010C-C4BC-9C1C-02FBA2934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0E5491-B500-767D-FFD3-7A9CD2BF1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O instrucțiune </a:t>
            </a:r>
            <a:r>
              <a:rPr lang="ro-RO" sz="2800" dirty="0" err="1">
                <a:solidFill>
                  <a:srgbClr val="00B0F0"/>
                </a:solidFill>
              </a:rPr>
              <a:t>if</a:t>
            </a:r>
            <a:r>
              <a:rPr lang="ro-RO" sz="2800" dirty="0">
                <a:solidFill>
                  <a:srgbClr val="00B0F0"/>
                </a:solidFill>
              </a:rPr>
              <a:t> este o construcție de programare care ne permite să decidem ce să facem pe baza unei condiții. Este o instrucțiune de control al fluxului care constă dintr-o expresie booleană ce ajută la executarea diferitelor blocuri de cod în funcție de o condiție dacă este adevărată sau falsă.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78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39322-8EE7-3F33-5182-31E255D56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B2F0CD-C404-347A-5776-846D949CC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8C3D5C-BDD7-98E3-BC12-DCF902F26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– sintaxa</a:t>
            </a:r>
          </a:p>
          <a:p>
            <a:pPr marL="34290" indent="0" algn="just">
              <a:buNone/>
            </a:pP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4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boolean_expression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ro-RO" sz="2400" b="1" i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instructiuni</a:t>
            </a:r>
            <a:r>
              <a:rPr lang="ro-RO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ce vor fi executate daca </a:t>
            </a:r>
            <a:r>
              <a:rPr lang="ro-RO" sz="2400" b="1" i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conditia</a:t>
            </a:r>
            <a:r>
              <a:rPr lang="ro-RO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este </a:t>
            </a:r>
            <a:r>
              <a:rPr lang="ro-RO" sz="2400" b="1" i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adevarata</a:t>
            </a:r>
            <a:r>
              <a:rPr lang="en-US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*/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endParaRPr lang="ro-RO" sz="24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  <p:pic>
        <p:nvPicPr>
          <p:cNvPr id="2050" name="Picture 2" descr="C# if statement">
            <a:extLst>
              <a:ext uri="{FF2B5EF4-FFF2-40B4-BE49-F238E27FC236}">
                <a16:creationId xmlns:a16="http://schemas.microsoft.com/office/drawing/2014/main" id="{15925D3E-74FB-76D6-9495-849F59A58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5" y="3493433"/>
            <a:ext cx="2419350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78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B3054-05BE-4119-BFA5-9ADBF94E6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BDAC79-CBAE-534C-8247-4CEC9DC1F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9A7F79-73FC-36EC-3D9F-FC2560F88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dirty="0" err="1">
                <a:solidFill>
                  <a:srgbClr val="CC99CD"/>
                </a:solidFill>
                <a:latin typeface="Courier New" panose="02070309020205020404" pitchFamily="49" charset="0"/>
              </a:rPr>
              <a:t>using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dirty="0" err="1">
                <a:solidFill>
                  <a:srgbClr val="CCCCCC"/>
                </a:solidFill>
                <a:latin typeface="Courier New" panose="02070309020205020404" pitchFamily="49" charset="0"/>
              </a:rPr>
              <a:t>System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b="1" dirty="0" err="1">
                <a:solidFill>
                  <a:srgbClr val="CC99CD"/>
                </a:solidFill>
                <a:latin typeface="Courier New" panose="02070309020205020404" pitchFamily="49" charset="0"/>
              </a:rPr>
              <a:t>namespace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dirty="0" err="1">
                <a:solidFill>
                  <a:srgbClr val="CCCCCC"/>
                </a:solidFill>
                <a:latin typeface="Courier New" panose="02070309020205020404" pitchFamily="49" charset="0"/>
              </a:rPr>
              <a:t>DecisionMaking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dirty="0" err="1">
                <a:solidFill>
                  <a:srgbClr val="CC99CD"/>
                </a:solidFill>
                <a:latin typeface="Courier New" panose="02070309020205020404" pitchFamily="49" charset="0"/>
              </a:rPr>
              <a:t>class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dirty="0">
                <a:solidFill>
                  <a:srgbClr val="CC99CD"/>
                </a:solidFill>
                <a:latin typeface="Courier New" panose="02070309020205020404" pitchFamily="49" charset="0"/>
              </a:rPr>
              <a:t>static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dirty="0" err="1">
                <a:solidFill>
                  <a:srgbClr val="CC99CD"/>
                </a:solidFill>
                <a:latin typeface="Courier New" panose="02070309020205020404" pitchFamily="49" charset="0"/>
              </a:rPr>
              <a:t>void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dirty="0">
                <a:solidFill>
                  <a:srgbClr val="F08D49"/>
                </a:solidFill>
                <a:latin typeface="Courier New" panose="02070309020205020404" pitchFamily="49" charset="0"/>
              </a:rPr>
              <a:t>Main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dirty="0" err="1">
                <a:solidFill>
                  <a:srgbClr val="CC99CD"/>
                </a:solidFill>
                <a:latin typeface="Courier New" panose="02070309020205020404" pitchFamily="49" charset="0"/>
              </a:rPr>
              <a:t>string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[] </a:t>
            </a:r>
            <a:r>
              <a:rPr lang="ro-RO" sz="2400" b="1" dirty="0" err="1">
                <a:solidFill>
                  <a:srgbClr val="CCCCCC"/>
                </a:solidFill>
                <a:latin typeface="Courier New" panose="02070309020205020404" pitchFamily="49" charset="0"/>
              </a:rPr>
              <a:t>args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) { </a:t>
            </a:r>
          </a:p>
          <a:p>
            <a:pPr marL="34290" indent="0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400" b="1" dirty="0" err="1">
                <a:solidFill>
                  <a:srgbClr val="CCCCCC"/>
                </a:solidFill>
                <a:latin typeface="Courier New" panose="02070309020205020404" pitchFamily="49" charset="0"/>
              </a:rPr>
              <a:t>temperature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dirty="0">
                <a:solidFill>
                  <a:srgbClr val="67CDCC"/>
                </a:solidFill>
                <a:latin typeface="Courier New" panose="02070309020205020404" pitchFamily="49" charset="0"/>
              </a:rPr>
              <a:t>=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dirty="0">
                <a:solidFill>
                  <a:srgbClr val="F08D49"/>
                </a:solidFill>
                <a:latin typeface="Courier New" panose="02070309020205020404" pitchFamily="49" charset="0"/>
              </a:rPr>
              <a:t>30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; </a:t>
            </a:r>
          </a:p>
          <a:p>
            <a:pPr marL="34290" indent="0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400" b="1" dirty="0" err="1">
                <a:solidFill>
                  <a:srgbClr val="CC99CD"/>
                </a:solidFill>
                <a:latin typeface="Courier New" panose="02070309020205020404" pitchFamily="49" charset="0"/>
              </a:rPr>
              <a:t>if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(</a:t>
            </a:r>
            <a:r>
              <a:rPr lang="ro-RO" sz="2400" b="1" dirty="0" err="1">
                <a:solidFill>
                  <a:srgbClr val="CCCCCC"/>
                </a:solidFill>
                <a:latin typeface="Courier New" panose="02070309020205020404" pitchFamily="49" charset="0"/>
              </a:rPr>
              <a:t>temperature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dirty="0">
                <a:solidFill>
                  <a:srgbClr val="67CDCC"/>
                </a:solidFill>
                <a:latin typeface="Courier New" panose="02070309020205020404" pitchFamily="49" charset="0"/>
              </a:rPr>
              <a:t>&gt;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dirty="0">
                <a:solidFill>
                  <a:srgbClr val="F08D49"/>
                </a:solidFill>
                <a:latin typeface="Courier New" panose="02070309020205020404" pitchFamily="49" charset="0"/>
              </a:rPr>
              <a:t>25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) {</a:t>
            </a:r>
          </a:p>
          <a:p>
            <a:pPr marL="34290" indent="0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ro-RO" sz="2400" b="1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400" b="1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400" b="1" dirty="0" err="1">
                <a:solidFill>
                  <a:srgbClr val="7EC699"/>
                </a:solidFill>
                <a:latin typeface="Courier New" panose="02070309020205020404" pitchFamily="49" charset="0"/>
              </a:rPr>
              <a:t>It's</a:t>
            </a:r>
            <a:r>
              <a:rPr lang="ro-RO" sz="2400" b="1" dirty="0">
                <a:solidFill>
                  <a:srgbClr val="7EC699"/>
                </a:solidFill>
                <a:latin typeface="Courier New" panose="02070309020205020404" pitchFamily="49" charset="0"/>
              </a:rPr>
              <a:t> a hot </a:t>
            </a:r>
          </a:p>
          <a:p>
            <a:pPr marL="34290" indent="0">
              <a:buNone/>
            </a:pPr>
            <a:r>
              <a:rPr lang="ro-RO" sz="2400" b="1" dirty="0">
                <a:solidFill>
                  <a:srgbClr val="7EC699"/>
                </a:solidFill>
                <a:latin typeface="Courier New" panose="02070309020205020404" pitchFamily="49" charset="0"/>
              </a:rPr>
              <a:t>        </a:t>
            </a:r>
            <a:r>
              <a:rPr lang="ro-RO" sz="2400" b="1" dirty="0" err="1">
                <a:solidFill>
                  <a:srgbClr val="7EC699"/>
                </a:solidFill>
                <a:latin typeface="Courier New" panose="02070309020205020404" pitchFamily="49" charset="0"/>
              </a:rPr>
              <a:t>day</a:t>
            </a:r>
            <a:r>
              <a:rPr lang="ro-RO" sz="2400" b="1" dirty="0">
                <a:solidFill>
                  <a:srgbClr val="7EC699"/>
                </a:solidFill>
                <a:latin typeface="Courier New" panose="02070309020205020404" pitchFamily="49" charset="0"/>
              </a:rPr>
              <a:t>."</a:t>
            </a: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);  </a:t>
            </a:r>
          </a:p>
          <a:p>
            <a:pPr marL="34290" indent="0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}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4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$"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Current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 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temperature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: 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{</a:t>
            </a:r>
            <a:r>
              <a:rPr lang="ro-RO" sz="24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temperature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  </a:t>
            </a:r>
            <a:r>
              <a:rPr lang="ro-RO" sz="24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degree</a:t>
            </a: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C"</a:t>
            </a: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);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}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}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084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B4C7B-AA39-DD77-A126-4881B47D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09A241-9098-9F7F-E021-61A42EC80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AA268F-6C70-AEE4-6C13-5854ACC12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.. </a:t>
            </a:r>
            <a:r>
              <a:rPr lang="ro-RO" sz="2800" noProof="0" dirty="0" err="1">
                <a:solidFill>
                  <a:srgbClr val="00B0F0"/>
                </a:solidFill>
              </a:rPr>
              <a:t>else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Instrucțiunea </a:t>
            </a:r>
            <a:r>
              <a:rPr lang="ro-RO" sz="2800" dirty="0" err="1">
                <a:solidFill>
                  <a:srgbClr val="00B0F0"/>
                </a:solidFill>
              </a:rPr>
              <a:t>if-else</a:t>
            </a:r>
            <a:r>
              <a:rPr lang="ro-RO" sz="2800" dirty="0">
                <a:solidFill>
                  <a:srgbClr val="00B0F0"/>
                </a:solidFill>
              </a:rPr>
              <a:t> este o instrucțiune condițională care execută un bloc diferit de cod în funcție de o condiție dacă este adevărată sau falsă. Când condiția este adevărată, instrucțiunea </a:t>
            </a:r>
            <a:r>
              <a:rPr lang="ro-RO" sz="2800" dirty="0" err="1">
                <a:solidFill>
                  <a:srgbClr val="00B0F0"/>
                </a:solidFill>
              </a:rPr>
              <a:t>if</a:t>
            </a:r>
            <a:r>
              <a:rPr lang="ro-RO" sz="2800" dirty="0">
                <a:solidFill>
                  <a:srgbClr val="00B0F0"/>
                </a:solidFill>
              </a:rPr>
              <a:t> se va executa, dacă condiția este falsă, instrucțiunea </a:t>
            </a:r>
            <a:r>
              <a:rPr lang="ro-RO" sz="2800" dirty="0" err="1">
                <a:solidFill>
                  <a:srgbClr val="00B0F0"/>
                </a:solidFill>
              </a:rPr>
              <a:t>else</a:t>
            </a:r>
            <a:r>
              <a:rPr lang="ro-RO" sz="2800" dirty="0">
                <a:solidFill>
                  <a:srgbClr val="00B0F0"/>
                </a:solidFill>
              </a:rPr>
              <a:t> se va executa.</a:t>
            </a:r>
          </a:p>
          <a:p>
            <a:pPr marL="34290" indent="0" algn="just">
              <a:buNone/>
            </a:pPr>
            <a:endParaRPr lang="ro-RO" sz="280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O instrucțiune </a:t>
            </a:r>
            <a:r>
              <a:rPr lang="ro-RO" sz="2800" dirty="0" err="1">
                <a:solidFill>
                  <a:srgbClr val="00B0F0"/>
                </a:solidFill>
              </a:rPr>
              <a:t>if</a:t>
            </a:r>
            <a:r>
              <a:rPr lang="ro-RO" sz="2800" dirty="0">
                <a:solidFill>
                  <a:srgbClr val="00B0F0"/>
                </a:solidFill>
              </a:rPr>
              <a:t> poate fi urmată de o instrucțiune </a:t>
            </a:r>
            <a:r>
              <a:rPr lang="ro-RO" sz="2800" dirty="0" err="1">
                <a:solidFill>
                  <a:srgbClr val="00B0F0"/>
                </a:solidFill>
              </a:rPr>
              <a:t>else</a:t>
            </a:r>
            <a:r>
              <a:rPr lang="ro-RO" sz="2800" dirty="0">
                <a:solidFill>
                  <a:srgbClr val="00B0F0"/>
                </a:solidFill>
              </a:rPr>
              <a:t> opțională, care se execută atunci când expresia booleană este falsă.</a:t>
            </a:r>
            <a:endParaRPr lang="ro-RO" sz="2400" b="1" i="0" noProof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564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E7685-713E-9026-7F05-F49829783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9D95BC-0E68-091B-5227-408A68379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61EFCE-C604-7BD7-2F6F-35396C92C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.. </a:t>
            </a:r>
            <a:r>
              <a:rPr lang="ro-RO" sz="2800" dirty="0">
                <a:solidFill>
                  <a:srgbClr val="00B0F0"/>
                </a:solidFill>
              </a:rPr>
              <a:t>e</a:t>
            </a:r>
            <a:r>
              <a:rPr lang="ro-RO" sz="2800" noProof="0" dirty="0" err="1">
                <a:solidFill>
                  <a:srgbClr val="00B0F0"/>
                </a:solidFill>
              </a:rPr>
              <a:t>lse</a:t>
            </a:r>
            <a:r>
              <a:rPr lang="ro-RO" sz="2800" noProof="0" dirty="0">
                <a:solidFill>
                  <a:srgbClr val="00B0F0"/>
                </a:solidFill>
              </a:rPr>
              <a:t> - sintaxa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4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boolean_expression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ro-RO" sz="2400" b="1" i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instructiuni</a:t>
            </a:r>
            <a:r>
              <a:rPr lang="ro-RO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ce vor fi executate daca </a:t>
            </a:r>
            <a:r>
              <a:rPr lang="ro-RO" sz="2400" b="1" i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conditia</a:t>
            </a:r>
            <a:r>
              <a:rPr lang="ro-RO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este </a:t>
            </a:r>
            <a:r>
              <a:rPr lang="ro-RO" sz="2400" b="1" i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adevarata</a:t>
            </a:r>
            <a:r>
              <a:rPr lang="en-US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*/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ro-RO" sz="2400" b="1" dirty="0" err="1">
                <a:solidFill>
                  <a:srgbClr val="999999"/>
                </a:solidFill>
                <a:latin typeface="Courier New" panose="02070309020205020404" pitchFamily="49" charset="0"/>
              </a:rPr>
              <a:t>instructiuni</a:t>
            </a:r>
            <a:r>
              <a:rPr lang="ro-RO" sz="2400" b="1" dirty="0">
                <a:solidFill>
                  <a:srgbClr val="999999"/>
                </a:solidFill>
                <a:latin typeface="Courier New" panose="02070309020205020404" pitchFamily="49" charset="0"/>
              </a:rPr>
              <a:t> ce vor fi executate daca </a:t>
            </a:r>
            <a:r>
              <a:rPr lang="ro-RO" sz="2400" b="1" dirty="0" err="1">
                <a:solidFill>
                  <a:srgbClr val="999999"/>
                </a:solidFill>
                <a:latin typeface="Courier New" panose="02070309020205020404" pitchFamily="49" charset="0"/>
              </a:rPr>
              <a:t>conditia</a:t>
            </a:r>
            <a:r>
              <a:rPr lang="ro-RO" sz="2400" b="1" dirty="0">
                <a:solidFill>
                  <a:srgbClr val="999999"/>
                </a:solidFill>
                <a:latin typeface="Courier New" panose="02070309020205020404" pitchFamily="49" charset="0"/>
              </a:rPr>
              <a:t> este falsa</a:t>
            </a:r>
            <a:r>
              <a:rPr lang="en-US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*/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60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6B2B9-6555-2421-3F1E-2C7D076D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42150E-321F-B552-089A-25E287AEC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418815-89AA-E08C-F2FA-04C0DDC3D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.. </a:t>
            </a:r>
            <a:r>
              <a:rPr lang="ro-RO" sz="2800" noProof="0" dirty="0" err="1">
                <a:solidFill>
                  <a:srgbClr val="00B0F0"/>
                </a:solidFill>
              </a:rPr>
              <a:t>else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pic>
        <p:nvPicPr>
          <p:cNvPr id="3074" name="Picture 2" descr="C# if...else statement">
            <a:extLst>
              <a:ext uri="{FF2B5EF4-FFF2-40B4-BE49-F238E27FC236}">
                <a16:creationId xmlns:a16="http://schemas.microsoft.com/office/drawing/2014/main" id="{BF34E1BB-0C5C-47DE-6912-9CEA5B2A6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373" y="2015741"/>
            <a:ext cx="3168567" cy="405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508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CBBC-22FB-6902-315F-BDBFE1EB1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7F3C22-172D-09AC-7912-6C5EC523C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A2774E-068F-BD7A-BC70-681F3CC60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DecisionMaking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99CD"/>
                </a:solidFill>
                <a:latin typeface="Courier New" panose="02070309020205020404" pitchFamily="49" charset="0"/>
              </a:rPr>
              <a:t>  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temperature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21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temperature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25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It's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a hot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   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day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."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}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</p:txBody>
      </p:sp>
    </p:spTree>
    <p:extLst>
      <p:ext uri="{BB962C8B-B14F-4D97-AF65-F5344CB8AC3E}">
        <p14:creationId xmlns:p14="http://schemas.microsoft.com/office/powerpoint/2010/main" val="323150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E37BC-FF1A-4505-669A-11478F2DF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54B949-FCFB-379B-B793-AD5D8364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50EDF2-1FAB-EFA9-B6BB-0B216ACC1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ro-RO" sz="28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8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"The </a:t>
            </a:r>
          </a:p>
          <a:p>
            <a:pPr marL="34290" indent="0" algn="just">
              <a:buNone/>
            </a:pP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    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weather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is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pleasant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."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);</a:t>
            </a:r>
          </a:p>
          <a:p>
            <a:pPr marL="34290" indent="0" algn="just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}</a:t>
            </a:r>
          </a:p>
          <a:p>
            <a:pPr marL="34290" indent="0" algn="just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8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8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$"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Current</a:t>
            </a:r>
            <a:endParaRPr lang="ro-RO" sz="2800" b="1" noProof="0" dirty="0">
              <a:solidFill>
                <a:srgbClr val="7EC699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  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temperature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: 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{</a:t>
            </a:r>
            <a:r>
              <a:rPr lang="ro-RO" sz="28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temperature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</a:t>
            </a:r>
          </a:p>
          <a:p>
            <a:pPr marL="34290" indent="0" algn="just">
              <a:buNone/>
            </a:pP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  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degree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C"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);</a:t>
            </a:r>
          </a:p>
          <a:p>
            <a:pPr marL="34290" indent="0" algn="just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}</a:t>
            </a:r>
          </a:p>
          <a:p>
            <a:pPr marL="34290" indent="0" algn="just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}</a:t>
            </a:r>
          </a:p>
          <a:p>
            <a:pPr marL="34290" indent="0" algn="just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8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588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FC0EE-E036-EBC9-EB98-1748FD315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0171BE-C454-C872-0CE8-DB4055005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AE6787-C3B7-36FF-CD4B-47EBA36F0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 err="1">
                <a:solidFill>
                  <a:srgbClr val="00B0F0"/>
                </a:solidFill>
              </a:rPr>
              <a:t>Instructiuni</a:t>
            </a:r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​​imbricate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În C# este întotdeauna legal să imbricați instrucțiuni </a:t>
            </a:r>
            <a:r>
              <a:rPr lang="ro-RO" sz="2800" noProof="0" dirty="0" err="1">
                <a:solidFill>
                  <a:srgbClr val="00B0F0"/>
                </a:solidFill>
              </a:rPr>
              <a:t>if-else</a:t>
            </a:r>
            <a:r>
              <a:rPr lang="ro-RO" sz="2800" noProof="0" dirty="0">
                <a:solidFill>
                  <a:srgbClr val="00B0F0"/>
                </a:solidFill>
              </a:rPr>
              <a:t>, ceea ce înseamnă că puteți utiliza o instrucțiune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sau </a:t>
            </a:r>
            <a:r>
              <a:rPr lang="ro-RO" sz="2800" noProof="0" dirty="0" err="1">
                <a:solidFill>
                  <a:srgbClr val="00B0F0"/>
                </a:solidFill>
              </a:rPr>
              <a:t>else</a:t>
            </a:r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în interiorul altei instrucțiuni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 ​​sau </a:t>
            </a:r>
            <a:r>
              <a:rPr lang="ro-RO" sz="2800" noProof="0" dirty="0" err="1">
                <a:solidFill>
                  <a:srgbClr val="00B0F0"/>
                </a:solidFill>
              </a:rPr>
              <a:t>else</a:t>
            </a:r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 err="1">
                <a:solidFill>
                  <a:srgbClr val="00B0F0"/>
                </a:solidFill>
              </a:rPr>
              <a:t>if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414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A989C-17AB-F48D-A87D-0085FEE15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516E78-3D9F-8750-0F5E-6BCE0CD9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6D0BBB-1DD8-81CE-ED1C-1B9BC6CE8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DecisionMaking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temperature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temperature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temperature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15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It's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a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cold</a:t>
            </a:r>
            <a:endParaRPr lang="ro-RO" sz="2400" b="1" i="0" noProof="0" dirty="0">
              <a:solidFill>
                <a:srgbClr val="7EC699"/>
              </a:solidFill>
              <a:effectLst/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     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day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."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}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temperature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&lt;=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15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&amp;&amp;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 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temperature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&gt;=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25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050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5D1CE-7F42-56EE-8B47-C4CBD845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63D4AB-7B92-801B-4061-B3EC2400C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1C2638-3363-2EE5-68AD-067DE00BC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    </a:t>
            </a:r>
            <a:r>
              <a:rPr lang="ro-RO" sz="28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8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"The</a:t>
            </a:r>
          </a:p>
          <a:p>
            <a:pPr marL="34290" indent="0" algn="just">
              <a:buNone/>
            </a:pP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        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weather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is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pleasant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."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);</a:t>
            </a: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  } </a:t>
            </a:r>
            <a:r>
              <a:rPr lang="ro-RO" sz="28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else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{</a:t>
            </a: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    </a:t>
            </a:r>
            <a:r>
              <a:rPr lang="ro-RO" sz="28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8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It’s</a:t>
            </a:r>
            <a:endParaRPr lang="ro-RO" sz="2800" b="1" noProof="0" dirty="0">
              <a:solidFill>
                <a:srgbClr val="7EC699"/>
              </a:solidFill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        a hot 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day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."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); </a:t>
            </a: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  }</a:t>
            </a: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} </a:t>
            </a:r>
            <a:r>
              <a:rPr lang="ro-RO" sz="2800" b="1" noProof="0" dirty="0" err="1">
                <a:solidFill>
                  <a:srgbClr val="CC99CD"/>
                </a:solidFill>
                <a:latin typeface="Courier New" panose="02070309020205020404" pitchFamily="49" charset="0"/>
              </a:rPr>
              <a:t>else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{</a:t>
            </a: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  </a:t>
            </a:r>
            <a:r>
              <a:rPr lang="ro-RO" sz="28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8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It’s</a:t>
            </a:r>
            <a:endParaRPr lang="ro-RO" sz="2800" b="1" noProof="0" dirty="0">
              <a:solidFill>
                <a:srgbClr val="7EC699"/>
              </a:solidFill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      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freezing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outside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!"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);</a:t>
            </a: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 }</a:t>
            </a: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455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402B-E9ED-FC6B-F80D-30E623E11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3AB6FF-3F6C-E9C6-44DA-C492D3616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D35914-103B-D4A3-0F71-C69202B95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8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ro-RO" sz="2800" b="1" noProof="0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$"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Current</a:t>
            </a:r>
            <a:endParaRPr lang="ro-RO" sz="2800" b="1" noProof="0" dirty="0">
              <a:solidFill>
                <a:srgbClr val="7EC699"/>
              </a:solidFill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     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temperature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: 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{</a:t>
            </a:r>
            <a:r>
              <a:rPr lang="ro-RO" sz="2800" b="1" noProof="0" dirty="0" err="1">
                <a:solidFill>
                  <a:srgbClr val="CCCCCC"/>
                </a:solidFill>
                <a:latin typeface="Courier New" panose="02070309020205020404" pitchFamily="49" charset="0"/>
              </a:rPr>
              <a:t>temperature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8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degree</a:t>
            </a:r>
            <a:r>
              <a:rPr lang="ro-RO" sz="28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 C"</a:t>
            </a: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);</a:t>
            </a: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} </a:t>
            </a: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} </a:t>
            </a:r>
          </a:p>
          <a:p>
            <a:pPr marL="34290" indent="0">
              <a:buNone/>
            </a:pPr>
            <a:r>
              <a:rPr lang="ro-RO" sz="28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869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5C041-54CB-E20D-052A-379B5F2E5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7AB7B7-A12D-6169-BE8B-521C2DA75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21834F-8B0A-7792-1C4E-D2292CD04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case in C# este o structură de  control a fluxului care ne permite să executăm blocuri distincte de cod în funcție de valoarea unei variabile, comparând-o cu numeroase valori posibile de tip case.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Putem spune că permite testarea egalității unei variabile cu o listă de valori. Fiecare valoare se numește case(caz), iar variabila care este activată este verificată pentru fiecare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case.</a:t>
            </a:r>
          </a:p>
        </p:txBody>
      </p:sp>
    </p:spTree>
    <p:extLst>
      <p:ext uri="{BB962C8B-B14F-4D97-AF65-F5344CB8AC3E}">
        <p14:creationId xmlns:p14="http://schemas.microsoft.com/office/powerpoint/2010/main" val="4015563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14D74-F882-BD4F-5D79-71639E0CF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9A6B13-49C2-ACE9-4D35-19EA48051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58DE7B-8862-E769-0B1B-730EA3502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- sintaxa: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switch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expression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constant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expression1 :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statement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(s);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break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constant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expression2 : </a:t>
            </a:r>
          </a:p>
          <a:p>
            <a:pPr marL="34290" indent="0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constant</a:t>
            </a:r>
            <a:r>
              <a:rPr lang="ro-RO" sz="24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expression3 : 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statement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(s);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break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endParaRPr lang="ro-RO" sz="2400" b="1" i="0" noProof="0" dirty="0">
              <a:solidFill>
                <a:srgbClr val="999999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default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: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statement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(s); 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013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12555-D1EA-9371-DFFB-A88A907A7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89F5F5-52BB-2AA1-7399-D2D7E7764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2540B4-6BBA-A795-F763-52479674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Reguli pentru utilizarea instrucțiunii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endParaRPr lang="ro-RO" sz="2800" noProof="0" dirty="0">
              <a:solidFill>
                <a:srgbClr val="00B0F0"/>
              </a:solidFill>
            </a:endParaRPr>
          </a:p>
          <a:p>
            <a:r>
              <a:rPr lang="ro-RO" sz="2800" noProof="0" dirty="0">
                <a:solidFill>
                  <a:srgbClr val="00B0F0"/>
                </a:solidFill>
              </a:rPr>
              <a:t>Expresia utilizată într-o instrucțiune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trebuie să aibă un tip întreg sau enumerat sau să fie de tip clasă în care clasa are o singură funcție de conversie la un tip </a:t>
            </a:r>
            <a:r>
              <a:rPr lang="ro-RO" sz="2800" dirty="0">
                <a:solidFill>
                  <a:srgbClr val="00B0F0"/>
                </a:solidFill>
              </a:rPr>
              <a:t>î</a:t>
            </a:r>
            <a:r>
              <a:rPr lang="ro-RO" sz="2800" noProof="0" dirty="0" err="1">
                <a:solidFill>
                  <a:srgbClr val="00B0F0"/>
                </a:solidFill>
              </a:rPr>
              <a:t>nt</a:t>
            </a:r>
            <a:r>
              <a:rPr lang="en-US" sz="2800" noProof="0" dirty="0">
                <a:solidFill>
                  <a:srgbClr val="00B0F0"/>
                </a:solidFill>
              </a:rPr>
              <a:t>reg</a:t>
            </a:r>
            <a:r>
              <a:rPr lang="ro-RO" sz="2800" noProof="0" dirty="0">
                <a:solidFill>
                  <a:srgbClr val="00B0F0"/>
                </a:solidFill>
              </a:rPr>
              <a:t> sau enumerat.</a:t>
            </a:r>
          </a:p>
          <a:p>
            <a:r>
              <a:rPr lang="ro-RO" sz="2800" dirty="0">
                <a:solidFill>
                  <a:srgbClr val="00B0F0"/>
                </a:solidFill>
              </a:rPr>
              <a:t>Puteți avea oricâte instrucțiuni case într-un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. Fiecare case este urmat de valoarea cu care trebuie comparată și de două puncte.</a:t>
            </a:r>
          </a:p>
          <a:p>
            <a:r>
              <a:rPr lang="ro-RO" sz="2800" dirty="0">
                <a:solidFill>
                  <a:srgbClr val="00B0F0"/>
                </a:solidFill>
              </a:rPr>
              <a:t>Expresia constantă pentru un case trebuie să aibă același tip de date ca și variabila din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și trebuie să fie o constantă sau un literal.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987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6B46D-BEB8-3E16-BC47-BF6BA6D4E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065F5D-F447-7F68-6D2B-BCCCF0944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153D33-E06D-E1E0-ECE7-65EDA8F57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Reguli pentru utilizarea instrucțiunii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endParaRPr lang="ro-RO" sz="2800" dirty="0">
              <a:solidFill>
                <a:srgbClr val="00B0F0"/>
              </a:solidFill>
            </a:endParaRPr>
          </a:p>
          <a:p>
            <a:pPr algn="just"/>
            <a:r>
              <a:rPr lang="ro-RO" sz="2800" dirty="0">
                <a:solidFill>
                  <a:srgbClr val="00B0F0"/>
                </a:solidFill>
              </a:rPr>
              <a:t>Când variabila care este activată este egală cu un case, instrucțiunile care urmează acelui case se vor executa până când se ajunge la o instrucțiune break.</a:t>
            </a:r>
          </a:p>
          <a:p>
            <a:pPr algn="just"/>
            <a:r>
              <a:rPr lang="ro-RO" sz="2800" dirty="0">
                <a:solidFill>
                  <a:srgbClr val="00B0F0"/>
                </a:solidFill>
              </a:rPr>
              <a:t>Când se ajunge la o instrucțiune break, </a:t>
            </a:r>
            <a:r>
              <a:rPr lang="ro-RO" sz="2800" dirty="0" err="1">
                <a:solidFill>
                  <a:srgbClr val="00B0F0"/>
                </a:solidFill>
              </a:rPr>
              <a:t>switch-ul</a:t>
            </a:r>
            <a:r>
              <a:rPr lang="ro-RO" sz="2800" dirty="0">
                <a:solidFill>
                  <a:srgbClr val="00B0F0"/>
                </a:solidFill>
              </a:rPr>
              <a:t> se termină, iar fluxul de control sare la linia următoare instrucțiunii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.</a:t>
            </a:r>
          </a:p>
          <a:p>
            <a:pPr algn="just"/>
            <a:r>
              <a:rPr lang="ro-RO" sz="2800" dirty="0">
                <a:solidFill>
                  <a:srgbClr val="00B0F0"/>
                </a:solidFill>
              </a:rPr>
              <a:t>Când se ajunge la o instrucțiune break, </a:t>
            </a:r>
            <a:r>
              <a:rPr lang="ro-RO" sz="2800" dirty="0" err="1">
                <a:solidFill>
                  <a:srgbClr val="00B0F0"/>
                </a:solidFill>
              </a:rPr>
              <a:t>switch-ul</a:t>
            </a:r>
            <a:r>
              <a:rPr lang="ro-RO" sz="2800" dirty="0">
                <a:solidFill>
                  <a:srgbClr val="00B0F0"/>
                </a:solidFill>
              </a:rPr>
              <a:t> se termină, iar fluxul de control sare la linia următoare instrucțiunii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.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517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261CC-C073-D314-2BE0-7D157BB24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0F5D5C-76F0-89A6-3A82-41C7249AA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572EDD-887B-51F0-DC4A-0B6DC5419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Reguli pentru utilizarea instrucțiunii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endParaRPr lang="ro-RO" sz="280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dirty="0">
              <a:solidFill>
                <a:srgbClr val="00B0F0"/>
              </a:solidFill>
            </a:endParaRPr>
          </a:p>
          <a:p>
            <a:pPr algn="just"/>
            <a:r>
              <a:rPr lang="ro-RO" sz="2800" dirty="0">
                <a:solidFill>
                  <a:srgbClr val="00B0F0"/>
                </a:solidFill>
              </a:rPr>
              <a:t>Nu fiecare case trebuie să conțină un break. Dacă nu apare nici un break, atunci va genera o eroare la compilare.</a:t>
            </a:r>
          </a:p>
          <a:p>
            <a:pPr algn="just"/>
            <a:r>
              <a:rPr lang="ro-RO" sz="2800" dirty="0">
                <a:solidFill>
                  <a:srgbClr val="00B0F0"/>
                </a:solidFill>
              </a:rPr>
              <a:t>O instrucțiune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poate avea un case implicit opțional, care trebuie să apară la sfârșitul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-ului. Cazul implicit poate fi utilizat pentru efectuarea unei sarcini atunci când niciunul dintre cazuri nu este adevărat.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18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661A-2991-3AFE-F82C-1A612B363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84EFEE-B3A2-4483-7FAB-DDFB73F0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542F52-DE4D-3EBC-573D-B53B51E8C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Diagrama fluxului în instrucțiunea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pic>
        <p:nvPicPr>
          <p:cNvPr id="1026" name="Picture 2" descr="switch statement in C#">
            <a:extLst>
              <a:ext uri="{FF2B5EF4-FFF2-40B4-BE49-F238E27FC236}">
                <a16:creationId xmlns:a16="http://schemas.microsoft.com/office/drawing/2014/main" id="{58BDA7F7-1CD8-2752-4750-CABEFBEAD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348" y="2173956"/>
            <a:ext cx="287655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748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64633-F735-7659-69AC-79DC85EDC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8E6A6E-424B-C4FA-65FE-F6287D75B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ED17EE-C309-73B2-CB55-96A16BF6B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System;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DecisionMaking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en-US" sz="24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  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char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grade </a:t>
            </a:r>
            <a:r>
              <a:rPr lang="en-US" sz="2400" b="1" i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'B’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switch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(grade)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'A’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: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en-US" sz="24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"Excellent!"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  <a:r>
              <a:rPr lang="ro-RO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</a:t>
            </a:r>
          </a:p>
          <a:p>
            <a:pPr marL="34290" indent="0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break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'B'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'C’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: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en-US" sz="24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"Well done"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break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935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725C0-046C-3DD2-10AF-4F1F88EE3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769330-637C-7EF7-C322-945712379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7D29E-505B-0749-8A15-AF10C89ED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CC99CD"/>
                </a:solidFill>
                <a:latin typeface="Courier New" panose="02070309020205020404" pitchFamily="49" charset="0"/>
              </a:rPr>
              <a:t>case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'D’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: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</a:t>
            </a:r>
            <a:r>
              <a:rPr lang="en-US" sz="2800" b="1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en-US" sz="2800" b="1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"You</a:t>
            </a:r>
            <a:endParaRPr lang="ro-RO" sz="2800" b="1" dirty="0">
              <a:solidFill>
                <a:srgbClr val="7EC699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         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 passed"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); 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</a:t>
            </a:r>
            <a:r>
              <a:rPr lang="en-US" sz="2800" b="1" dirty="0">
                <a:solidFill>
                  <a:srgbClr val="CC99CD"/>
                </a:solidFill>
                <a:latin typeface="Courier New" panose="02070309020205020404" pitchFamily="49" charset="0"/>
              </a:rPr>
              <a:t>break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; 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en-US" sz="2800" b="1" dirty="0">
                <a:solidFill>
                  <a:srgbClr val="CC99CD"/>
                </a:solidFill>
                <a:latin typeface="Courier New" panose="02070309020205020404" pitchFamily="49" charset="0"/>
              </a:rPr>
              <a:t>case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'F’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: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en-US" sz="2800" b="1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"Better</a:t>
            </a:r>
            <a:endParaRPr lang="ro-RO" sz="2800" b="1" dirty="0">
              <a:solidFill>
                <a:srgbClr val="7EC699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         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 try again"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); 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</a:t>
            </a:r>
            <a:r>
              <a:rPr lang="en-US" sz="2800" b="1" dirty="0">
                <a:solidFill>
                  <a:srgbClr val="CC99CD"/>
                </a:solidFill>
                <a:latin typeface="Courier New" panose="02070309020205020404" pitchFamily="49" charset="0"/>
              </a:rPr>
              <a:t>break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;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1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E78BD-108D-1F62-93FE-B1D89BABC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800995-07EE-AC42-DF95-26E981B7C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BF5AA1-883A-8595-B8F0-53D626722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b="1" dirty="0">
                <a:solidFill>
                  <a:srgbClr val="CC99CD"/>
                </a:solidFill>
                <a:latin typeface="Courier New" panose="02070309020205020404" pitchFamily="49" charset="0"/>
              </a:rPr>
              <a:t>        </a:t>
            </a:r>
            <a:r>
              <a:rPr lang="en-US" sz="2800" b="1" dirty="0">
                <a:solidFill>
                  <a:srgbClr val="CC99CD"/>
                </a:solidFill>
                <a:latin typeface="Courier New" panose="02070309020205020404" pitchFamily="49" charset="0"/>
              </a:rPr>
              <a:t>default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: </a:t>
            </a: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</a:t>
            </a:r>
            <a:r>
              <a:rPr lang="en-US" sz="2800" b="1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en-US" sz="2800" b="1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"Invalid</a:t>
            </a:r>
            <a:endParaRPr lang="ro-RO" sz="2800" b="1" dirty="0">
              <a:solidFill>
                <a:srgbClr val="7EC699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         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 grade"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); 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</a:t>
            </a:r>
            <a:r>
              <a:rPr lang="en-US" sz="2800" b="1" dirty="0">
                <a:solidFill>
                  <a:srgbClr val="CC99CD"/>
                </a:solidFill>
                <a:latin typeface="Courier New" panose="02070309020205020404" pitchFamily="49" charset="0"/>
              </a:rPr>
              <a:t>break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;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} 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800" b="1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en-US" sz="2800" b="1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"Your grade </a:t>
            </a:r>
            <a:endParaRPr lang="ro-RO" sz="2800" b="1" dirty="0">
              <a:solidFill>
                <a:srgbClr val="7EC699"/>
              </a:solidFill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      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is {0}"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, grade);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} 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} 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800" b="1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74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74658-EFB0-5ACE-576B-D9025EC5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ECCFA3-8063-F242-418B-4B6D93625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000B3C-48A5-57B4-5689-F591AD5C2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I</a:t>
            </a:r>
            <a:r>
              <a:rPr lang="ro-RO" sz="2800" noProof="0" dirty="0" err="1">
                <a:solidFill>
                  <a:srgbClr val="00B0F0"/>
                </a:solidFill>
              </a:rPr>
              <a:t>nstructiuni</a:t>
            </a:r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 err="1">
                <a:solidFill>
                  <a:srgbClr val="00B0F0"/>
                </a:solidFill>
              </a:rPr>
              <a:t>switch</a:t>
            </a:r>
            <a:r>
              <a:rPr lang="ro-RO" sz="2800" noProof="0" dirty="0">
                <a:solidFill>
                  <a:srgbClr val="00B0F0"/>
                </a:solidFill>
              </a:rPr>
              <a:t> imbricate</a:t>
            </a:r>
          </a:p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În C#, o instrucțiune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imbricată se referă la utilizarea unei instrucțiuni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în interiorul unei alte instrucțiuni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. Este utilă atunci când se lucrează cu luarea deciziilor pe mai multe niveluri.</a:t>
            </a:r>
          </a:p>
          <a:p>
            <a:pPr marL="34290" indent="0" algn="just">
              <a:buNone/>
            </a:pPr>
            <a:endParaRPr lang="ro-RO" sz="280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Este posibil să existe un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ca parte a secvenței de instrucțiuni a unui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extern. Chiar dacă constantele de caz ale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-ului intern și extern conțin valori comune, nu vor apărea conflicte.</a:t>
            </a: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497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B2288-1E0E-20B0-A406-EB33F034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390668-AF26-D1CE-7DCC-34C6F347F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5B5368-1F1F-F3E0-2730-918C2BEF4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Instrucțiuni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imbricate – sintaxa</a:t>
            </a:r>
          </a:p>
          <a:p>
            <a:pPr marL="34290" indent="0" algn="just">
              <a:buNone/>
            </a:pP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switch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(ch1) {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'A’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: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4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en-US" sz="24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"This A is part of </a:t>
            </a:r>
            <a:r>
              <a:rPr lang="ro-RO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7EC699"/>
                </a:solidFill>
                <a:latin typeface="Courier New" panose="02070309020205020404" pitchFamily="49" charset="0"/>
              </a:rPr>
              <a:t>    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outer switch"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);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switch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(ch2)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'A’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: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en-US" sz="24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en-US" sz="24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"This A is part </a:t>
            </a:r>
            <a:r>
              <a:rPr lang="ro-RO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   </a:t>
            </a: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7EC699"/>
                </a:solidFill>
                <a:latin typeface="Courier New" panose="02070309020205020404" pitchFamily="49" charset="0"/>
              </a:rPr>
              <a:t>        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of inner switch"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);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break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'B'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/* inner B case code */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break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'B'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2400" b="1" i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/* outer B case code */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8038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35F5-6F99-CD5D-54D6-C808DFCCF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5200D9-69B5-7B76-42D7-A43B36A13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DBC195-42E1-E33B-2346-0F925E9CD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Reguli pentru utilizarea instrucțiunilor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imbricate</a:t>
            </a:r>
          </a:p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O instrucțiune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imbricată este o instrucțiune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în interiorul unui alt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. Iată câteva reguli simple de urmat atunci când sunt utilizate:</a:t>
            </a:r>
          </a:p>
          <a:p>
            <a:pPr algn="just"/>
            <a:r>
              <a:rPr lang="ro-RO" sz="2800" dirty="0">
                <a:solidFill>
                  <a:srgbClr val="00B0F0"/>
                </a:solidFill>
              </a:rPr>
              <a:t>Expresia din interiorul fiecărui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trebuie să fie de tip </a:t>
            </a:r>
            <a:r>
              <a:rPr lang="ro-RO" sz="2800" dirty="0" err="1">
                <a:solidFill>
                  <a:srgbClr val="00B0F0"/>
                </a:solidFill>
              </a:rPr>
              <a:t>intreg</a:t>
            </a:r>
            <a:r>
              <a:rPr lang="ro-RO" sz="2800" dirty="0">
                <a:solidFill>
                  <a:srgbClr val="00B0F0"/>
                </a:solidFill>
              </a:rPr>
              <a:t> (de exemplu, </a:t>
            </a:r>
            <a:r>
              <a:rPr lang="ro-RO" sz="2800" dirty="0" err="1">
                <a:solidFill>
                  <a:srgbClr val="00B0F0"/>
                </a:solidFill>
              </a:rPr>
              <a:t>int</a:t>
            </a:r>
            <a:r>
              <a:rPr lang="ro-RO" sz="2800" dirty="0">
                <a:solidFill>
                  <a:srgbClr val="00B0F0"/>
                </a:solidFill>
              </a:rPr>
              <a:t>, </a:t>
            </a:r>
            <a:r>
              <a:rPr lang="ro-RO" sz="2800" dirty="0" err="1">
                <a:solidFill>
                  <a:srgbClr val="00B0F0"/>
                </a:solidFill>
              </a:rPr>
              <a:t>char</a:t>
            </a:r>
            <a:r>
              <a:rPr lang="ro-RO" sz="2800" dirty="0">
                <a:solidFill>
                  <a:srgbClr val="00B0F0"/>
                </a:solidFill>
              </a:rPr>
              <a:t>) sau de tip enumerat.</a:t>
            </a:r>
          </a:p>
          <a:p>
            <a:pPr algn="just"/>
            <a:r>
              <a:rPr lang="ro-RO" sz="2800" dirty="0">
                <a:solidFill>
                  <a:srgbClr val="00B0F0"/>
                </a:solidFill>
              </a:rPr>
              <a:t>Fiecare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poate avea mai multe etichete de caz, iar valorile cazului trebuie să corespundă tipului de date al expresiei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.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049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04963-6F35-5A61-B334-F01D71F05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331E58-F276-B1C8-E684-00650E3E1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8C7178-3F0E-F90E-4E0B-736796D88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Reguli pentru utilizarea instrucțiunilor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imbricate</a:t>
            </a:r>
          </a:p>
          <a:p>
            <a:pPr algn="just"/>
            <a:r>
              <a:rPr lang="ro-RO" sz="2800" dirty="0">
                <a:solidFill>
                  <a:srgbClr val="00B0F0"/>
                </a:solidFill>
              </a:rPr>
              <a:t>Valorile cazului trebuie să fie constante sau literali (de exemplu, numere sau caractere). Variabilele nu sunt permise ca valori de caz.</a:t>
            </a:r>
          </a:p>
          <a:p>
            <a:pPr algn="just"/>
            <a:r>
              <a:rPr lang="ro-RO" sz="2800" dirty="0">
                <a:solidFill>
                  <a:srgbClr val="00B0F0"/>
                </a:solidFill>
              </a:rPr>
              <a:t>Când un caz se potrivește, codul din interiorul acelui caz rulează până când se ajunge la o instrucțiune break.</a:t>
            </a:r>
          </a:p>
          <a:p>
            <a:pPr algn="just"/>
            <a:r>
              <a:rPr lang="ro-RO" sz="2800" dirty="0">
                <a:solidFill>
                  <a:srgbClr val="00B0F0"/>
                </a:solidFill>
              </a:rPr>
              <a:t>Fiecare caz trebuie să se termine cu o instrucțiune break pentru a opri execuția. Lipsa unei break va cauza o eroare la compilare.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583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56EF7-C152-09FF-7A94-A58FE179A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6C12A2-00CC-CBA8-D469-C38EE28A8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B8F16F-2148-0303-2A9B-BC8688714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Reguli pentru utilizarea instrucțiunilor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imbricate</a:t>
            </a:r>
          </a:p>
          <a:p>
            <a:pPr marL="34290" indent="0" algn="just">
              <a:buNone/>
            </a:pPr>
            <a:endParaRPr lang="ro-RO" sz="2800" dirty="0">
              <a:solidFill>
                <a:srgbClr val="00B0F0"/>
              </a:solidFill>
            </a:endParaRPr>
          </a:p>
          <a:p>
            <a:pPr algn="just"/>
            <a:r>
              <a:rPr lang="ro-RO" sz="2800" dirty="0">
                <a:solidFill>
                  <a:srgbClr val="00B0F0"/>
                </a:solidFill>
              </a:rPr>
              <a:t>O instrucțiune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poate fi imbricată, ceea ce înseamnă că un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poate fi plasat în interiorul altuia, într-un bloc case.</a:t>
            </a:r>
          </a:p>
          <a:p>
            <a:pPr algn="just"/>
            <a:r>
              <a:rPr lang="ro-RO" sz="2800" dirty="0">
                <a:solidFill>
                  <a:srgbClr val="00B0F0"/>
                </a:solidFill>
              </a:rPr>
              <a:t>Atât instrucțiunile </a:t>
            </a:r>
            <a:r>
              <a:rPr lang="ro-RO" sz="2800" dirty="0" err="1">
                <a:solidFill>
                  <a:srgbClr val="00B0F0"/>
                </a:solidFill>
              </a:rPr>
              <a:t>switch</a:t>
            </a:r>
            <a:r>
              <a:rPr lang="ro-RO" sz="2800" dirty="0">
                <a:solidFill>
                  <a:srgbClr val="00B0F0"/>
                </a:solidFill>
              </a:rPr>
              <a:t> exterioare, cât și cele interioare pot avea un caz implicit, care rulează atunci când niciun alt caz nu se potrivește.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920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67E1C-2AA6-2EDF-C601-BAD13B99C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414CC3-C41E-B3AA-FBF0-41DC63569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4F005A-129E-60C0-152D-6A012D590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System;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DecisionMaking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Program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en-US" sz="24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a </a:t>
            </a:r>
            <a:r>
              <a:rPr lang="en-US" sz="2400" b="1" i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b </a:t>
            </a:r>
            <a:r>
              <a:rPr lang="en-US" sz="2400" b="1" i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200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switch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(a)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: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</a:t>
            </a:r>
            <a:r>
              <a:rPr lang="en-US" sz="24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en-US" sz="24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"This is part </a:t>
            </a:r>
            <a:endParaRPr lang="ro-RO" sz="2400" b="1" i="0" dirty="0">
              <a:solidFill>
                <a:srgbClr val="7EC699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7EC699"/>
                </a:solidFill>
                <a:latin typeface="Courier New" panose="02070309020205020404" pitchFamily="49" charset="0"/>
              </a:rPr>
              <a:t>          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of outer switch "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switch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(b)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200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: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    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938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6E30E-3BAE-1953-8350-1C4EA659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3A8170-6394-F864-E8B6-FEAF93D6D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239EC5-1F00-4D2D-207F-DCC58965E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    </a:t>
            </a:r>
            <a:r>
              <a:rPr lang="en-US" sz="2800" b="1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en-US" sz="2800" b="1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"This </a:t>
            </a:r>
            <a:endParaRPr lang="ro-RO" sz="2800" b="1" dirty="0">
              <a:solidFill>
                <a:srgbClr val="7EC699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              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is </a:t>
            </a:r>
            <a:r>
              <a:rPr lang="ro-RO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p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art of inner switch </a:t>
            </a:r>
            <a:r>
              <a:rPr lang="ro-RO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              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"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); 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    </a:t>
            </a:r>
            <a:r>
              <a:rPr lang="en-US" sz="2800" b="1" dirty="0">
                <a:solidFill>
                  <a:srgbClr val="CC99CD"/>
                </a:solidFill>
                <a:latin typeface="Courier New" panose="02070309020205020404" pitchFamily="49" charset="0"/>
              </a:rPr>
              <a:t>break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; 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  </a:t>
            </a:r>
            <a:r>
              <a:rPr lang="en-US" sz="2800" b="1" dirty="0">
                <a:solidFill>
                  <a:srgbClr val="CC99CD"/>
                </a:solidFill>
                <a:latin typeface="Courier New" panose="02070309020205020404" pitchFamily="49" charset="0"/>
              </a:rPr>
              <a:t>break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; 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} 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800" b="1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en-US" sz="2800" b="1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"Exact value </a:t>
            </a:r>
            <a:endParaRPr lang="ro-RO" sz="2800" b="1" dirty="0">
              <a:solidFill>
                <a:srgbClr val="7EC699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      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of a is: {0}"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, a); 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800" b="1" dirty="0" err="1">
                <a:solidFill>
                  <a:srgbClr val="CCCCCC"/>
                </a:solidFill>
                <a:latin typeface="Courier New" panose="02070309020205020404" pitchFamily="49" charset="0"/>
              </a:rPr>
              <a:t>Console.</a:t>
            </a:r>
            <a:r>
              <a:rPr lang="en-US" sz="2800" b="1" dirty="0" err="1">
                <a:solidFill>
                  <a:srgbClr val="F08D49"/>
                </a:solidFill>
                <a:latin typeface="Courier New" panose="02070309020205020404" pitchFamily="49" charset="0"/>
              </a:rPr>
              <a:t>WriteLine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"Exact value </a:t>
            </a:r>
            <a:endParaRPr lang="ro-RO" sz="2800" b="1" dirty="0">
              <a:solidFill>
                <a:srgbClr val="7EC699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      </a:t>
            </a:r>
            <a:r>
              <a:rPr lang="en-US" sz="2800" b="1" dirty="0">
                <a:solidFill>
                  <a:srgbClr val="7EC699"/>
                </a:solidFill>
                <a:latin typeface="Courier New" panose="02070309020205020404" pitchFamily="49" charset="0"/>
              </a:rPr>
              <a:t>of b is: {0}"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, b);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  <a:endParaRPr lang="ro-RO" sz="2800" b="1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800" b="1" dirty="0">
                <a:solidFill>
                  <a:srgbClr val="CCCCCC"/>
                </a:solidFill>
                <a:latin typeface="Courier New" panose="02070309020205020404" pitchFamily="49" charset="0"/>
              </a:rPr>
              <a:t>} </a:t>
            </a:r>
            <a:endParaRPr lang="ro-RO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140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1AA92-D3EB-4FC7-61D2-B39249F8C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6B26CD-8D6C-D26A-D851-2CC3E40A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F82FEC-E46C-7C0D-89C0-574070137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>
                <a:solidFill>
                  <a:srgbClr val="00B0F0"/>
                </a:solidFill>
                <a:hlinkClick r:id="rId2" action="ppaction://hlinkfile"/>
              </a:rPr>
              <a:t>C5-nested-switch.cs</a:t>
            </a:r>
            <a:endParaRPr lang="ro-RO" sz="2800" noProof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417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7F3B1-CE96-0602-0989-936FA0C70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09C0CF-3F65-BE25-2E38-A68D38B3F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 - Cursul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EFD317-1DE6-50BD-89F1-CE722F68C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251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ldThem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ldTheme" id="{E044F4A2-B66D-45C2-96C7-FCDC24F4574A}" vid="{A3C9D0F2-0975-40A9-A9D7-E4850D5DE0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4437</TotalTime>
  <Words>1879</Words>
  <Application>Microsoft Office PowerPoint</Application>
  <PresentationFormat>On-screen Show (4:3)</PresentationFormat>
  <Paragraphs>253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Courier New</vt:lpstr>
      <vt:lpstr>Wingdings</vt:lpstr>
      <vt:lpstr>oldTheme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  <vt:lpstr>C# - Cursul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Licenta A3 - Facultatea de Informatica și Ştiinţe</dc:creator>
  <cp:lastModifiedBy>Licenta A3 - Facultatea de Informatica și Ştiinţe</cp:lastModifiedBy>
  <cp:revision>36</cp:revision>
  <dcterms:created xsi:type="dcterms:W3CDTF">2025-10-05T09:43:55Z</dcterms:created>
  <dcterms:modified xsi:type="dcterms:W3CDTF">2025-11-01T14:08:19Z</dcterms:modified>
</cp:coreProperties>
</file>
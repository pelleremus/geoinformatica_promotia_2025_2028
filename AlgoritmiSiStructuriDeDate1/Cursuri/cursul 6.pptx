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2" r:id="rId2"/>
    <p:sldId id="257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1" r:id="rId31"/>
    <p:sldId id="312" r:id="rId32"/>
    <p:sldId id="313" r:id="rId33"/>
    <p:sldId id="314" r:id="rId34"/>
    <p:sldId id="31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E89"/>
    <a:srgbClr val="26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40D7-66EA-6FDC-4B6E-8E20C444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43489E-6B54-D8B2-F575-E8492357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872B83-ED77-7381-36B9-FFE44AAC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Instrucțiuni condiționale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C#, expresiile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sunt o formă de potrivire a modelelor care ne permit să efectuăm acțiuni pe baza primului model potrivit al unei expresii. Expresia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din C# este o alternativă modernă la 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tradițională, introdusă în C# 8.0. Îmbunătățește lizibilitatea și concizia în comparație cu instrucțiunile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tradiționale.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80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DB9B-9E97-997E-00C8-A8E670BC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2F9F5-5FD0-BE2C-B5A9-F801A591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B90E5B-A06C-297E-FF7E-91138F92D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Ne permit să creăm o logică simplă, bazată pe expresii, de potrivire a tiparelor, care returnează o valoare. Este utilă în special pentru simplificarea logicii condiționale și înlocuirea instrucțiunilor </a:t>
            </a:r>
            <a:r>
              <a:rPr lang="ro-RO" sz="2800" noProof="0" dirty="0" err="1">
                <a:solidFill>
                  <a:srgbClr val="00B0F0"/>
                </a:solidFill>
              </a:rPr>
              <a:t>if-else</a:t>
            </a:r>
            <a:r>
              <a:rPr lang="ro-RO" sz="2800" noProof="0" dirty="0">
                <a:solidFill>
                  <a:srgbClr val="00B0F0"/>
                </a:solidFill>
              </a:rPr>
              <a:t> sau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dificile.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Expresiile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funcționează fără probleme cu potrivirea tiparelor, permițându-vă să potriviți nu doar valori constante, ci și tipuri, intervale, modele relaționale și condiții complexe.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28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F4FB-FA6B-5B64-7E70-8170889D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E66CB8-CF2F-CD30-990F-D45339A7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947E96-B159-C2D9-A2AD-4D6B9615F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– exemplu clasic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 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GetDayType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 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1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659B-860C-EA8F-3E1C-3364B5EC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3FDEBF-C8CE-2942-F8C5-0F118206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F76DB-2946-1ABF-1DED-4702CA5E3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static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GetDayType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dayNumber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){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result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switch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dayNumber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){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result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"Weekend"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break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case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6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result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Weekday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break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default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result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"Invalid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Day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break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result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marR="0" lvl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731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556E3-AE53-4EC8-E110-059EE04A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73EDF9-3602-3D30-9125-965C7408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B99FAF-A140-34AC-FFF5-F8CB08181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– exemplu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GetDayType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Number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dayNumber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75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669A-E094-107C-3974-D1569A69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1B4B8A-8A01-35DC-D5AC-4CC48B72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DD0CB0-20F3-8932-3FAB-6C2A4DC4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 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GetDayType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dayNumber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dayNumber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or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7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"Weekend"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&gt;=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2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and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&lt;=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6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Weekday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_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"Invalid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Day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93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0C3F-709A-B3CC-7DF3-48BC4FDA3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9908D1-74BB-C41C-A225-DF4BDB75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4B5CFD-AD05-ECC5-A2AB-E86E2BB13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Avantajele utilizării expresiilor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sunt mai concise și mai ușor de citit, ușor de înțeles și consumă mai puțin timp.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returnează direct o valoare. 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folosește sintaxa de potrivire a tiparelor.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elimină cuvintele cheie repetitive break și</a:t>
            </a:r>
            <a:r>
              <a:rPr lang="en-US" sz="2800" noProof="0" dirty="0">
                <a:solidFill>
                  <a:srgbClr val="00B0F0"/>
                </a:solidFill>
              </a:rPr>
              <a:t>/</a:t>
            </a:r>
            <a:r>
              <a:rPr lang="en-US" sz="2800" noProof="0" dirty="0" err="1">
                <a:solidFill>
                  <a:srgbClr val="00B0F0"/>
                </a:solidFill>
              </a:rPr>
              <a:t>sau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return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51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EAE3-270D-8469-0F1C-96387D15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AAF220-3D9C-0805-A379-916A7CC7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55B291-EBE9-7943-624E-86CD9DFA0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Declararea unei 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, sintaxa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C#, expresia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utilizează un stil de declarare concis și bazat pe expresii.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Sintaxa:</a:t>
            </a:r>
            <a:endParaRPr lang="ro-RO" sz="2400" b="1" i="0" noProof="0" dirty="0">
              <a:solidFill>
                <a:srgbClr val="CC99CD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var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input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pattern1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expression1,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pattern2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expression2,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_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defaultExpression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};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07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9A3B-393E-3EAE-8836-335B9EA5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7551B8-1658-4C9A-B945-357CFB67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059023-A2D6-9075-A15F-62B810948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Declararea unei 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, sintaxa</a:t>
            </a:r>
          </a:p>
          <a:p>
            <a:pPr algn="just"/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input − Valoarea sau variabila evaluată.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pattern − Condiția de potrivire (constantă, relațională sau tip pattern).</a:t>
            </a:r>
          </a:p>
          <a:p>
            <a:pPr algn="just"/>
            <a:r>
              <a:rPr lang="ro-RO" sz="2800" noProof="0" dirty="0" err="1">
                <a:solidFill>
                  <a:srgbClr val="00B0F0"/>
                </a:solidFill>
              </a:rPr>
              <a:t>expression</a:t>
            </a:r>
            <a:r>
              <a:rPr lang="ro-RO" sz="2800" noProof="0" dirty="0">
                <a:solidFill>
                  <a:srgbClr val="00B0F0"/>
                </a:solidFill>
              </a:rPr>
              <a:t> − Valoarea sau rezultatul returnat când modelul se potrivește.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_(</a:t>
            </a:r>
            <a:r>
              <a:rPr lang="ro-RO" sz="2800" noProof="0" dirty="0" err="1">
                <a:solidFill>
                  <a:srgbClr val="00B0F0"/>
                </a:solidFill>
              </a:rPr>
              <a:t>discard</a:t>
            </a:r>
            <a:r>
              <a:rPr lang="ro-RO" sz="2800" noProof="0" dirty="0">
                <a:solidFill>
                  <a:srgbClr val="00B0F0"/>
                </a:solidFill>
              </a:rPr>
              <a:t> pattern) − Funcționează ca un caz implicit dacă nu se potrivește niciun alt model.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768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72E74-8788-DC5E-23A4-977BD760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355C01-66AD-1403-5624-6B2EE836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DA1402-C186-EC44-A2A3-5FFC3D4D6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tiparelor(modelelor) în expresiile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Expresiile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acceptă mai multe tipuri de tipare(modele) pentru o logică puternică de potrivire.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Model constant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Model de tip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Model relațional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Model logic (și, sau, nu)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Model pentru proprietate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Model pozițional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61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6D5F-E7C1-EF20-7FCC-853B30B7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3F5423-6BA9-270F-1FAB-BEB765E4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31F896-8DFE-546E-261F-085B46143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constant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Modelul constant este o modalitate mai simplă de a compara o valoare cu o constantă fixă. Funcționează ca utilizarea operatorului „==" pentru a verifica dacă o expresie este egală cu o anumită valoare constantă.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680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656CC-768E-89B1-4589-763C9F76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62565E-A63F-157D-D494-1E7E00EC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874330-F8B7-A90E-E6D9-6A92205A2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Într-un model constant, putem utiliza orice expresie constantă, cum ar fi: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un număr întreg sau un literal numeric în virgulă mobilă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un caracter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un literal șir de caractere.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 valoare booleană </a:t>
            </a:r>
            <a:r>
              <a:rPr lang="ro-RO" sz="2800" noProof="0" dirty="0" err="1">
                <a:solidFill>
                  <a:srgbClr val="00B0F0"/>
                </a:solidFill>
              </a:rPr>
              <a:t>true</a:t>
            </a:r>
            <a:r>
              <a:rPr lang="ro-RO" sz="2800" noProof="0" dirty="0">
                <a:solidFill>
                  <a:srgbClr val="00B0F0"/>
                </a:solidFill>
              </a:rPr>
              <a:t> sau false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 valoare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numele unui câmp declarat </a:t>
            </a:r>
            <a:r>
              <a:rPr lang="ro-RO" sz="2800" noProof="0" dirty="0" err="1">
                <a:solidFill>
                  <a:srgbClr val="00B0F0"/>
                </a:solidFill>
              </a:rPr>
              <a:t>const</a:t>
            </a:r>
            <a:r>
              <a:rPr lang="ro-RO" sz="2800" noProof="0" dirty="0">
                <a:solidFill>
                  <a:srgbClr val="00B0F0"/>
                </a:solidFill>
              </a:rPr>
              <a:t>  sau local</a:t>
            </a:r>
          </a:p>
          <a:p>
            <a:pPr algn="just"/>
            <a:r>
              <a:rPr lang="ro-RO" sz="2800" noProof="0" dirty="0" err="1">
                <a:solidFill>
                  <a:srgbClr val="00B0F0"/>
                </a:solidFill>
              </a:rPr>
              <a:t>null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2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30F6-5A65-07E8-47D5-A6A33CCF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87A27C-0255-4223-5CE4-45AEE145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B3EFAE-C419-E5C0-695A-ED1A2E29F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constant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condition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GetWeatherCondition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 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deg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C"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Weather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Condition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condition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539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A9B2-7A8D-1748-6333-893C48D8B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BA8A83-055A-736D-F826-1D5E330DC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F07E49-2606-7EDD-5D53-A803EC5DA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// tipar constant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GetWeatherCondition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temprature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Freezing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25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Pleasant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40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"Hot"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_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Unknown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};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027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4620-1F9B-9C54-FDC5-6DD8D0AF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3ABA99-059B-4F61-9DD2-04DA93AA4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2BF03A-20A8-954E-E5AB-C7727AD05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de tip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Un model de tip este utilizat într-o expresie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pentru a verifica tipul de execuție al unui obiect și, opțional, pentru a-l utiliza ca acel tip în ramura corespunzătoare.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Ne ajută să decidem ce să facem în funcție de tipul unei variabile sau expresii. De exemplu, dacă este un </a:t>
            </a:r>
            <a:r>
              <a:rPr lang="ro-RO" sz="2800" noProof="0" dirty="0" err="1">
                <a:solidFill>
                  <a:srgbClr val="00B0F0"/>
                </a:solidFill>
              </a:rPr>
              <a:t>int</a:t>
            </a:r>
            <a:r>
              <a:rPr lang="ro-RO" sz="2800" noProof="0" dirty="0">
                <a:solidFill>
                  <a:srgbClr val="00B0F0"/>
                </a:solidFill>
              </a:rPr>
              <a:t>, un </a:t>
            </a:r>
            <a:r>
              <a:rPr lang="ro-RO" sz="2800" noProof="0" dirty="0" err="1">
                <a:solidFill>
                  <a:srgbClr val="00B0F0"/>
                </a:solidFill>
              </a:rPr>
              <a:t>string</a:t>
            </a:r>
            <a:r>
              <a:rPr lang="ro-RO" sz="2800" noProof="0" dirty="0">
                <a:solidFill>
                  <a:srgbClr val="00B0F0"/>
                </a:solidFill>
              </a:rPr>
              <a:t>, un </a:t>
            </a:r>
            <a:r>
              <a:rPr lang="ro-RO" sz="2800" noProof="0" dirty="0" err="1">
                <a:solidFill>
                  <a:srgbClr val="00B0F0"/>
                </a:solidFill>
              </a:rPr>
              <a:t>double</a:t>
            </a:r>
            <a:r>
              <a:rPr lang="ro-RO" sz="2800" noProof="0" dirty="0">
                <a:solidFill>
                  <a:srgbClr val="00B0F0"/>
                </a:solidFill>
              </a:rPr>
              <a:t> sau chiar o clasă personalizată.</a:t>
            </a:r>
          </a:p>
        </p:txBody>
      </p:sp>
    </p:spTree>
    <p:extLst>
      <p:ext uri="{BB962C8B-B14F-4D97-AF65-F5344CB8AC3E}">
        <p14:creationId xmlns:p14="http://schemas.microsoft.com/office/powerpoint/2010/main" val="1598903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00E5-2E2E-EA70-A327-F4429F7F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D8043B-5331-BC5A-33D4-38C33919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95C7E0-1395-08B0-671E-D3E6A767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de tip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 ce folosim modelul de tip?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Pentru a efectua diferite acțiuni în funcție de tipul unui obiect.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Pentru a evita verificarea manuală a tipului folosind </a:t>
            </a:r>
            <a:r>
              <a:rPr lang="ro-RO" sz="2800" noProof="0" dirty="0" err="1">
                <a:solidFill>
                  <a:srgbClr val="00B0F0"/>
                </a:solidFill>
              </a:rPr>
              <a:t>is</a:t>
            </a:r>
            <a:r>
              <a:rPr lang="ro-RO" sz="2800" noProof="0" dirty="0">
                <a:solidFill>
                  <a:srgbClr val="00B0F0"/>
                </a:solidFill>
              </a:rPr>
              <a:t>, as sau cast ((</a:t>
            </a:r>
            <a:r>
              <a:rPr lang="ro-RO" sz="2800" noProof="0" dirty="0" err="1">
                <a:solidFill>
                  <a:srgbClr val="00B0F0"/>
                </a:solidFill>
              </a:rPr>
              <a:t>int</a:t>
            </a:r>
            <a:r>
              <a:rPr lang="ro-RO" sz="2800" noProof="0" dirty="0">
                <a:solidFill>
                  <a:srgbClr val="00B0F0"/>
                </a:solidFill>
              </a:rPr>
              <a:t>)</a:t>
            </a:r>
            <a:r>
              <a:rPr lang="ro-RO" sz="2800" noProof="0" dirty="0" err="1">
                <a:solidFill>
                  <a:srgbClr val="00B0F0"/>
                </a:solidFill>
              </a:rPr>
              <a:t>obj</a:t>
            </a:r>
            <a:r>
              <a:rPr lang="ro-RO" sz="2800" noProof="0" dirty="0">
                <a:solidFill>
                  <a:srgbClr val="00B0F0"/>
                </a:solidFill>
              </a:rPr>
              <a:t>).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Pentru a face codul mai curat și mai sigur (fără conversii de tip nevalide).</a:t>
            </a:r>
          </a:p>
        </p:txBody>
      </p:sp>
    </p:spTree>
    <p:extLst>
      <p:ext uri="{BB962C8B-B14F-4D97-AF65-F5344CB8AC3E}">
        <p14:creationId xmlns:p14="http://schemas.microsoft.com/office/powerpoint/2010/main" val="366157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1347-5273-2D48-635F-3D3868076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581F15-D4A7-C4B1-228F-87C37414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C222A9-0484-D357-DA96-084EC8DDB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de tip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3.14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CheckObjectType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  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307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63D2-5627-B647-8487-44DE5E59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8B18DE-E703-E282-E27F-D938A4E9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B235FA-D7AA-A97C-3D0D-FFFFD536C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 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CheckObjectType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object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obj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obj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Integer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Type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Type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double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Double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Type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_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Unknown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Type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};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32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409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20C0B-A01A-B561-769A-B934C418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FEEEA7-EAEA-7FB4-9A07-60562646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FCCC7A-DAE5-8211-A27F-FACA61603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relațional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Modelul relațional  se utilizează pentru a compara rezultatul unei expresii cu o constantă.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Într-un model relațional putem folosi oricare dintre operatorii relaționali, cum ar fi &lt;, &gt;, &lt;= sau &gt;=. Partea dreaptă a modelului relațional trebuie să fie o expresie constantă. Expresia constantă poate fi de tip întreg, virgulă mobilă, </a:t>
            </a:r>
            <a:r>
              <a:rPr lang="ro-RO" sz="2800" noProof="0" dirty="0" err="1">
                <a:solidFill>
                  <a:srgbClr val="00B0F0"/>
                </a:solidFill>
              </a:rPr>
              <a:t>char</a:t>
            </a:r>
            <a:r>
              <a:rPr lang="ro-RO" sz="2800" noProof="0" dirty="0">
                <a:solidFill>
                  <a:srgbClr val="00B0F0"/>
                </a:solidFill>
              </a:rPr>
              <a:t> sau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832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4772-C353-8F78-D35E-50A23C3E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94422-B831-DB28-E053-1EA98DBC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E9B246-A269-4ECD-CC10-3102C6749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relațional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Classify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13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Classify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.NaN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Classify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2.4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113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756B3-F78D-5043-69A9-0697BEB1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A6CF6B-AA2B-C840-8520-2A4F2FF1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DEAE67-B82A-065F-96F9-8869FB6C0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endParaRPr lang="ro-RO" sz="24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Classify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double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measurement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measurement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&lt;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-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4.0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Too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low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10.0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Too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high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double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.NaN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Unknown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  <a:r>
              <a:rPr lang="ro-RO" sz="2400" b="1" noProof="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ro-RO" sz="2400" b="1" noProof="0" dirty="0" err="1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</a:rPr>
              <a:t>Not</a:t>
            </a:r>
            <a:r>
              <a:rPr lang="ro-RO" sz="2400" b="1" noProof="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</a:rPr>
              <a:t> a </a:t>
            </a:r>
            <a:r>
              <a:rPr lang="ro-RO" sz="2400" b="1" noProof="0" dirty="0" err="1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</a:rPr>
              <a:t>Number</a:t>
            </a:r>
            <a:endParaRPr lang="ro-RO" sz="2400" b="1" noProof="0" dirty="0">
              <a:solidFill>
                <a:schemeClr val="tx1">
                  <a:lumMod val="65000"/>
                </a:schemeClr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_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0AE89"/>
                </a:solidFill>
                <a:latin typeface="Courier New" panose="02070309020205020404" pitchFamily="49" charset="0"/>
              </a:rPr>
              <a:t>Acceptable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400" noProof="0" dirty="0">
                <a:solidFill>
                  <a:srgbClr val="FF0000"/>
                </a:solidFill>
              </a:rPr>
              <a:t>OBS!!!</a:t>
            </a:r>
            <a:r>
              <a:rPr lang="ro-RO" sz="2400" noProof="0" dirty="0">
                <a:solidFill>
                  <a:srgbClr val="00B0F0"/>
                </a:solidFill>
              </a:rPr>
              <a:t> Dacă rezultatul unei expresii este </a:t>
            </a:r>
            <a:r>
              <a:rPr lang="ro-RO" sz="2400" noProof="0" dirty="0" err="1">
                <a:solidFill>
                  <a:srgbClr val="00B0F0"/>
                </a:solidFill>
              </a:rPr>
              <a:t>null</a:t>
            </a:r>
            <a:r>
              <a:rPr lang="ro-RO" sz="2400" noProof="0" dirty="0">
                <a:solidFill>
                  <a:srgbClr val="00B0F0"/>
                </a:solidFill>
              </a:rPr>
              <a:t> sau nu reușește să se convertească la tipul unei constante printr-o conversie </a:t>
            </a:r>
            <a:r>
              <a:rPr lang="ro-RO" sz="2400" noProof="0" dirty="0" err="1">
                <a:solidFill>
                  <a:srgbClr val="00B0F0"/>
                </a:solidFill>
              </a:rPr>
              <a:t>nullabilă</a:t>
            </a:r>
            <a:r>
              <a:rPr lang="ro-RO" sz="2400" noProof="0" dirty="0">
                <a:solidFill>
                  <a:srgbClr val="00B0F0"/>
                </a:solidFill>
              </a:rPr>
              <a:t> sau </a:t>
            </a:r>
            <a:r>
              <a:rPr lang="ro-RO" sz="2400" noProof="0" dirty="0" err="1">
                <a:solidFill>
                  <a:srgbClr val="00B0F0"/>
                </a:solidFill>
              </a:rPr>
              <a:t>unboxing</a:t>
            </a:r>
            <a:r>
              <a:rPr lang="ro-RO" sz="2400" noProof="0" dirty="0">
                <a:solidFill>
                  <a:srgbClr val="00B0F0"/>
                </a:solidFill>
              </a:rPr>
              <a:t>, un model relațional nu se potrivește cu o expresie.</a:t>
            </a:r>
          </a:p>
        </p:txBody>
      </p:sp>
    </p:spTree>
    <p:extLst>
      <p:ext uri="{BB962C8B-B14F-4D97-AF65-F5344CB8AC3E}">
        <p14:creationId xmlns:p14="http://schemas.microsoft.com/office/powerpoint/2010/main" val="71828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B9D99-F062-1D3F-6EB3-593630F1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B5CFA7-8A98-BB8C-4794-0AA121F0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92FDC7-88CE-5A5D-E1BF-A1BB5227C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logic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Modelul logic (și, sau, nu) ne permite să combinăm mai multe condiții într-o expresie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folosind și, sau și nu. Face potrivirea modelelor mai flexibilă și expresivă.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Putem folosim modelele logice pentru a combina mai multe condiții fără a scrie 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if-else</a:t>
            </a:r>
            <a:r>
              <a:rPr lang="ro-RO" sz="2800" noProof="0" dirty="0">
                <a:solidFill>
                  <a:srgbClr val="00B0F0"/>
                </a:solidFill>
              </a:rPr>
              <a:t> imbricată. Funcționează bine cu modele relaționale și de tip.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160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01643-3799-EAD5-E1BE-3C696C09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0DCC3B-099A-1AC3-81A4-EF61B415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3334B9-E955-451A-46BA-E54C512E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logic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category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GetAgeCategory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Category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 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category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364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DF36-8EB9-2F1E-4336-27799186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61F257-AF0A-4C21-E74A-165FE105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C2C161-5F99-555A-C5CF-F52389C7F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 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GetAgeCategory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&lt;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13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Child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&gt;=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13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and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&lt;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20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Teenager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&gt;=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20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and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&lt;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60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"Adult"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&gt;=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60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"Senior“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};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32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748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13F3-4528-0763-E2B2-6B699A67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DA6D8-29C5-D883-9AA8-87C71028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DA5093-E3E9-B323-FA7F-8F08C35DC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pentru proprietate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Putem folosi un model pentru proprietăți pentru a potrivi proprietățile sau câmpurile unei expresii în funcție de anumite condiții (modele imbricate). De exemplu 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bool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IsConferenceDay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DateTime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date)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date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2020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Month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19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21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};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817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DB1D7-4C4E-0DAD-4362-FCDB0063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B64549-BD08-0BB3-A480-4FC5AD0F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D1A359-2592-0759-4585-2BBB211A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pentru proprietate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Verifică dacă expresia este non-nulă și dacă fiecare model imbricat se potrivește cu proprietatea sau câmpul corespunzător al expresiei. Dacă toate condițiile sunt îndeplinite, modelul de proprietate este considerat o potrivire.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 asemenea, putem adăuga o verificare a tipului în timpul execuției și o declarație de variabilă la un model de proprietate.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74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AB6F3-D25E-ACEF-D243-33ABF668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FFA989-6B8E-90E1-5FF4-C0DB61D4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483930-D2AE-48C8-056A-4BF1D0DE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pentru proprietate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person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Person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"Aman"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GetPersonInfo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person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927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5196-9D48-FE11-8A93-C5286595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408F9A-A846-BCFD-B010-EA11C557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BA8147-9ABF-C0B5-D8DE-81BCCD394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 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GetPersonInfo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object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obj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obj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//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Type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check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,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property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pattern,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variable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declaration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Person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Name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: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var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name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: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var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}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$"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Person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: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name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,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: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_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Unknown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object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class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Person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public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Name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get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set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 }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public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Age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get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set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; }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055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052B-C6D2-DEFC-3CE7-83E456AD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BB2899-0297-20C3-5FCB-8DEA75D2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62541A-C6CD-040E-17A2-FAD831E6F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pozițional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Modelul pozițional este utilizat pentru a deconstrui(descompune) rezultatul unei expresii și a potrivi valorile individuale cu modelele imbricate corespunzătoare.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145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7477-D294-D9A2-2290-63A4F558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A82B5-A96C-761A-710E-E27A1C6F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D143F3-7300-A385-2E22-CA70E2C2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Potrivirea  tiparelor(modelelor) – modelul pozițional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struct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Point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 {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get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}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Y {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get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}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// Constructor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initialize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Y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Point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x,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y){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x; Y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y;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51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9D59-B928-A041-248C-7A14F894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5A3DE-527B-7338-DCD3-9C63BF42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C7601C-3D60-25EE-8B8B-FDB2D926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//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Deconstruct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allows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splitting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Point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into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(x, y)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Deconstruct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x,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y){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x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X; y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Y;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Program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p1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Point(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p2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Point(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p3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Point(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069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CC11-31F8-F879-5051-5FA769B0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1755AE-4F7B-A32F-D0D0-216D8F439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B452E4-D51E-9834-F3C7-CE56CFB8D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Classify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(p1));   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Classify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(p2)); 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Classify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(p3));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 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//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Using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positional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pattern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to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match</a:t>
            </a: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999999"/>
                </a:solidFill>
                <a:latin typeface="Courier New" panose="02070309020205020404" pitchFamily="49" charset="0"/>
              </a:rPr>
              <a:t>coordinates</a:t>
            </a:r>
            <a:endParaRPr lang="ro-RO" sz="2400" b="1" noProof="0" dirty="0">
              <a:solidFill>
                <a:srgbClr val="999999"/>
              </a:solidFill>
              <a:latin typeface="Courier New" panose="02070309020205020404" pitchFamily="49" charset="0"/>
            </a:endParaRP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static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Classify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(Point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point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point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switch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(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Origin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(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Positive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X axis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point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(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0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ro-RO" sz="2400" b="1" noProof="0" dirty="0">
                <a:solidFill>
                  <a:srgbClr val="F08D49"/>
                </a:solidFill>
                <a:latin typeface="Courier New" panose="02070309020205020404" pitchFamily="49" charset="0"/>
              </a:rPr>
              <a:t>1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Positive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Y axis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point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_ </a:t>
            </a:r>
            <a:r>
              <a:rPr lang="ro-RO" sz="2400" b="1" noProof="0" dirty="0">
                <a:solidFill>
                  <a:srgbClr val="67CDCC"/>
                </a:solidFill>
                <a:latin typeface="Courier New" panose="02070309020205020404" pitchFamily="49" charset="0"/>
              </a:rPr>
              <a:t>=&gt;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"Just a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point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};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32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605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1A57-DE91-4C85-0DEC-0B989B6E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4C6DB9-C2C9-77F1-2DDE-7E3B3A57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7C22C3-A5F0-6766-F3BC-F90C2231E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exemplul de mai sus, tipul unei expresii conține metoda </a:t>
            </a:r>
            <a:r>
              <a:rPr lang="ro-RO" sz="2800" noProof="0" dirty="0" err="1">
                <a:solidFill>
                  <a:srgbClr val="00B0F0"/>
                </a:solidFill>
              </a:rPr>
              <a:t>Deconstruct</a:t>
            </a:r>
            <a:r>
              <a:rPr lang="ro-RO" sz="2800" noProof="0" dirty="0">
                <a:solidFill>
                  <a:srgbClr val="00B0F0"/>
                </a:solidFill>
              </a:rPr>
              <a:t>, care este utilizată pentru a deconstrui rezultatul unei expresii.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FF0000"/>
                </a:solidFill>
              </a:rPr>
              <a:t>OBS!!! </a:t>
            </a:r>
            <a:r>
              <a:rPr lang="ro-RO" sz="2800" noProof="0" dirty="0">
                <a:solidFill>
                  <a:srgbClr val="00B0F0"/>
                </a:solidFill>
              </a:rPr>
              <a:t>Ordinea membrilor dintr-un model pozițional trebuie să corespundă cu ordinea parametrilor din metoda </a:t>
            </a:r>
            <a:r>
              <a:rPr lang="ro-RO" sz="2800" noProof="0" dirty="0" err="1">
                <a:solidFill>
                  <a:srgbClr val="00B0F0"/>
                </a:solidFill>
              </a:rPr>
              <a:t>Deconstruct</a:t>
            </a:r>
            <a:r>
              <a:rPr lang="ro-RO" sz="2800" noProof="0" dirty="0">
                <a:solidFill>
                  <a:srgbClr val="00B0F0"/>
                </a:solidFill>
              </a:rPr>
              <a:t>. Acest lucru se datorează faptului că codul generat pentru modelul pozițional apelează metoda </a:t>
            </a:r>
            <a:r>
              <a:rPr lang="ro-RO" sz="2800" noProof="0" dirty="0" err="1">
                <a:solidFill>
                  <a:srgbClr val="00B0F0"/>
                </a:solidFill>
              </a:rPr>
              <a:t>Deconstruct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906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21AA-16EC-DA99-3B19-C7DF426B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EC0A75-529B-D386-3A99-D0D14A6D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8F709-ED19-5B8D-39E5-E39097BCC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Concluzie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Pentru a face codul mai expresiv, mai sigur și mai simplu, utilizați expresii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cu potrivire de modele. Acestea permit o logică funcțională cu o intenție clară, înlocuind instrucțiunile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tradiționale din majoritatea proiectelor C# moderne.</a:t>
            </a:r>
          </a:p>
        </p:txBody>
      </p:sp>
    </p:spTree>
    <p:extLst>
      <p:ext uri="{BB962C8B-B14F-4D97-AF65-F5344CB8AC3E}">
        <p14:creationId xmlns:p14="http://schemas.microsoft.com/office/powerpoint/2010/main" val="21863802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4652</TotalTime>
  <Words>2178</Words>
  <Application>Microsoft Office PowerPoint</Application>
  <PresentationFormat>On-screen Show (4:3)</PresentationFormat>
  <Paragraphs>287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Courier New</vt:lpstr>
      <vt:lpstr>Wingdings</vt:lpstr>
      <vt:lpstr>oldTheme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  <vt:lpstr>C# - Cursul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45</cp:revision>
  <dcterms:created xsi:type="dcterms:W3CDTF">2025-10-05T09:43:55Z</dcterms:created>
  <dcterms:modified xsi:type="dcterms:W3CDTF">2025-11-19T08:41:09Z</dcterms:modified>
</cp:coreProperties>
</file>
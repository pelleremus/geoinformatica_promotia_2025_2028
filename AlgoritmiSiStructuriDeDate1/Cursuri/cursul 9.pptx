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AE89"/>
    <a:srgbClr val="262F3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63" autoAdjust="0"/>
    <p:restoredTop sz="94660"/>
  </p:normalViewPr>
  <p:slideViewPr>
    <p:cSldViewPr snapToGrid="0">
      <p:cViewPr varScale="1">
        <p:scale>
          <a:sx n="107" d="100"/>
          <a:sy n="107" d="100"/>
        </p:scale>
        <p:origin x="176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516625"/>
            <a:ext cx="7315200" cy="2595025"/>
          </a:xfrm>
        </p:spPr>
        <p:txBody>
          <a:bodyPr>
            <a:normAutofit/>
          </a:bodyPr>
          <a:lstStyle>
            <a:lvl1pPr>
              <a:defRPr sz="3600"/>
            </a:lvl1pPr>
          </a:lstStyle>
          <a:p>
            <a:r>
              <a:rPr lang="en-US"/>
              <a:t>Click to edit Master title style</a:t>
            </a:r>
          </a:p>
        </p:txBody>
      </p:sp>
      <p:sp>
        <p:nvSpPr>
          <p:cNvPr id="3" name="Subtitle 2"/>
          <p:cNvSpPr>
            <a:spLocks noGrp="1"/>
          </p:cNvSpPr>
          <p:nvPr>
            <p:ph type="subTitle" idx="1"/>
          </p:nvPr>
        </p:nvSpPr>
        <p:spPr>
          <a:xfrm>
            <a:off x="914400" y="5166530"/>
            <a:ext cx="7315200" cy="1144632"/>
          </a:xfrm>
        </p:spPr>
        <p:txBody>
          <a:bodyPr>
            <a:normAutofit/>
          </a:bodyPr>
          <a:lstStyle>
            <a:lvl1pPr marL="0" indent="0" algn="l">
              <a:buNone/>
              <a:defRPr sz="165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C7856C7F-C199-47A3-AF94-EAE81E21E31B}" type="datetimeFigureOut">
              <a:rPr lang="en-US" smtClean="0"/>
              <a:t>12/9/2025</a:t>
            </a:fld>
            <a:endParaRPr lang="en-US"/>
          </a:p>
        </p:txBody>
      </p:sp>
      <p:sp>
        <p:nvSpPr>
          <p:cNvPr id="8" name="Slide Number Placeholder 7"/>
          <p:cNvSpPr>
            <a:spLocks noGrp="1"/>
          </p:cNvSpPr>
          <p:nvPr>
            <p:ph type="sldNum" sz="quarter" idx="11"/>
          </p:nvPr>
        </p:nvSpPr>
        <p:spPr/>
        <p:txBody>
          <a:bodyPr/>
          <a:lstStyle/>
          <a:p>
            <a:fld id="{E13EF8AE-9767-4E5A-802F-66A2B36F74A8}" type="slidenum">
              <a:rPr lang="en-US" smtClean="0"/>
              <a:t>‹#›</a:t>
            </a:fld>
            <a:endParaRPr lang="en-US"/>
          </a:p>
        </p:txBody>
      </p:sp>
      <p:sp>
        <p:nvSpPr>
          <p:cNvPr id="9" name="Footer Placeholder 8"/>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3719987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856C7F-C199-47A3-AF94-EAE81E21E31B}"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3098958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14400" y="5017572"/>
            <a:ext cx="7315200" cy="1293592"/>
          </a:xfrm>
        </p:spPr>
        <p:txBody>
          <a:bodyPr anchor="t"/>
          <a:lstStyle>
            <a:lvl1pPr algn="l">
              <a:defRPr sz="3000" b="0" cap="none"/>
            </a:lvl1pPr>
          </a:lstStyle>
          <a:p>
            <a:r>
              <a:rPr lang="en-US"/>
              <a:t>Click to edit Master title style</a:t>
            </a:r>
          </a:p>
        </p:txBody>
      </p:sp>
      <p:sp>
        <p:nvSpPr>
          <p:cNvPr id="3" name="Text Placeholder 2"/>
          <p:cNvSpPr>
            <a:spLocks noGrp="1"/>
          </p:cNvSpPr>
          <p:nvPr>
            <p:ph type="body" idx="1"/>
          </p:nvPr>
        </p:nvSpPr>
        <p:spPr>
          <a:xfrm>
            <a:off x="914400" y="3865099"/>
            <a:ext cx="7315200" cy="1098439"/>
          </a:xfrm>
        </p:spPr>
        <p:txBody>
          <a:bodyPr anchor="b"/>
          <a:lstStyle>
            <a:lvl1pPr marL="0" indent="0">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856C7F-C199-47A3-AF94-EAE81E21E31B}"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2771426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C7856C7F-C199-47A3-AF94-EAE81E21E31B}" type="datetimeFigureOut">
              <a:rPr lang="en-US" smtClean="0"/>
              <a:t>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3EF8AE-9767-4E5A-802F-66A2B36F74A8}" type="slidenum">
              <a:rPr lang="en-US" smtClean="0"/>
              <a:t>‹#›</a:t>
            </a:fld>
            <a:endParaRPr lang="en-US"/>
          </a:p>
        </p:txBody>
      </p:sp>
      <p:sp>
        <p:nvSpPr>
          <p:cNvPr id="9" name="Title 8"/>
          <p:cNvSpPr>
            <a:spLocks noGrp="1"/>
          </p:cNvSpPr>
          <p:nvPr>
            <p:ph type="title"/>
          </p:nvPr>
        </p:nvSpPr>
        <p:spPr>
          <a:xfrm>
            <a:off x="914400" y="1544717"/>
            <a:ext cx="7315200" cy="1154097"/>
          </a:xfrm>
        </p:spPr>
        <p:txBody>
          <a:bodyPr/>
          <a:lstStyle/>
          <a:p>
            <a:r>
              <a:rPr lang="en-US"/>
              <a:t>Click to edit Master title style</a:t>
            </a:r>
          </a:p>
        </p:txBody>
      </p:sp>
      <p:sp>
        <p:nvSpPr>
          <p:cNvPr id="8" name="Content Placeholder 7"/>
          <p:cNvSpPr>
            <a:spLocks noGrp="1"/>
          </p:cNvSpPr>
          <p:nvPr>
            <p:ph sz="quarter" idx="13"/>
          </p:nvPr>
        </p:nvSpPr>
        <p:spPr>
          <a:xfrm>
            <a:off x="914400" y="2743200"/>
            <a:ext cx="3566160" cy="35935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4681728" y="2743202"/>
            <a:ext cx="3566160" cy="3595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97313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16348" y="2743200"/>
            <a:ext cx="3364992" cy="621792"/>
          </a:xfrm>
        </p:spPr>
        <p:txBody>
          <a:bodyPr anchor="b">
            <a:noAutofit/>
          </a:bodyPr>
          <a:lstStyle>
            <a:lvl1pPr marL="0" indent="0">
              <a:buNone/>
              <a:defRPr sz="15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5" name="Text Placeholder 4"/>
          <p:cNvSpPr>
            <a:spLocks noGrp="1"/>
          </p:cNvSpPr>
          <p:nvPr>
            <p:ph type="body" sz="quarter" idx="3"/>
          </p:nvPr>
        </p:nvSpPr>
        <p:spPr>
          <a:xfrm>
            <a:off x="4885145" y="2743200"/>
            <a:ext cx="3362062" cy="621792"/>
          </a:xfrm>
        </p:spPr>
        <p:txBody>
          <a:bodyPr anchor="b">
            <a:noAutofit/>
          </a:bodyPr>
          <a:lstStyle>
            <a:lvl1pPr marL="0" indent="0">
              <a:buNone/>
              <a:defRPr sz="15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7" name="Date Placeholder 6"/>
          <p:cNvSpPr>
            <a:spLocks noGrp="1"/>
          </p:cNvSpPr>
          <p:nvPr>
            <p:ph type="dt" sz="half" idx="10"/>
          </p:nvPr>
        </p:nvSpPr>
        <p:spPr/>
        <p:txBody>
          <a:bodyPr/>
          <a:lstStyle/>
          <a:p>
            <a:fld id="{C7856C7F-C199-47A3-AF94-EAE81E21E31B}" type="datetimeFigureOut">
              <a:rPr lang="en-US" smtClean="0"/>
              <a:t>12/9/2025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13EF8AE-9767-4E5A-802F-66A2B36F74A8}" type="slidenum">
              <a:rPr lang="en-US" smtClean="0"/>
              <a:t>‹#›</a:t>
            </a:fld>
            <a:endParaRPr lang="en-US"/>
          </a:p>
        </p:txBody>
      </p:sp>
      <p:sp>
        <p:nvSpPr>
          <p:cNvPr id="10" name="Title 9"/>
          <p:cNvSpPr>
            <a:spLocks noGrp="1"/>
          </p:cNvSpPr>
          <p:nvPr>
            <p:ph type="title"/>
          </p:nvPr>
        </p:nvSpPr>
        <p:spPr>
          <a:xfrm>
            <a:off x="914400" y="1544717"/>
            <a:ext cx="7315200" cy="1154097"/>
          </a:xfrm>
        </p:spPr>
        <p:txBody>
          <a:bodyPr/>
          <a:lstStyle/>
          <a:p>
            <a:r>
              <a:rPr lang="en-US"/>
              <a:t>Click to edit Master title style</a:t>
            </a:r>
            <a:endParaRPr lang="en-US" dirty="0"/>
          </a:p>
        </p:txBody>
      </p:sp>
      <p:sp>
        <p:nvSpPr>
          <p:cNvPr id="11" name="Content Placeholder 10"/>
          <p:cNvSpPr>
            <a:spLocks noGrp="1"/>
          </p:cNvSpPr>
          <p:nvPr>
            <p:ph sz="quarter" idx="13"/>
          </p:nvPr>
        </p:nvSpPr>
        <p:spPr>
          <a:xfrm>
            <a:off x="914400" y="3383280"/>
            <a:ext cx="3566160" cy="2953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681727" y="3383280"/>
            <a:ext cx="3566160" cy="2953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16342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856C7F-C199-47A3-AF94-EAE81E21E31B}" type="datetimeFigureOut">
              <a:rPr lang="en-US" smtClean="0"/>
              <a:t>12/9/2025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747128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856C7F-C199-47A3-AF94-EAE81E21E31B}" type="datetimeFigureOut">
              <a:rPr lang="en-US" smtClean="0"/>
              <a:t>12/9/2025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1612098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5364"/>
            <a:ext cx="2950936" cy="2173015"/>
          </a:xfrm>
        </p:spPr>
        <p:txBody>
          <a:bodyPr anchor="b">
            <a:normAutofit/>
          </a:bodyPr>
          <a:lstStyle>
            <a:lvl1pPr algn="l">
              <a:defRPr sz="2100" b="0"/>
            </a:lvl1pPr>
          </a:lstStyle>
          <a:p>
            <a:r>
              <a:rPr lang="en-US"/>
              <a:t>Click to edit Master title style</a:t>
            </a:r>
            <a:endParaRPr lang="en-US" dirty="0"/>
          </a:p>
        </p:txBody>
      </p:sp>
      <p:sp>
        <p:nvSpPr>
          <p:cNvPr id="3" name="Content Placeholder 2"/>
          <p:cNvSpPr>
            <a:spLocks noGrp="1"/>
          </p:cNvSpPr>
          <p:nvPr>
            <p:ph idx="1"/>
          </p:nvPr>
        </p:nvSpPr>
        <p:spPr>
          <a:xfrm>
            <a:off x="4021752" y="1826709"/>
            <a:ext cx="4207848" cy="4476614"/>
          </a:xfrm>
        </p:spPr>
        <p:txBody>
          <a:bodyPr anchor="ctr"/>
          <a:lstStyle>
            <a:lvl1pPr>
              <a:defRPr sz="1500"/>
            </a:lvl1pPr>
            <a:lvl2pPr>
              <a:defRPr sz="1350"/>
            </a:lvl2pPr>
            <a:lvl3pPr>
              <a:defRPr sz="1200"/>
            </a:lvl3pPr>
            <a:lvl4pPr>
              <a:defRPr sz="1050"/>
            </a:lvl4pPr>
            <a:lvl5pPr>
              <a:defRPr sz="105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4400" y="4061097"/>
            <a:ext cx="2950936" cy="224538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7856C7F-C199-47A3-AF94-EAE81E21E31B}" type="datetimeFigureOut">
              <a:rPr lang="en-US" smtClean="0"/>
              <a:t>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2428687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8800"/>
            <a:ext cx="2953512" cy="2176272"/>
          </a:xfrm>
        </p:spPr>
        <p:txBody>
          <a:bodyPr anchor="b">
            <a:normAutofit/>
          </a:bodyPr>
          <a:lstStyle>
            <a:lvl1pPr algn="l">
              <a:defRPr sz="2100" b="0"/>
            </a:lvl1pPr>
          </a:lstStyle>
          <a:p>
            <a:r>
              <a:rPr lang="en-US"/>
              <a:t>Click to edit Master title style</a:t>
            </a:r>
            <a:endParaRPr lang="en-US" dirty="0"/>
          </a:p>
        </p:txBody>
      </p:sp>
      <p:sp>
        <p:nvSpPr>
          <p:cNvPr id="3" name="Picture Placeholder 2"/>
          <p:cNvSpPr>
            <a:spLocks noGrp="1"/>
          </p:cNvSpPr>
          <p:nvPr>
            <p:ph type="pic" idx="1"/>
          </p:nvPr>
        </p:nvSpPr>
        <p:spPr>
          <a:xfrm>
            <a:off x="4191000" y="2286000"/>
            <a:ext cx="4038600" cy="3352800"/>
          </a:xfrm>
          <a:solidFill>
            <a:schemeClr val="accent2"/>
          </a:solidFill>
          <a:ln w="12700">
            <a:noFill/>
          </a:ln>
          <a:effectLst>
            <a:reflection blurRad="12700" stA="30000" endPos="30000" dist="31750" dir="5400000" sy="-100000" algn="bl" rotWithShape="0"/>
          </a:effectLst>
          <a:scene3d>
            <a:camera prst="perspectiveRight" fov="2700000">
              <a:rot lat="240000" lon="900000" rev="0"/>
            </a:camera>
            <a:lightRig rig="threePt" dir="t">
              <a:rot lat="0" lon="0" rev="2700000"/>
            </a:lightRig>
          </a:scene3d>
          <a:sp3d/>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914400" y="4059936"/>
            <a:ext cx="2953512" cy="2249424"/>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7856C7F-C199-47A3-AF94-EAE81E21E31B}" type="datetimeFigureOut">
              <a:rPr lang="en-US" smtClean="0"/>
              <a:t>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2305268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856C7F-C199-47A3-AF94-EAE81E21E31B}"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3741162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48401" y="1826709"/>
            <a:ext cx="1492499" cy="448445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54524" y="1826709"/>
            <a:ext cx="5241476" cy="448445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856C7F-C199-47A3-AF94-EAE81E21E31B}"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3541627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0" name="Rectangle 9"/>
          <p:cNvSpPr/>
          <p:nvPr/>
        </p:nvSpPr>
        <p:spPr>
          <a:xfrm>
            <a:off x="8435268" y="573807"/>
            <a:ext cx="86236"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1" name="Rectangle 10"/>
          <p:cNvSpPr/>
          <p:nvPr/>
        </p:nvSpPr>
        <p:spPr>
          <a:xfrm>
            <a:off x="8569419" y="573807"/>
            <a:ext cx="576072"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 name="Title Placeholder 1"/>
          <p:cNvSpPr>
            <a:spLocks noGrp="1"/>
          </p:cNvSpPr>
          <p:nvPr>
            <p:ph type="title"/>
          </p:nvPr>
        </p:nvSpPr>
        <p:spPr>
          <a:xfrm>
            <a:off x="914400" y="1544717"/>
            <a:ext cx="7315200" cy="115409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914400" y="2769835"/>
            <a:ext cx="7315200" cy="35395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07691" y="548797"/>
            <a:ext cx="1189132" cy="297918"/>
          </a:xfrm>
          <a:prstGeom prst="rect">
            <a:avLst/>
          </a:prstGeom>
        </p:spPr>
        <p:txBody>
          <a:bodyPr vert="horz" lIns="91440" tIns="45720" rIns="91440" bIns="45720" rtlCol="0" anchor="ctr"/>
          <a:lstStyle>
            <a:lvl1pPr algn="l">
              <a:defRPr sz="900">
                <a:solidFill>
                  <a:schemeClr val="tx1">
                    <a:alpha val="50000"/>
                  </a:schemeClr>
                </a:solidFill>
              </a:defRPr>
            </a:lvl1pPr>
          </a:lstStyle>
          <a:p>
            <a:fld id="{C7856C7F-C199-47A3-AF94-EAE81E21E31B}" type="datetimeFigureOut">
              <a:rPr lang="en-US" smtClean="0"/>
              <a:t>12/9/2025</a:t>
            </a:fld>
            <a:endParaRPr lang="en-US"/>
          </a:p>
        </p:txBody>
      </p:sp>
      <p:sp>
        <p:nvSpPr>
          <p:cNvPr id="6" name="Slide Number Placeholder 5"/>
          <p:cNvSpPr>
            <a:spLocks noGrp="1"/>
          </p:cNvSpPr>
          <p:nvPr>
            <p:ph type="sldNum" sz="quarter" idx="4"/>
          </p:nvPr>
        </p:nvSpPr>
        <p:spPr>
          <a:xfrm>
            <a:off x="7314416" y="548797"/>
            <a:ext cx="941203" cy="301752"/>
          </a:xfrm>
          <a:prstGeom prst="rect">
            <a:avLst/>
          </a:prstGeom>
        </p:spPr>
        <p:txBody>
          <a:bodyPr vert="horz" lIns="91440" tIns="45720" rIns="91440" bIns="45720" rtlCol="0" anchor="ctr"/>
          <a:lstStyle>
            <a:lvl1pPr algn="r">
              <a:defRPr sz="900">
                <a:solidFill>
                  <a:schemeClr val="tx1"/>
                </a:solidFill>
              </a:defRPr>
            </a:lvl1pPr>
          </a:lstStyle>
          <a:p>
            <a:fld id="{E13EF8AE-9767-4E5A-802F-66A2B36F74A8}" type="slidenum">
              <a:rPr lang="en-US" smtClean="0"/>
              <a:t>‹#›</a:t>
            </a:fld>
            <a:endParaRPr lang="en-US"/>
          </a:p>
        </p:txBody>
      </p:sp>
      <p:sp>
        <p:nvSpPr>
          <p:cNvPr id="5" name="Footer Placeholder 4"/>
          <p:cNvSpPr>
            <a:spLocks noGrp="1"/>
          </p:cNvSpPr>
          <p:nvPr>
            <p:ph type="ftr" sz="quarter" idx="3"/>
          </p:nvPr>
        </p:nvSpPr>
        <p:spPr>
          <a:xfrm>
            <a:off x="6008689" y="855958"/>
            <a:ext cx="2246489" cy="301227"/>
          </a:xfrm>
          <a:prstGeom prst="rect">
            <a:avLst/>
          </a:prstGeom>
        </p:spPr>
        <p:txBody>
          <a:bodyPr vert="horz" lIns="91440" tIns="0" rIns="91440" bIns="45720" rtlCol="0" anchor="t"/>
          <a:lstStyle>
            <a:lvl1pPr algn="l">
              <a:defRPr sz="750">
                <a:solidFill>
                  <a:schemeClr val="tx1"/>
                </a:solidFill>
              </a:defRPr>
            </a:lvl1pPr>
          </a:lstStyle>
          <a:p>
            <a:endParaRPr lang="en-US"/>
          </a:p>
        </p:txBody>
      </p:sp>
    </p:spTree>
    <p:extLst>
      <p:ext uri="{BB962C8B-B14F-4D97-AF65-F5344CB8AC3E}">
        <p14:creationId xmlns:p14="http://schemas.microsoft.com/office/powerpoint/2010/main" val="941792168"/>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685800" rtl="0" eaLnBrk="1" latinLnBrk="0" hangingPunct="1">
        <a:spcBef>
          <a:spcPct val="0"/>
        </a:spcBef>
        <a:buNone/>
        <a:defRPr sz="3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71450" indent="-137160" algn="l" defTabSz="685800" rtl="0" eaLnBrk="1" latinLnBrk="0" hangingPunct="1">
        <a:spcBef>
          <a:spcPct val="20000"/>
        </a:spcBef>
        <a:buClr>
          <a:schemeClr val="tx2"/>
        </a:buClr>
        <a:buFont typeface="Wingdings" charset="2"/>
        <a:buChar char="§"/>
        <a:defRPr sz="1500" kern="1200">
          <a:solidFill>
            <a:schemeClr val="tx1"/>
          </a:solidFill>
          <a:latin typeface="+mn-lt"/>
          <a:ea typeface="+mn-ea"/>
          <a:cs typeface="+mn-cs"/>
        </a:defRPr>
      </a:lvl1pPr>
      <a:lvl2pPr marL="377190" indent="-137160" algn="l" defTabSz="685800" rtl="0" eaLnBrk="1" latinLnBrk="0" hangingPunct="1">
        <a:spcBef>
          <a:spcPct val="20000"/>
        </a:spcBef>
        <a:buClr>
          <a:schemeClr val="tx2"/>
        </a:buClr>
        <a:buFont typeface="Wingdings" charset="2"/>
        <a:buChar char="§"/>
        <a:defRPr sz="1350" kern="1200">
          <a:solidFill>
            <a:schemeClr val="tx1"/>
          </a:solidFill>
          <a:latin typeface="+mn-lt"/>
          <a:ea typeface="+mn-ea"/>
          <a:cs typeface="+mn-cs"/>
        </a:defRPr>
      </a:lvl2pPr>
      <a:lvl3pPr marL="514350" indent="-137160" algn="l" defTabSz="685800" rtl="0" eaLnBrk="1" latinLnBrk="0" hangingPunct="1">
        <a:spcBef>
          <a:spcPct val="20000"/>
        </a:spcBef>
        <a:buClr>
          <a:schemeClr val="tx2"/>
        </a:buClr>
        <a:buFont typeface="Wingdings" charset="2"/>
        <a:buChar char="§"/>
        <a:defRPr sz="1200" kern="1200">
          <a:solidFill>
            <a:schemeClr val="tx1"/>
          </a:solidFill>
          <a:latin typeface="+mn-lt"/>
          <a:ea typeface="+mn-ea"/>
          <a:cs typeface="+mn-cs"/>
        </a:defRPr>
      </a:lvl3pPr>
      <a:lvl4pPr marL="685800" indent="-137160" algn="l" defTabSz="685800" rtl="0" eaLnBrk="1" latinLnBrk="0" hangingPunct="1">
        <a:spcBef>
          <a:spcPct val="20000"/>
        </a:spcBef>
        <a:buClr>
          <a:schemeClr val="tx2"/>
        </a:buClr>
        <a:buFont typeface="Wingdings" charset="2"/>
        <a:buChar char="§"/>
        <a:defRPr sz="1050" kern="1200">
          <a:solidFill>
            <a:schemeClr val="tx1"/>
          </a:solidFill>
          <a:latin typeface="+mn-lt"/>
          <a:ea typeface="+mn-ea"/>
          <a:cs typeface="+mn-cs"/>
        </a:defRPr>
      </a:lvl4pPr>
      <a:lvl5pPr marL="857250" indent="-137160" algn="l" defTabSz="685800" rtl="0" eaLnBrk="1" latinLnBrk="0" hangingPunct="1">
        <a:spcBef>
          <a:spcPct val="20000"/>
        </a:spcBef>
        <a:buClr>
          <a:schemeClr val="tx2"/>
        </a:buClr>
        <a:buFont typeface="Wingdings" charset="2"/>
        <a:buChar char="§"/>
        <a:defRPr sz="1050" kern="1200">
          <a:solidFill>
            <a:schemeClr val="tx1"/>
          </a:solidFill>
          <a:latin typeface="+mn-lt"/>
          <a:ea typeface="+mn-ea"/>
          <a:cs typeface="+mn-cs"/>
        </a:defRPr>
      </a:lvl5pPr>
      <a:lvl6pPr marL="1028700" indent="-137160" algn="l" defTabSz="685800" rtl="0" eaLnBrk="1" latinLnBrk="0" hangingPunct="1">
        <a:spcBef>
          <a:spcPct val="20000"/>
        </a:spcBef>
        <a:buClr>
          <a:schemeClr val="tx2"/>
        </a:buClr>
        <a:buFont typeface="Wingdings" pitchFamily="2" charset="2"/>
        <a:buChar char="§"/>
        <a:defRPr sz="1050" kern="1200">
          <a:solidFill>
            <a:schemeClr val="tx1"/>
          </a:solidFill>
          <a:latin typeface="+mn-lt"/>
          <a:ea typeface="+mn-ea"/>
          <a:cs typeface="+mn-cs"/>
        </a:defRPr>
      </a:lvl6pPr>
      <a:lvl7pPr marL="1200150" indent="-137160" algn="l" defTabSz="685800" rtl="0" eaLnBrk="1" latinLnBrk="0" hangingPunct="1">
        <a:spcBef>
          <a:spcPct val="20000"/>
        </a:spcBef>
        <a:buClr>
          <a:schemeClr val="tx2"/>
        </a:buClr>
        <a:buFont typeface="Wingdings" pitchFamily="2" charset="2"/>
        <a:buChar char="§"/>
        <a:defRPr sz="1050" kern="1200">
          <a:solidFill>
            <a:schemeClr val="tx1"/>
          </a:solidFill>
          <a:latin typeface="+mn-lt"/>
          <a:ea typeface="+mn-ea"/>
          <a:cs typeface="+mn-cs"/>
        </a:defRPr>
      </a:lvl7pPr>
      <a:lvl8pPr marL="1371600" indent="-137160" algn="l" defTabSz="685800" rtl="0" eaLnBrk="1" latinLnBrk="0" hangingPunct="1">
        <a:spcBef>
          <a:spcPct val="20000"/>
        </a:spcBef>
        <a:buClr>
          <a:schemeClr val="tx2"/>
        </a:buClr>
        <a:buFont typeface="Wingdings" pitchFamily="2" charset="2"/>
        <a:buChar char="§"/>
        <a:defRPr sz="1050" kern="1200">
          <a:solidFill>
            <a:schemeClr val="tx1"/>
          </a:solidFill>
          <a:latin typeface="+mn-lt"/>
          <a:ea typeface="+mn-ea"/>
          <a:cs typeface="+mn-cs"/>
        </a:defRPr>
      </a:lvl8pPr>
      <a:lvl9pPr marL="1543050" indent="-137160" algn="l" defTabSz="685800" rtl="0" eaLnBrk="1" latinLnBrk="0" hangingPunct="1">
        <a:spcBef>
          <a:spcPct val="20000"/>
        </a:spcBef>
        <a:buClr>
          <a:schemeClr val="tx2"/>
        </a:buClr>
        <a:buFont typeface="Wingdings" pitchFamily="2" charset="2"/>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5DB9B-9E97-997E-00C8-A8E670BC20E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212F9F5-5FD0-BE2C-B5A9-F801A5912FEA}"/>
              </a:ext>
            </a:extLst>
          </p:cNvPr>
          <p:cNvSpPr>
            <a:spLocks noGrp="1"/>
          </p:cNvSpPr>
          <p:nvPr>
            <p:ph type="title"/>
          </p:nvPr>
        </p:nvSpPr>
        <p:spPr>
          <a:xfrm>
            <a:off x="463925" y="582705"/>
            <a:ext cx="7819465" cy="504265"/>
          </a:xfrm>
        </p:spPr>
        <p:txBody>
          <a:bodyPr>
            <a:noAutofit/>
          </a:bodyPr>
          <a:lstStyle/>
          <a:p>
            <a:r>
              <a:rPr lang="ro-RO" sz="3200" noProof="0" dirty="0"/>
              <a:t>C# - Cursul 9</a:t>
            </a:r>
          </a:p>
        </p:txBody>
      </p:sp>
      <p:sp>
        <p:nvSpPr>
          <p:cNvPr id="5" name="Content Placeholder 4">
            <a:extLst>
              <a:ext uri="{FF2B5EF4-FFF2-40B4-BE49-F238E27FC236}">
                <a16:creationId xmlns:a16="http://schemas.microsoft.com/office/drawing/2014/main" id="{28B90E5B-A06C-297E-FF7E-91138F92D917}"/>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Arrays</a:t>
            </a:r>
            <a:r>
              <a:rPr lang="ro-RO" sz="2800" noProof="0" dirty="0">
                <a:solidFill>
                  <a:srgbClr val="00B0F0"/>
                </a:solidFill>
              </a:rPr>
              <a:t> (tablouri) în C#</a:t>
            </a:r>
          </a:p>
          <a:p>
            <a:pPr marL="34290" indent="0" algn="just">
              <a:buNone/>
            </a:pPr>
            <a:r>
              <a:rPr lang="ro-RO" sz="2800" noProof="0" dirty="0">
                <a:solidFill>
                  <a:srgbClr val="00B0F0"/>
                </a:solidFill>
              </a:rPr>
              <a:t>Un tablou stochează o colecție secvențială de elemente de același tip, cu dimensiune fixă. Un tablou este utilizat pentru a stoca o colecție de date, dar este adesea mai util să ne gândim la un tablou ca la o colecție de variabile de același tip stocate în locații de memorie contigue.</a:t>
            </a:r>
          </a:p>
        </p:txBody>
      </p:sp>
    </p:spTree>
    <p:extLst>
      <p:ext uri="{BB962C8B-B14F-4D97-AF65-F5344CB8AC3E}">
        <p14:creationId xmlns:p14="http://schemas.microsoft.com/office/powerpoint/2010/main" val="29852842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820E7-909B-0A93-9361-D2E8270167F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648C006-3EBD-5319-C812-0BD8B5AAD45B}"/>
              </a:ext>
            </a:extLst>
          </p:cNvPr>
          <p:cNvSpPr>
            <a:spLocks noGrp="1"/>
          </p:cNvSpPr>
          <p:nvPr>
            <p:ph type="title"/>
          </p:nvPr>
        </p:nvSpPr>
        <p:spPr>
          <a:xfrm>
            <a:off x="463925" y="582705"/>
            <a:ext cx="7819465" cy="504265"/>
          </a:xfrm>
        </p:spPr>
        <p:txBody>
          <a:bodyPr>
            <a:noAutofit/>
          </a:bodyPr>
          <a:lstStyle/>
          <a:p>
            <a:r>
              <a:rPr lang="ro-RO" sz="3200" noProof="0" dirty="0"/>
              <a:t>C# - Cursul 9</a:t>
            </a:r>
          </a:p>
        </p:txBody>
      </p:sp>
      <p:sp>
        <p:nvSpPr>
          <p:cNvPr id="5" name="Content Placeholder 4">
            <a:extLst>
              <a:ext uri="{FF2B5EF4-FFF2-40B4-BE49-F238E27FC236}">
                <a16:creationId xmlns:a16="http://schemas.microsoft.com/office/drawing/2014/main" id="{85715A72-A47E-2AD9-67B5-1E20D72CBDD5}"/>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Arrays</a:t>
            </a:r>
            <a:r>
              <a:rPr lang="ro-RO" sz="2800" noProof="0" dirty="0">
                <a:solidFill>
                  <a:srgbClr val="00B0F0"/>
                </a:solidFill>
              </a:rPr>
              <a:t> (tablouri) în C#</a:t>
            </a:r>
          </a:p>
          <a:p>
            <a:pPr marL="34290" indent="0" algn="just">
              <a:buNone/>
            </a:pPr>
            <a:r>
              <a:rPr lang="ro-RO" sz="2800" noProof="0" dirty="0">
                <a:solidFill>
                  <a:srgbClr val="00B0F0"/>
                </a:solidFill>
              </a:rPr>
              <a:t>În loc să declarați variabile individuale, cum ar fi numărul0, numărul1, ... și numărul99, declarați o variabilă tablou, cum ar fi numere, și utilizați numere[0], numere[1] și ..., numere[99] pentru a reprezenta variabile individuale. Un element specific dintr-un tablou este accesat printr-un index.</a:t>
            </a:r>
          </a:p>
          <a:p>
            <a:pPr marL="34290" indent="0" algn="just">
              <a:buNone/>
            </a:pPr>
            <a:r>
              <a:rPr lang="ro-RO" sz="2800" noProof="0" dirty="0">
                <a:solidFill>
                  <a:srgbClr val="00B0F0"/>
                </a:solidFill>
              </a:rPr>
              <a:t>Toate tablourile constau din locații de memorie contigue. Cea mai mică adresă corespunde primului element, iar cea mai mare adresă ultimului element.</a:t>
            </a:r>
          </a:p>
        </p:txBody>
      </p:sp>
    </p:spTree>
    <p:extLst>
      <p:ext uri="{BB962C8B-B14F-4D97-AF65-F5344CB8AC3E}">
        <p14:creationId xmlns:p14="http://schemas.microsoft.com/office/powerpoint/2010/main" val="24861944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F6724-3DD0-0CD2-ADE8-DC2BF6B641A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6EF4C5F-2454-5564-A0B0-AF30DD93A5A6}"/>
              </a:ext>
            </a:extLst>
          </p:cNvPr>
          <p:cNvSpPr>
            <a:spLocks noGrp="1"/>
          </p:cNvSpPr>
          <p:nvPr>
            <p:ph type="title"/>
          </p:nvPr>
        </p:nvSpPr>
        <p:spPr>
          <a:xfrm>
            <a:off x="463925" y="582705"/>
            <a:ext cx="7819465" cy="504265"/>
          </a:xfrm>
        </p:spPr>
        <p:txBody>
          <a:bodyPr>
            <a:noAutofit/>
          </a:bodyPr>
          <a:lstStyle/>
          <a:p>
            <a:r>
              <a:rPr lang="ro-RO" sz="3200" noProof="0" dirty="0"/>
              <a:t>C# - Cursul 9</a:t>
            </a:r>
          </a:p>
        </p:txBody>
      </p:sp>
      <p:sp>
        <p:nvSpPr>
          <p:cNvPr id="5" name="Content Placeholder 4">
            <a:extLst>
              <a:ext uri="{FF2B5EF4-FFF2-40B4-BE49-F238E27FC236}">
                <a16:creationId xmlns:a16="http://schemas.microsoft.com/office/drawing/2014/main" id="{FD1EB431-E07E-BD1D-11B4-8A86AB35BB18}"/>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Arrays</a:t>
            </a:r>
            <a:r>
              <a:rPr lang="ro-RO" sz="2800" noProof="0" dirty="0">
                <a:solidFill>
                  <a:srgbClr val="00B0F0"/>
                </a:solidFill>
              </a:rPr>
              <a:t> (tablouri) în C# - declararea unui </a:t>
            </a:r>
            <a:r>
              <a:rPr lang="ro-RO" sz="2800" noProof="0" dirty="0" err="1">
                <a:solidFill>
                  <a:srgbClr val="00B0F0"/>
                </a:solidFill>
              </a:rPr>
              <a:t>array</a:t>
            </a:r>
            <a:endParaRPr lang="ro-RO" sz="2800" noProof="0" dirty="0">
              <a:solidFill>
                <a:srgbClr val="00B0F0"/>
              </a:solidFill>
            </a:endParaRPr>
          </a:p>
          <a:p>
            <a:pPr marL="34290" indent="0" algn="just">
              <a:buNone/>
            </a:pPr>
            <a:r>
              <a:rPr lang="ro-RO" sz="2800" noProof="0" dirty="0">
                <a:solidFill>
                  <a:srgbClr val="00B0F0"/>
                </a:solidFill>
              </a:rPr>
              <a:t>Puteți declara un </a:t>
            </a:r>
            <a:r>
              <a:rPr lang="ro-RO" sz="2800" noProof="0" dirty="0" err="1">
                <a:solidFill>
                  <a:srgbClr val="00B0F0"/>
                </a:solidFill>
              </a:rPr>
              <a:t>array</a:t>
            </a:r>
            <a:r>
              <a:rPr lang="ro-RO" sz="2800" noProof="0" dirty="0">
                <a:solidFill>
                  <a:srgbClr val="00B0F0"/>
                </a:solidFill>
              </a:rPr>
              <a:t> în C# specificând tipul de date urmat de paranteze pătrate și numele </a:t>
            </a:r>
            <a:r>
              <a:rPr lang="ro-RO" sz="2800" noProof="0" dirty="0" err="1">
                <a:solidFill>
                  <a:srgbClr val="00B0F0"/>
                </a:solidFill>
              </a:rPr>
              <a:t>array</a:t>
            </a:r>
            <a:r>
              <a:rPr lang="ro-RO" sz="2800" noProof="0" dirty="0">
                <a:solidFill>
                  <a:srgbClr val="00B0F0"/>
                </a:solidFill>
              </a:rPr>
              <a:t>-ului.</a:t>
            </a:r>
          </a:p>
          <a:p>
            <a:pPr marL="34290" indent="0" algn="just">
              <a:buNone/>
            </a:pPr>
            <a:r>
              <a:rPr lang="ro-RO" sz="2800" noProof="0" dirty="0">
                <a:solidFill>
                  <a:srgbClr val="00B0F0"/>
                </a:solidFill>
              </a:rPr>
              <a:t>Sintaxa: </a:t>
            </a:r>
            <a:r>
              <a:rPr lang="ro-RO" sz="2400" b="1" i="0" noProof="0" dirty="0" err="1">
                <a:solidFill>
                  <a:srgbClr val="CCCCCC"/>
                </a:solidFill>
                <a:effectLst/>
                <a:latin typeface="Courier New" panose="02070309020205020404" pitchFamily="49" charset="0"/>
              </a:rPr>
              <a:t>datatype</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arrayName</a:t>
            </a:r>
            <a:r>
              <a:rPr lang="ro-RO" sz="2400" b="1" i="0" noProof="0" dirty="0">
                <a:solidFill>
                  <a:srgbClr val="CCCCCC"/>
                </a:solidFill>
                <a:effectLst/>
                <a:latin typeface="Courier New" panose="02070309020205020404" pitchFamily="49" charset="0"/>
              </a:rPr>
              <a:t>;</a:t>
            </a:r>
          </a:p>
          <a:p>
            <a:pPr algn="just"/>
            <a:r>
              <a:rPr lang="ro-RO" sz="2800" noProof="0" dirty="0">
                <a:solidFill>
                  <a:srgbClr val="00B0F0"/>
                </a:solidFill>
              </a:rPr>
              <a:t> tipul de date este utilizat pentru a specifica tipul elementelor din matrice.</a:t>
            </a:r>
          </a:p>
          <a:p>
            <a:pPr algn="just"/>
            <a:r>
              <a:rPr lang="ro-RO" sz="2800" noProof="0" dirty="0">
                <a:solidFill>
                  <a:srgbClr val="00B0F0"/>
                </a:solidFill>
              </a:rPr>
              <a:t> [ ] specifică rangul matricei. Rangul specifică dimensiunea matricei.</a:t>
            </a:r>
          </a:p>
          <a:p>
            <a:pPr algn="just"/>
            <a:r>
              <a:rPr lang="ro-RO" sz="2800" noProof="0" dirty="0">
                <a:solidFill>
                  <a:srgbClr val="00B0F0"/>
                </a:solidFill>
              </a:rPr>
              <a:t> </a:t>
            </a:r>
            <a:r>
              <a:rPr lang="ro-RO" sz="2800" noProof="0" dirty="0" err="1">
                <a:solidFill>
                  <a:srgbClr val="00B0F0"/>
                </a:solidFill>
              </a:rPr>
              <a:t>arrayName</a:t>
            </a:r>
            <a:r>
              <a:rPr lang="ro-RO" sz="2800" noProof="0" dirty="0">
                <a:solidFill>
                  <a:srgbClr val="00B0F0"/>
                </a:solidFill>
              </a:rPr>
              <a:t> specifică numele matricei. </a:t>
            </a:r>
          </a:p>
          <a:p>
            <a:pPr marL="34290" indent="0" algn="just">
              <a:buNone/>
            </a:pPr>
            <a:r>
              <a:rPr lang="ro-RO" sz="2800" noProof="0" dirty="0">
                <a:solidFill>
                  <a:srgbClr val="00B0F0"/>
                </a:solidFill>
              </a:rPr>
              <a:t>Exemplu: </a:t>
            </a:r>
            <a:r>
              <a:rPr lang="ro-RO" sz="2400" b="1" i="0" noProof="0" dirty="0" err="1">
                <a:solidFill>
                  <a:srgbClr val="CC99CD"/>
                </a:solidFill>
                <a:effectLst/>
                <a:latin typeface="Courier New" panose="02070309020205020404" pitchFamily="49" charset="0"/>
              </a:rPr>
              <a:t>double</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balance</a:t>
            </a:r>
            <a:r>
              <a:rPr lang="ro-RO" sz="2400" b="1" i="0" noProof="0" dirty="0">
                <a:solidFill>
                  <a:srgbClr val="CCCCCC"/>
                </a:solidFill>
                <a:effectLst/>
                <a:latin typeface="Courier New" panose="02070309020205020404" pitchFamily="49" charset="0"/>
              </a:rPr>
              <a:t>;</a:t>
            </a:r>
            <a:endParaRPr lang="ro-RO" sz="2400" b="1" noProof="0" dirty="0">
              <a:solidFill>
                <a:srgbClr val="00B0F0"/>
              </a:solidFill>
            </a:endParaRPr>
          </a:p>
        </p:txBody>
      </p:sp>
    </p:spTree>
    <p:extLst>
      <p:ext uri="{BB962C8B-B14F-4D97-AF65-F5344CB8AC3E}">
        <p14:creationId xmlns:p14="http://schemas.microsoft.com/office/powerpoint/2010/main" val="3338040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965CC-BD28-F3E7-951F-835910E7D95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25D12B0-A398-5CB6-53DD-A71EC2514B05}"/>
              </a:ext>
            </a:extLst>
          </p:cNvPr>
          <p:cNvSpPr>
            <a:spLocks noGrp="1"/>
          </p:cNvSpPr>
          <p:nvPr>
            <p:ph type="title"/>
          </p:nvPr>
        </p:nvSpPr>
        <p:spPr>
          <a:xfrm>
            <a:off x="463925" y="582705"/>
            <a:ext cx="7819465" cy="504265"/>
          </a:xfrm>
        </p:spPr>
        <p:txBody>
          <a:bodyPr>
            <a:noAutofit/>
          </a:bodyPr>
          <a:lstStyle/>
          <a:p>
            <a:r>
              <a:rPr lang="ro-RO" sz="3200" noProof="0" dirty="0"/>
              <a:t>C# - Cursul 9</a:t>
            </a:r>
          </a:p>
        </p:txBody>
      </p:sp>
      <p:sp>
        <p:nvSpPr>
          <p:cNvPr id="5" name="Content Placeholder 4">
            <a:extLst>
              <a:ext uri="{FF2B5EF4-FFF2-40B4-BE49-F238E27FC236}">
                <a16:creationId xmlns:a16="http://schemas.microsoft.com/office/drawing/2014/main" id="{152C716C-76C4-749E-C121-3CE1C5AF8721}"/>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Arrays</a:t>
            </a:r>
            <a:r>
              <a:rPr lang="ro-RO" sz="2800" noProof="0" dirty="0">
                <a:solidFill>
                  <a:srgbClr val="00B0F0"/>
                </a:solidFill>
              </a:rPr>
              <a:t> (tablouri) în C# - </a:t>
            </a:r>
            <a:r>
              <a:rPr lang="ro-RO" sz="2800" noProof="0" dirty="0" err="1">
                <a:solidFill>
                  <a:srgbClr val="00B0F0"/>
                </a:solidFill>
              </a:rPr>
              <a:t>initializarea</a:t>
            </a:r>
            <a:r>
              <a:rPr lang="ro-RO" sz="2800" noProof="0" dirty="0">
                <a:solidFill>
                  <a:srgbClr val="00B0F0"/>
                </a:solidFill>
              </a:rPr>
              <a:t> unui </a:t>
            </a:r>
            <a:r>
              <a:rPr lang="ro-RO" sz="2800" noProof="0" dirty="0" err="1">
                <a:solidFill>
                  <a:srgbClr val="00B0F0"/>
                </a:solidFill>
              </a:rPr>
              <a:t>array</a:t>
            </a: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Declararea unui </a:t>
            </a:r>
            <a:r>
              <a:rPr lang="ro-RO" sz="2800" noProof="0" dirty="0" err="1">
                <a:solidFill>
                  <a:srgbClr val="00B0F0"/>
                </a:solidFill>
              </a:rPr>
              <a:t>array</a:t>
            </a:r>
            <a:r>
              <a:rPr lang="ro-RO" sz="2800" noProof="0" dirty="0">
                <a:solidFill>
                  <a:srgbClr val="00B0F0"/>
                </a:solidFill>
              </a:rPr>
              <a:t> nu alocă memorie pentru elementele sale. Când variabila </a:t>
            </a:r>
            <a:r>
              <a:rPr lang="ro-RO" sz="2800" noProof="0" dirty="0" err="1">
                <a:solidFill>
                  <a:srgbClr val="00B0F0"/>
                </a:solidFill>
              </a:rPr>
              <a:t>array</a:t>
            </a:r>
            <a:r>
              <a:rPr lang="ro-RO" sz="2800" noProof="0" dirty="0">
                <a:solidFill>
                  <a:srgbClr val="00B0F0"/>
                </a:solidFill>
              </a:rPr>
              <a:t> este inițializată, îi puteți atribui valori. </a:t>
            </a:r>
          </a:p>
          <a:p>
            <a:pPr marL="34290" indent="0" algn="just">
              <a:buNone/>
            </a:pPr>
            <a:r>
              <a:rPr lang="ro-RO" sz="2800" noProof="0" dirty="0">
                <a:solidFill>
                  <a:srgbClr val="00B0F0"/>
                </a:solidFill>
              </a:rPr>
              <a:t>Un </a:t>
            </a:r>
            <a:r>
              <a:rPr lang="ro-RO" sz="2800" noProof="0" dirty="0" err="1">
                <a:solidFill>
                  <a:srgbClr val="00B0F0"/>
                </a:solidFill>
              </a:rPr>
              <a:t>array</a:t>
            </a:r>
            <a:r>
              <a:rPr lang="ro-RO" sz="2800" noProof="0" dirty="0">
                <a:solidFill>
                  <a:srgbClr val="00B0F0"/>
                </a:solidFill>
              </a:rPr>
              <a:t> este un tip de referință în C#, deci trebuie să utilizați cuvântul cheie </a:t>
            </a:r>
            <a:r>
              <a:rPr lang="ro-RO" sz="2800" noProof="0" dirty="0" err="1">
                <a:solidFill>
                  <a:schemeClr val="tx2"/>
                </a:solidFill>
              </a:rPr>
              <a:t>new</a:t>
            </a:r>
            <a:r>
              <a:rPr lang="ro-RO" sz="2800" noProof="0" dirty="0">
                <a:solidFill>
                  <a:srgbClr val="00B0F0"/>
                </a:solidFill>
              </a:rPr>
              <a:t> pentru a aloca memorie pentru elementele sale.</a:t>
            </a:r>
          </a:p>
          <a:p>
            <a:pPr marL="34290" indent="0" algn="just">
              <a:buNone/>
            </a:pPr>
            <a:r>
              <a:rPr lang="ro-RO" sz="2800" noProof="0" dirty="0">
                <a:solidFill>
                  <a:srgbClr val="00B0F0"/>
                </a:solidFill>
              </a:rPr>
              <a:t>Sintaxa:</a:t>
            </a:r>
          </a:p>
          <a:p>
            <a:pPr marL="34290" indent="0" algn="just">
              <a:buNone/>
            </a:pPr>
            <a:r>
              <a:rPr lang="ro-RO" sz="2400" b="1" i="0" noProof="0" dirty="0" err="1">
                <a:solidFill>
                  <a:srgbClr val="CC99CD"/>
                </a:solidFill>
                <a:effectLst/>
                <a:latin typeface="Courier New" panose="02070309020205020404" pitchFamily="49" charset="0"/>
              </a:rPr>
              <a:t>double</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balance</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new</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double</a:t>
            </a:r>
            <a:r>
              <a:rPr lang="ro-RO" sz="2400" b="1" i="0" noProof="0" dirty="0">
                <a:solidFill>
                  <a:srgbClr val="CCCCCC"/>
                </a:solidFill>
                <a:effectLst/>
                <a:latin typeface="Courier New" panose="02070309020205020404" pitchFamily="49" charset="0"/>
              </a:rPr>
              <a:t>[</a:t>
            </a:r>
            <a:r>
              <a:rPr lang="ro-RO" sz="2400" b="1" i="0" noProof="0" dirty="0">
                <a:solidFill>
                  <a:srgbClr val="F08D49"/>
                </a:solidFill>
                <a:effectLst/>
                <a:latin typeface="Courier New" panose="02070309020205020404" pitchFamily="49" charset="0"/>
              </a:rPr>
              <a:t>10</a:t>
            </a:r>
            <a:r>
              <a:rPr lang="ro-RO" sz="2400" b="1" i="0" noProof="0" dirty="0">
                <a:solidFill>
                  <a:srgbClr val="CCCCCC"/>
                </a:solidFill>
                <a:effectLst/>
                <a:latin typeface="Courier New" panose="02070309020205020404" pitchFamily="49" charset="0"/>
              </a:rPr>
              <a:t>];</a:t>
            </a:r>
            <a:endParaRPr lang="ro-RO" sz="2400" b="1" noProof="0" dirty="0">
              <a:solidFill>
                <a:srgbClr val="00B0F0"/>
              </a:solidFill>
            </a:endParaRPr>
          </a:p>
        </p:txBody>
      </p:sp>
    </p:spTree>
    <p:extLst>
      <p:ext uri="{BB962C8B-B14F-4D97-AF65-F5344CB8AC3E}">
        <p14:creationId xmlns:p14="http://schemas.microsoft.com/office/powerpoint/2010/main" val="1805150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507EF-F175-C604-0012-39DB90DE5EB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DF7C792-D1F5-90A4-51AF-6ADC159E2532}"/>
              </a:ext>
            </a:extLst>
          </p:cNvPr>
          <p:cNvSpPr>
            <a:spLocks noGrp="1"/>
          </p:cNvSpPr>
          <p:nvPr>
            <p:ph type="title"/>
          </p:nvPr>
        </p:nvSpPr>
        <p:spPr>
          <a:xfrm>
            <a:off x="463925" y="582705"/>
            <a:ext cx="7819465" cy="504265"/>
          </a:xfrm>
        </p:spPr>
        <p:txBody>
          <a:bodyPr>
            <a:noAutofit/>
          </a:bodyPr>
          <a:lstStyle/>
          <a:p>
            <a:r>
              <a:rPr lang="ro-RO" sz="3200" noProof="0" dirty="0"/>
              <a:t>C# - Cursul 9</a:t>
            </a:r>
          </a:p>
        </p:txBody>
      </p:sp>
      <p:sp>
        <p:nvSpPr>
          <p:cNvPr id="5" name="Content Placeholder 4">
            <a:extLst>
              <a:ext uri="{FF2B5EF4-FFF2-40B4-BE49-F238E27FC236}">
                <a16:creationId xmlns:a16="http://schemas.microsoft.com/office/drawing/2014/main" id="{CFFD6A5A-6080-6BD5-3740-02E2D764DCA5}"/>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Arrays</a:t>
            </a:r>
            <a:r>
              <a:rPr lang="ro-RO" sz="2800" noProof="0" dirty="0">
                <a:solidFill>
                  <a:srgbClr val="00B0F0"/>
                </a:solidFill>
              </a:rPr>
              <a:t> (tablouri) în C#</a:t>
            </a:r>
          </a:p>
          <a:p>
            <a:pPr marL="34290" indent="0" algn="just">
              <a:buNone/>
            </a:pPr>
            <a:r>
              <a:rPr lang="ro-RO" sz="2800" noProof="0" dirty="0">
                <a:solidFill>
                  <a:srgbClr val="00B0F0"/>
                </a:solidFill>
              </a:rPr>
              <a:t>Atribuirea de valori unui </a:t>
            </a:r>
            <a:r>
              <a:rPr lang="ro-RO" sz="2800" noProof="0" dirty="0" err="1">
                <a:solidFill>
                  <a:srgbClr val="00B0F0"/>
                </a:solidFill>
              </a:rPr>
              <a:t>array</a:t>
            </a: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Se pot atribui valori elementelor individuale ale </a:t>
            </a:r>
            <a:r>
              <a:rPr lang="ro-RO" sz="2800" noProof="0" dirty="0" err="1">
                <a:solidFill>
                  <a:srgbClr val="00B0F0"/>
                </a:solidFill>
              </a:rPr>
              <a:t>array</a:t>
            </a:r>
            <a:r>
              <a:rPr lang="ro-RO" sz="2800" noProof="0" dirty="0">
                <a:solidFill>
                  <a:srgbClr val="00B0F0"/>
                </a:solidFill>
              </a:rPr>
              <a:t>-ului folosind numărul lor de index, așa cum se arată mai jos:</a:t>
            </a:r>
          </a:p>
          <a:p>
            <a:pPr marL="34290" indent="0" algn="just">
              <a:buNone/>
            </a:pPr>
            <a:endParaRPr lang="ro-RO" sz="2800" noProof="0" dirty="0">
              <a:solidFill>
                <a:srgbClr val="00B0F0"/>
              </a:solidFill>
            </a:endParaRPr>
          </a:p>
          <a:p>
            <a:pPr marL="34290" indent="0">
              <a:buNone/>
            </a:pPr>
            <a:r>
              <a:rPr lang="ro-RO" sz="2400" b="1" i="0" noProof="0" dirty="0" err="1">
                <a:solidFill>
                  <a:srgbClr val="CC99CD"/>
                </a:solidFill>
                <a:effectLst/>
                <a:latin typeface="Courier New" panose="02070309020205020404" pitchFamily="49" charset="0"/>
              </a:rPr>
              <a:t>double</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balance</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new</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double</a:t>
            </a:r>
            <a:r>
              <a:rPr lang="ro-RO" sz="2400" b="1" i="0" noProof="0" dirty="0">
                <a:solidFill>
                  <a:srgbClr val="CCCCCC"/>
                </a:solidFill>
                <a:effectLst/>
                <a:latin typeface="Courier New" panose="02070309020205020404" pitchFamily="49" charset="0"/>
              </a:rPr>
              <a:t>[</a:t>
            </a:r>
            <a:r>
              <a:rPr lang="ro-RO" sz="2400" b="1" i="0" noProof="0" dirty="0">
                <a:solidFill>
                  <a:srgbClr val="F08D49"/>
                </a:solidFill>
                <a:effectLst/>
                <a:latin typeface="Courier New" panose="02070309020205020404" pitchFamily="49" charset="0"/>
              </a:rPr>
              <a:t>10</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balance</a:t>
            </a:r>
            <a:r>
              <a:rPr lang="ro-RO" sz="2400" b="1" i="0" noProof="0" dirty="0">
                <a:solidFill>
                  <a:srgbClr val="CCCCCC"/>
                </a:solidFill>
                <a:effectLst/>
                <a:latin typeface="Courier New" panose="02070309020205020404" pitchFamily="49" charset="0"/>
              </a:rPr>
              <a:t>[</a:t>
            </a:r>
            <a:r>
              <a:rPr lang="ro-RO" sz="2400" b="1" i="0" noProof="0" dirty="0">
                <a:solidFill>
                  <a:srgbClr val="F08D49"/>
                </a:solidFill>
                <a:effectLst/>
                <a:latin typeface="Courier New" panose="02070309020205020404" pitchFamily="49" charset="0"/>
              </a:rPr>
              <a:t>0</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4500.0</a:t>
            </a:r>
            <a:r>
              <a:rPr lang="ro-RO" sz="2400" b="1" i="0" noProof="0" dirty="0">
                <a:solidFill>
                  <a:srgbClr val="CCCCCC"/>
                </a:solidFill>
                <a:effectLst/>
                <a:latin typeface="Courier New" panose="02070309020205020404" pitchFamily="49" charset="0"/>
              </a:rPr>
              <a:t>;</a:t>
            </a:r>
            <a:endParaRPr lang="ro-RO" sz="2400" b="1"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3639032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750B6-6D0D-1EF9-E635-E9B357DCB41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CE01B47-B663-4A7E-93C7-D9D9BF79BB9B}"/>
              </a:ext>
            </a:extLst>
          </p:cNvPr>
          <p:cNvSpPr>
            <a:spLocks noGrp="1"/>
          </p:cNvSpPr>
          <p:nvPr>
            <p:ph type="title"/>
          </p:nvPr>
        </p:nvSpPr>
        <p:spPr>
          <a:xfrm>
            <a:off x="463925" y="582705"/>
            <a:ext cx="7819465" cy="504265"/>
          </a:xfrm>
        </p:spPr>
        <p:txBody>
          <a:bodyPr>
            <a:noAutofit/>
          </a:bodyPr>
          <a:lstStyle/>
          <a:p>
            <a:r>
              <a:rPr lang="ro-RO" sz="3200" noProof="0" dirty="0"/>
              <a:t>C# - Cursul 9</a:t>
            </a:r>
          </a:p>
        </p:txBody>
      </p:sp>
      <p:sp>
        <p:nvSpPr>
          <p:cNvPr id="5" name="Content Placeholder 4">
            <a:extLst>
              <a:ext uri="{FF2B5EF4-FFF2-40B4-BE49-F238E27FC236}">
                <a16:creationId xmlns:a16="http://schemas.microsoft.com/office/drawing/2014/main" id="{B713096C-7262-3825-082C-72B5D9C9266C}"/>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Arrays</a:t>
            </a:r>
            <a:r>
              <a:rPr lang="ro-RO" sz="2800" noProof="0" dirty="0">
                <a:solidFill>
                  <a:srgbClr val="00B0F0"/>
                </a:solidFill>
              </a:rPr>
              <a:t> (tablouri) în C#</a:t>
            </a:r>
          </a:p>
          <a:p>
            <a:pPr marL="34290" indent="0" algn="just">
              <a:buNone/>
            </a:pPr>
            <a:r>
              <a:rPr lang="ro-RO" sz="2800" noProof="0" dirty="0">
                <a:solidFill>
                  <a:srgbClr val="00B0F0"/>
                </a:solidFill>
              </a:rPr>
              <a:t>Atribuirea de valori unui </a:t>
            </a:r>
            <a:r>
              <a:rPr lang="ro-RO" sz="2800" noProof="0" dirty="0" err="1">
                <a:solidFill>
                  <a:srgbClr val="00B0F0"/>
                </a:solidFill>
              </a:rPr>
              <a:t>array</a:t>
            </a: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De asemenea, puteți atribui valori unui </a:t>
            </a:r>
            <a:r>
              <a:rPr lang="ro-RO" sz="2800" noProof="0" dirty="0" err="1">
                <a:solidFill>
                  <a:srgbClr val="00B0F0"/>
                </a:solidFill>
              </a:rPr>
              <a:t>array</a:t>
            </a:r>
            <a:r>
              <a:rPr lang="ro-RO" sz="2800" noProof="0" dirty="0">
                <a:solidFill>
                  <a:srgbClr val="00B0F0"/>
                </a:solidFill>
              </a:rPr>
              <a:t> în momentul declarării, așa cum se arată mai jos:</a:t>
            </a:r>
          </a:p>
          <a:p>
            <a:pPr marL="34290" indent="0" algn="just">
              <a:buNone/>
            </a:pPr>
            <a:endParaRPr lang="ro-RO" sz="2800" noProof="0" dirty="0">
              <a:solidFill>
                <a:srgbClr val="00B0F0"/>
              </a:solidFill>
            </a:endParaRPr>
          </a:p>
          <a:p>
            <a:pPr marL="34290" indent="0">
              <a:buNone/>
            </a:pPr>
            <a:r>
              <a:rPr lang="ro-RO" sz="2400" b="1" i="0" noProof="0" dirty="0" err="1">
                <a:solidFill>
                  <a:srgbClr val="CC99CD"/>
                </a:solidFill>
                <a:effectLst/>
                <a:latin typeface="Courier New" panose="02070309020205020404" pitchFamily="49" charset="0"/>
              </a:rPr>
              <a:t>double</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balance</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 </a:t>
            </a:r>
            <a:r>
              <a:rPr lang="ro-RO" sz="2400" b="1" i="0" noProof="0" dirty="0">
                <a:solidFill>
                  <a:srgbClr val="F08D49"/>
                </a:solidFill>
                <a:effectLst/>
                <a:latin typeface="Courier New" panose="02070309020205020404" pitchFamily="49" charset="0"/>
              </a:rPr>
              <a:t>2340.0</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4523.69</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3421.0</a:t>
            </a:r>
            <a:r>
              <a:rPr lang="ro-RO" sz="2400" b="1" i="0" noProof="0" dirty="0">
                <a:solidFill>
                  <a:srgbClr val="CCCCCC"/>
                </a:solidFill>
                <a:effectLst/>
                <a:latin typeface="Courier New" panose="02070309020205020404" pitchFamily="49" charset="0"/>
              </a:rPr>
              <a:t> };</a:t>
            </a:r>
            <a:endParaRPr lang="ro-RO" sz="2400" b="1" noProof="0" dirty="0">
              <a:solidFill>
                <a:srgbClr val="00B0F0"/>
              </a:solidFill>
            </a:endParaRPr>
          </a:p>
        </p:txBody>
      </p:sp>
    </p:spTree>
    <p:extLst>
      <p:ext uri="{BB962C8B-B14F-4D97-AF65-F5344CB8AC3E}">
        <p14:creationId xmlns:p14="http://schemas.microsoft.com/office/powerpoint/2010/main" val="3052089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B8803-D856-8ED1-A852-DC569678672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AFB4110-575B-355D-2717-5E6C90635C54}"/>
              </a:ext>
            </a:extLst>
          </p:cNvPr>
          <p:cNvSpPr>
            <a:spLocks noGrp="1"/>
          </p:cNvSpPr>
          <p:nvPr>
            <p:ph type="title"/>
          </p:nvPr>
        </p:nvSpPr>
        <p:spPr>
          <a:xfrm>
            <a:off x="463925" y="582705"/>
            <a:ext cx="7819465" cy="504265"/>
          </a:xfrm>
        </p:spPr>
        <p:txBody>
          <a:bodyPr>
            <a:noAutofit/>
          </a:bodyPr>
          <a:lstStyle/>
          <a:p>
            <a:r>
              <a:rPr lang="ro-RO" sz="3200" noProof="0" dirty="0"/>
              <a:t>C# - Cursul 9</a:t>
            </a:r>
          </a:p>
        </p:txBody>
      </p:sp>
      <p:sp>
        <p:nvSpPr>
          <p:cNvPr id="5" name="Content Placeholder 4">
            <a:extLst>
              <a:ext uri="{FF2B5EF4-FFF2-40B4-BE49-F238E27FC236}">
                <a16:creationId xmlns:a16="http://schemas.microsoft.com/office/drawing/2014/main" id="{78489582-9375-3AE1-431F-33BCA4DD0F49}"/>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Arrays</a:t>
            </a:r>
            <a:r>
              <a:rPr lang="ro-RO" sz="2800" noProof="0" dirty="0">
                <a:solidFill>
                  <a:srgbClr val="00B0F0"/>
                </a:solidFill>
              </a:rPr>
              <a:t> (tablouri) în C#</a:t>
            </a:r>
          </a:p>
          <a:p>
            <a:pPr marL="34290" indent="0" algn="just">
              <a:buNone/>
            </a:pPr>
            <a:r>
              <a:rPr lang="ro-RO" sz="2800" noProof="0" dirty="0">
                <a:solidFill>
                  <a:srgbClr val="00B0F0"/>
                </a:solidFill>
              </a:rPr>
              <a:t>Atribuirea de valori unui </a:t>
            </a:r>
            <a:r>
              <a:rPr lang="ro-RO" sz="2800" noProof="0" dirty="0" err="1">
                <a:solidFill>
                  <a:srgbClr val="00B0F0"/>
                </a:solidFill>
              </a:rPr>
              <a:t>array</a:t>
            </a: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Puteți crea și inițializa un </a:t>
            </a:r>
            <a:r>
              <a:rPr lang="ro-RO" sz="2800" noProof="0" dirty="0" err="1">
                <a:solidFill>
                  <a:srgbClr val="00B0F0"/>
                </a:solidFill>
              </a:rPr>
              <a:t>array</a:t>
            </a:r>
            <a:r>
              <a:rPr lang="ro-RO" sz="2800" noProof="0" dirty="0">
                <a:solidFill>
                  <a:srgbClr val="00B0F0"/>
                </a:solidFill>
              </a:rPr>
              <a:t> folosind cuvântul cheie </a:t>
            </a:r>
            <a:r>
              <a:rPr lang="ro-RO" sz="2800" noProof="0" dirty="0" err="1">
                <a:solidFill>
                  <a:srgbClr val="00B0F0"/>
                </a:solidFill>
              </a:rPr>
              <a:t>new</a:t>
            </a:r>
            <a:r>
              <a:rPr lang="ro-RO" sz="2800" noProof="0" dirty="0">
                <a:solidFill>
                  <a:srgbClr val="00B0F0"/>
                </a:solidFill>
              </a:rPr>
              <a:t>, așa cum se arată mai jos:</a:t>
            </a:r>
          </a:p>
          <a:p>
            <a:pPr marL="34290" indent="0" algn="just">
              <a:buNone/>
            </a:pPr>
            <a:endParaRPr lang="ro-RO" sz="2800" noProof="0" dirty="0">
              <a:solidFill>
                <a:srgbClr val="00B0F0"/>
              </a:solidFill>
            </a:endParaRPr>
          </a:p>
          <a:p>
            <a:pPr marL="34290" indent="0">
              <a:buNone/>
            </a:pP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marks</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new</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a:t>
            </a:r>
            <a:r>
              <a:rPr lang="ro-RO" sz="2400" b="1" i="0" noProof="0" dirty="0">
                <a:solidFill>
                  <a:srgbClr val="F08D49"/>
                </a:solidFill>
                <a:effectLst/>
                <a:latin typeface="Courier New" panose="02070309020205020404" pitchFamily="49" charset="0"/>
              </a:rPr>
              <a:t>5</a:t>
            </a:r>
            <a:r>
              <a:rPr lang="ro-RO" sz="2400" b="1" i="0" noProof="0" dirty="0">
                <a:solidFill>
                  <a:srgbClr val="CCCCCC"/>
                </a:solidFill>
                <a:effectLst/>
                <a:latin typeface="Courier New" panose="02070309020205020404" pitchFamily="49" charset="0"/>
              </a:rPr>
              <a:t>] { </a:t>
            </a:r>
            <a:r>
              <a:rPr lang="ro-RO" sz="2400" b="1" i="0" noProof="0" dirty="0">
                <a:solidFill>
                  <a:srgbClr val="F08D49"/>
                </a:solidFill>
                <a:effectLst/>
                <a:latin typeface="Courier New" panose="02070309020205020404" pitchFamily="49" charset="0"/>
              </a:rPr>
              <a:t>99</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98</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92</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97</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95</a:t>
            </a:r>
            <a:r>
              <a:rPr lang="ro-RO" sz="2400" b="1" i="0" noProof="0" dirty="0">
                <a:solidFill>
                  <a:srgbClr val="CCCCCC"/>
                </a:solidFill>
                <a:effectLst/>
                <a:latin typeface="Courier New" panose="02070309020205020404" pitchFamily="49" charset="0"/>
              </a:rPr>
              <a:t> };</a:t>
            </a:r>
            <a:endParaRPr lang="ro-RO" sz="2400" b="1" noProof="0" dirty="0">
              <a:solidFill>
                <a:srgbClr val="00B0F0"/>
              </a:solidFill>
            </a:endParaRPr>
          </a:p>
        </p:txBody>
      </p:sp>
    </p:spTree>
    <p:extLst>
      <p:ext uri="{BB962C8B-B14F-4D97-AF65-F5344CB8AC3E}">
        <p14:creationId xmlns:p14="http://schemas.microsoft.com/office/powerpoint/2010/main" val="1276911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A60DF-E72B-0F99-EFA1-F3C2B2CF275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2A8C26F-2A01-9D3D-2056-5111503D5E38}"/>
              </a:ext>
            </a:extLst>
          </p:cNvPr>
          <p:cNvSpPr>
            <a:spLocks noGrp="1"/>
          </p:cNvSpPr>
          <p:nvPr>
            <p:ph type="title"/>
          </p:nvPr>
        </p:nvSpPr>
        <p:spPr>
          <a:xfrm>
            <a:off x="463925" y="582705"/>
            <a:ext cx="7819465" cy="504265"/>
          </a:xfrm>
        </p:spPr>
        <p:txBody>
          <a:bodyPr>
            <a:noAutofit/>
          </a:bodyPr>
          <a:lstStyle/>
          <a:p>
            <a:r>
              <a:rPr lang="ro-RO" sz="3200" noProof="0" dirty="0"/>
              <a:t>C# - Cursul 9</a:t>
            </a:r>
          </a:p>
        </p:txBody>
      </p:sp>
      <p:sp>
        <p:nvSpPr>
          <p:cNvPr id="5" name="Content Placeholder 4">
            <a:extLst>
              <a:ext uri="{FF2B5EF4-FFF2-40B4-BE49-F238E27FC236}">
                <a16:creationId xmlns:a16="http://schemas.microsoft.com/office/drawing/2014/main" id="{F37FFC29-974E-8D21-66C7-FA2C641B1BCE}"/>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Arrays</a:t>
            </a:r>
            <a:r>
              <a:rPr lang="ro-RO" sz="2800" noProof="0" dirty="0">
                <a:solidFill>
                  <a:srgbClr val="00B0F0"/>
                </a:solidFill>
              </a:rPr>
              <a:t> (tablouri) în C#</a:t>
            </a:r>
          </a:p>
          <a:p>
            <a:pPr marL="34290" indent="0" algn="just">
              <a:buNone/>
            </a:pPr>
            <a:r>
              <a:rPr lang="ro-RO" sz="2800" noProof="0" dirty="0">
                <a:solidFill>
                  <a:srgbClr val="00B0F0"/>
                </a:solidFill>
              </a:rPr>
              <a:t>Atribuirea de valori unui </a:t>
            </a:r>
            <a:r>
              <a:rPr lang="ro-RO" sz="2800" noProof="0" dirty="0" err="1">
                <a:solidFill>
                  <a:srgbClr val="00B0F0"/>
                </a:solidFill>
              </a:rPr>
              <a:t>array</a:t>
            </a: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De asemenea, puteți omite dimensiunea </a:t>
            </a:r>
            <a:r>
              <a:rPr lang="ro-RO" sz="2800" noProof="0" dirty="0" err="1">
                <a:solidFill>
                  <a:srgbClr val="00B0F0"/>
                </a:solidFill>
              </a:rPr>
              <a:t>array</a:t>
            </a:r>
            <a:r>
              <a:rPr lang="ro-RO" sz="2800" noProof="0" dirty="0">
                <a:solidFill>
                  <a:srgbClr val="00B0F0"/>
                </a:solidFill>
              </a:rPr>
              <a:t>-ului atunci când utilizați o listă de inițializatori, așa cum se arată mai jos:</a:t>
            </a:r>
          </a:p>
          <a:p>
            <a:pPr marL="34290" indent="0" algn="just">
              <a:buNone/>
            </a:pPr>
            <a:endParaRPr lang="ro-RO" sz="2800" noProof="0" dirty="0">
              <a:solidFill>
                <a:srgbClr val="00B0F0"/>
              </a:solidFill>
            </a:endParaRPr>
          </a:p>
          <a:p>
            <a:pPr marL="34290" indent="0">
              <a:buNone/>
            </a:pP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marks</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new</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 </a:t>
            </a:r>
            <a:r>
              <a:rPr lang="ro-RO" sz="2400" b="1" i="0" noProof="0" dirty="0">
                <a:solidFill>
                  <a:srgbClr val="F08D49"/>
                </a:solidFill>
                <a:effectLst/>
                <a:latin typeface="Courier New" panose="02070309020205020404" pitchFamily="49" charset="0"/>
              </a:rPr>
              <a:t>99</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98</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92</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97</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95</a:t>
            </a:r>
            <a:r>
              <a:rPr lang="ro-RO" sz="2400" b="1" i="0" noProof="0" dirty="0">
                <a:solidFill>
                  <a:srgbClr val="CCCCCC"/>
                </a:solidFill>
                <a:effectLst/>
                <a:latin typeface="Courier New" panose="02070309020205020404" pitchFamily="49" charset="0"/>
              </a:rPr>
              <a:t> };</a:t>
            </a:r>
            <a:endParaRPr lang="ro-RO" sz="2400" b="1"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2219818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B9AD1-2DE5-4ACE-7B08-7ACB3E8EFD5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01129AE-0C96-9572-8B06-0FF609C0B651}"/>
              </a:ext>
            </a:extLst>
          </p:cNvPr>
          <p:cNvSpPr>
            <a:spLocks noGrp="1"/>
          </p:cNvSpPr>
          <p:nvPr>
            <p:ph type="title"/>
          </p:nvPr>
        </p:nvSpPr>
        <p:spPr>
          <a:xfrm>
            <a:off x="463925" y="582705"/>
            <a:ext cx="7819465" cy="504265"/>
          </a:xfrm>
        </p:spPr>
        <p:txBody>
          <a:bodyPr>
            <a:noAutofit/>
          </a:bodyPr>
          <a:lstStyle/>
          <a:p>
            <a:r>
              <a:rPr lang="ro-RO" sz="3200" noProof="0" dirty="0"/>
              <a:t>C# - Cursul 9</a:t>
            </a:r>
          </a:p>
        </p:txBody>
      </p:sp>
      <p:sp>
        <p:nvSpPr>
          <p:cNvPr id="5" name="Content Placeholder 4">
            <a:extLst>
              <a:ext uri="{FF2B5EF4-FFF2-40B4-BE49-F238E27FC236}">
                <a16:creationId xmlns:a16="http://schemas.microsoft.com/office/drawing/2014/main" id="{C2392FFD-20C5-8BFE-227B-848F08961D3D}"/>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Arrays</a:t>
            </a:r>
            <a:r>
              <a:rPr lang="ro-RO" sz="2800" noProof="0" dirty="0">
                <a:solidFill>
                  <a:srgbClr val="00B0F0"/>
                </a:solidFill>
              </a:rPr>
              <a:t> (tablouri) în C#</a:t>
            </a:r>
          </a:p>
          <a:p>
            <a:pPr marL="34290" indent="0" algn="just">
              <a:buNone/>
            </a:pPr>
            <a:r>
              <a:rPr lang="ro-RO" sz="2800" noProof="0" dirty="0">
                <a:solidFill>
                  <a:srgbClr val="00B0F0"/>
                </a:solidFill>
              </a:rPr>
              <a:t>Atribuirea de valori unui </a:t>
            </a:r>
            <a:r>
              <a:rPr lang="ro-RO" sz="2800" noProof="0" dirty="0" err="1">
                <a:solidFill>
                  <a:srgbClr val="00B0F0"/>
                </a:solidFill>
              </a:rPr>
              <a:t>array</a:t>
            </a:r>
            <a:endParaRPr lang="ro-RO" sz="2800" noProof="0" dirty="0">
              <a:solidFill>
                <a:srgbClr val="00B0F0"/>
              </a:solidFill>
            </a:endParaRPr>
          </a:p>
          <a:p>
            <a:pPr marL="34290" indent="0" algn="just">
              <a:buNone/>
            </a:pPr>
            <a:r>
              <a:rPr lang="ro-RO" sz="2800" noProof="0" dirty="0">
                <a:solidFill>
                  <a:srgbClr val="00B0F0"/>
                </a:solidFill>
              </a:rPr>
              <a:t>Puteți copia o variabilă matrice într-o altă variabilă matrice țintă. În acest caz, atât ținta, cât și sursa vor indica aceeași locație de memorie</a:t>
            </a:r>
            <a:r>
              <a:rPr lang="en-US" sz="2800" noProof="0" dirty="0">
                <a:solidFill>
                  <a:srgbClr val="00B0F0"/>
                </a:solidFill>
              </a:rPr>
              <a:t>.</a:t>
            </a:r>
            <a:endParaRPr lang="ro-RO" sz="2800" noProof="0" dirty="0">
              <a:solidFill>
                <a:srgbClr val="00B0F0"/>
              </a:solidFill>
            </a:endParaRPr>
          </a:p>
          <a:p>
            <a:pPr marL="34290" indent="0" algn="just">
              <a:buNone/>
            </a:pPr>
            <a:endParaRPr lang="ro-RO" sz="2800" noProof="0" dirty="0">
              <a:solidFill>
                <a:srgbClr val="00B0F0"/>
              </a:solidFill>
            </a:endParaRPr>
          </a:p>
          <a:p>
            <a:pPr marL="34290" indent="0">
              <a:buNone/>
            </a:pP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marks</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new</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 </a:t>
            </a:r>
            <a:r>
              <a:rPr lang="ro-RO" sz="2400" b="1" i="0" noProof="0" dirty="0">
                <a:solidFill>
                  <a:srgbClr val="F08D49"/>
                </a:solidFill>
                <a:effectLst/>
                <a:latin typeface="Courier New" panose="02070309020205020404" pitchFamily="49" charset="0"/>
              </a:rPr>
              <a:t>99</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98</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92</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97</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95</a:t>
            </a:r>
            <a:r>
              <a:rPr lang="ro-RO" sz="2400" b="1" i="0" noProof="0" dirty="0">
                <a:solidFill>
                  <a:srgbClr val="CCCCCC"/>
                </a:solidFill>
                <a:effectLst/>
                <a:latin typeface="Courier New" panose="02070309020205020404" pitchFamily="49" charset="0"/>
              </a:rPr>
              <a:t> }; </a:t>
            </a:r>
          </a:p>
          <a:p>
            <a:pPr marL="34290" indent="0">
              <a:buNone/>
            </a:pP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score</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marks</a:t>
            </a:r>
            <a:r>
              <a:rPr lang="ro-RO" sz="2400" b="1" i="0" noProof="0" dirty="0">
                <a:solidFill>
                  <a:srgbClr val="CCCCCC"/>
                </a:solidFill>
                <a:effectLst/>
                <a:latin typeface="Courier New" panose="02070309020205020404" pitchFamily="49" charset="0"/>
              </a:rPr>
              <a:t>;</a:t>
            </a:r>
          </a:p>
          <a:p>
            <a:pPr marL="34290" indent="0">
              <a:buNone/>
            </a:pPr>
            <a:endParaRPr lang="ro-RO" sz="2400" b="1" noProof="0" dirty="0">
              <a:solidFill>
                <a:srgbClr val="00B0F0"/>
              </a:solidFill>
            </a:endParaRPr>
          </a:p>
        </p:txBody>
      </p:sp>
    </p:spTree>
    <p:extLst>
      <p:ext uri="{BB962C8B-B14F-4D97-AF65-F5344CB8AC3E}">
        <p14:creationId xmlns:p14="http://schemas.microsoft.com/office/powerpoint/2010/main" val="23880098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C2C5F-1787-00DE-0AC5-9AE71B6ADD3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1B29FAD-F1AF-CD00-4E61-7D3874191E15}"/>
              </a:ext>
            </a:extLst>
          </p:cNvPr>
          <p:cNvSpPr>
            <a:spLocks noGrp="1"/>
          </p:cNvSpPr>
          <p:nvPr>
            <p:ph type="title"/>
          </p:nvPr>
        </p:nvSpPr>
        <p:spPr>
          <a:xfrm>
            <a:off x="463925" y="582705"/>
            <a:ext cx="7819465" cy="504265"/>
          </a:xfrm>
        </p:spPr>
        <p:txBody>
          <a:bodyPr>
            <a:noAutofit/>
          </a:bodyPr>
          <a:lstStyle/>
          <a:p>
            <a:r>
              <a:rPr lang="ro-RO" sz="3200" noProof="0" dirty="0"/>
              <a:t>C# - Cursul 9</a:t>
            </a:r>
          </a:p>
        </p:txBody>
      </p:sp>
      <p:sp>
        <p:nvSpPr>
          <p:cNvPr id="5" name="Content Placeholder 4">
            <a:extLst>
              <a:ext uri="{FF2B5EF4-FFF2-40B4-BE49-F238E27FC236}">
                <a16:creationId xmlns:a16="http://schemas.microsoft.com/office/drawing/2014/main" id="{8EF94229-8F7C-BF34-D7A1-6F2E593DC72F}"/>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Arrays</a:t>
            </a:r>
            <a:r>
              <a:rPr lang="ro-RO" sz="2800" noProof="0" dirty="0">
                <a:solidFill>
                  <a:srgbClr val="00B0F0"/>
                </a:solidFill>
              </a:rPr>
              <a:t> (tablouri) în C#</a:t>
            </a:r>
          </a:p>
          <a:p>
            <a:pPr marL="34290" indent="0" algn="just">
              <a:buNone/>
            </a:pPr>
            <a:r>
              <a:rPr lang="ro-RO" sz="2800" noProof="0" dirty="0">
                <a:solidFill>
                  <a:srgbClr val="00B0F0"/>
                </a:solidFill>
              </a:rPr>
              <a:t>Atribuirea de valori unui </a:t>
            </a:r>
            <a:r>
              <a:rPr lang="ro-RO" sz="2800" noProof="0" dirty="0" err="1">
                <a:solidFill>
                  <a:srgbClr val="00B0F0"/>
                </a:solidFill>
              </a:rPr>
              <a:t>array</a:t>
            </a: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r>
              <a:rPr lang="ro-RO" sz="2800" b="1" noProof="0" dirty="0">
                <a:solidFill>
                  <a:srgbClr val="FF0000"/>
                </a:solidFill>
              </a:rPr>
              <a:t>OBS: </a:t>
            </a:r>
            <a:r>
              <a:rPr lang="ro-RO" sz="2800" noProof="0" dirty="0">
                <a:solidFill>
                  <a:srgbClr val="00B0F0"/>
                </a:solidFill>
              </a:rPr>
              <a:t>Când creați un tablou, compilatorul C# inițializează implicit fiecare element al tabloului la o valoare implicită, în funcție de tipul tabloului. De exemplu, pentru un tablou de tip </a:t>
            </a:r>
            <a:r>
              <a:rPr lang="ro-RO" sz="2800" noProof="0" dirty="0" err="1">
                <a:solidFill>
                  <a:srgbClr val="00B0F0"/>
                </a:solidFill>
              </a:rPr>
              <a:t>int</a:t>
            </a:r>
            <a:r>
              <a:rPr lang="ro-RO" sz="2800" noProof="0" dirty="0">
                <a:solidFill>
                  <a:srgbClr val="00B0F0"/>
                </a:solidFill>
              </a:rPr>
              <a:t>, toate elementele sunt inițializate la 0.</a:t>
            </a: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1256399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1751B-634D-F568-D31A-ECF600395E2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248E8DB-799E-D25E-8F4B-D57E7AC194C6}"/>
              </a:ext>
            </a:extLst>
          </p:cNvPr>
          <p:cNvSpPr>
            <a:spLocks noGrp="1"/>
          </p:cNvSpPr>
          <p:nvPr>
            <p:ph type="title"/>
          </p:nvPr>
        </p:nvSpPr>
        <p:spPr>
          <a:xfrm>
            <a:off x="463925" y="582705"/>
            <a:ext cx="7819465" cy="504265"/>
          </a:xfrm>
        </p:spPr>
        <p:txBody>
          <a:bodyPr>
            <a:noAutofit/>
          </a:bodyPr>
          <a:lstStyle/>
          <a:p>
            <a:r>
              <a:rPr lang="ro-RO" sz="3200" noProof="0" dirty="0"/>
              <a:t>C# - Cursul 9</a:t>
            </a:r>
          </a:p>
        </p:txBody>
      </p:sp>
      <p:sp>
        <p:nvSpPr>
          <p:cNvPr id="5" name="Content Placeholder 4">
            <a:extLst>
              <a:ext uri="{FF2B5EF4-FFF2-40B4-BE49-F238E27FC236}">
                <a16:creationId xmlns:a16="http://schemas.microsoft.com/office/drawing/2014/main" id="{D066542E-1D79-3028-0FAF-DA2B1C1DF10D}"/>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Arrays</a:t>
            </a:r>
            <a:r>
              <a:rPr lang="ro-RO" sz="2800" noProof="0" dirty="0">
                <a:solidFill>
                  <a:srgbClr val="00B0F0"/>
                </a:solidFill>
              </a:rPr>
              <a:t> (tablouri) în C# - accesarea elementelor</a:t>
            </a: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Puteți accesa elementele unui tablou folosind un index între paranteze drepte după numele tabloului. Indexurile tabloului încep de la 0, ceea ce înseamnă că primul element se află la indexul 0, al doilea la 1 și așa mai departe.</a:t>
            </a:r>
          </a:p>
          <a:p>
            <a:pPr marL="34290" indent="0" algn="just">
              <a:buNone/>
            </a:pPr>
            <a:r>
              <a:rPr lang="ro-RO" sz="2800" noProof="0" dirty="0">
                <a:solidFill>
                  <a:srgbClr val="00B0F0"/>
                </a:solidFill>
              </a:rPr>
              <a:t>Exemplu:</a:t>
            </a:r>
          </a:p>
          <a:p>
            <a:pPr marL="34290" indent="0">
              <a:buNone/>
            </a:pPr>
            <a:r>
              <a:rPr lang="ro-RO" sz="2400" b="1" i="0" noProof="0" dirty="0" err="1">
                <a:solidFill>
                  <a:srgbClr val="CC99CD"/>
                </a:solidFill>
                <a:effectLst/>
                <a:latin typeface="Courier New" panose="02070309020205020404" pitchFamily="49" charset="0"/>
              </a:rPr>
              <a:t>double</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salary</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balance</a:t>
            </a:r>
            <a:r>
              <a:rPr lang="ro-RO" sz="2400" b="1" i="0" noProof="0" dirty="0">
                <a:solidFill>
                  <a:srgbClr val="CCCCCC"/>
                </a:solidFill>
                <a:effectLst/>
                <a:latin typeface="Courier New" panose="02070309020205020404" pitchFamily="49" charset="0"/>
              </a:rPr>
              <a:t>[</a:t>
            </a:r>
            <a:r>
              <a:rPr lang="ro-RO" sz="2400" b="1" i="0" noProof="0" dirty="0">
                <a:solidFill>
                  <a:srgbClr val="F08D49"/>
                </a:solidFill>
                <a:effectLst/>
                <a:latin typeface="Courier New" panose="02070309020205020404" pitchFamily="49" charset="0"/>
              </a:rPr>
              <a:t>9</a:t>
            </a:r>
            <a:r>
              <a:rPr lang="ro-RO" sz="2400" b="1" i="0" noProof="0" dirty="0">
                <a:solidFill>
                  <a:srgbClr val="CCCCCC"/>
                </a:solidFill>
                <a:effectLst/>
                <a:latin typeface="Courier New" panose="02070309020205020404" pitchFamily="49" charset="0"/>
              </a:rPr>
              <a:t>];</a:t>
            </a:r>
            <a:endParaRPr lang="ro-RO" sz="2400" b="1"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2844821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7B134-816C-19BD-EB5E-D34C1198DFB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9BA4A29-7605-7E1E-3F2A-B1199A191FC2}"/>
              </a:ext>
            </a:extLst>
          </p:cNvPr>
          <p:cNvSpPr>
            <a:spLocks noGrp="1"/>
          </p:cNvSpPr>
          <p:nvPr>
            <p:ph type="title"/>
          </p:nvPr>
        </p:nvSpPr>
        <p:spPr>
          <a:xfrm>
            <a:off x="463925" y="582705"/>
            <a:ext cx="7819465" cy="504265"/>
          </a:xfrm>
        </p:spPr>
        <p:txBody>
          <a:bodyPr>
            <a:noAutofit/>
          </a:bodyPr>
          <a:lstStyle/>
          <a:p>
            <a:r>
              <a:rPr lang="ro-RO" sz="3200" noProof="0" dirty="0"/>
              <a:t>C# - Cursul 9</a:t>
            </a:r>
          </a:p>
        </p:txBody>
      </p:sp>
      <p:sp>
        <p:nvSpPr>
          <p:cNvPr id="5" name="Content Placeholder 4">
            <a:extLst>
              <a:ext uri="{FF2B5EF4-FFF2-40B4-BE49-F238E27FC236}">
                <a16:creationId xmlns:a16="http://schemas.microsoft.com/office/drawing/2014/main" id="{D35FC9C8-D54D-9485-7DDE-ABF8E8A0B1B9}"/>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Arrays</a:t>
            </a:r>
            <a:r>
              <a:rPr lang="ro-RO" sz="2800" noProof="0" dirty="0">
                <a:solidFill>
                  <a:srgbClr val="00B0F0"/>
                </a:solidFill>
              </a:rPr>
              <a:t> (tablouri) în C# - accesarea elementelor</a:t>
            </a:r>
          </a:p>
          <a:p>
            <a:pPr marL="34290" indent="0" algn="just">
              <a:buNone/>
            </a:pPr>
            <a:r>
              <a:rPr lang="ro-RO" sz="2000" b="1" i="0" noProof="0" dirty="0" err="1">
                <a:solidFill>
                  <a:srgbClr val="CC99CD"/>
                </a:solidFill>
                <a:effectLst/>
                <a:latin typeface="Courier New" panose="02070309020205020404" pitchFamily="49" charset="0"/>
              </a:rPr>
              <a:t>using</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System</a:t>
            </a:r>
            <a:r>
              <a:rPr lang="ro-RO" sz="2000" b="1" i="0" noProof="0" dirty="0">
                <a:solidFill>
                  <a:srgbClr val="CCCCCC"/>
                </a:solidFill>
                <a:effectLst/>
                <a:latin typeface="Courier New" panose="02070309020205020404" pitchFamily="49" charset="0"/>
              </a:rPr>
              <a:t>;</a:t>
            </a:r>
            <a:endParaRPr lang="ro-RO" sz="2000" b="1" i="0" noProof="0" dirty="0">
              <a:solidFill>
                <a:srgbClr val="CC99CD"/>
              </a:solidFill>
              <a:effectLst/>
              <a:latin typeface="Courier New" panose="02070309020205020404" pitchFamily="49" charset="0"/>
            </a:endParaRPr>
          </a:p>
          <a:p>
            <a:pPr marL="34290" indent="0" algn="just">
              <a:buNone/>
            </a:pPr>
            <a:r>
              <a:rPr lang="ro-RO" sz="2000" b="1" i="0" noProof="0" dirty="0" err="1">
                <a:solidFill>
                  <a:srgbClr val="CC99CD"/>
                </a:solidFill>
                <a:effectLst/>
                <a:latin typeface="Courier New" panose="02070309020205020404" pitchFamily="49" charset="0"/>
              </a:rPr>
              <a:t>namespace</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ArrayApplication</a:t>
            </a:r>
            <a:r>
              <a:rPr lang="ro-RO" sz="2000" b="1" i="0" noProof="0" dirty="0">
                <a:solidFill>
                  <a:srgbClr val="CCCCCC"/>
                </a:solidFill>
                <a:effectLst/>
                <a:latin typeface="Courier New" panose="02070309020205020404" pitchFamily="49" charset="0"/>
              </a:rPr>
              <a:t> { </a:t>
            </a:r>
          </a:p>
          <a:p>
            <a:pPr marL="34290" indent="0" algn="just">
              <a:buNone/>
            </a:pPr>
            <a:r>
              <a:rPr lang="ro-RO" sz="2000" b="1" i="0" noProof="0" dirty="0" err="1">
                <a:solidFill>
                  <a:srgbClr val="CC99CD"/>
                </a:solidFill>
                <a:effectLst/>
                <a:latin typeface="Courier New" panose="02070309020205020404" pitchFamily="49" charset="0"/>
              </a:rPr>
              <a:t>class</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MyArray</a:t>
            </a:r>
            <a:r>
              <a:rPr lang="ro-RO" sz="2000" b="1" i="0" noProof="0" dirty="0">
                <a:solidFill>
                  <a:srgbClr val="CCCCCC"/>
                </a:solidFill>
                <a:effectLst/>
                <a:latin typeface="Courier New" panose="02070309020205020404" pitchFamily="49" charset="0"/>
              </a:rPr>
              <a:t>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99CD"/>
                </a:solidFill>
                <a:effectLst/>
                <a:latin typeface="Courier New" panose="02070309020205020404" pitchFamily="49" charset="0"/>
              </a:rPr>
              <a:t>static</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void</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Main</a:t>
            </a:r>
            <a:r>
              <a:rPr lang="ro-RO" sz="2000" b="1" i="0" noProof="0" dirty="0">
                <a:solidFill>
                  <a:srgbClr val="CCCCCC"/>
                </a:solidFill>
                <a:effectLst/>
                <a:latin typeface="Courier New" panose="02070309020205020404" pitchFamily="49" charset="0"/>
              </a:rPr>
              <a:t>(</a:t>
            </a:r>
            <a:r>
              <a:rPr lang="ro-RO" sz="2000" b="1" i="0" noProof="0" dirty="0" err="1">
                <a:solidFill>
                  <a:srgbClr val="CC99CD"/>
                </a:solidFill>
                <a:effectLst/>
                <a:latin typeface="Courier New" panose="02070309020205020404" pitchFamily="49" charset="0"/>
              </a:rPr>
              <a:t>string</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args</a:t>
            </a:r>
            <a:r>
              <a:rPr lang="ro-RO" sz="2000" b="1" i="0" noProof="0" dirty="0">
                <a:solidFill>
                  <a:srgbClr val="CCCCCC"/>
                </a:solidFill>
                <a:effectLst/>
                <a:latin typeface="Courier New" panose="02070309020205020404" pitchFamily="49" charset="0"/>
              </a:rPr>
              <a:t>)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99CD"/>
                </a:solidFill>
                <a:effectLst/>
                <a:latin typeface="Courier New" panose="02070309020205020404" pitchFamily="49" charset="0"/>
              </a:rPr>
              <a:t>int</a:t>
            </a:r>
            <a:r>
              <a:rPr lang="ro-RO" sz="2000" b="1" i="0" noProof="0" dirty="0">
                <a:solidFill>
                  <a:srgbClr val="CCCCCC"/>
                </a:solidFill>
                <a:effectLst/>
                <a:latin typeface="Courier New" panose="02070309020205020404" pitchFamily="49" charset="0"/>
              </a:rPr>
              <a:t>[] n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new</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int</a:t>
            </a:r>
            <a:r>
              <a:rPr lang="ro-RO" sz="2000" b="1" i="0" noProof="0" dirty="0">
                <a:solidFill>
                  <a:srgbClr val="CCCCCC"/>
                </a:solidFill>
                <a:effectLst/>
                <a:latin typeface="Courier New" panose="02070309020205020404" pitchFamily="49" charset="0"/>
              </a:rPr>
              <a:t>[</a:t>
            </a:r>
            <a:r>
              <a:rPr lang="ro-RO" sz="2000" b="1" i="0" noProof="0" dirty="0">
                <a:solidFill>
                  <a:srgbClr val="F08D49"/>
                </a:solidFill>
                <a:effectLst/>
                <a:latin typeface="Courier New" panose="02070309020205020404" pitchFamily="49" charset="0"/>
              </a:rPr>
              <a:t>10</a:t>
            </a:r>
            <a:r>
              <a:rPr lang="ro-RO" sz="2000" b="1" i="0" noProof="0" dirty="0">
                <a:solidFill>
                  <a:srgbClr val="CCCCCC"/>
                </a:solidFill>
                <a:effectLst/>
                <a:latin typeface="Courier New" panose="02070309020205020404" pitchFamily="49" charset="0"/>
              </a:rPr>
              <a:t>]; </a:t>
            </a:r>
            <a:r>
              <a:rPr lang="ro-RO" sz="2000" b="1" i="0" noProof="0" dirty="0">
                <a:solidFill>
                  <a:srgbClr val="999999"/>
                </a:solidFill>
                <a:effectLst/>
                <a:latin typeface="Courier New" panose="02070309020205020404" pitchFamily="49" charset="0"/>
              </a:rPr>
              <a:t>// tablou de 10 </a:t>
            </a:r>
            <a:r>
              <a:rPr lang="ro-RO" sz="2000" b="1" i="0" noProof="0" dirty="0" err="1">
                <a:solidFill>
                  <a:srgbClr val="999999"/>
                </a:solidFill>
                <a:effectLst/>
                <a:latin typeface="Courier New" panose="02070309020205020404" pitchFamily="49" charset="0"/>
              </a:rPr>
              <a:t>intregi</a:t>
            </a:r>
            <a:r>
              <a:rPr lang="ro-RO" sz="2000" b="1" i="0" noProof="0" dirty="0">
                <a:solidFill>
                  <a:srgbClr val="999999"/>
                </a:solidFill>
                <a:effectLst/>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99CD"/>
                </a:solidFill>
                <a:effectLst/>
                <a:latin typeface="Courier New" panose="02070309020205020404" pitchFamily="49" charset="0"/>
              </a:rPr>
              <a:t>for</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int</a:t>
            </a:r>
            <a:r>
              <a:rPr lang="ro-RO" sz="2000" b="1" i="0" noProof="0" dirty="0">
                <a:solidFill>
                  <a:srgbClr val="CCCCCC"/>
                </a:solidFill>
                <a:effectLst/>
                <a:latin typeface="Courier New" panose="02070309020205020404" pitchFamily="49" charset="0"/>
              </a:rPr>
              <a:t> i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0</a:t>
            </a:r>
            <a:r>
              <a:rPr lang="ro-RO" sz="2000" b="1" i="0" noProof="0" dirty="0">
                <a:solidFill>
                  <a:srgbClr val="CCCCCC"/>
                </a:solidFill>
                <a:effectLst/>
                <a:latin typeface="Courier New" panose="02070309020205020404" pitchFamily="49" charset="0"/>
              </a:rPr>
              <a:t>; i </a:t>
            </a:r>
            <a:r>
              <a:rPr lang="ro-RO" sz="2000" b="1" i="0" noProof="0" dirty="0">
                <a:solidFill>
                  <a:srgbClr val="67CDCC"/>
                </a:solidFill>
                <a:effectLst/>
                <a:latin typeface="Courier New" panose="02070309020205020404" pitchFamily="49" charset="0"/>
              </a:rPr>
              <a:t>&lt;</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10</a:t>
            </a:r>
            <a:r>
              <a:rPr lang="ro-RO" sz="2000" b="1" i="0" noProof="0" dirty="0">
                <a:solidFill>
                  <a:srgbClr val="CCCCCC"/>
                </a:solidFill>
                <a:effectLst/>
                <a:latin typeface="Courier New" panose="02070309020205020404" pitchFamily="49" charset="0"/>
              </a:rPr>
              <a:t>; i</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n[i]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i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100</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99CD"/>
                </a:solidFill>
                <a:effectLst/>
                <a:latin typeface="Courier New" panose="02070309020205020404" pitchFamily="49" charset="0"/>
              </a:rPr>
              <a:t>for</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int</a:t>
            </a:r>
            <a:r>
              <a:rPr lang="ro-RO" sz="2000" b="1" i="0" noProof="0" dirty="0">
                <a:solidFill>
                  <a:srgbClr val="CCCCCC"/>
                </a:solidFill>
                <a:effectLst/>
                <a:latin typeface="Courier New" panose="02070309020205020404" pitchFamily="49" charset="0"/>
              </a:rPr>
              <a:t> j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0</a:t>
            </a:r>
            <a:r>
              <a:rPr lang="ro-RO" sz="2000" b="1" i="0" noProof="0" dirty="0">
                <a:solidFill>
                  <a:srgbClr val="CCCCCC"/>
                </a:solidFill>
                <a:effectLst/>
                <a:latin typeface="Courier New" panose="02070309020205020404" pitchFamily="49" charset="0"/>
              </a:rPr>
              <a:t>; j </a:t>
            </a:r>
            <a:r>
              <a:rPr lang="ro-RO" sz="2000" b="1" i="0" noProof="0" dirty="0">
                <a:solidFill>
                  <a:srgbClr val="67CDCC"/>
                </a:solidFill>
                <a:effectLst/>
                <a:latin typeface="Courier New" panose="02070309020205020404" pitchFamily="49" charset="0"/>
              </a:rPr>
              <a:t>&lt;</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10</a:t>
            </a:r>
            <a:r>
              <a:rPr lang="ro-RO" sz="2000" b="1" i="0" noProof="0" dirty="0">
                <a:solidFill>
                  <a:srgbClr val="CCCCCC"/>
                </a:solidFill>
                <a:effectLst/>
                <a:latin typeface="Courier New" panose="02070309020205020404" pitchFamily="49" charset="0"/>
              </a:rPr>
              <a:t>; j</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    </a:t>
            </a:r>
          </a:p>
          <a:p>
            <a:pPr marL="34290" indent="0">
              <a:buNone/>
            </a:pPr>
            <a:r>
              <a:rPr lang="ro-RO" sz="2000" b="1" noProof="0" dirty="0">
                <a:solidFill>
                  <a:srgbClr val="CCCCCC"/>
                </a:solidFill>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Console.</a:t>
            </a:r>
            <a:r>
              <a:rPr lang="ro-RO" sz="2000" b="1" i="0" noProof="0" dirty="0" err="1">
                <a:solidFill>
                  <a:srgbClr val="F08D49"/>
                </a:solidFill>
                <a:effectLst/>
                <a:latin typeface="Courier New" panose="02070309020205020404" pitchFamily="49" charset="0"/>
              </a:rPr>
              <a:t>WriteLine</a:t>
            </a:r>
            <a:r>
              <a:rPr lang="ro-RO" sz="2000" b="1" i="0" noProof="0" dirty="0">
                <a:solidFill>
                  <a:srgbClr val="CCCCCC"/>
                </a:solidFill>
                <a:effectLst/>
                <a:latin typeface="Courier New" panose="02070309020205020404" pitchFamily="49" charset="0"/>
              </a:rPr>
              <a:t>(</a:t>
            </a:r>
            <a:r>
              <a:rPr lang="ro-RO" sz="2000" b="1" i="0" noProof="0" dirty="0">
                <a:solidFill>
                  <a:srgbClr val="7EC699"/>
                </a:solidFill>
                <a:effectLst/>
                <a:latin typeface="Courier New" panose="02070309020205020404" pitchFamily="49" charset="0"/>
              </a:rPr>
              <a:t>"Element[{0}] = {1}"</a:t>
            </a:r>
            <a:r>
              <a:rPr lang="ro-RO" sz="2000" b="1" i="0" noProof="0" dirty="0">
                <a:solidFill>
                  <a:srgbClr val="CCCCCC"/>
                </a:solidFill>
                <a:effectLst/>
                <a:latin typeface="Courier New" panose="02070309020205020404" pitchFamily="49" charset="0"/>
              </a:rPr>
              <a:t>, j, </a:t>
            </a:r>
          </a:p>
          <a:p>
            <a:pPr marL="34290" indent="0">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n[j]); </a:t>
            </a:r>
          </a:p>
          <a:p>
            <a:pPr marL="34290" indent="0">
              <a:buNone/>
            </a:pPr>
            <a:r>
              <a:rPr lang="ro-RO" sz="2000" b="1" i="0" noProof="0" dirty="0">
                <a:solidFill>
                  <a:srgbClr val="CCCCCC"/>
                </a:solidFill>
                <a:effectLst/>
                <a:latin typeface="Courier New" panose="02070309020205020404" pitchFamily="49" charset="0"/>
              </a:rPr>
              <a:t>    }</a:t>
            </a:r>
          </a:p>
          <a:p>
            <a:pPr marL="34290" indent="0">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p>
          <a:p>
            <a:pPr marL="34290" indent="0">
              <a:buNone/>
            </a:pPr>
            <a:r>
              <a:rPr lang="ro-RO" sz="2000" b="1" i="0" noProof="0" dirty="0">
                <a:solidFill>
                  <a:srgbClr val="CCCCCC"/>
                </a:solidFill>
                <a:effectLst/>
                <a:latin typeface="Courier New" panose="02070309020205020404" pitchFamily="49" charset="0"/>
              </a:rPr>
              <a:t>}</a:t>
            </a:r>
          </a:p>
          <a:p>
            <a:pPr marL="34290" indent="0">
              <a:buNone/>
            </a:pPr>
            <a:r>
              <a:rPr lang="ro-RO" sz="2000" b="1" i="0" noProof="0" dirty="0">
                <a:solidFill>
                  <a:srgbClr val="CCCCCC"/>
                </a:solidFill>
                <a:effectLst/>
                <a:latin typeface="Courier New" panose="02070309020205020404" pitchFamily="49" charset="0"/>
              </a:rPr>
              <a:t>}</a:t>
            </a:r>
            <a:endParaRPr lang="ro-RO" sz="2000" b="1"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25610020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E5592-08D3-7231-CE26-C0A68466A8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B6D5600-EAE9-99C2-6780-2180FD4118A7}"/>
              </a:ext>
            </a:extLst>
          </p:cNvPr>
          <p:cNvSpPr>
            <a:spLocks noGrp="1"/>
          </p:cNvSpPr>
          <p:nvPr>
            <p:ph type="title"/>
          </p:nvPr>
        </p:nvSpPr>
        <p:spPr>
          <a:xfrm>
            <a:off x="463925" y="582705"/>
            <a:ext cx="7819465" cy="504265"/>
          </a:xfrm>
        </p:spPr>
        <p:txBody>
          <a:bodyPr>
            <a:noAutofit/>
          </a:bodyPr>
          <a:lstStyle/>
          <a:p>
            <a:r>
              <a:rPr lang="ro-RO" sz="3200" noProof="0" dirty="0"/>
              <a:t>C# - Cursul 9</a:t>
            </a:r>
          </a:p>
        </p:txBody>
      </p:sp>
      <p:sp>
        <p:nvSpPr>
          <p:cNvPr id="5" name="Content Placeholder 4">
            <a:extLst>
              <a:ext uri="{FF2B5EF4-FFF2-40B4-BE49-F238E27FC236}">
                <a16:creationId xmlns:a16="http://schemas.microsoft.com/office/drawing/2014/main" id="{015AA1EB-DCF9-1D1E-4762-4FFDB7B2D98B}"/>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Arrays</a:t>
            </a:r>
            <a:r>
              <a:rPr lang="ro-RO" sz="2800" noProof="0" dirty="0">
                <a:solidFill>
                  <a:srgbClr val="00B0F0"/>
                </a:solidFill>
              </a:rPr>
              <a:t> (tablouri) în C# - accesarea elementelor</a:t>
            </a:r>
          </a:p>
          <a:p>
            <a:pPr marL="34290" indent="0" algn="just">
              <a:buNone/>
            </a:pPr>
            <a:r>
              <a:rPr lang="ro-RO" sz="2000" b="1" i="0" noProof="0" dirty="0" err="1">
                <a:solidFill>
                  <a:srgbClr val="CC99CD"/>
                </a:solidFill>
                <a:effectLst/>
                <a:latin typeface="Courier New" panose="02070309020205020404" pitchFamily="49" charset="0"/>
              </a:rPr>
              <a:t>using</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System</a:t>
            </a:r>
            <a:r>
              <a:rPr lang="ro-RO" sz="2000" b="1" i="0" noProof="0" dirty="0">
                <a:solidFill>
                  <a:srgbClr val="CCCCCC"/>
                </a:solidFill>
                <a:effectLst/>
                <a:latin typeface="Courier New" panose="02070309020205020404" pitchFamily="49" charset="0"/>
              </a:rPr>
              <a:t>; </a:t>
            </a:r>
          </a:p>
          <a:p>
            <a:pPr marL="34290" indent="0" algn="just">
              <a:buNone/>
            </a:pPr>
            <a:r>
              <a:rPr lang="ro-RO" sz="2000" b="1" i="0" noProof="0" dirty="0" err="1">
                <a:solidFill>
                  <a:srgbClr val="CC99CD"/>
                </a:solidFill>
                <a:effectLst/>
                <a:latin typeface="Courier New" panose="02070309020205020404" pitchFamily="49" charset="0"/>
              </a:rPr>
              <a:t>namespace</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ArrayApplication</a:t>
            </a:r>
            <a:r>
              <a:rPr lang="ro-RO" sz="2000" b="1" i="0" noProof="0" dirty="0">
                <a:solidFill>
                  <a:srgbClr val="CCCCCC"/>
                </a:solidFill>
                <a:effectLst/>
                <a:latin typeface="Courier New" panose="02070309020205020404" pitchFamily="49" charset="0"/>
              </a:rPr>
              <a:t> { </a:t>
            </a:r>
          </a:p>
          <a:p>
            <a:pPr marL="34290" indent="0" algn="just">
              <a:buNone/>
            </a:pPr>
            <a:r>
              <a:rPr lang="ro-RO" sz="2000" b="1" i="0" noProof="0" dirty="0" err="1">
                <a:solidFill>
                  <a:srgbClr val="CC99CD"/>
                </a:solidFill>
                <a:effectLst/>
                <a:latin typeface="Courier New" panose="02070309020205020404" pitchFamily="49" charset="0"/>
              </a:rPr>
              <a:t>class</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MyArray</a:t>
            </a:r>
            <a:r>
              <a:rPr lang="ro-RO" sz="2000" b="1" i="0" noProof="0" dirty="0">
                <a:solidFill>
                  <a:srgbClr val="CCCCCC"/>
                </a:solidFill>
                <a:effectLst/>
                <a:latin typeface="Courier New" panose="02070309020205020404" pitchFamily="49" charset="0"/>
              </a:rPr>
              <a:t>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99CD"/>
                </a:solidFill>
                <a:effectLst/>
                <a:latin typeface="Courier New" panose="02070309020205020404" pitchFamily="49" charset="0"/>
              </a:rPr>
              <a:t>static</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void</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Main</a:t>
            </a:r>
            <a:r>
              <a:rPr lang="ro-RO" sz="2000" b="1" i="0" noProof="0" dirty="0">
                <a:solidFill>
                  <a:srgbClr val="CCCCCC"/>
                </a:solidFill>
                <a:effectLst/>
                <a:latin typeface="Courier New" panose="02070309020205020404" pitchFamily="49" charset="0"/>
              </a:rPr>
              <a:t>(</a:t>
            </a:r>
            <a:r>
              <a:rPr lang="ro-RO" sz="2000" b="1" i="0" noProof="0" dirty="0" err="1">
                <a:solidFill>
                  <a:srgbClr val="CC99CD"/>
                </a:solidFill>
                <a:effectLst/>
                <a:latin typeface="Courier New" panose="02070309020205020404" pitchFamily="49" charset="0"/>
              </a:rPr>
              <a:t>string</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args</a:t>
            </a:r>
            <a:r>
              <a:rPr lang="ro-RO" sz="2000" b="1" i="0" noProof="0" dirty="0">
                <a:solidFill>
                  <a:srgbClr val="CCCCCC"/>
                </a:solidFill>
                <a:effectLst/>
                <a:latin typeface="Courier New" panose="02070309020205020404" pitchFamily="49" charset="0"/>
              </a:rPr>
              <a:t>)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99CD"/>
                </a:solidFill>
                <a:effectLst/>
                <a:latin typeface="Courier New" panose="02070309020205020404" pitchFamily="49" charset="0"/>
              </a:rPr>
              <a:t>int</a:t>
            </a:r>
            <a:r>
              <a:rPr lang="ro-RO" sz="2000" b="1" i="0" noProof="0" dirty="0">
                <a:solidFill>
                  <a:srgbClr val="CCCCCC"/>
                </a:solidFill>
                <a:effectLst/>
                <a:latin typeface="Courier New" panose="02070309020205020404" pitchFamily="49" charset="0"/>
              </a:rPr>
              <a:t>[] n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new</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int</a:t>
            </a:r>
            <a:r>
              <a:rPr lang="ro-RO" sz="2000" b="1" i="0" noProof="0" dirty="0">
                <a:solidFill>
                  <a:srgbClr val="CCCCCC"/>
                </a:solidFill>
                <a:effectLst/>
                <a:latin typeface="Courier New" panose="02070309020205020404" pitchFamily="49" charset="0"/>
              </a:rPr>
              <a:t>[</a:t>
            </a:r>
            <a:r>
              <a:rPr lang="ro-RO" sz="2000" b="1" i="0" noProof="0" dirty="0">
                <a:solidFill>
                  <a:srgbClr val="F08D49"/>
                </a:solidFill>
                <a:effectLst/>
                <a:latin typeface="Courier New" panose="02070309020205020404" pitchFamily="49" charset="0"/>
              </a:rPr>
              <a:t>10</a:t>
            </a:r>
            <a:r>
              <a:rPr lang="ro-RO" sz="2000" b="1" i="0" noProof="0" dirty="0">
                <a:solidFill>
                  <a:srgbClr val="CCCCCC"/>
                </a:solidFill>
                <a:effectLst/>
                <a:latin typeface="Courier New" panose="02070309020205020404" pitchFamily="49" charset="0"/>
              </a:rPr>
              <a:t>]; </a:t>
            </a:r>
          </a:p>
          <a:p>
            <a:pPr marL="34290" indent="0" algn="just">
              <a:buNone/>
            </a:pPr>
            <a:r>
              <a:rPr lang="ro-RO" sz="2000" b="1" i="0" noProof="0" dirty="0">
                <a:solidFill>
                  <a:srgbClr val="CC99CD"/>
                </a:solidFill>
                <a:effectLst/>
                <a:latin typeface="Courier New" panose="02070309020205020404" pitchFamily="49" charset="0"/>
              </a:rPr>
              <a:t>    for</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int</a:t>
            </a:r>
            <a:r>
              <a:rPr lang="ro-RO" sz="2000" b="1" i="0" noProof="0" dirty="0">
                <a:solidFill>
                  <a:srgbClr val="CCCCCC"/>
                </a:solidFill>
                <a:effectLst/>
                <a:latin typeface="Courier New" panose="02070309020205020404" pitchFamily="49" charset="0"/>
              </a:rPr>
              <a:t> i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0</a:t>
            </a:r>
            <a:r>
              <a:rPr lang="ro-RO" sz="2000" b="1" i="0" noProof="0" dirty="0">
                <a:solidFill>
                  <a:srgbClr val="CCCCCC"/>
                </a:solidFill>
                <a:effectLst/>
                <a:latin typeface="Courier New" panose="02070309020205020404" pitchFamily="49" charset="0"/>
              </a:rPr>
              <a:t>; i </a:t>
            </a:r>
            <a:r>
              <a:rPr lang="ro-RO" sz="2000" b="1" i="0" noProof="0" dirty="0">
                <a:solidFill>
                  <a:srgbClr val="67CDCC"/>
                </a:solidFill>
                <a:effectLst/>
                <a:latin typeface="Courier New" panose="02070309020205020404" pitchFamily="49" charset="0"/>
              </a:rPr>
              <a:t>&lt;</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10</a:t>
            </a:r>
            <a:r>
              <a:rPr lang="ro-RO" sz="2000" b="1" i="0" noProof="0" dirty="0">
                <a:solidFill>
                  <a:srgbClr val="CCCCCC"/>
                </a:solidFill>
                <a:effectLst/>
                <a:latin typeface="Courier New" panose="02070309020205020404" pitchFamily="49" charset="0"/>
              </a:rPr>
              <a:t>; i</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n[i]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i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100</a:t>
            </a:r>
            <a:r>
              <a:rPr lang="ro-RO" sz="2000" b="1" i="0" noProof="0" dirty="0">
                <a:solidFill>
                  <a:srgbClr val="CCCCCC"/>
                </a:solidFill>
                <a:effectLst/>
                <a:latin typeface="Courier New" panose="02070309020205020404" pitchFamily="49" charset="0"/>
              </a:rPr>
              <a:t>;</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 </a:t>
            </a:r>
            <a:r>
              <a:rPr lang="ro-RO" sz="2000" b="1" i="0" noProof="0" dirty="0">
                <a:solidFill>
                  <a:srgbClr val="999999"/>
                </a:solidFill>
                <a:effectLst/>
                <a:latin typeface="Courier New" panose="02070309020205020404" pitchFamily="49" charset="0"/>
              </a:rPr>
              <a:t>// </a:t>
            </a:r>
            <a:r>
              <a:rPr lang="ro-RO" sz="2000" b="1" i="0" noProof="0" dirty="0" err="1">
                <a:solidFill>
                  <a:srgbClr val="999999"/>
                </a:solidFill>
                <a:effectLst/>
                <a:latin typeface="Courier New" panose="02070309020205020404" pitchFamily="49" charset="0"/>
              </a:rPr>
              <a:t>Using</a:t>
            </a:r>
            <a:r>
              <a:rPr lang="ro-RO" sz="2000" b="1" i="0" noProof="0" dirty="0">
                <a:solidFill>
                  <a:srgbClr val="999999"/>
                </a:solidFill>
                <a:effectLst/>
                <a:latin typeface="Courier New" panose="02070309020205020404" pitchFamily="49" charset="0"/>
              </a:rPr>
              <a:t> </a:t>
            </a:r>
            <a:r>
              <a:rPr lang="ro-RO" sz="2000" b="1" i="0" noProof="0" dirty="0" err="1">
                <a:solidFill>
                  <a:srgbClr val="999999"/>
                </a:solidFill>
                <a:effectLst/>
                <a:latin typeface="Courier New" panose="02070309020205020404" pitchFamily="49" charset="0"/>
              </a:rPr>
              <a:t>foreach</a:t>
            </a:r>
            <a:r>
              <a:rPr lang="ro-RO" sz="2000" b="1" i="0" noProof="0" dirty="0">
                <a:solidFill>
                  <a:srgbClr val="999999"/>
                </a:solidFill>
                <a:effectLst/>
                <a:latin typeface="Courier New" panose="02070309020205020404" pitchFamily="49" charset="0"/>
              </a:rPr>
              <a:t> </a:t>
            </a:r>
            <a:r>
              <a:rPr lang="ro-RO" sz="2000" b="1" i="0" noProof="0" dirty="0" err="1">
                <a:solidFill>
                  <a:srgbClr val="999999"/>
                </a:solidFill>
                <a:effectLst/>
                <a:latin typeface="Courier New" panose="02070309020205020404" pitchFamily="49" charset="0"/>
              </a:rPr>
              <a:t>loop</a:t>
            </a:r>
            <a:r>
              <a:rPr lang="ro-RO" sz="2000" b="1" i="0" noProof="0" dirty="0">
                <a:solidFill>
                  <a:srgbClr val="999999"/>
                </a:solidFill>
                <a:effectLst/>
                <a:latin typeface="Courier New" panose="02070309020205020404" pitchFamily="49" charset="0"/>
              </a:rPr>
              <a:t> </a:t>
            </a:r>
            <a:r>
              <a:rPr lang="ro-RO" sz="2000" b="1" i="0" noProof="0" dirty="0" err="1">
                <a:solidFill>
                  <a:srgbClr val="999999"/>
                </a:solidFill>
                <a:effectLst/>
                <a:latin typeface="Courier New" panose="02070309020205020404" pitchFamily="49" charset="0"/>
              </a:rPr>
              <a:t>to</a:t>
            </a:r>
            <a:r>
              <a:rPr lang="ro-RO" sz="2000" b="1" i="0" noProof="0" dirty="0">
                <a:solidFill>
                  <a:srgbClr val="999999"/>
                </a:solidFill>
                <a:effectLst/>
                <a:latin typeface="Courier New" panose="02070309020205020404" pitchFamily="49" charset="0"/>
              </a:rPr>
              <a:t> </a:t>
            </a:r>
            <a:r>
              <a:rPr lang="ro-RO" sz="2000" b="1" i="0" noProof="0" dirty="0" err="1">
                <a:solidFill>
                  <a:srgbClr val="999999"/>
                </a:solidFill>
                <a:effectLst/>
                <a:latin typeface="Courier New" panose="02070309020205020404" pitchFamily="49" charset="0"/>
              </a:rPr>
              <a:t>access</a:t>
            </a:r>
            <a:r>
              <a:rPr lang="ro-RO" sz="2000" b="1" i="0" noProof="0" dirty="0">
                <a:solidFill>
                  <a:srgbClr val="999999"/>
                </a:solidFill>
                <a:effectLst/>
                <a:latin typeface="Courier New" panose="02070309020205020404" pitchFamily="49" charset="0"/>
              </a:rPr>
              <a:t> </a:t>
            </a:r>
            <a:r>
              <a:rPr lang="ro-RO" sz="2000" b="1" i="0" noProof="0" dirty="0" err="1">
                <a:solidFill>
                  <a:srgbClr val="999999"/>
                </a:solidFill>
                <a:effectLst/>
                <a:latin typeface="Courier New" panose="02070309020205020404" pitchFamily="49" charset="0"/>
              </a:rPr>
              <a:t>array</a:t>
            </a:r>
            <a:r>
              <a:rPr lang="ro-RO" sz="2000" b="1" i="0" noProof="0" dirty="0">
                <a:solidFill>
                  <a:srgbClr val="999999"/>
                </a:solidFill>
                <a:effectLst/>
                <a:latin typeface="Courier New" panose="02070309020205020404" pitchFamily="49" charset="0"/>
              </a:rPr>
              <a:t> </a:t>
            </a:r>
            <a:r>
              <a:rPr lang="ro-RO" sz="2000" b="1" i="0" noProof="0" dirty="0" err="1">
                <a:solidFill>
                  <a:srgbClr val="999999"/>
                </a:solidFill>
                <a:effectLst/>
                <a:latin typeface="Courier New" panose="02070309020205020404" pitchFamily="49" charset="0"/>
              </a:rPr>
              <a:t>elements</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99CD"/>
                </a:solidFill>
                <a:effectLst/>
                <a:latin typeface="Courier New" panose="02070309020205020404" pitchFamily="49" charset="0"/>
              </a:rPr>
              <a:t>int</a:t>
            </a:r>
            <a:r>
              <a:rPr lang="ro-RO" sz="2000" b="1" i="0" noProof="0" dirty="0">
                <a:solidFill>
                  <a:srgbClr val="CCCCCC"/>
                </a:solidFill>
                <a:effectLst/>
                <a:latin typeface="Courier New" panose="02070309020205020404" pitchFamily="49" charset="0"/>
              </a:rPr>
              <a:t> index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0</a:t>
            </a:r>
            <a:r>
              <a:rPr lang="ro-RO" sz="2000" b="1" i="0" noProof="0" dirty="0">
                <a:solidFill>
                  <a:srgbClr val="CCCCCC"/>
                </a:solidFill>
                <a:effectLst/>
                <a:latin typeface="Courier New" panose="02070309020205020404" pitchFamily="49" charset="0"/>
              </a:rPr>
              <a:t>; </a:t>
            </a:r>
          </a:p>
          <a:p>
            <a:pPr marL="34290" indent="0">
              <a:buNone/>
            </a:pPr>
            <a:r>
              <a:rPr lang="ro-RO" sz="2000" b="1" noProof="0" dirty="0">
                <a:solidFill>
                  <a:srgbClr val="CCCCCC"/>
                </a:solidFill>
                <a:latin typeface="Courier New" panose="02070309020205020404" pitchFamily="49" charset="0"/>
              </a:rPr>
              <a:t>    </a:t>
            </a:r>
            <a:r>
              <a:rPr lang="ro-RO" sz="2000" b="1" i="0" noProof="0" dirty="0" err="1">
                <a:solidFill>
                  <a:srgbClr val="CC99CD"/>
                </a:solidFill>
                <a:effectLst/>
                <a:latin typeface="Courier New" panose="02070309020205020404" pitchFamily="49" charset="0"/>
              </a:rPr>
              <a:t>foreach</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int</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value</a:t>
            </a:r>
            <a:r>
              <a:rPr lang="ro-RO" sz="2000" b="1" i="0" noProof="0" dirty="0">
                <a:solidFill>
                  <a:srgbClr val="CCCCCC"/>
                </a:solidFill>
                <a:effectLst/>
                <a:latin typeface="Courier New" panose="02070309020205020404" pitchFamily="49" charset="0"/>
              </a:rPr>
              <a:t> </a:t>
            </a:r>
            <a:r>
              <a:rPr lang="ro-RO" sz="2000" b="1" i="0" noProof="0" dirty="0">
                <a:solidFill>
                  <a:srgbClr val="CC99CD"/>
                </a:solidFill>
                <a:effectLst/>
                <a:latin typeface="Courier New" panose="02070309020205020404" pitchFamily="49" charset="0"/>
              </a:rPr>
              <a:t>in</a:t>
            </a:r>
            <a:r>
              <a:rPr lang="ro-RO" sz="2000" b="1" i="0" noProof="0" dirty="0">
                <a:solidFill>
                  <a:srgbClr val="CCCCCC"/>
                </a:solidFill>
                <a:effectLst/>
                <a:latin typeface="Courier New" panose="02070309020205020404" pitchFamily="49" charset="0"/>
              </a:rPr>
              <a:t> n) {   </a:t>
            </a:r>
          </a:p>
          <a:p>
            <a:pPr marL="34290" indent="0">
              <a:buNone/>
            </a:pPr>
            <a:r>
              <a:rPr lang="ro-RO" sz="2000" b="1" noProof="0" dirty="0">
                <a:solidFill>
                  <a:srgbClr val="CCCCCC"/>
                </a:solidFill>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Console.</a:t>
            </a:r>
            <a:r>
              <a:rPr lang="ro-RO" sz="2000" b="1" i="0" noProof="0" dirty="0" err="1">
                <a:solidFill>
                  <a:srgbClr val="F08D49"/>
                </a:solidFill>
                <a:effectLst/>
                <a:latin typeface="Courier New" panose="02070309020205020404" pitchFamily="49" charset="0"/>
              </a:rPr>
              <a:t>WriteLine</a:t>
            </a:r>
            <a:r>
              <a:rPr lang="ro-RO" sz="2000" b="1" i="0" noProof="0" dirty="0">
                <a:solidFill>
                  <a:srgbClr val="CCCCCC"/>
                </a:solidFill>
                <a:effectLst/>
                <a:latin typeface="Courier New" panose="02070309020205020404" pitchFamily="49" charset="0"/>
              </a:rPr>
              <a:t>(</a:t>
            </a:r>
            <a:r>
              <a:rPr lang="ro-RO" sz="2000" b="1" i="0" noProof="0" dirty="0">
                <a:solidFill>
                  <a:srgbClr val="7EC699"/>
                </a:solidFill>
                <a:effectLst/>
                <a:latin typeface="Courier New" panose="02070309020205020404" pitchFamily="49" charset="0"/>
              </a:rPr>
              <a:t>"Element[{0}] = {1}"</a:t>
            </a:r>
            <a:r>
              <a:rPr lang="ro-RO" sz="2000" b="1" i="0" noProof="0" dirty="0">
                <a:solidFill>
                  <a:srgbClr val="CCCCCC"/>
                </a:solidFill>
                <a:effectLst/>
                <a:latin typeface="Courier New" panose="02070309020205020404" pitchFamily="49" charset="0"/>
              </a:rPr>
              <a:t>, index, </a:t>
            </a:r>
          </a:p>
          <a:p>
            <a:pPr marL="34290" indent="0">
              <a:buNone/>
            </a:pPr>
            <a:r>
              <a:rPr lang="ro-RO" sz="2000" b="1" noProof="0" dirty="0">
                <a:solidFill>
                  <a:srgbClr val="CCCCCC"/>
                </a:solidFill>
                <a:latin typeface="Courier New" panose="02070309020205020404" pitchFamily="49" charset="0"/>
              </a:rPr>
              <a:t>      </a:t>
            </a:r>
            <a:r>
              <a:rPr lang="ro-RO" sz="2000" b="1" i="0" noProof="0" dirty="0" err="1">
                <a:solidFill>
                  <a:srgbClr val="CC99CD"/>
                </a:solidFill>
                <a:effectLst/>
                <a:latin typeface="Courier New" panose="02070309020205020404" pitchFamily="49" charset="0"/>
              </a:rPr>
              <a:t>value</a:t>
            </a:r>
            <a:r>
              <a:rPr lang="ro-RO" sz="2000" b="1" i="0" noProof="0" dirty="0">
                <a:solidFill>
                  <a:srgbClr val="CCCCCC"/>
                </a:solidFill>
                <a:effectLst/>
                <a:latin typeface="Courier New" panose="02070309020205020404" pitchFamily="49" charset="0"/>
              </a:rPr>
              <a:t>); index</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a:t>
            </a:r>
          </a:p>
          <a:p>
            <a:pPr marL="34290" indent="0">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 </a:t>
            </a:r>
          </a:p>
          <a:p>
            <a:pPr marL="34290" indent="0">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a:t>
            </a:r>
          </a:p>
          <a:p>
            <a:pPr marL="34290" indent="0">
              <a:buNone/>
            </a:pPr>
            <a:r>
              <a:rPr lang="ro-RO" sz="2000" b="1" i="0" noProof="0" dirty="0">
                <a:solidFill>
                  <a:srgbClr val="CCCCCC"/>
                </a:solidFill>
                <a:effectLst/>
                <a:latin typeface="Courier New" panose="02070309020205020404" pitchFamily="49" charset="0"/>
              </a:rPr>
              <a:t>} </a:t>
            </a:r>
          </a:p>
          <a:p>
            <a:pPr marL="34290" indent="0">
              <a:buNone/>
            </a:pPr>
            <a:r>
              <a:rPr lang="ro-RO" sz="2000" b="1" i="0" noProof="0" dirty="0">
                <a:solidFill>
                  <a:srgbClr val="CCCCCC"/>
                </a:solidFill>
                <a:effectLst/>
                <a:latin typeface="Courier New" panose="02070309020205020404" pitchFamily="49" charset="0"/>
              </a:rPr>
              <a:t>}</a:t>
            </a:r>
            <a:endParaRPr lang="ro-RO" sz="2000" b="1"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32235189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FDC77-E83D-21F2-74C9-D21B99E514B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83CA95B-C23E-9761-0B9A-0787B97D53FA}"/>
              </a:ext>
            </a:extLst>
          </p:cNvPr>
          <p:cNvSpPr>
            <a:spLocks noGrp="1"/>
          </p:cNvSpPr>
          <p:nvPr>
            <p:ph type="title"/>
          </p:nvPr>
        </p:nvSpPr>
        <p:spPr>
          <a:xfrm>
            <a:off x="463925" y="582705"/>
            <a:ext cx="7819465" cy="504265"/>
          </a:xfrm>
        </p:spPr>
        <p:txBody>
          <a:bodyPr>
            <a:noAutofit/>
          </a:bodyPr>
          <a:lstStyle/>
          <a:p>
            <a:r>
              <a:rPr lang="ro-RO" sz="3200" noProof="0" dirty="0"/>
              <a:t>C# - Cursul 9</a:t>
            </a:r>
          </a:p>
        </p:txBody>
      </p:sp>
      <p:sp>
        <p:nvSpPr>
          <p:cNvPr id="5" name="Content Placeholder 4">
            <a:extLst>
              <a:ext uri="{FF2B5EF4-FFF2-40B4-BE49-F238E27FC236}">
                <a16:creationId xmlns:a16="http://schemas.microsoft.com/office/drawing/2014/main" id="{CF3CCDF4-00D6-4224-E2C6-468B1F32B041}"/>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Arrays</a:t>
            </a:r>
            <a:r>
              <a:rPr lang="ro-RO" sz="2800" noProof="0" dirty="0">
                <a:solidFill>
                  <a:srgbClr val="00B0F0"/>
                </a:solidFill>
              </a:rPr>
              <a:t> (tablouri) în C# - dimensiunea unui </a:t>
            </a:r>
            <a:r>
              <a:rPr lang="ro-RO" sz="2800" noProof="0" dirty="0" err="1">
                <a:solidFill>
                  <a:srgbClr val="00B0F0"/>
                </a:solidFill>
              </a:rPr>
              <a:t>array</a:t>
            </a: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Putem afla numărul total de elemente dintr-un tablou folosind proprietatea </a:t>
            </a:r>
            <a:r>
              <a:rPr lang="ro-RO" sz="2800" noProof="0" dirty="0" err="1">
                <a:solidFill>
                  <a:srgbClr val="00B0F0"/>
                </a:solidFill>
              </a:rPr>
              <a:t>Length</a:t>
            </a:r>
            <a:r>
              <a:rPr lang="ro-RO" sz="2800" noProof="0" dirty="0">
                <a:solidFill>
                  <a:srgbClr val="00B0F0"/>
                </a:solidFill>
              </a:rPr>
              <a:t>. Această proprietate returnează numărul total de elemente dintr-un tablou.</a:t>
            </a:r>
          </a:p>
          <a:p>
            <a:pPr marL="34290" indent="0" algn="just">
              <a:buNone/>
            </a:pPr>
            <a:endParaRPr lang="ro-RO" sz="2400" b="1" i="0" noProof="0" dirty="0">
              <a:solidFill>
                <a:srgbClr val="CC99CD"/>
              </a:solidFill>
              <a:effectLst/>
              <a:latin typeface="Courier New" panose="02070309020205020404" pitchFamily="49" charset="0"/>
            </a:endParaRPr>
          </a:p>
          <a:p>
            <a:pPr marL="34290" indent="0" algn="just">
              <a:buNone/>
            </a:pPr>
            <a:r>
              <a:rPr lang="ro-RO" sz="2200" b="1" i="0" noProof="0" dirty="0" err="1">
                <a:solidFill>
                  <a:srgbClr val="CC99CD"/>
                </a:solidFill>
                <a:effectLst/>
                <a:latin typeface="Courier New" panose="02070309020205020404" pitchFamily="49" charset="0"/>
              </a:rPr>
              <a:t>int</a:t>
            </a:r>
            <a:r>
              <a:rPr lang="ro-RO" sz="2200" b="1" i="0" noProof="0" dirty="0">
                <a:solidFill>
                  <a:srgbClr val="CCCCCC"/>
                </a:solidFill>
                <a:effectLst/>
                <a:latin typeface="Courier New" panose="02070309020205020404" pitchFamily="49" charset="0"/>
              </a:rPr>
              <a:t>[] </a:t>
            </a:r>
            <a:r>
              <a:rPr lang="ro-RO" sz="2200" b="1" i="0" noProof="0" dirty="0" err="1">
                <a:solidFill>
                  <a:srgbClr val="CCCCCC"/>
                </a:solidFill>
                <a:effectLst/>
                <a:latin typeface="Courier New" panose="02070309020205020404" pitchFamily="49" charset="0"/>
              </a:rPr>
              <a:t>numbers</a:t>
            </a:r>
            <a:r>
              <a:rPr lang="ro-RO" sz="2200" b="1" i="0" noProof="0" dirty="0">
                <a:solidFill>
                  <a:srgbClr val="CCCCCC"/>
                </a:solidFill>
                <a:effectLst/>
                <a:latin typeface="Courier New" panose="02070309020205020404" pitchFamily="49" charset="0"/>
              </a:rPr>
              <a:t> </a:t>
            </a:r>
            <a:r>
              <a:rPr lang="ro-RO" sz="2200" b="1" i="0" noProof="0" dirty="0">
                <a:solidFill>
                  <a:srgbClr val="67CDCC"/>
                </a:solidFill>
                <a:effectLst/>
                <a:latin typeface="Courier New" panose="02070309020205020404" pitchFamily="49" charset="0"/>
              </a:rPr>
              <a:t>=</a:t>
            </a:r>
            <a:r>
              <a:rPr lang="ro-RO" sz="2200" b="1" i="0" noProof="0" dirty="0">
                <a:solidFill>
                  <a:srgbClr val="CCCCCC"/>
                </a:solidFill>
                <a:effectLst/>
                <a:latin typeface="Courier New" panose="02070309020205020404" pitchFamily="49" charset="0"/>
              </a:rPr>
              <a:t> { </a:t>
            </a:r>
            <a:r>
              <a:rPr lang="ro-RO" sz="2200" b="1" i="0" noProof="0" dirty="0">
                <a:solidFill>
                  <a:srgbClr val="F08D49"/>
                </a:solidFill>
                <a:effectLst/>
                <a:latin typeface="Courier New" panose="02070309020205020404" pitchFamily="49" charset="0"/>
              </a:rPr>
              <a:t>10</a:t>
            </a:r>
            <a:r>
              <a:rPr lang="ro-RO" sz="2200" b="1" i="0" noProof="0" dirty="0">
                <a:solidFill>
                  <a:srgbClr val="CCCCCC"/>
                </a:solidFill>
                <a:effectLst/>
                <a:latin typeface="Courier New" panose="02070309020205020404" pitchFamily="49" charset="0"/>
              </a:rPr>
              <a:t>, </a:t>
            </a:r>
            <a:r>
              <a:rPr lang="ro-RO" sz="2200" b="1" i="0" noProof="0" dirty="0">
                <a:solidFill>
                  <a:srgbClr val="F08D49"/>
                </a:solidFill>
                <a:effectLst/>
                <a:latin typeface="Courier New" panose="02070309020205020404" pitchFamily="49" charset="0"/>
              </a:rPr>
              <a:t>20</a:t>
            </a:r>
            <a:r>
              <a:rPr lang="ro-RO" sz="2200" b="1" i="0" noProof="0" dirty="0">
                <a:solidFill>
                  <a:srgbClr val="CCCCCC"/>
                </a:solidFill>
                <a:effectLst/>
                <a:latin typeface="Courier New" panose="02070309020205020404" pitchFamily="49" charset="0"/>
              </a:rPr>
              <a:t>, </a:t>
            </a:r>
            <a:r>
              <a:rPr lang="ro-RO" sz="2200" b="1" i="0" noProof="0" dirty="0">
                <a:solidFill>
                  <a:srgbClr val="F08D49"/>
                </a:solidFill>
                <a:effectLst/>
                <a:latin typeface="Courier New" panose="02070309020205020404" pitchFamily="49" charset="0"/>
              </a:rPr>
              <a:t>30</a:t>
            </a:r>
            <a:r>
              <a:rPr lang="ro-RO" sz="2200" b="1" i="0" noProof="0" dirty="0">
                <a:solidFill>
                  <a:srgbClr val="CCCCCC"/>
                </a:solidFill>
                <a:effectLst/>
                <a:latin typeface="Courier New" panose="02070309020205020404" pitchFamily="49" charset="0"/>
              </a:rPr>
              <a:t>, </a:t>
            </a:r>
            <a:r>
              <a:rPr lang="ro-RO" sz="2200" b="1" i="0" noProof="0" dirty="0">
                <a:solidFill>
                  <a:srgbClr val="F08D49"/>
                </a:solidFill>
                <a:effectLst/>
                <a:latin typeface="Courier New" panose="02070309020205020404" pitchFamily="49" charset="0"/>
              </a:rPr>
              <a:t>40</a:t>
            </a:r>
            <a:r>
              <a:rPr lang="ro-RO" sz="2200" b="1" i="0" noProof="0" dirty="0">
                <a:solidFill>
                  <a:srgbClr val="CCCCCC"/>
                </a:solidFill>
                <a:effectLst/>
                <a:latin typeface="Courier New" panose="02070309020205020404" pitchFamily="49" charset="0"/>
              </a:rPr>
              <a:t>, </a:t>
            </a:r>
            <a:r>
              <a:rPr lang="ro-RO" sz="2200" b="1" i="0" noProof="0" dirty="0">
                <a:solidFill>
                  <a:srgbClr val="F08D49"/>
                </a:solidFill>
                <a:effectLst/>
                <a:latin typeface="Courier New" panose="02070309020205020404" pitchFamily="49" charset="0"/>
              </a:rPr>
              <a:t>50</a:t>
            </a:r>
            <a:r>
              <a:rPr lang="ro-RO" sz="2200" b="1" i="0" noProof="0" dirty="0">
                <a:solidFill>
                  <a:srgbClr val="CCCCCC"/>
                </a:solidFill>
                <a:effectLst/>
                <a:latin typeface="Courier New" panose="02070309020205020404" pitchFamily="49" charset="0"/>
              </a:rPr>
              <a:t> };</a:t>
            </a:r>
          </a:p>
          <a:p>
            <a:pPr marL="34290" indent="0">
              <a:buNone/>
            </a:pPr>
            <a:r>
              <a:rPr lang="ro-RO" sz="2200" b="1" i="0" noProof="0" dirty="0" err="1">
                <a:solidFill>
                  <a:srgbClr val="CC99CD"/>
                </a:solidFill>
                <a:effectLst/>
                <a:latin typeface="Courier New" panose="02070309020205020404" pitchFamily="49" charset="0"/>
              </a:rPr>
              <a:t>int</a:t>
            </a:r>
            <a:r>
              <a:rPr lang="ro-RO" sz="2200" b="1" i="0" noProof="0" dirty="0">
                <a:solidFill>
                  <a:srgbClr val="CCCCCC"/>
                </a:solidFill>
                <a:effectLst/>
                <a:latin typeface="Courier New" panose="02070309020205020404" pitchFamily="49" charset="0"/>
              </a:rPr>
              <a:t> </a:t>
            </a:r>
            <a:r>
              <a:rPr lang="ro-RO" sz="2200" b="1" i="0" noProof="0" dirty="0" err="1">
                <a:solidFill>
                  <a:srgbClr val="CCCCCC"/>
                </a:solidFill>
                <a:effectLst/>
                <a:latin typeface="Courier New" panose="02070309020205020404" pitchFamily="49" charset="0"/>
              </a:rPr>
              <a:t>length</a:t>
            </a:r>
            <a:r>
              <a:rPr lang="ro-RO" sz="2200" b="1" i="0" noProof="0" dirty="0">
                <a:solidFill>
                  <a:srgbClr val="CCCCCC"/>
                </a:solidFill>
                <a:effectLst/>
                <a:latin typeface="Courier New" panose="02070309020205020404" pitchFamily="49" charset="0"/>
              </a:rPr>
              <a:t> </a:t>
            </a:r>
            <a:r>
              <a:rPr lang="ro-RO" sz="2200" b="1" i="0" noProof="0" dirty="0">
                <a:solidFill>
                  <a:srgbClr val="67CDCC"/>
                </a:solidFill>
                <a:effectLst/>
                <a:latin typeface="Courier New" panose="02070309020205020404" pitchFamily="49" charset="0"/>
              </a:rPr>
              <a:t>=</a:t>
            </a:r>
            <a:r>
              <a:rPr lang="ro-RO" sz="2200" b="1" i="0" noProof="0" dirty="0">
                <a:solidFill>
                  <a:srgbClr val="CCCCCC"/>
                </a:solidFill>
                <a:effectLst/>
                <a:latin typeface="Courier New" panose="02070309020205020404" pitchFamily="49" charset="0"/>
              </a:rPr>
              <a:t> </a:t>
            </a:r>
            <a:r>
              <a:rPr lang="ro-RO" sz="2200" b="1" i="0" noProof="0" dirty="0" err="1">
                <a:solidFill>
                  <a:srgbClr val="CCCCCC"/>
                </a:solidFill>
                <a:effectLst/>
                <a:latin typeface="Courier New" panose="02070309020205020404" pitchFamily="49" charset="0"/>
              </a:rPr>
              <a:t>numbers.Length</a:t>
            </a:r>
            <a:r>
              <a:rPr lang="ro-RO" sz="2200" b="1" i="0" noProof="0" dirty="0">
                <a:solidFill>
                  <a:srgbClr val="CCCCCC"/>
                </a:solidFill>
                <a:effectLst/>
                <a:latin typeface="Courier New" panose="02070309020205020404" pitchFamily="49" charset="0"/>
              </a:rPr>
              <a:t>; </a:t>
            </a:r>
            <a:r>
              <a:rPr lang="ro-RO" sz="2200" b="1" i="0" noProof="0" dirty="0" err="1">
                <a:solidFill>
                  <a:srgbClr val="CCCCCC"/>
                </a:solidFill>
                <a:effectLst/>
                <a:latin typeface="Courier New" panose="02070309020205020404" pitchFamily="49" charset="0"/>
              </a:rPr>
              <a:t>Console.</a:t>
            </a:r>
            <a:r>
              <a:rPr lang="ro-RO" sz="2200" b="1" i="0" noProof="0" dirty="0" err="1">
                <a:solidFill>
                  <a:srgbClr val="F08D49"/>
                </a:solidFill>
                <a:effectLst/>
                <a:latin typeface="Courier New" panose="02070309020205020404" pitchFamily="49" charset="0"/>
              </a:rPr>
              <a:t>WriteLine</a:t>
            </a:r>
            <a:r>
              <a:rPr lang="ro-RO" sz="2200" b="1" i="0" noProof="0" dirty="0">
                <a:solidFill>
                  <a:srgbClr val="CCCCCC"/>
                </a:solidFill>
                <a:effectLst/>
                <a:latin typeface="Courier New" panose="02070309020205020404" pitchFamily="49" charset="0"/>
              </a:rPr>
              <a:t>(</a:t>
            </a:r>
            <a:r>
              <a:rPr lang="ro-RO" sz="2200" b="1" i="0" noProof="0" dirty="0">
                <a:solidFill>
                  <a:srgbClr val="7EC699"/>
                </a:solidFill>
                <a:effectLst/>
                <a:latin typeface="Courier New" panose="02070309020205020404" pitchFamily="49" charset="0"/>
              </a:rPr>
              <a:t>"</a:t>
            </a:r>
            <a:r>
              <a:rPr lang="ro-RO" sz="2200" b="1" i="0" noProof="0" dirty="0" err="1">
                <a:solidFill>
                  <a:srgbClr val="7EC699"/>
                </a:solidFill>
                <a:effectLst/>
                <a:latin typeface="Courier New" panose="02070309020205020404" pitchFamily="49" charset="0"/>
              </a:rPr>
              <a:t>Array</a:t>
            </a:r>
            <a:r>
              <a:rPr lang="ro-RO" sz="2200" b="1" i="0" noProof="0" dirty="0">
                <a:solidFill>
                  <a:srgbClr val="7EC699"/>
                </a:solidFill>
                <a:effectLst/>
                <a:latin typeface="Courier New" panose="02070309020205020404" pitchFamily="49" charset="0"/>
              </a:rPr>
              <a:t> </a:t>
            </a:r>
            <a:r>
              <a:rPr lang="ro-RO" sz="2200" b="1" i="0" noProof="0" dirty="0" err="1">
                <a:solidFill>
                  <a:srgbClr val="7EC699"/>
                </a:solidFill>
                <a:effectLst/>
                <a:latin typeface="Courier New" panose="02070309020205020404" pitchFamily="49" charset="0"/>
              </a:rPr>
              <a:t>Length</a:t>
            </a:r>
            <a:r>
              <a:rPr lang="ro-RO" sz="2200" b="1" i="0" noProof="0" dirty="0">
                <a:solidFill>
                  <a:srgbClr val="7EC699"/>
                </a:solidFill>
                <a:effectLst/>
                <a:latin typeface="Courier New" panose="02070309020205020404" pitchFamily="49" charset="0"/>
              </a:rPr>
              <a:t>: "</a:t>
            </a:r>
            <a:r>
              <a:rPr lang="ro-RO" sz="2200" b="1" i="0" noProof="0" dirty="0">
                <a:solidFill>
                  <a:srgbClr val="CCCCCC"/>
                </a:solidFill>
                <a:effectLst/>
                <a:latin typeface="Courier New" panose="02070309020205020404" pitchFamily="49" charset="0"/>
              </a:rPr>
              <a:t> </a:t>
            </a:r>
            <a:r>
              <a:rPr lang="ro-RO" sz="2200" b="1" i="0" noProof="0" dirty="0">
                <a:solidFill>
                  <a:srgbClr val="67CDCC"/>
                </a:solidFill>
                <a:effectLst/>
                <a:latin typeface="Courier New" panose="02070309020205020404" pitchFamily="49" charset="0"/>
              </a:rPr>
              <a:t>+</a:t>
            </a:r>
            <a:r>
              <a:rPr lang="ro-RO" sz="2200" b="1" i="0" noProof="0" dirty="0">
                <a:solidFill>
                  <a:srgbClr val="CCCCCC"/>
                </a:solidFill>
                <a:effectLst/>
                <a:latin typeface="Courier New" panose="02070309020205020404" pitchFamily="49" charset="0"/>
              </a:rPr>
              <a:t> </a:t>
            </a:r>
            <a:r>
              <a:rPr lang="ro-RO" sz="2200" b="1" i="0" noProof="0" dirty="0" err="1">
                <a:solidFill>
                  <a:srgbClr val="CCCCCC"/>
                </a:solidFill>
                <a:effectLst/>
                <a:latin typeface="Courier New" panose="02070309020205020404" pitchFamily="49" charset="0"/>
              </a:rPr>
              <a:t>length</a:t>
            </a:r>
            <a:r>
              <a:rPr lang="ro-RO" sz="2200" b="1" i="0" noProof="0" dirty="0">
                <a:solidFill>
                  <a:srgbClr val="CCCCCC"/>
                </a:solidFill>
                <a:effectLst/>
                <a:latin typeface="Courier New" panose="02070309020205020404" pitchFamily="49" charset="0"/>
              </a:rPr>
              <a:t>);</a:t>
            </a:r>
            <a:endParaRPr lang="ro-RO" sz="2200" b="1"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33657950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8109F-10B9-A644-D975-C897B709553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87EBDDD-EA9E-122B-430F-9B03F20B8D66}"/>
              </a:ext>
            </a:extLst>
          </p:cNvPr>
          <p:cNvSpPr>
            <a:spLocks noGrp="1"/>
          </p:cNvSpPr>
          <p:nvPr>
            <p:ph type="title"/>
          </p:nvPr>
        </p:nvSpPr>
        <p:spPr>
          <a:xfrm>
            <a:off x="463925" y="582705"/>
            <a:ext cx="7819465" cy="504265"/>
          </a:xfrm>
        </p:spPr>
        <p:txBody>
          <a:bodyPr>
            <a:noAutofit/>
          </a:bodyPr>
          <a:lstStyle/>
          <a:p>
            <a:r>
              <a:rPr lang="ro-RO" sz="3200" noProof="0" dirty="0"/>
              <a:t>C# - Cursul 9</a:t>
            </a:r>
          </a:p>
        </p:txBody>
      </p:sp>
      <p:sp>
        <p:nvSpPr>
          <p:cNvPr id="5" name="Content Placeholder 4">
            <a:extLst>
              <a:ext uri="{FF2B5EF4-FFF2-40B4-BE49-F238E27FC236}">
                <a16:creationId xmlns:a16="http://schemas.microsoft.com/office/drawing/2014/main" id="{BDE89D89-DAE0-60DE-EBAF-1831F99DACA0}"/>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Arrays</a:t>
            </a:r>
            <a:r>
              <a:rPr lang="ro-RO" sz="2800" noProof="0" dirty="0">
                <a:solidFill>
                  <a:srgbClr val="00B0F0"/>
                </a:solidFill>
              </a:rPr>
              <a:t> (tablouri) în C# - sortări</a:t>
            </a:r>
          </a:p>
          <a:p>
            <a:pPr marL="34290" indent="0" algn="just">
              <a:buNone/>
            </a:pPr>
            <a:r>
              <a:rPr lang="ro-RO" sz="2800" noProof="0" dirty="0">
                <a:solidFill>
                  <a:srgbClr val="00B0F0"/>
                </a:solidFill>
              </a:rPr>
              <a:t>Puteți sorta un tablou în C# folosind metoda </a:t>
            </a:r>
            <a:r>
              <a:rPr lang="ro-RO" sz="2800" noProof="0" dirty="0" err="1">
                <a:solidFill>
                  <a:srgbClr val="00B0F0"/>
                </a:solidFill>
              </a:rPr>
              <a:t>Array.Sort</a:t>
            </a:r>
            <a:r>
              <a:rPr lang="ro-RO" sz="2800" noProof="0" dirty="0">
                <a:solidFill>
                  <a:srgbClr val="00B0F0"/>
                </a:solidFill>
              </a:rPr>
              <a:t>(), care sortează elementele tabloului în ordine crescătoare.</a:t>
            </a:r>
          </a:p>
          <a:p>
            <a:pPr marL="34290" indent="0" algn="just">
              <a:buNone/>
            </a:pPr>
            <a:r>
              <a:rPr lang="ro-RO" sz="2000" b="1" i="0" noProof="0" dirty="0" err="1">
                <a:solidFill>
                  <a:srgbClr val="CC99CD"/>
                </a:solidFill>
                <a:effectLst/>
                <a:latin typeface="Courier New" panose="02070309020205020404" pitchFamily="49" charset="0"/>
              </a:rPr>
              <a:t>using</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System</a:t>
            </a:r>
            <a:r>
              <a:rPr lang="ro-RO" sz="2000" b="1" i="0" noProof="0" dirty="0">
                <a:solidFill>
                  <a:srgbClr val="CCCCCC"/>
                </a:solidFill>
                <a:effectLst/>
                <a:latin typeface="Courier New" panose="02070309020205020404" pitchFamily="49" charset="0"/>
              </a:rPr>
              <a:t>; </a:t>
            </a:r>
          </a:p>
          <a:p>
            <a:pPr marL="34290" indent="0" algn="just">
              <a:buNone/>
            </a:pPr>
            <a:r>
              <a:rPr lang="ro-RO" sz="2000" b="1" i="0" noProof="0" dirty="0" err="1">
                <a:solidFill>
                  <a:srgbClr val="CC99CD"/>
                </a:solidFill>
                <a:effectLst/>
                <a:latin typeface="Courier New" panose="02070309020205020404" pitchFamily="49" charset="0"/>
              </a:rPr>
              <a:t>namespace</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ArrayApplication</a:t>
            </a:r>
            <a:r>
              <a:rPr lang="ro-RO" sz="2000" b="1" i="0" noProof="0" dirty="0">
                <a:solidFill>
                  <a:srgbClr val="CCCCCC"/>
                </a:solidFill>
                <a:effectLst/>
                <a:latin typeface="Courier New" panose="02070309020205020404" pitchFamily="49" charset="0"/>
              </a:rPr>
              <a:t> { </a:t>
            </a:r>
          </a:p>
          <a:p>
            <a:pPr marL="34290" indent="0" algn="just">
              <a:buNone/>
            </a:pPr>
            <a:r>
              <a:rPr lang="ro-RO" sz="2000" b="1" i="0" noProof="0" dirty="0" err="1">
                <a:solidFill>
                  <a:srgbClr val="CC99CD"/>
                </a:solidFill>
                <a:effectLst/>
                <a:latin typeface="Courier New" panose="02070309020205020404" pitchFamily="49" charset="0"/>
              </a:rPr>
              <a:t>class</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SortArray</a:t>
            </a:r>
            <a:r>
              <a:rPr lang="ro-RO" sz="2000" b="1" i="0" noProof="0" dirty="0">
                <a:solidFill>
                  <a:srgbClr val="CCCCCC"/>
                </a:solidFill>
                <a:effectLst/>
                <a:latin typeface="Courier New" panose="02070309020205020404" pitchFamily="49" charset="0"/>
              </a:rPr>
              <a:t> { </a:t>
            </a:r>
          </a:p>
          <a:p>
            <a:pPr marL="34290" indent="0" algn="just">
              <a:buNone/>
            </a:pPr>
            <a:r>
              <a:rPr lang="ro-RO" sz="2000" b="1" i="0" noProof="0" dirty="0">
                <a:solidFill>
                  <a:srgbClr val="CC99CD"/>
                </a:solidFill>
                <a:effectLst/>
                <a:latin typeface="Courier New" panose="02070309020205020404" pitchFamily="49" charset="0"/>
              </a:rPr>
              <a:t>  static</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void</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Main</a:t>
            </a:r>
            <a:r>
              <a:rPr lang="ro-RO" sz="2000" b="1" i="0" noProof="0" dirty="0">
                <a:solidFill>
                  <a:srgbClr val="CCCCCC"/>
                </a:solidFill>
                <a:effectLst/>
                <a:latin typeface="Courier New" panose="02070309020205020404" pitchFamily="49" charset="0"/>
              </a:rPr>
              <a:t>(</a:t>
            </a:r>
            <a:r>
              <a:rPr lang="ro-RO" sz="2000" b="1" i="0" noProof="0" dirty="0" err="1">
                <a:solidFill>
                  <a:srgbClr val="CC99CD"/>
                </a:solidFill>
                <a:effectLst/>
                <a:latin typeface="Courier New" panose="02070309020205020404" pitchFamily="49" charset="0"/>
              </a:rPr>
              <a:t>string</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args</a:t>
            </a:r>
            <a:r>
              <a:rPr lang="ro-RO" sz="2000" b="1" i="0" noProof="0" dirty="0">
                <a:solidFill>
                  <a:srgbClr val="CCCCCC"/>
                </a:solidFill>
                <a:effectLst/>
                <a:latin typeface="Courier New" panose="02070309020205020404" pitchFamily="49" charset="0"/>
              </a:rPr>
              <a:t>) { </a:t>
            </a:r>
          </a:p>
          <a:p>
            <a:pPr marL="34290" indent="0" algn="just">
              <a:buNone/>
            </a:pPr>
            <a:r>
              <a:rPr lang="ro-RO" sz="2000" b="1" i="0" noProof="0" dirty="0">
                <a:solidFill>
                  <a:srgbClr val="CC99CD"/>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int</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numbers</a:t>
            </a:r>
            <a:r>
              <a:rPr lang="ro-RO" sz="2000" b="1" i="0" noProof="0" dirty="0">
                <a:solidFill>
                  <a:srgbClr val="CCCCCC"/>
                </a:solidFill>
                <a:effectLst/>
                <a:latin typeface="Courier New" panose="02070309020205020404" pitchFamily="49" charset="0"/>
              </a:rPr>
              <a:t>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 </a:t>
            </a:r>
            <a:r>
              <a:rPr lang="ro-RO" sz="2000" b="1" i="0" noProof="0" dirty="0">
                <a:solidFill>
                  <a:srgbClr val="F08D49"/>
                </a:solidFill>
                <a:effectLst/>
                <a:latin typeface="Courier New" panose="02070309020205020404" pitchFamily="49" charset="0"/>
              </a:rPr>
              <a:t>50</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20</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40</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10</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30</a:t>
            </a:r>
            <a:r>
              <a:rPr lang="ro-RO" sz="2000" b="1" i="0" noProof="0" dirty="0">
                <a:solidFill>
                  <a:srgbClr val="CCCCCC"/>
                </a:solidFill>
                <a:effectLst/>
                <a:latin typeface="Courier New" panose="02070309020205020404" pitchFamily="49" charset="0"/>
              </a:rPr>
              <a:t> }; </a:t>
            </a:r>
          </a:p>
          <a:p>
            <a:pPr marL="34290" indent="0" algn="just">
              <a:buNone/>
            </a:pP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Array.</a:t>
            </a:r>
            <a:r>
              <a:rPr lang="ro-RO" sz="2000" b="1" i="0" noProof="0" dirty="0" err="1">
                <a:solidFill>
                  <a:srgbClr val="F08D49"/>
                </a:solidFill>
                <a:effectLst/>
                <a:latin typeface="Courier New" panose="02070309020205020404" pitchFamily="49" charset="0"/>
              </a:rPr>
              <a:t>Sort</a:t>
            </a:r>
            <a:r>
              <a:rPr lang="ro-RO" sz="2000" b="1" i="0" noProof="0" dirty="0">
                <a:solidFill>
                  <a:srgbClr val="CCCCCC"/>
                </a:solidFill>
                <a:effectLst/>
                <a:latin typeface="Courier New" panose="02070309020205020404" pitchFamily="49" charset="0"/>
              </a:rPr>
              <a:t>(</a:t>
            </a:r>
            <a:r>
              <a:rPr lang="ro-RO" sz="2000" b="1" i="0" noProof="0" dirty="0" err="1">
                <a:solidFill>
                  <a:srgbClr val="CCCCCC"/>
                </a:solidFill>
                <a:effectLst/>
                <a:latin typeface="Courier New" panose="02070309020205020404" pitchFamily="49" charset="0"/>
              </a:rPr>
              <a:t>numbers</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Console.</a:t>
            </a:r>
            <a:r>
              <a:rPr lang="ro-RO" sz="2000" b="1" i="0" noProof="0" dirty="0" err="1">
                <a:solidFill>
                  <a:srgbClr val="F08D49"/>
                </a:solidFill>
                <a:effectLst/>
                <a:latin typeface="Courier New" panose="02070309020205020404" pitchFamily="49" charset="0"/>
              </a:rPr>
              <a:t>WriteLine</a:t>
            </a:r>
            <a:r>
              <a:rPr lang="ro-RO" sz="2000" b="1" i="0" noProof="0" dirty="0">
                <a:solidFill>
                  <a:srgbClr val="CCCCCC"/>
                </a:solidFill>
                <a:effectLst/>
                <a:latin typeface="Courier New" panose="02070309020205020404" pitchFamily="49" charset="0"/>
              </a:rPr>
              <a:t>(</a:t>
            </a:r>
            <a:r>
              <a:rPr lang="ro-RO" sz="2000" b="1" i="0" noProof="0" dirty="0">
                <a:solidFill>
                  <a:srgbClr val="7EC699"/>
                </a:solidFill>
                <a:effectLst/>
                <a:latin typeface="Courier New" panose="02070309020205020404" pitchFamily="49" charset="0"/>
              </a:rPr>
              <a:t>"</a:t>
            </a:r>
            <a:r>
              <a:rPr lang="ro-RO" sz="2000" b="1" i="0" noProof="0" dirty="0" err="1">
                <a:solidFill>
                  <a:srgbClr val="7EC699"/>
                </a:solidFill>
                <a:effectLst/>
                <a:latin typeface="Courier New" panose="02070309020205020404" pitchFamily="49" charset="0"/>
              </a:rPr>
              <a:t>Sorted</a:t>
            </a:r>
            <a:r>
              <a:rPr lang="ro-RO" sz="2000" b="1" i="0" noProof="0" dirty="0">
                <a:solidFill>
                  <a:srgbClr val="7EC699"/>
                </a:solidFill>
                <a:effectLst/>
                <a:latin typeface="Courier New" panose="02070309020205020404" pitchFamily="49" charset="0"/>
              </a:rPr>
              <a:t> </a:t>
            </a:r>
            <a:r>
              <a:rPr lang="ro-RO" sz="2000" b="1" i="0" noProof="0" dirty="0" err="1">
                <a:solidFill>
                  <a:srgbClr val="7EC699"/>
                </a:solidFill>
                <a:effectLst/>
                <a:latin typeface="Courier New" panose="02070309020205020404" pitchFamily="49" charset="0"/>
              </a:rPr>
              <a:t>Array</a:t>
            </a:r>
            <a:r>
              <a:rPr lang="ro-RO" sz="2000" b="1" i="0" noProof="0" dirty="0">
                <a:solidFill>
                  <a:srgbClr val="7EC699"/>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99CD"/>
                </a:solidFill>
                <a:effectLst/>
                <a:latin typeface="Courier New" panose="02070309020205020404" pitchFamily="49" charset="0"/>
              </a:rPr>
              <a:t>foreach</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int</a:t>
            </a:r>
            <a:r>
              <a:rPr lang="ro-RO" sz="2000" b="1" i="0" noProof="0" dirty="0">
                <a:solidFill>
                  <a:srgbClr val="CCCCCC"/>
                </a:solidFill>
                <a:effectLst/>
                <a:latin typeface="Courier New" panose="02070309020205020404" pitchFamily="49" charset="0"/>
              </a:rPr>
              <a:t> num </a:t>
            </a:r>
            <a:r>
              <a:rPr lang="ro-RO" sz="2000" b="1" i="0" noProof="0" dirty="0">
                <a:solidFill>
                  <a:srgbClr val="CC99CD"/>
                </a:solidFill>
                <a:effectLst/>
                <a:latin typeface="Courier New" panose="02070309020205020404" pitchFamily="49" charset="0"/>
              </a:rPr>
              <a:t>in</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numbers</a:t>
            </a:r>
            <a:r>
              <a:rPr lang="ro-RO" sz="2000" b="1" i="0" noProof="0" dirty="0">
                <a:solidFill>
                  <a:srgbClr val="CCCCCC"/>
                </a:solidFill>
                <a:effectLst/>
                <a:latin typeface="Courier New" panose="02070309020205020404" pitchFamily="49" charset="0"/>
              </a:rPr>
              <a:t>)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Console.</a:t>
            </a:r>
            <a:r>
              <a:rPr lang="ro-RO" sz="2000" b="1" i="0" noProof="0" dirty="0" err="1">
                <a:solidFill>
                  <a:srgbClr val="F08D49"/>
                </a:solidFill>
                <a:effectLst/>
                <a:latin typeface="Courier New" panose="02070309020205020404" pitchFamily="49" charset="0"/>
              </a:rPr>
              <a:t>Write</a:t>
            </a:r>
            <a:r>
              <a:rPr lang="ro-RO" sz="2000" b="1" i="0" noProof="0" dirty="0">
                <a:solidFill>
                  <a:srgbClr val="CCCCCC"/>
                </a:solidFill>
                <a:effectLst/>
                <a:latin typeface="Courier New" panose="02070309020205020404" pitchFamily="49" charset="0"/>
              </a:rPr>
              <a:t>(num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r>
              <a:rPr lang="ro-RO" sz="2000" b="1" i="0" noProof="0" dirty="0">
                <a:solidFill>
                  <a:srgbClr val="7EC699"/>
                </a:solidFill>
                <a:effectLst/>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a:t>
            </a:r>
          </a:p>
          <a:p>
            <a:pPr marL="34290" indent="0" algn="just">
              <a:buNone/>
            </a:pPr>
            <a:r>
              <a:rPr lang="ro-RO" sz="2000" b="1" i="0" noProof="0" dirty="0">
                <a:solidFill>
                  <a:srgbClr val="CCCCCC"/>
                </a:solidFill>
                <a:effectLst/>
                <a:latin typeface="Courier New" panose="02070309020205020404" pitchFamily="49" charset="0"/>
              </a:rPr>
              <a:t>}</a:t>
            </a:r>
          </a:p>
          <a:p>
            <a:pPr marL="34290" indent="0" algn="just">
              <a:buNone/>
            </a:pPr>
            <a:r>
              <a:rPr lang="ro-RO" sz="2000" b="1" i="0" noProof="0" dirty="0">
                <a:solidFill>
                  <a:srgbClr val="CCCCCC"/>
                </a:solidFill>
                <a:effectLst/>
                <a:latin typeface="Courier New" panose="02070309020205020404" pitchFamily="49" charset="0"/>
              </a:rPr>
              <a:t>}</a:t>
            </a:r>
            <a:endParaRPr lang="ro-RO" sz="2000" b="1" noProof="0" dirty="0">
              <a:solidFill>
                <a:srgbClr val="00B0F0"/>
              </a:solidFill>
            </a:endParaRPr>
          </a:p>
          <a:p>
            <a:pPr marL="34290" indent="0" algn="just">
              <a:buNone/>
            </a:pPr>
            <a:endParaRPr lang="ro-RO" sz="2000" b="1"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41424306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CBCFD-8030-AAB7-FE84-A924AA9D477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C24FD3F-9167-8B11-72BF-B7D90A2C8778}"/>
              </a:ext>
            </a:extLst>
          </p:cNvPr>
          <p:cNvSpPr>
            <a:spLocks noGrp="1"/>
          </p:cNvSpPr>
          <p:nvPr>
            <p:ph type="title"/>
          </p:nvPr>
        </p:nvSpPr>
        <p:spPr>
          <a:xfrm>
            <a:off x="463925" y="582705"/>
            <a:ext cx="7819465" cy="504265"/>
          </a:xfrm>
        </p:spPr>
        <p:txBody>
          <a:bodyPr>
            <a:noAutofit/>
          </a:bodyPr>
          <a:lstStyle/>
          <a:p>
            <a:r>
              <a:rPr lang="ro-RO" sz="3200" noProof="0" dirty="0"/>
              <a:t>C# - Cursul 9</a:t>
            </a:r>
          </a:p>
        </p:txBody>
      </p:sp>
      <p:sp>
        <p:nvSpPr>
          <p:cNvPr id="5" name="Content Placeholder 4">
            <a:extLst>
              <a:ext uri="{FF2B5EF4-FFF2-40B4-BE49-F238E27FC236}">
                <a16:creationId xmlns:a16="http://schemas.microsoft.com/office/drawing/2014/main" id="{E05362C9-E43A-EBCC-26B9-542710951270}"/>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Arrays</a:t>
            </a:r>
            <a:r>
              <a:rPr lang="ro-RO" sz="2800" noProof="0" dirty="0">
                <a:solidFill>
                  <a:srgbClr val="00B0F0"/>
                </a:solidFill>
              </a:rPr>
              <a:t> (tablouri) în C# - sortări</a:t>
            </a:r>
          </a:p>
          <a:p>
            <a:pPr marL="34290" indent="0" algn="just">
              <a:buNone/>
            </a:pPr>
            <a:r>
              <a:rPr lang="ro-RO" sz="2800" noProof="0" dirty="0">
                <a:solidFill>
                  <a:srgbClr val="00B0F0"/>
                </a:solidFill>
              </a:rPr>
              <a:t>Puteți sorta un </a:t>
            </a:r>
            <a:r>
              <a:rPr lang="ro-RO" sz="2800" noProof="0" dirty="0" err="1">
                <a:solidFill>
                  <a:srgbClr val="00B0F0"/>
                </a:solidFill>
              </a:rPr>
              <a:t>array</a:t>
            </a:r>
            <a:r>
              <a:rPr lang="ro-RO" sz="2800" noProof="0" dirty="0">
                <a:solidFill>
                  <a:srgbClr val="00B0F0"/>
                </a:solidFill>
              </a:rPr>
              <a:t> în ordine descrescătoare utilizând </a:t>
            </a:r>
            <a:r>
              <a:rPr lang="ro-RO" sz="2800" noProof="0" dirty="0" err="1">
                <a:solidFill>
                  <a:srgbClr val="00B0F0"/>
                </a:solidFill>
              </a:rPr>
              <a:t>Array.Sort</a:t>
            </a:r>
            <a:r>
              <a:rPr lang="ro-RO" sz="2800" noProof="0" dirty="0">
                <a:solidFill>
                  <a:srgbClr val="00B0F0"/>
                </a:solidFill>
              </a:rPr>
              <a:t>() urmat de </a:t>
            </a:r>
            <a:r>
              <a:rPr lang="ro-RO" sz="2800" noProof="0" dirty="0" err="1">
                <a:solidFill>
                  <a:srgbClr val="00B0F0"/>
                </a:solidFill>
              </a:rPr>
              <a:t>Array.Reverse</a:t>
            </a:r>
            <a:r>
              <a:rPr lang="ro-RO" sz="2800" noProof="0" dirty="0">
                <a:solidFill>
                  <a:srgbClr val="00B0F0"/>
                </a:solidFill>
              </a:rPr>
              <a:t>().</a:t>
            </a:r>
          </a:p>
          <a:p>
            <a:pPr marL="34290" indent="0" algn="just">
              <a:buNone/>
            </a:pPr>
            <a:r>
              <a:rPr lang="ro-RO" sz="2000" b="1" i="0" noProof="0" dirty="0" err="1">
                <a:solidFill>
                  <a:srgbClr val="CC99CD"/>
                </a:solidFill>
                <a:effectLst/>
                <a:latin typeface="Courier New" panose="02070309020205020404" pitchFamily="49" charset="0"/>
              </a:rPr>
              <a:t>using</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System</a:t>
            </a:r>
            <a:r>
              <a:rPr lang="ro-RO" sz="2000" b="1" i="0" noProof="0" dirty="0">
                <a:solidFill>
                  <a:srgbClr val="CCCCCC"/>
                </a:solidFill>
                <a:effectLst/>
                <a:latin typeface="Courier New" panose="02070309020205020404" pitchFamily="49" charset="0"/>
              </a:rPr>
              <a:t>; </a:t>
            </a:r>
          </a:p>
          <a:p>
            <a:pPr marL="34290" indent="0" algn="just">
              <a:buNone/>
            </a:pPr>
            <a:r>
              <a:rPr lang="ro-RO" sz="2000" b="1" i="0" noProof="0" dirty="0" err="1">
                <a:solidFill>
                  <a:srgbClr val="CC99CD"/>
                </a:solidFill>
                <a:effectLst/>
                <a:latin typeface="Courier New" panose="02070309020205020404" pitchFamily="49" charset="0"/>
              </a:rPr>
              <a:t>namespace</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ArrayApplication</a:t>
            </a:r>
            <a:r>
              <a:rPr lang="ro-RO" sz="2000" b="1" i="0" noProof="0" dirty="0">
                <a:solidFill>
                  <a:srgbClr val="CCCCCC"/>
                </a:solidFill>
                <a:effectLst/>
                <a:latin typeface="Courier New" panose="02070309020205020404" pitchFamily="49" charset="0"/>
              </a:rPr>
              <a:t> { </a:t>
            </a:r>
          </a:p>
          <a:p>
            <a:pPr marL="34290" indent="0" algn="just">
              <a:buNone/>
            </a:pPr>
            <a:r>
              <a:rPr lang="ro-RO" sz="2000" b="1" i="0" noProof="0" dirty="0" err="1">
                <a:solidFill>
                  <a:srgbClr val="CC99CD"/>
                </a:solidFill>
                <a:effectLst/>
                <a:latin typeface="Courier New" panose="02070309020205020404" pitchFamily="49" charset="0"/>
              </a:rPr>
              <a:t>class</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SortArray</a:t>
            </a:r>
            <a:r>
              <a:rPr lang="ro-RO" sz="2000" b="1" i="0" noProof="0" dirty="0">
                <a:solidFill>
                  <a:srgbClr val="CCCCCC"/>
                </a:solidFill>
                <a:effectLst/>
                <a:latin typeface="Courier New" panose="02070309020205020404" pitchFamily="49" charset="0"/>
              </a:rPr>
              <a:t> { </a:t>
            </a:r>
          </a:p>
          <a:p>
            <a:pPr marL="34290" indent="0" algn="just">
              <a:buNone/>
            </a:pPr>
            <a:r>
              <a:rPr lang="ro-RO" sz="2000" b="1" i="0" noProof="0" dirty="0">
                <a:solidFill>
                  <a:srgbClr val="CC99CD"/>
                </a:solidFill>
                <a:effectLst/>
                <a:latin typeface="Courier New" panose="02070309020205020404" pitchFamily="49" charset="0"/>
              </a:rPr>
              <a:t>  static</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void</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Main</a:t>
            </a:r>
            <a:r>
              <a:rPr lang="ro-RO" sz="2000" b="1" i="0" noProof="0" dirty="0">
                <a:solidFill>
                  <a:srgbClr val="CCCCCC"/>
                </a:solidFill>
                <a:effectLst/>
                <a:latin typeface="Courier New" panose="02070309020205020404" pitchFamily="49" charset="0"/>
              </a:rPr>
              <a:t>(</a:t>
            </a:r>
            <a:r>
              <a:rPr lang="ro-RO" sz="2000" b="1" i="0" noProof="0" dirty="0" err="1">
                <a:solidFill>
                  <a:srgbClr val="CC99CD"/>
                </a:solidFill>
                <a:effectLst/>
                <a:latin typeface="Courier New" panose="02070309020205020404" pitchFamily="49" charset="0"/>
              </a:rPr>
              <a:t>string</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args</a:t>
            </a:r>
            <a:r>
              <a:rPr lang="ro-RO" sz="2000" b="1" i="0" noProof="0" dirty="0">
                <a:solidFill>
                  <a:srgbClr val="CCCCCC"/>
                </a:solidFill>
                <a:effectLst/>
                <a:latin typeface="Courier New" panose="02070309020205020404" pitchFamily="49" charset="0"/>
              </a:rPr>
              <a:t>)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99CD"/>
                </a:solidFill>
                <a:effectLst/>
                <a:latin typeface="Courier New" panose="02070309020205020404" pitchFamily="49" charset="0"/>
              </a:rPr>
              <a:t>int</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numbers</a:t>
            </a:r>
            <a:r>
              <a:rPr lang="ro-RO" sz="2000" b="1" i="0" noProof="0" dirty="0">
                <a:solidFill>
                  <a:srgbClr val="CCCCCC"/>
                </a:solidFill>
                <a:effectLst/>
                <a:latin typeface="Courier New" panose="02070309020205020404" pitchFamily="49" charset="0"/>
              </a:rPr>
              <a:t>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 </a:t>
            </a:r>
            <a:r>
              <a:rPr lang="ro-RO" sz="2000" b="1" i="0" noProof="0" dirty="0">
                <a:solidFill>
                  <a:srgbClr val="F08D49"/>
                </a:solidFill>
                <a:effectLst/>
                <a:latin typeface="Courier New" panose="02070309020205020404" pitchFamily="49" charset="0"/>
              </a:rPr>
              <a:t>50</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20</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40</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10</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30</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CCCC"/>
                </a:solidFill>
                <a:effectLst/>
                <a:latin typeface="Courier New" panose="02070309020205020404" pitchFamily="49" charset="0"/>
              </a:rPr>
              <a:t>Array.</a:t>
            </a:r>
            <a:r>
              <a:rPr lang="ro-RO" sz="2000" b="1" i="0" noProof="0" dirty="0" err="1">
                <a:solidFill>
                  <a:srgbClr val="F08D49"/>
                </a:solidFill>
                <a:effectLst/>
                <a:latin typeface="Courier New" panose="02070309020205020404" pitchFamily="49" charset="0"/>
              </a:rPr>
              <a:t>Sort</a:t>
            </a:r>
            <a:r>
              <a:rPr lang="ro-RO" sz="2000" b="1" i="0" noProof="0" dirty="0">
                <a:solidFill>
                  <a:srgbClr val="CCCCCC"/>
                </a:solidFill>
                <a:effectLst/>
                <a:latin typeface="Courier New" panose="02070309020205020404" pitchFamily="49" charset="0"/>
              </a:rPr>
              <a:t>(</a:t>
            </a:r>
            <a:r>
              <a:rPr lang="ro-RO" sz="2000" b="1" i="0" noProof="0" dirty="0" err="1">
                <a:solidFill>
                  <a:srgbClr val="CCCCCC"/>
                </a:solidFill>
                <a:effectLst/>
                <a:latin typeface="Courier New" panose="02070309020205020404" pitchFamily="49" charset="0"/>
              </a:rPr>
              <a:t>numbers</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Array.</a:t>
            </a:r>
            <a:r>
              <a:rPr lang="ro-RO" sz="2000" b="1" i="0" noProof="0" dirty="0" err="1">
                <a:solidFill>
                  <a:srgbClr val="F08D49"/>
                </a:solidFill>
                <a:effectLst/>
                <a:latin typeface="Courier New" panose="02070309020205020404" pitchFamily="49" charset="0"/>
              </a:rPr>
              <a:t>Reverse</a:t>
            </a:r>
            <a:r>
              <a:rPr lang="ro-RO" sz="2000" b="1" i="0" noProof="0" dirty="0">
                <a:solidFill>
                  <a:srgbClr val="CCCCCC"/>
                </a:solidFill>
                <a:effectLst/>
                <a:latin typeface="Courier New" panose="02070309020205020404" pitchFamily="49" charset="0"/>
              </a:rPr>
              <a:t>(</a:t>
            </a:r>
            <a:r>
              <a:rPr lang="ro-RO" sz="2000" b="1" i="0" noProof="0" dirty="0" err="1">
                <a:solidFill>
                  <a:srgbClr val="CCCCCC"/>
                </a:solidFill>
                <a:effectLst/>
                <a:latin typeface="Courier New" panose="02070309020205020404" pitchFamily="49" charset="0"/>
              </a:rPr>
              <a:t>numbers</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Console.</a:t>
            </a:r>
            <a:r>
              <a:rPr lang="ro-RO" sz="2000" b="1" i="0" noProof="0" dirty="0" err="1">
                <a:solidFill>
                  <a:srgbClr val="F08D49"/>
                </a:solidFill>
                <a:effectLst/>
                <a:latin typeface="Courier New" panose="02070309020205020404" pitchFamily="49" charset="0"/>
              </a:rPr>
              <a:t>WriteLine</a:t>
            </a:r>
            <a:r>
              <a:rPr lang="ro-RO" sz="2000" b="1" i="0" noProof="0" dirty="0">
                <a:solidFill>
                  <a:srgbClr val="CCCCCC"/>
                </a:solidFill>
                <a:effectLst/>
                <a:latin typeface="Courier New" panose="02070309020205020404" pitchFamily="49" charset="0"/>
              </a:rPr>
              <a:t>(</a:t>
            </a:r>
            <a:r>
              <a:rPr lang="ro-RO" sz="2000" b="1" i="0" noProof="0" dirty="0">
                <a:solidFill>
                  <a:srgbClr val="7EC699"/>
                </a:solidFill>
                <a:effectLst/>
                <a:latin typeface="Courier New" panose="02070309020205020404" pitchFamily="49" charset="0"/>
              </a:rPr>
              <a:t>"</a:t>
            </a:r>
            <a:r>
              <a:rPr lang="ro-RO" sz="2000" b="1" i="0" noProof="0" dirty="0" err="1">
                <a:solidFill>
                  <a:srgbClr val="7EC699"/>
                </a:solidFill>
                <a:effectLst/>
                <a:latin typeface="Courier New" panose="02070309020205020404" pitchFamily="49" charset="0"/>
              </a:rPr>
              <a:t>Sorted</a:t>
            </a:r>
            <a:r>
              <a:rPr lang="ro-RO" sz="2000" b="1" i="0" noProof="0" dirty="0">
                <a:solidFill>
                  <a:srgbClr val="7EC699"/>
                </a:solidFill>
                <a:effectLst/>
                <a:latin typeface="Courier New" panose="02070309020205020404" pitchFamily="49" charset="0"/>
              </a:rPr>
              <a:t> </a:t>
            </a:r>
            <a:r>
              <a:rPr lang="ro-RO" sz="2000" b="1" i="0" noProof="0" dirty="0" err="1">
                <a:solidFill>
                  <a:srgbClr val="7EC699"/>
                </a:solidFill>
                <a:effectLst/>
                <a:latin typeface="Courier New" panose="02070309020205020404" pitchFamily="49" charset="0"/>
              </a:rPr>
              <a:t>Array</a:t>
            </a:r>
            <a:r>
              <a:rPr lang="ro-RO" sz="2000" b="1" i="0" noProof="0" dirty="0">
                <a:solidFill>
                  <a:srgbClr val="7EC699"/>
                </a:solidFill>
                <a:effectLst/>
                <a:latin typeface="Courier New" panose="02070309020205020404" pitchFamily="49" charset="0"/>
              </a:rPr>
              <a:t> in </a:t>
            </a:r>
            <a:r>
              <a:rPr lang="ro-RO" sz="2000" b="1" i="0" noProof="0" dirty="0" err="1">
                <a:solidFill>
                  <a:srgbClr val="7EC699"/>
                </a:solidFill>
                <a:effectLst/>
                <a:latin typeface="Courier New" panose="02070309020205020404" pitchFamily="49" charset="0"/>
              </a:rPr>
              <a:t>Descending</a:t>
            </a:r>
            <a:r>
              <a:rPr lang="ro-RO" sz="2000" b="1" i="0" noProof="0" dirty="0">
                <a:solidFill>
                  <a:srgbClr val="7EC699"/>
                </a:solidFill>
                <a:effectLst/>
                <a:latin typeface="Courier New" panose="02070309020205020404" pitchFamily="49" charset="0"/>
              </a:rPr>
              <a:t> </a:t>
            </a:r>
            <a:r>
              <a:rPr lang="ro-RO" sz="2000" b="1" i="0" noProof="0" dirty="0" err="1">
                <a:solidFill>
                  <a:srgbClr val="7EC699"/>
                </a:solidFill>
                <a:effectLst/>
                <a:latin typeface="Courier New" panose="02070309020205020404" pitchFamily="49" charset="0"/>
              </a:rPr>
              <a:t>Order</a:t>
            </a:r>
            <a:r>
              <a:rPr lang="ro-RO" sz="2000" b="1" i="0" noProof="0" dirty="0">
                <a:solidFill>
                  <a:srgbClr val="7EC699"/>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99CD"/>
                </a:solidFill>
                <a:effectLst/>
                <a:latin typeface="Courier New" panose="02070309020205020404" pitchFamily="49" charset="0"/>
              </a:rPr>
              <a:t>foreach</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int</a:t>
            </a:r>
            <a:r>
              <a:rPr lang="ro-RO" sz="2000" b="1" i="0" noProof="0" dirty="0">
                <a:solidFill>
                  <a:srgbClr val="CCCCCC"/>
                </a:solidFill>
                <a:effectLst/>
                <a:latin typeface="Courier New" panose="02070309020205020404" pitchFamily="49" charset="0"/>
              </a:rPr>
              <a:t> num </a:t>
            </a:r>
            <a:r>
              <a:rPr lang="ro-RO" sz="2000" b="1" i="0" noProof="0" dirty="0">
                <a:solidFill>
                  <a:srgbClr val="CC99CD"/>
                </a:solidFill>
                <a:effectLst/>
                <a:latin typeface="Courier New" panose="02070309020205020404" pitchFamily="49" charset="0"/>
              </a:rPr>
              <a:t>in</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numbers</a:t>
            </a:r>
            <a:r>
              <a:rPr lang="ro-RO" sz="2000" b="1" i="0" noProof="0" dirty="0">
                <a:solidFill>
                  <a:srgbClr val="CCCCCC"/>
                </a:solidFill>
                <a:effectLst/>
                <a:latin typeface="Courier New" panose="02070309020205020404" pitchFamily="49" charset="0"/>
              </a:rPr>
              <a:t>)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Console.</a:t>
            </a:r>
            <a:r>
              <a:rPr lang="ro-RO" sz="2000" b="1" i="0" noProof="0" dirty="0" err="1">
                <a:solidFill>
                  <a:srgbClr val="F08D49"/>
                </a:solidFill>
                <a:effectLst/>
                <a:latin typeface="Courier New" panose="02070309020205020404" pitchFamily="49" charset="0"/>
              </a:rPr>
              <a:t>Write</a:t>
            </a:r>
            <a:r>
              <a:rPr lang="ro-RO" sz="2000" b="1" i="0" noProof="0" dirty="0">
                <a:solidFill>
                  <a:srgbClr val="CCCCCC"/>
                </a:solidFill>
                <a:effectLst/>
                <a:latin typeface="Courier New" panose="02070309020205020404" pitchFamily="49" charset="0"/>
              </a:rPr>
              <a:t>(num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r>
              <a:rPr lang="ro-RO" sz="2000" b="1" i="0" noProof="0" dirty="0">
                <a:solidFill>
                  <a:srgbClr val="7EC699"/>
                </a:solidFill>
                <a:effectLst/>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p>
          <a:p>
            <a:pPr marL="34290" indent="0" algn="just">
              <a:buNone/>
            </a:pPr>
            <a:r>
              <a:rPr lang="ro-RO" sz="2000" b="1" i="0" noProof="0" dirty="0">
                <a:solidFill>
                  <a:srgbClr val="CCCCCC"/>
                </a:solidFill>
                <a:effectLst/>
                <a:latin typeface="Courier New" panose="02070309020205020404" pitchFamily="49" charset="0"/>
              </a:rPr>
              <a:t>  } </a:t>
            </a:r>
          </a:p>
          <a:p>
            <a:pPr marL="34290" indent="0" algn="just">
              <a:buNone/>
            </a:pPr>
            <a:r>
              <a:rPr lang="ro-RO" sz="2000" b="1" i="0" noProof="0" dirty="0">
                <a:solidFill>
                  <a:srgbClr val="CCCCCC"/>
                </a:solidFill>
                <a:effectLst/>
                <a:latin typeface="Courier New" panose="02070309020205020404" pitchFamily="49" charset="0"/>
              </a:rPr>
              <a:t>}</a:t>
            </a:r>
          </a:p>
          <a:p>
            <a:pPr marL="34290" indent="0" algn="just">
              <a:buNone/>
            </a:pPr>
            <a:r>
              <a:rPr lang="ro-RO" sz="2000" b="1" noProof="0" dirty="0">
                <a:solidFill>
                  <a:srgbClr val="CCCCCC"/>
                </a:solidFill>
                <a:latin typeface="Courier New" panose="02070309020205020404" pitchFamily="49" charset="0"/>
              </a:rPr>
              <a:t>}</a:t>
            </a:r>
            <a:endParaRPr lang="ro-RO" sz="2000" b="1"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13012203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34464-CC64-EB17-8222-7226BCFF68F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66BEF9D-ED70-6FC9-84A4-6F4FA9EA8730}"/>
              </a:ext>
            </a:extLst>
          </p:cNvPr>
          <p:cNvSpPr>
            <a:spLocks noGrp="1"/>
          </p:cNvSpPr>
          <p:nvPr>
            <p:ph type="title"/>
          </p:nvPr>
        </p:nvSpPr>
        <p:spPr>
          <a:xfrm>
            <a:off x="463925" y="582705"/>
            <a:ext cx="7819465" cy="504265"/>
          </a:xfrm>
        </p:spPr>
        <p:txBody>
          <a:bodyPr>
            <a:noAutofit/>
          </a:bodyPr>
          <a:lstStyle/>
          <a:p>
            <a:r>
              <a:rPr lang="ro-RO" sz="3200" noProof="0" dirty="0"/>
              <a:t>C# - Cursul 9</a:t>
            </a:r>
          </a:p>
        </p:txBody>
      </p:sp>
      <p:sp>
        <p:nvSpPr>
          <p:cNvPr id="5" name="Content Placeholder 4">
            <a:extLst>
              <a:ext uri="{FF2B5EF4-FFF2-40B4-BE49-F238E27FC236}">
                <a16:creationId xmlns:a16="http://schemas.microsoft.com/office/drawing/2014/main" id="{19AF4939-3F60-B02D-998D-CA0DA6DF76CC}"/>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Arrays</a:t>
            </a:r>
            <a:r>
              <a:rPr lang="ro-RO" sz="2800" noProof="0" dirty="0">
                <a:solidFill>
                  <a:srgbClr val="00B0F0"/>
                </a:solidFill>
              </a:rPr>
              <a:t> (tablouri) în C# - copierea tablourilor</a:t>
            </a: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Putem copia un </a:t>
            </a:r>
            <a:r>
              <a:rPr lang="ro-RO" sz="2800" noProof="0" dirty="0" err="1">
                <a:solidFill>
                  <a:srgbClr val="00B0F0"/>
                </a:solidFill>
              </a:rPr>
              <a:t>array</a:t>
            </a:r>
            <a:r>
              <a:rPr lang="ro-RO" sz="2800" noProof="0" dirty="0">
                <a:solidFill>
                  <a:srgbClr val="00B0F0"/>
                </a:solidFill>
              </a:rPr>
              <a:t> într-un alt </a:t>
            </a:r>
            <a:r>
              <a:rPr lang="ro-RO" sz="2800" noProof="0" dirty="0" err="1">
                <a:solidFill>
                  <a:srgbClr val="00B0F0"/>
                </a:solidFill>
              </a:rPr>
              <a:t>array</a:t>
            </a:r>
            <a:r>
              <a:rPr lang="ro-RO" sz="2800" noProof="0" dirty="0">
                <a:solidFill>
                  <a:srgbClr val="00B0F0"/>
                </a:solidFill>
              </a:rPr>
              <a:t> folosind metoda </a:t>
            </a:r>
            <a:r>
              <a:rPr lang="ro-RO" sz="2800" noProof="0" dirty="0" err="1">
                <a:solidFill>
                  <a:srgbClr val="00B0F0"/>
                </a:solidFill>
              </a:rPr>
              <a:t>Array.Copy</a:t>
            </a:r>
            <a:r>
              <a:rPr lang="ro-RO" sz="2800" noProof="0" dirty="0">
                <a:solidFill>
                  <a:srgbClr val="00B0F0"/>
                </a:solidFill>
              </a:rPr>
              <a:t>() sau </a:t>
            </a:r>
            <a:r>
              <a:rPr lang="ro-RO" sz="2800" noProof="0" dirty="0" err="1">
                <a:solidFill>
                  <a:srgbClr val="00B0F0"/>
                </a:solidFill>
              </a:rPr>
              <a:t>Array.Clone</a:t>
            </a:r>
            <a:r>
              <a:rPr lang="ro-RO" sz="2800" noProof="0" dirty="0">
                <a:solidFill>
                  <a:srgbClr val="00B0F0"/>
                </a:solidFill>
              </a:rPr>
              <a:t>().</a:t>
            </a: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Sintaxa:</a:t>
            </a:r>
          </a:p>
          <a:p>
            <a:pPr algn="just"/>
            <a:r>
              <a:rPr lang="ro-RO" sz="2800" noProof="0" dirty="0">
                <a:solidFill>
                  <a:srgbClr val="00B0F0"/>
                </a:solidFill>
              </a:rPr>
              <a:t>Folosind </a:t>
            </a:r>
            <a:r>
              <a:rPr lang="ro-RO" sz="2800" noProof="0" dirty="0" err="1">
                <a:solidFill>
                  <a:srgbClr val="00B0F0"/>
                </a:solidFill>
              </a:rPr>
              <a:t>Copy</a:t>
            </a:r>
            <a:r>
              <a:rPr lang="ro-RO" sz="2800" noProof="0" dirty="0">
                <a:solidFill>
                  <a:srgbClr val="00B0F0"/>
                </a:solidFill>
              </a:rPr>
              <a:t>()</a:t>
            </a:r>
          </a:p>
          <a:p>
            <a:pPr marL="34290" indent="0" algn="just">
              <a:buNone/>
            </a:pPr>
            <a:r>
              <a:rPr lang="ro-RO" sz="2000" b="1" i="0" noProof="0" dirty="0" err="1">
                <a:solidFill>
                  <a:srgbClr val="CCCCCC"/>
                </a:solidFill>
                <a:effectLst/>
                <a:latin typeface="Courier New" panose="02070309020205020404" pitchFamily="49" charset="0"/>
              </a:rPr>
              <a:t>Array.</a:t>
            </a:r>
            <a:r>
              <a:rPr lang="ro-RO" sz="2000" b="1" i="0" noProof="0" dirty="0" err="1">
                <a:solidFill>
                  <a:srgbClr val="F08D49"/>
                </a:solidFill>
                <a:effectLst/>
                <a:latin typeface="Courier New" panose="02070309020205020404" pitchFamily="49" charset="0"/>
              </a:rPr>
              <a:t>Copy</a:t>
            </a:r>
            <a:r>
              <a:rPr lang="ro-RO" sz="2000" b="1" i="0" noProof="0" dirty="0">
                <a:solidFill>
                  <a:srgbClr val="CCCCCC"/>
                </a:solidFill>
                <a:effectLst/>
                <a:latin typeface="Courier New" panose="02070309020205020404" pitchFamily="49" charset="0"/>
              </a:rPr>
              <a:t>(</a:t>
            </a:r>
            <a:r>
              <a:rPr lang="ro-RO" sz="2000" b="1" i="0" noProof="0" dirty="0" err="1">
                <a:solidFill>
                  <a:srgbClr val="CCCCCC"/>
                </a:solidFill>
                <a:effectLst/>
                <a:latin typeface="Courier New" panose="02070309020205020404" pitchFamily="49" charset="0"/>
              </a:rPr>
              <a:t>sourceArray</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destinationArray</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length</a:t>
            </a:r>
            <a:r>
              <a:rPr lang="ro-RO" sz="2000" b="1" i="0" noProof="0" dirty="0">
                <a:solidFill>
                  <a:srgbClr val="CCCCCC"/>
                </a:solidFill>
                <a:effectLst/>
                <a:latin typeface="Courier New" panose="02070309020205020404" pitchFamily="49" charset="0"/>
              </a:rPr>
              <a:t>);</a:t>
            </a:r>
            <a:endParaRPr lang="ro-RO" sz="2000" b="1" noProof="0" dirty="0">
              <a:solidFill>
                <a:srgbClr val="00B0F0"/>
              </a:solidFill>
            </a:endParaRPr>
          </a:p>
          <a:p>
            <a:pPr algn="just"/>
            <a:r>
              <a:rPr lang="ro-RO" sz="2800" noProof="0" dirty="0">
                <a:solidFill>
                  <a:srgbClr val="00B0F0"/>
                </a:solidFill>
              </a:rPr>
              <a:t>Folosind Clone()</a:t>
            </a:r>
          </a:p>
          <a:p>
            <a:pPr marL="34290" indent="0" algn="just">
              <a:buNone/>
            </a:pPr>
            <a:r>
              <a:rPr lang="ro-RO" sz="2000" b="1" i="0" noProof="0" dirty="0" err="1">
                <a:solidFill>
                  <a:srgbClr val="CCCCCC"/>
                </a:solidFill>
                <a:effectLst/>
                <a:latin typeface="Courier New" panose="02070309020205020404" pitchFamily="49" charset="0"/>
              </a:rPr>
              <a:t>destinationArray</a:t>
            </a:r>
            <a:r>
              <a:rPr lang="ro-RO" sz="2000" b="1" i="0" noProof="0" dirty="0">
                <a:solidFill>
                  <a:srgbClr val="CCCCCC"/>
                </a:solidFill>
                <a:effectLst/>
                <a:latin typeface="Courier New" panose="02070309020205020404" pitchFamily="49" charset="0"/>
              </a:rPr>
              <a:t>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sourceArray.</a:t>
            </a:r>
            <a:r>
              <a:rPr lang="ro-RO" sz="2000" b="1" i="0" noProof="0" dirty="0" err="1">
                <a:solidFill>
                  <a:srgbClr val="F08D49"/>
                </a:solidFill>
                <a:effectLst/>
                <a:latin typeface="Courier New" panose="02070309020205020404" pitchFamily="49" charset="0"/>
              </a:rPr>
              <a:t>Clone</a:t>
            </a:r>
            <a:r>
              <a:rPr lang="ro-RO" sz="2000" b="1" i="0" noProof="0" dirty="0">
                <a:solidFill>
                  <a:srgbClr val="CCCCCC"/>
                </a:solidFill>
                <a:effectLst/>
                <a:latin typeface="Courier New" panose="02070309020205020404" pitchFamily="49" charset="0"/>
              </a:rPr>
              <a:t>() </a:t>
            </a:r>
            <a:r>
              <a:rPr lang="ro-RO" sz="2000" b="1" i="0" noProof="0" dirty="0">
                <a:solidFill>
                  <a:srgbClr val="CC99CD"/>
                </a:solidFill>
                <a:effectLst/>
                <a:latin typeface="Courier New" panose="02070309020205020404" pitchFamily="49" charset="0"/>
              </a:rPr>
              <a:t>as</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int</a:t>
            </a:r>
            <a:r>
              <a:rPr lang="ro-RO" sz="2000" b="1" i="0" noProof="0" dirty="0">
                <a:solidFill>
                  <a:srgbClr val="CCCCCC"/>
                </a:solidFill>
                <a:effectLst/>
                <a:latin typeface="Courier New" panose="02070309020205020404" pitchFamily="49" charset="0"/>
              </a:rPr>
              <a:t>[];</a:t>
            </a:r>
          </a:p>
          <a:p>
            <a:pPr marL="34290" indent="0" algn="just">
              <a:buNone/>
            </a:pPr>
            <a:endParaRPr lang="ro-RO" sz="2000" b="1" noProof="0" dirty="0">
              <a:solidFill>
                <a:srgbClr val="CCCCCC"/>
              </a:solidFill>
              <a:latin typeface="Courier New" panose="02070309020205020404" pitchFamily="49" charset="0"/>
            </a:endParaRPr>
          </a:p>
          <a:p>
            <a:pPr marL="34290" indent="0" algn="just">
              <a:buNone/>
            </a:pPr>
            <a:endParaRPr lang="ro-RO" sz="2000" b="1"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41705531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75FF2-9367-18EA-07A5-D3067BF7580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09A8E0F-1BA1-4758-BB3A-9DE404646220}"/>
              </a:ext>
            </a:extLst>
          </p:cNvPr>
          <p:cNvSpPr>
            <a:spLocks noGrp="1"/>
          </p:cNvSpPr>
          <p:nvPr>
            <p:ph type="title"/>
          </p:nvPr>
        </p:nvSpPr>
        <p:spPr>
          <a:xfrm>
            <a:off x="463925" y="582705"/>
            <a:ext cx="7819465" cy="504265"/>
          </a:xfrm>
        </p:spPr>
        <p:txBody>
          <a:bodyPr>
            <a:noAutofit/>
          </a:bodyPr>
          <a:lstStyle/>
          <a:p>
            <a:r>
              <a:rPr lang="ro-RO" sz="3200" noProof="0" dirty="0"/>
              <a:t>C# - Cursul 9</a:t>
            </a:r>
          </a:p>
        </p:txBody>
      </p:sp>
      <p:sp>
        <p:nvSpPr>
          <p:cNvPr id="5" name="Content Placeholder 4">
            <a:extLst>
              <a:ext uri="{FF2B5EF4-FFF2-40B4-BE49-F238E27FC236}">
                <a16:creationId xmlns:a16="http://schemas.microsoft.com/office/drawing/2014/main" id="{CDDAF631-72B0-D553-8678-FD420DD813F3}"/>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Arrays</a:t>
            </a:r>
            <a:r>
              <a:rPr lang="ro-RO" sz="2800" noProof="0" dirty="0">
                <a:solidFill>
                  <a:srgbClr val="00B0F0"/>
                </a:solidFill>
              </a:rPr>
              <a:t> (tablouri) în C# - copiere</a:t>
            </a:r>
          </a:p>
          <a:p>
            <a:pPr marL="34290" indent="0" algn="just">
              <a:buNone/>
            </a:pPr>
            <a:r>
              <a:rPr lang="ro-RO" sz="1800" b="1" i="0" noProof="0" dirty="0" err="1">
                <a:solidFill>
                  <a:srgbClr val="CC99CD"/>
                </a:solidFill>
                <a:effectLst/>
                <a:latin typeface="Courier New" panose="02070309020205020404" pitchFamily="49" charset="0"/>
              </a:rPr>
              <a:t>using</a:t>
            </a:r>
            <a:r>
              <a:rPr lang="ro-RO" sz="1800" b="1" i="0" noProof="0" dirty="0">
                <a:solidFill>
                  <a:srgbClr val="CCCCCC"/>
                </a:solidFill>
                <a:effectLst/>
                <a:latin typeface="Courier New" panose="02070309020205020404" pitchFamily="49" charset="0"/>
              </a:rPr>
              <a:t> </a:t>
            </a:r>
            <a:r>
              <a:rPr lang="ro-RO" sz="1800" b="1" i="0" noProof="0" dirty="0" err="1">
                <a:solidFill>
                  <a:srgbClr val="CCCCCC"/>
                </a:solidFill>
                <a:effectLst/>
                <a:latin typeface="Courier New" panose="02070309020205020404" pitchFamily="49" charset="0"/>
              </a:rPr>
              <a:t>System</a:t>
            </a:r>
            <a:r>
              <a:rPr lang="ro-RO" sz="1800" b="1" i="0" noProof="0" dirty="0">
                <a:solidFill>
                  <a:srgbClr val="CCCCCC"/>
                </a:solidFill>
                <a:effectLst/>
                <a:latin typeface="Courier New" panose="02070309020205020404" pitchFamily="49" charset="0"/>
              </a:rPr>
              <a:t>; </a:t>
            </a:r>
          </a:p>
          <a:p>
            <a:pPr marL="34290" indent="0" algn="just">
              <a:buNone/>
            </a:pPr>
            <a:r>
              <a:rPr lang="ro-RO" sz="1800" b="1" i="0" noProof="0" dirty="0" err="1">
                <a:solidFill>
                  <a:srgbClr val="CC99CD"/>
                </a:solidFill>
                <a:effectLst/>
                <a:latin typeface="Courier New" panose="02070309020205020404" pitchFamily="49" charset="0"/>
              </a:rPr>
              <a:t>namespace</a:t>
            </a:r>
            <a:r>
              <a:rPr lang="ro-RO" sz="1800" b="1" i="0" noProof="0" dirty="0">
                <a:solidFill>
                  <a:srgbClr val="CCCCCC"/>
                </a:solidFill>
                <a:effectLst/>
                <a:latin typeface="Courier New" panose="02070309020205020404" pitchFamily="49" charset="0"/>
              </a:rPr>
              <a:t> </a:t>
            </a:r>
            <a:r>
              <a:rPr lang="ro-RO" sz="1800" b="1" i="0" noProof="0" dirty="0" err="1">
                <a:solidFill>
                  <a:srgbClr val="CCCCCC"/>
                </a:solidFill>
                <a:effectLst/>
                <a:latin typeface="Courier New" panose="02070309020205020404" pitchFamily="49" charset="0"/>
              </a:rPr>
              <a:t>ArrayApplication</a:t>
            </a:r>
            <a:r>
              <a:rPr lang="ro-RO" sz="1800" b="1" i="0" noProof="0" dirty="0">
                <a:solidFill>
                  <a:srgbClr val="CCCCCC"/>
                </a:solidFill>
                <a:effectLst/>
                <a:latin typeface="Courier New" panose="02070309020205020404" pitchFamily="49" charset="0"/>
              </a:rPr>
              <a:t> { </a:t>
            </a:r>
          </a:p>
          <a:p>
            <a:pPr marL="34290" indent="0" algn="just">
              <a:buNone/>
            </a:pPr>
            <a:r>
              <a:rPr lang="ro-RO" sz="1800" b="1" i="0" noProof="0" dirty="0" err="1">
                <a:solidFill>
                  <a:srgbClr val="CC99CD"/>
                </a:solidFill>
                <a:effectLst/>
                <a:latin typeface="Courier New" panose="02070309020205020404" pitchFamily="49" charset="0"/>
              </a:rPr>
              <a:t>class</a:t>
            </a:r>
            <a:r>
              <a:rPr lang="ro-RO" sz="1800" b="1" i="0" noProof="0" dirty="0">
                <a:solidFill>
                  <a:srgbClr val="CCCCCC"/>
                </a:solidFill>
                <a:effectLst/>
                <a:latin typeface="Courier New" panose="02070309020205020404" pitchFamily="49" charset="0"/>
              </a:rPr>
              <a:t> </a:t>
            </a:r>
            <a:r>
              <a:rPr lang="ro-RO" sz="1800" b="1" i="0" noProof="0" dirty="0" err="1">
                <a:solidFill>
                  <a:srgbClr val="CCCCCC"/>
                </a:solidFill>
                <a:effectLst/>
                <a:latin typeface="Courier New" panose="02070309020205020404" pitchFamily="49" charset="0"/>
              </a:rPr>
              <a:t>CopyArray</a:t>
            </a:r>
            <a:r>
              <a:rPr lang="ro-RO" sz="1800" b="1" i="0" noProof="0" dirty="0">
                <a:solidFill>
                  <a:srgbClr val="CCCCCC"/>
                </a:solidFill>
                <a:effectLst/>
                <a:latin typeface="Courier New" panose="02070309020205020404" pitchFamily="49" charset="0"/>
              </a:rPr>
              <a:t> {</a:t>
            </a:r>
          </a:p>
          <a:p>
            <a:pPr marL="34290" indent="0" algn="just">
              <a:buNone/>
            </a:pPr>
            <a:r>
              <a:rPr lang="ro-RO" sz="1800" b="1" noProof="0" dirty="0">
                <a:solidFill>
                  <a:srgbClr val="CCCCCC"/>
                </a:solidFill>
                <a:latin typeface="Courier New" panose="02070309020205020404" pitchFamily="49" charset="0"/>
              </a:rPr>
              <a:t>  </a:t>
            </a:r>
            <a:r>
              <a:rPr lang="ro-RO" sz="1800" b="1" i="0" noProof="0" dirty="0">
                <a:solidFill>
                  <a:srgbClr val="CC99CD"/>
                </a:solidFill>
                <a:effectLst/>
                <a:latin typeface="Courier New" panose="02070309020205020404" pitchFamily="49" charset="0"/>
              </a:rPr>
              <a:t>static</a:t>
            </a:r>
            <a:r>
              <a:rPr lang="ro-RO" sz="1800" b="1" i="0" noProof="0" dirty="0">
                <a:solidFill>
                  <a:srgbClr val="CCCCCC"/>
                </a:solidFill>
                <a:effectLst/>
                <a:latin typeface="Courier New" panose="02070309020205020404" pitchFamily="49" charset="0"/>
              </a:rPr>
              <a:t> </a:t>
            </a:r>
            <a:r>
              <a:rPr lang="ro-RO" sz="1800" b="1" i="0" noProof="0" dirty="0" err="1">
                <a:solidFill>
                  <a:srgbClr val="CC99CD"/>
                </a:solidFill>
                <a:effectLst/>
                <a:latin typeface="Courier New" panose="02070309020205020404" pitchFamily="49" charset="0"/>
              </a:rPr>
              <a:t>void</a:t>
            </a:r>
            <a:r>
              <a:rPr lang="ro-RO" sz="1800" b="1" i="0" noProof="0" dirty="0">
                <a:solidFill>
                  <a:srgbClr val="CCCCCC"/>
                </a:solidFill>
                <a:effectLst/>
                <a:latin typeface="Courier New" panose="02070309020205020404" pitchFamily="49" charset="0"/>
              </a:rPr>
              <a:t> </a:t>
            </a:r>
            <a:r>
              <a:rPr lang="ro-RO" sz="1800" b="1" i="0" noProof="0" dirty="0">
                <a:solidFill>
                  <a:srgbClr val="F08D49"/>
                </a:solidFill>
                <a:effectLst/>
                <a:latin typeface="Courier New" panose="02070309020205020404" pitchFamily="49" charset="0"/>
              </a:rPr>
              <a:t>Main</a:t>
            </a:r>
            <a:r>
              <a:rPr lang="ro-RO" sz="1800" b="1" i="0" noProof="0" dirty="0">
                <a:solidFill>
                  <a:srgbClr val="CCCCCC"/>
                </a:solidFill>
                <a:effectLst/>
                <a:latin typeface="Courier New" panose="02070309020205020404" pitchFamily="49" charset="0"/>
              </a:rPr>
              <a:t>(</a:t>
            </a:r>
            <a:r>
              <a:rPr lang="ro-RO" sz="1800" b="1" i="0" noProof="0" dirty="0" err="1">
                <a:solidFill>
                  <a:srgbClr val="CC99CD"/>
                </a:solidFill>
                <a:effectLst/>
                <a:latin typeface="Courier New" panose="02070309020205020404" pitchFamily="49" charset="0"/>
              </a:rPr>
              <a:t>string</a:t>
            </a:r>
            <a:r>
              <a:rPr lang="ro-RO" sz="1800" b="1" i="0" noProof="0" dirty="0">
                <a:solidFill>
                  <a:srgbClr val="CCCCCC"/>
                </a:solidFill>
                <a:effectLst/>
                <a:latin typeface="Courier New" panose="02070309020205020404" pitchFamily="49" charset="0"/>
              </a:rPr>
              <a:t>[] </a:t>
            </a:r>
            <a:r>
              <a:rPr lang="ro-RO" sz="1800" b="1" i="0" noProof="0" dirty="0" err="1">
                <a:solidFill>
                  <a:srgbClr val="CCCCCC"/>
                </a:solidFill>
                <a:effectLst/>
                <a:latin typeface="Courier New" panose="02070309020205020404" pitchFamily="49" charset="0"/>
              </a:rPr>
              <a:t>args</a:t>
            </a:r>
            <a:r>
              <a:rPr lang="ro-RO" sz="1800" b="1" i="0" noProof="0" dirty="0">
                <a:solidFill>
                  <a:srgbClr val="CCCCCC"/>
                </a:solidFill>
                <a:effectLst/>
                <a:latin typeface="Courier New" panose="02070309020205020404" pitchFamily="49" charset="0"/>
              </a:rPr>
              <a:t>) {</a:t>
            </a:r>
          </a:p>
          <a:p>
            <a:pPr marL="34290" indent="0" algn="just">
              <a:buNone/>
            </a:pPr>
            <a:r>
              <a:rPr lang="ro-RO" sz="1800" b="1" noProof="0" dirty="0">
                <a:solidFill>
                  <a:srgbClr val="CCCCCC"/>
                </a:solidFill>
                <a:latin typeface="Courier New" panose="02070309020205020404" pitchFamily="49" charset="0"/>
              </a:rPr>
              <a:t>   </a:t>
            </a:r>
            <a:r>
              <a:rPr lang="ro-RO" sz="1800" b="1" i="0" noProof="0" dirty="0">
                <a:solidFill>
                  <a:srgbClr val="CCCCCC"/>
                </a:solidFill>
                <a:effectLst/>
                <a:latin typeface="Courier New" panose="02070309020205020404" pitchFamily="49" charset="0"/>
              </a:rPr>
              <a:t> </a:t>
            </a:r>
            <a:r>
              <a:rPr lang="ro-RO" sz="1800" b="1" i="0" noProof="0" dirty="0" err="1">
                <a:solidFill>
                  <a:srgbClr val="CC99CD"/>
                </a:solidFill>
                <a:effectLst/>
                <a:latin typeface="Courier New" panose="02070309020205020404" pitchFamily="49" charset="0"/>
              </a:rPr>
              <a:t>int</a:t>
            </a:r>
            <a:r>
              <a:rPr lang="ro-RO" sz="1800" b="1" i="0" noProof="0" dirty="0">
                <a:solidFill>
                  <a:srgbClr val="CCCCCC"/>
                </a:solidFill>
                <a:effectLst/>
                <a:latin typeface="Courier New" panose="02070309020205020404" pitchFamily="49" charset="0"/>
              </a:rPr>
              <a:t>[] </a:t>
            </a:r>
            <a:r>
              <a:rPr lang="ro-RO" sz="1800" b="1" i="0" noProof="0" dirty="0" err="1">
                <a:solidFill>
                  <a:srgbClr val="CCCCCC"/>
                </a:solidFill>
                <a:effectLst/>
                <a:latin typeface="Courier New" panose="02070309020205020404" pitchFamily="49" charset="0"/>
              </a:rPr>
              <a:t>sourceArray</a:t>
            </a:r>
            <a:r>
              <a:rPr lang="ro-RO" sz="1800" b="1" i="0" noProof="0" dirty="0">
                <a:solidFill>
                  <a:srgbClr val="CCCCCC"/>
                </a:solidFill>
                <a:effectLst/>
                <a:latin typeface="Courier New" panose="02070309020205020404" pitchFamily="49" charset="0"/>
              </a:rPr>
              <a:t> </a:t>
            </a:r>
            <a:r>
              <a:rPr lang="ro-RO" sz="1800" b="1" i="0" noProof="0" dirty="0">
                <a:solidFill>
                  <a:srgbClr val="67CDCC"/>
                </a:solidFill>
                <a:effectLst/>
                <a:latin typeface="Courier New" panose="02070309020205020404" pitchFamily="49" charset="0"/>
              </a:rPr>
              <a:t>=</a:t>
            </a:r>
            <a:r>
              <a:rPr lang="ro-RO" sz="1800" b="1" i="0" noProof="0" dirty="0">
                <a:solidFill>
                  <a:srgbClr val="CCCCCC"/>
                </a:solidFill>
                <a:effectLst/>
                <a:latin typeface="Courier New" panose="02070309020205020404" pitchFamily="49" charset="0"/>
              </a:rPr>
              <a:t> { </a:t>
            </a:r>
            <a:r>
              <a:rPr lang="ro-RO" sz="1800" b="1" i="0" noProof="0" dirty="0">
                <a:solidFill>
                  <a:srgbClr val="F08D49"/>
                </a:solidFill>
                <a:effectLst/>
                <a:latin typeface="Courier New" panose="02070309020205020404" pitchFamily="49" charset="0"/>
              </a:rPr>
              <a:t>1</a:t>
            </a:r>
            <a:r>
              <a:rPr lang="ro-RO" sz="1800" b="1" i="0" noProof="0" dirty="0">
                <a:solidFill>
                  <a:srgbClr val="CCCCCC"/>
                </a:solidFill>
                <a:effectLst/>
                <a:latin typeface="Courier New" panose="02070309020205020404" pitchFamily="49" charset="0"/>
              </a:rPr>
              <a:t>, </a:t>
            </a:r>
            <a:r>
              <a:rPr lang="ro-RO" sz="1800" b="1" i="0" noProof="0" dirty="0">
                <a:solidFill>
                  <a:srgbClr val="F08D49"/>
                </a:solidFill>
                <a:effectLst/>
                <a:latin typeface="Courier New" panose="02070309020205020404" pitchFamily="49" charset="0"/>
              </a:rPr>
              <a:t>2</a:t>
            </a:r>
            <a:r>
              <a:rPr lang="ro-RO" sz="1800" b="1" i="0" noProof="0" dirty="0">
                <a:solidFill>
                  <a:srgbClr val="CCCCCC"/>
                </a:solidFill>
                <a:effectLst/>
                <a:latin typeface="Courier New" panose="02070309020205020404" pitchFamily="49" charset="0"/>
              </a:rPr>
              <a:t>, </a:t>
            </a:r>
            <a:r>
              <a:rPr lang="ro-RO" sz="1800" b="1" i="0" noProof="0" dirty="0">
                <a:solidFill>
                  <a:srgbClr val="F08D49"/>
                </a:solidFill>
                <a:effectLst/>
                <a:latin typeface="Courier New" panose="02070309020205020404" pitchFamily="49" charset="0"/>
              </a:rPr>
              <a:t>3</a:t>
            </a:r>
            <a:r>
              <a:rPr lang="ro-RO" sz="1800" b="1" i="0" noProof="0" dirty="0">
                <a:solidFill>
                  <a:srgbClr val="CCCCCC"/>
                </a:solidFill>
                <a:effectLst/>
                <a:latin typeface="Courier New" panose="02070309020205020404" pitchFamily="49" charset="0"/>
              </a:rPr>
              <a:t>, </a:t>
            </a:r>
            <a:r>
              <a:rPr lang="ro-RO" sz="1800" b="1" i="0" noProof="0" dirty="0">
                <a:solidFill>
                  <a:srgbClr val="F08D49"/>
                </a:solidFill>
                <a:effectLst/>
                <a:latin typeface="Courier New" panose="02070309020205020404" pitchFamily="49" charset="0"/>
              </a:rPr>
              <a:t>4</a:t>
            </a:r>
            <a:r>
              <a:rPr lang="ro-RO" sz="1800" b="1" i="0" noProof="0" dirty="0">
                <a:solidFill>
                  <a:srgbClr val="CCCCCC"/>
                </a:solidFill>
                <a:effectLst/>
                <a:latin typeface="Courier New" panose="02070309020205020404" pitchFamily="49" charset="0"/>
              </a:rPr>
              <a:t>, </a:t>
            </a:r>
            <a:r>
              <a:rPr lang="ro-RO" sz="1800" b="1" i="0" noProof="0" dirty="0">
                <a:solidFill>
                  <a:srgbClr val="F08D49"/>
                </a:solidFill>
                <a:effectLst/>
                <a:latin typeface="Courier New" panose="02070309020205020404" pitchFamily="49" charset="0"/>
              </a:rPr>
              <a:t>5</a:t>
            </a:r>
            <a:r>
              <a:rPr lang="ro-RO" sz="1800" b="1" i="0" noProof="0" dirty="0">
                <a:solidFill>
                  <a:srgbClr val="CCCCCC"/>
                </a:solidFill>
                <a:effectLst/>
                <a:latin typeface="Courier New" panose="02070309020205020404" pitchFamily="49" charset="0"/>
              </a:rPr>
              <a:t> }; </a:t>
            </a:r>
          </a:p>
          <a:p>
            <a:pPr marL="34290" indent="0">
              <a:buNone/>
            </a:pPr>
            <a:r>
              <a:rPr lang="ro-RO" sz="1800" b="1" noProof="0" dirty="0">
                <a:solidFill>
                  <a:srgbClr val="CCCCCC"/>
                </a:solidFill>
                <a:latin typeface="Courier New" panose="02070309020205020404" pitchFamily="49" charset="0"/>
              </a:rPr>
              <a:t>    </a:t>
            </a:r>
            <a:r>
              <a:rPr lang="ro-RO" sz="1800" b="1" i="0" noProof="0" dirty="0" err="1">
                <a:solidFill>
                  <a:srgbClr val="CC99CD"/>
                </a:solidFill>
                <a:effectLst/>
                <a:latin typeface="Courier New" panose="02070309020205020404" pitchFamily="49" charset="0"/>
              </a:rPr>
              <a:t>int</a:t>
            </a:r>
            <a:r>
              <a:rPr lang="ro-RO" sz="1800" b="1" i="0" noProof="0" dirty="0">
                <a:solidFill>
                  <a:srgbClr val="CCCCCC"/>
                </a:solidFill>
                <a:effectLst/>
                <a:latin typeface="Courier New" panose="02070309020205020404" pitchFamily="49" charset="0"/>
              </a:rPr>
              <a:t>[] </a:t>
            </a:r>
            <a:r>
              <a:rPr lang="ro-RO" sz="1800" b="1" i="0" noProof="0" dirty="0" err="1">
                <a:solidFill>
                  <a:srgbClr val="CCCCCC"/>
                </a:solidFill>
                <a:effectLst/>
                <a:latin typeface="Courier New" panose="02070309020205020404" pitchFamily="49" charset="0"/>
              </a:rPr>
              <a:t>destinationArray</a:t>
            </a:r>
            <a:r>
              <a:rPr lang="ro-RO" sz="1800" b="1" i="0" noProof="0" dirty="0">
                <a:solidFill>
                  <a:srgbClr val="CCCCCC"/>
                </a:solidFill>
                <a:effectLst/>
                <a:latin typeface="Courier New" panose="02070309020205020404" pitchFamily="49" charset="0"/>
              </a:rPr>
              <a:t> </a:t>
            </a:r>
            <a:r>
              <a:rPr lang="ro-RO" sz="1800" b="1" i="0" noProof="0" dirty="0">
                <a:solidFill>
                  <a:srgbClr val="67CDCC"/>
                </a:solidFill>
                <a:effectLst/>
                <a:latin typeface="Courier New" panose="02070309020205020404" pitchFamily="49" charset="0"/>
              </a:rPr>
              <a:t>=</a:t>
            </a:r>
            <a:r>
              <a:rPr lang="ro-RO" sz="1800" b="1" i="0" noProof="0" dirty="0">
                <a:solidFill>
                  <a:srgbClr val="CCCCCC"/>
                </a:solidFill>
                <a:effectLst/>
                <a:latin typeface="Courier New" panose="02070309020205020404" pitchFamily="49" charset="0"/>
              </a:rPr>
              <a:t> </a:t>
            </a:r>
            <a:r>
              <a:rPr lang="ro-RO" sz="1800" b="1" i="0" noProof="0" dirty="0" err="1">
                <a:solidFill>
                  <a:srgbClr val="CC99CD"/>
                </a:solidFill>
                <a:effectLst/>
                <a:latin typeface="Courier New" panose="02070309020205020404" pitchFamily="49" charset="0"/>
              </a:rPr>
              <a:t>new</a:t>
            </a:r>
            <a:r>
              <a:rPr lang="ro-RO" sz="1800" b="1" i="0" noProof="0" dirty="0">
                <a:solidFill>
                  <a:srgbClr val="CCCCCC"/>
                </a:solidFill>
                <a:effectLst/>
                <a:latin typeface="Courier New" panose="02070309020205020404" pitchFamily="49" charset="0"/>
              </a:rPr>
              <a:t> </a:t>
            </a:r>
            <a:r>
              <a:rPr lang="ro-RO" sz="1800" b="1" i="0" noProof="0" dirty="0" err="1">
                <a:solidFill>
                  <a:srgbClr val="CC99CD"/>
                </a:solidFill>
                <a:effectLst/>
                <a:latin typeface="Courier New" panose="02070309020205020404" pitchFamily="49" charset="0"/>
              </a:rPr>
              <a:t>int</a:t>
            </a:r>
            <a:r>
              <a:rPr lang="ro-RO" sz="1800" b="1" i="0" noProof="0" dirty="0">
                <a:solidFill>
                  <a:srgbClr val="CCCCCC"/>
                </a:solidFill>
                <a:effectLst/>
                <a:latin typeface="Courier New" panose="02070309020205020404" pitchFamily="49" charset="0"/>
              </a:rPr>
              <a:t>[</a:t>
            </a:r>
            <a:r>
              <a:rPr lang="ro-RO" sz="1800" b="1" i="0" noProof="0" dirty="0" err="1">
                <a:solidFill>
                  <a:srgbClr val="CCCCCC"/>
                </a:solidFill>
                <a:effectLst/>
                <a:latin typeface="Courier New" panose="02070309020205020404" pitchFamily="49" charset="0"/>
              </a:rPr>
              <a:t>sourceArray.Length</a:t>
            </a:r>
            <a:r>
              <a:rPr lang="ro-RO" sz="1800" b="1" i="0" noProof="0" dirty="0">
                <a:solidFill>
                  <a:srgbClr val="CCCCCC"/>
                </a:solidFill>
                <a:effectLst/>
                <a:latin typeface="Courier New" panose="02070309020205020404" pitchFamily="49" charset="0"/>
              </a:rPr>
              <a:t>]; </a:t>
            </a:r>
          </a:p>
          <a:p>
            <a:pPr marL="34290" indent="0">
              <a:buNone/>
            </a:pPr>
            <a:r>
              <a:rPr lang="ro-RO" sz="1800" b="1" noProof="0" dirty="0">
                <a:solidFill>
                  <a:srgbClr val="CCCCCC"/>
                </a:solidFill>
                <a:latin typeface="Courier New" panose="02070309020205020404" pitchFamily="49" charset="0"/>
              </a:rPr>
              <a:t>   </a:t>
            </a:r>
            <a:r>
              <a:rPr lang="ro-RO" sz="1800" b="1" i="0" noProof="0" dirty="0">
                <a:solidFill>
                  <a:srgbClr val="CCCCCC"/>
                </a:solidFill>
                <a:effectLst/>
                <a:latin typeface="Courier New" panose="02070309020205020404" pitchFamily="49" charset="0"/>
              </a:rPr>
              <a:t> </a:t>
            </a:r>
            <a:r>
              <a:rPr lang="ro-RO" sz="1800" b="1" i="0" noProof="0" dirty="0" err="1">
                <a:solidFill>
                  <a:srgbClr val="CCCCCC"/>
                </a:solidFill>
                <a:effectLst/>
                <a:latin typeface="Courier New" panose="02070309020205020404" pitchFamily="49" charset="0"/>
              </a:rPr>
              <a:t>Array.</a:t>
            </a:r>
            <a:r>
              <a:rPr lang="ro-RO" sz="1800" b="1" i="0" noProof="0" dirty="0" err="1">
                <a:solidFill>
                  <a:srgbClr val="F08D49"/>
                </a:solidFill>
                <a:effectLst/>
                <a:latin typeface="Courier New" panose="02070309020205020404" pitchFamily="49" charset="0"/>
              </a:rPr>
              <a:t>Copy</a:t>
            </a:r>
            <a:r>
              <a:rPr lang="ro-RO" sz="1800" b="1" i="0" noProof="0" dirty="0">
                <a:solidFill>
                  <a:srgbClr val="CCCCCC"/>
                </a:solidFill>
                <a:effectLst/>
                <a:latin typeface="Courier New" panose="02070309020205020404" pitchFamily="49" charset="0"/>
              </a:rPr>
              <a:t>(</a:t>
            </a:r>
            <a:r>
              <a:rPr lang="ro-RO" sz="1800" b="1" i="0" noProof="0" dirty="0" err="1">
                <a:solidFill>
                  <a:srgbClr val="CCCCCC"/>
                </a:solidFill>
                <a:effectLst/>
                <a:latin typeface="Courier New" panose="02070309020205020404" pitchFamily="49" charset="0"/>
              </a:rPr>
              <a:t>sourceArray</a:t>
            </a:r>
            <a:r>
              <a:rPr lang="ro-RO" sz="1800" b="1" i="0" noProof="0" dirty="0">
                <a:solidFill>
                  <a:srgbClr val="CCCCCC"/>
                </a:solidFill>
                <a:effectLst/>
                <a:latin typeface="Courier New" panose="02070309020205020404" pitchFamily="49" charset="0"/>
              </a:rPr>
              <a:t>, </a:t>
            </a:r>
            <a:r>
              <a:rPr lang="ro-RO" sz="1800" b="1" i="0" noProof="0" dirty="0" err="1">
                <a:solidFill>
                  <a:srgbClr val="CCCCCC"/>
                </a:solidFill>
                <a:effectLst/>
                <a:latin typeface="Courier New" panose="02070309020205020404" pitchFamily="49" charset="0"/>
              </a:rPr>
              <a:t>destinationArray</a:t>
            </a:r>
            <a:r>
              <a:rPr lang="ro-RO" sz="1800" b="1" i="0" noProof="0" dirty="0">
                <a:solidFill>
                  <a:srgbClr val="CCCCCC"/>
                </a:solidFill>
                <a:effectLst/>
                <a:latin typeface="Courier New" panose="02070309020205020404" pitchFamily="49" charset="0"/>
              </a:rPr>
              <a:t>, </a:t>
            </a:r>
          </a:p>
          <a:p>
            <a:pPr marL="34290" indent="0">
              <a:buNone/>
            </a:pPr>
            <a:r>
              <a:rPr lang="ro-RO" sz="1800" b="1" noProof="0" dirty="0">
                <a:solidFill>
                  <a:srgbClr val="CCCCCC"/>
                </a:solidFill>
                <a:latin typeface="Courier New" panose="02070309020205020404" pitchFamily="49" charset="0"/>
              </a:rPr>
              <a:t>    </a:t>
            </a:r>
            <a:r>
              <a:rPr lang="ro-RO" sz="1800" b="1" i="0" noProof="0" dirty="0" err="1">
                <a:solidFill>
                  <a:srgbClr val="CCCCCC"/>
                </a:solidFill>
                <a:effectLst/>
                <a:latin typeface="Courier New" panose="02070309020205020404" pitchFamily="49" charset="0"/>
              </a:rPr>
              <a:t>sourceArray.Length</a:t>
            </a:r>
            <a:r>
              <a:rPr lang="ro-RO" sz="1800" b="1" i="0" noProof="0" dirty="0">
                <a:solidFill>
                  <a:srgbClr val="CCCCCC"/>
                </a:solidFill>
                <a:effectLst/>
                <a:latin typeface="Courier New" panose="02070309020205020404" pitchFamily="49" charset="0"/>
              </a:rPr>
              <a:t>); </a:t>
            </a:r>
          </a:p>
          <a:p>
            <a:pPr marL="34290" indent="0" algn="just">
              <a:buNone/>
            </a:pPr>
            <a:r>
              <a:rPr lang="ro-RO" sz="1800" b="1" noProof="0" dirty="0">
                <a:solidFill>
                  <a:srgbClr val="CCCCCC"/>
                </a:solidFill>
                <a:latin typeface="Courier New" panose="02070309020205020404" pitchFamily="49" charset="0"/>
              </a:rPr>
              <a:t>    </a:t>
            </a:r>
            <a:r>
              <a:rPr lang="ro-RO" sz="1800" b="1" i="0" noProof="0" dirty="0" err="1">
                <a:solidFill>
                  <a:srgbClr val="CCCCCC"/>
                </a:solidFill>
                <a:effectLst/>
                <a:latin typeface="Courier New" panose="02070309020205020404" pitchFamily="49" charset="0"/>
              </a:rPr>
              <a:t>Console.</a:t>
            </a:r>
            <a:r>
              <a:rPr lang="ro-RO" sz="1800" b="1" i="0" noProof="0" dirty="0" err="1">
                <a:solidFill>
                  <a:srgbClr val="F08D49"/>
                </a:solidFill>
                <a:effectLst/>
                <a:latin typeface="Courier New" panose="02070309020205020404" pitchFamily="49" charset="0"/>
              </a:rPr>
              <a:t>WriteLine</a:t>
            </a:r>
            <a:r>
              <a:rPr lang="ro-RO" sz="1800" b="1" i="0" noProof="0" dirty="0">
                <a:solidFill>
                  <a:srgbClr val="CCCCCC"/>
                </a:solidFill>
                <a:effectLst/>
                <a:latin typeface="Courier New" panose="02070309020205020404" pitchFamily="49" charset="0"/>
              </a:rPr>
              <a:t>(</a:t>
            </a:r>
            <a:r>
              <a:rPr lang="ro-RO" sz="1800" b="1" i="0" noProof="0" dirty="0">
                <a:solidFill>
                  <a:srgbClr val="7EC699"/>
                </a:solidFill>
                <a:effectLst/>
                <a:latin typeface="Courier New" panose="02070309020205020404" pitchFamily="49" charset="0"/>
              </a:rPr>
              <a:t>"</a:t>
            </a:r>
            <a:r>
              <a:rPr lang="ro-RO" sz="1800" b="1" i="0" noProof="0" dirty="0" err="1">
                <a:solidFill>
                  <a:srgbClr val="7EC699"/>
                </a:solidFill>
                <a:effectLst/>
                <a:latin typeface="Courier New" panose="02070309020205020404" pitchFamily="49" charset="0"/>
              </a:rPr>
              <a:t>Copied</a:t>
            </a:r>
            <a:r>
              <a:rPr lang="ro-RO" sz="1800" b="1" i="0" noProof="0" dirty="0">
                <a:solidFill>
                  <a:srgbClr val="7EC699"/>
                </a:solidFill>
                <a:effectLst/>
                <a:latin typeface="Courier New" panose="02070309020205020404" pitchFamily="49" charset="0"/>
              </a:rPr>
              <a:t> </a:t>
            </a:r>
            <a:r>
              <a:rPr lang="ro-RO" sz="1800" b="1" i="0" noProof="0" dirty="0" err="1">
                <a:solidFill>
                  <a:srgbClr val="7EC699"/>
                </a:solidFill>
                <a:effectLst/>
                <a:latin typeface="Courier New" panose="02070309020205020404" pitchFamily="49" charset="0"/>
              </a:rPr>
              <a:t>Array</a:t>
            </a:r>
            <a:r>
              <a:rPr lang="ro-RO" sz="1800" b="1" i="0" noProof="0" dirty="0">
                <a:solidFill>
                  <a:srgbClr val="7EC699"/>
                </a:solidFill>
                <a:effectLst/>
                <a:latin typeface="Courier New" panose="02070309020205020404" pitchFamily="49" charset="0"/>
              </a:rPr>
              <a:t>:"</a:t>
            </a:r>
            <a:r>
              <a:rPr lang="ro-RO" sz="1800" b="1" i="0" noProof="0" dirty="0">
                <a:solidFill>
                  <a:srgbClr val="CCCCCC"/>
                </a:solidFill>
                <a:effectLst/>
                <a:latin typeface="Courier New" panose="02070309020205020404" pitchFamily="49" charset="0"/>
              </a:rPr>
              <a:t>); </a:t>
            </a:r>
          </a:p>
          <a:p>
            <a:pPr marL="34290" indent="0" algn="just">
              <a:buNone/>
            </a:pPr>
            <a:r>
              <a:rPr lang="ro-RO" sz="1800" b="1" noProof="0" dirty="0">
                <a:solidFill>
                  <a:srgbClr val="CCCCCC"/>
                </a:solidFill>
                <a:latin typeface="Courier New" panose="02070309020205020404" pitchFamily="49" charset="0"/>
              </a:rPr>
              <a:t>    </a:t>
            </a:r>
            <a:r>
              <a:rPr lang="ro-RO" sz="1800" b="1" i="0" noProof="0" dirty="0" err="1">
                <a:solidFill>
                  <a:srgbClr val="CC99CD"/>
                </a:solidFill>
                <a:effectLst/>
                <a:latin typeface="Courier New" panose="02070309020205020404" pitchFamily="49" charset="0"/>
              </a:rPr>
              <a:t>foreach</a:t>
            </a:r>
            <a:r>
              <a:rPr lang="ro-RO" sz="1800" b="1" i="0" noProof="0" dirty="0">
                <a:solidFill>
                  <a:srgbClr val="CCCCCC"/>
                </a:solidFill>
                <a:effectLst/>
                <a:latin typeface="Courier New" panose="02070309020205020404" pitchFamily="49" charset="0"/>
              </a:rPr>
              <a:t> (</a:t>
            </a:r>
            <a:r>
              <a:rPr lang="ro-RO" sz="1800" b="1" i="0" noProof="0" dirty="0" err="1">
                <a:solidFill>
                  <a:srgbClr val="CC99CD"/>
                </a:solidFill>
                <a:effectLst/>
                <a:latin typeface="Courier New" panose="02070309020205020404" pitchFamily="49" charset="0"/>
              </a:rPr>
              <a:t>int</a:t>
            </a:r>
            <a:r>
              <a:rPr lang="ro-RO" sz="1800" b="1" i="0" noProof="0" dirty="0">
                <a:solidFill>
                  <a:srgbClr val="CCCCCC"/>
                </a:solidFill>
                <a:effectLst/>
                <a:latin typeface="Courier New" panose="02070309020205020404" pitchFamily="49" charset="0"/>
              </a:rPr>
              <a:t> num </a:t>
            </a:r>
            <a:r>
              <a:rPr lang="ro-RO" sz="1800" b="1" i="0" noProof="0" dirty="0">
                <a:solidFill>
                  <a:srgbClr val="CC99CD"/>
                </a:solidFill>
                <a:effectLst/>
                <a:latin typeface="Courier New" panose="02070309020205020404" pitchFamily="49" charset="0"/>
              </a:rPr>
              <a:t>in</a:t>
            </a:r>
            <a:r>
              <a:rPr lang="ro-RO" sz="1800" b="1" i="0" noProof="0" dirty="0">
                <a:solidFill>
                  <a:srgbClr val="CCCCCC"/>
                </a:solidFill>
                <a:effectLst/>
                <a:latin typeface="Courier New" panose="02070309020205020404" pitchFamily="49" charset="0"/>
              </a:rPr>
              <a:t> </a:t>
            </a:r>
            <a:r>
              <a:rPr lang="ro-RO" sz="1800" b="1" i="0" noProof="0" dirty="0" err="1">
                <a:solidFill>
                  <a:srgbClr val="CCCCCC"/>
                </a:solidFill>
                <a:effectLst/>
                <a:latin typeface="Courier New" panose="02070309020205020404" pitchFamily="49" charset="0"/>
              </a:rPr>
              <a:t>destinationArray</a:t>
            </a:r>
            <a:r>
              <a:rPr lang="ro-RO" sz="1800" b="1" i="0" noProof="0" dirty="0">
                <a:solidFill>
                  <a:srgbClr val="CCCCCC"/>
                </a:solidFill>
                <a:effectLst/>
                <a:latin typeface="Courier New" panose="02070309020205020404" pitchFamily="49" charset="0"/>
              </a:rPr>
              <a:t>) {</a:t>
            </a:r>
          </a:p>
          <a:p>
            <a:pPr marL="34290" indent="0" algn="just">
              <a:buNone/>
            </a:pPr>
            <a:r>
              <a:rPr lang="ro-RO" sz="1800" b="1" noProof="0" dirty="0">
                <a:solidFill>
                  <a:srgbClr val="CCCCCC"/>
                </a:solidFill>
                <a:latin typeface="Courier New" panose="02070309020205020404" pitchFamily="49" charset="0"/>
              </a:rPr>
              <a:t>     </a:t>
            </a:r>
            <a:r>
              <a:rPr lang="ro-RO" sz="1800" b="1" i="0" noProof="0" dirty="0">
                <a:solidFill>
                  <a:srgbClr val="CCCCCC"/>
                </a:solidFill>
                <a:effectLst/>
                <a:latin typeface="Courier New" panose="02070309020205020404" pitchFamily="49" charset="0"/>
              </a:rPr>
              <a:t> </a:t>
            </a:r>
            <a:r>
              <a:rPr lang="ro-RO" sz="1800" b="1" i="0" noProof="0" dirty="0" err="1">
                <a:solidFill>
                  <a:srgbClr val="CCCCCC"/>
                </a:solidFill>
                <a:effectLst/>
                <a:latin typeface="Courier New" panose="02070309020205020404" pitchFamily="49" charset="0"/>
              </a:rPr>
              <a:t>Console.</a:t>
            </a:r>
            <a:r>
              <a:rPr lang="ro-RO" sz="1800" b="1" i="0" noProof="0" dirty="0" err="1">
                <a:solidFill>
                  <a:srgbClr val="F08D49"/>
                </a:solidFill>
                <a:effectLst/>
                <a:latin typeface="Courier New" panose="02070309020205020404" pitchFamily="49" charset="0"/>
              </a:rPr>
              <a:t>Write</a:t>
            </a:r>
            <a:r>
              <a:rPr lang="ro-RO" sz="1800" b="1" i="0" noProof="0" dirty="0">
                <a:solidFill>
                  <a:srgbClr val="CCCCCC"/>
                </a:solidFill>
                <a:effectLst/>
                <a:latin typeface="Courier New" panose="02070309020205020404" pitchFamily="49" charset="0"/>
              </a:rPr>
              <a:t>(num </a:t>
            </a:r>
            <a:r>
              <a:rPr lang="ro-RO" sz="1800" b="1" i="0" noProof="0" dirty="0">
                <a:solidFill>
                  <a:srgbClr val="67CDCC"/>
                </a:solidFill>
                <a:effectLst/>
                <a:latin typeface="Courier New" panose="02070309020205020404" pitchFamily="49" charset="0"/>
              </a:rPr>
              <a:t>+</a:t>
            </a:r>
            <a:r>
              <a:rPr lang="ro-RO" sz="1800" b="1" i="0" noProof="0" dirty="0">
                <a:solidFill>
                  <a:srgbClr val="CCCCCC"/>
                </a:solidFill>
                <a:effectLst/>
                <a:latin typeface="Courier New" panose="02070309020205020404" pitchFamily="49" charset="0"/>
              </a:rPr>
              <a:t> </a:t>
            </a:r>
            <a:r>
              <a:rPr lang="ro-RO" sz="1800" b="1" i="0" noProof="0" dirty="0">
                <a:solidFill>
                  <a:srgbClr val="7EC699"/>
                </a:solidFill>
                <a:effectLst/>
                <a:latin typeface="Courier New" panose="02070309020205020404" pitchFamily="49" charset="0"/>
              </a:rPr>
              <a:t>" "</a:t>
            </a:r>
            <a:r>
              <a:rPr lang="ro-RO" sz="1800" b="1" i="0" noProof="0" dirty="0">
                <a:solidFill>
                  <a:srgbClr val="CCCCCC"/>
                </a:solidFill>
                <a:effectLst/>
                <a:latin typeface="Courier New" panose="02070309020205020404" pitchFamily="49" charset="0"/>
              </a:rPr>
              <a:t>); </a:t>
            </a:r>
          </a:p>
          <a:p>
            <a:pPr marL="34290" indent="0" algn="just">
              <a:buNone/>
            </a:pPr>
            <a:r>
              <a:rPr lang="ro-RO" sz="1800" b="1" noProof="0" dirty="0">
                <a:solidFill>
                  <a:srgbClr val="CCCCCC"/>
                </a:solidFill>
                <a:latin typeface="Courier New" panose="02070309020205020404" pitchFamily="49" charset="0"/>
              </a:rPr>
              <a:t>    </a:t>
            </a:r>
            <a:r>
              <a:rPr lang="ro-RO" sz="1800" b="1" i="0" noProof="0" dirty="0">
                <a:solidFill>
                  <a:srgbClr val="CCCCCC"/>
                </a:solidFill>
                <a:effectLst/>
                <a:latin typeface="Courier New" panose="02070309020205020404" pitchFamily="49" charset="0"/>
              </a:rPr>
              <a:t>} </a:t>
            </a:r>
          </a:p>
          <a:p>
            <a:pPr marL="34290" indent="0" algn="just">
              <a:buNone/>
            </a:pPr>
            <a:r>
              <a:rPr lang="ro-RO" sz="1800" b="1" noProof="0" dirty="0">
                <a:solidFill>
                  <a:srgbClr val="CCCCCC"/>
                </a:solidFill>
                <a:latin typeface="Courier New" panose="02070309020205020404" pitchFamily="49" charset="0"/>
              </a:rPr>
              <a:t>  </a:t>
            </a:r>
            <a:r>
              <a:rPr lang="ro-RO" sz="1800" b="1" i="0" noProof="0" dirty="0">
                <a:solidFill>
                  <a:srgbClr val="CCCCCC"/>
                </a:solidFill>
                <a:effectLst/>
                <a:latin typeface="Courier New" panose="02070309020205020404" pitchFamily="49" charset="0"/>
              </a:rPr>
              <a:t>}</a:t>
            </a:r>
          </a:p>
          <a:p>
            <a:pPr marL="34290" indent="0" algn="just">
              <a:buNone/>
            </a:pPr>
            <a:r>
              <a:rPr lang="ro-RO" sz="1800" b="1" i="0" noProof="0" dirty="0">
                <a:solidFill>
                  <a:srgbClr val="CCCCCC"/>
                </a:solidFill>
                <a:effectLst/>
                <a:latin typeface="Courier New" panose="02070309020205020404" pitchFamily="49" charset="0"/>
              </a:rPr>
              <a:t>} </a:t>
            </a:r>
          </a:p>
          <a:p>
            <a:pPr marL="34290" indent="0" algn="just">
              <a:buNone/>
            </a:pPr>
            <a:r>
              <a:rPr lang="ro-RO" sz="1800" b="1" i="0" noProof="0" dirty="0">
                <a:solidFill>
                  <a:srgbClr val="CCCCCC"/>
                </a:solidFill>
                <a:effectLst/>
                <a:latin typeface="Courier New" panose="02070309020205020404" pitchFamily="49" charset="0"/>
              </a:rPr>
              <a:t>}</a:t>
            </a:r>
            <a:endParaRPr lang="ro-RO" sz="1800" b="1"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33880836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EE7C2-7899-EB4F-C789-E6780DCC868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085B732-FD7D-A5E8-D249-2F4562255B66}"/>
              </a:ext>
            </a:extLst>
          </p:cNvPr>
          <p:cNvSpPr>
            <a:spLocks noGrp="1"/>
          </p:cNvSpPr>
          <p:nvPr>
            <p:ph type="title"/>
          </p:nvPr>
        </p:nvSpPr>
        <p:spPr>
          <a:xfrm>
            <a:off x="463925" y="582705"/>
            <a:ext cx="7819465" cy="504265"/>
          </a:xfrm>
        </p:spPr>
        <p:txBody>
          <a:bodyPr>
            <a:noAutofit/>
          </a:bodyPr>
          <a:lstStyle/>
          <a:p>
            <a:r>
              <a:rPr lang="ro-RO" sz="3200" noProof="0" dirty="0"/>
              <a:t>C# - Cursul 9</a:t>
            </a:r>
          </a:p>
        </p:txBody>
      </p:sp>
      <p:sp>
        <p:nvSpPr>
          <p:cNvPr id="5" name="Content Placeholder 4">
            <a:extLst>
              <a:ext uri="{FF2B5EF4-FFF2-40B4-BE49-F238E27FC236}">
                <a16:creationId xmlns:a16="http://schemas.microsoft.com/office/drawing/2014/main" id="{A356A193-DB5A-4092-7CB4-CC1C2705C51E}"/>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Arrays</a:t>
            </a:r>
            <a:r>
              <a:rPr lang="ro-RO" sz="2800" noProof="0" dirty="0">
                <a:solidFill>
                  <a:srgbClr val="00B0F0"/>
                </a:solidFill>
              </a:rPr>
              <a:t> (tablouri) în C# - copiere</a:t>
            </a:r>
          </a:p>
          <a:p>
            <a:pPr marL="34290" indent="0" algn="just">
              <a:buNone/>
            </a:pPr>
            <a:r>
              <a:rPr lang="ro-RO" sz="2000" b="1" i="0" noProof="0" dirty="0" err="1">
                <a:solidFill>
                  <a:srgbClr val="CC99CD"/>
                </a:solidFill>
                <a:effectLst/>
                <a:latin typeface="Courier New" panose="02070309020205020404" pitchFamily="49" charset="0"/>
              </a:rPr>
              <a:t>using</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System</a:t>
            </a:r>
            <a:r>
              <a:rPr lang="ro-RO" sz="2000" b="1" i="0" noProof="0" dirty="0">
                <a:solidFill>
                  <a:srgbClr val="CCCCCC"/>
                </a:solidFill>
                <a:effectLst/>
                <a:latin typeface="Courier New" panose="02070309020205020404" pitchFamily="49" charset="0"/>
              </a:rPr>
              <a:t>; </a:t>
            </a:r>
          </a:p>
          <a:p>
            <a:pPr marL="34290" indent="0" algn="just">
              <a:buNone/>
            </a:pPr>
            <a:r>
              <a:rPr lang="ro-RO" sz="2000" b="1" i="0" noProof="0" dirty="0" err="1">
                <a:solidFill>
                  <a:srgbClr val="CC99CD"/>
                </a:solidFill>
                <a:effectLst/>
                <a:latin typeface="Courier New" panose="02070309020205020404" pitchFamily="49" charset="0"/>
              </a:rPr>
              <a:t>namespace</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ArrayApplication</a:t>
            </a:r>
            <a:r>
              <a:rPr lang="ro-RO" sz="2000" b="1" i="0" noProof="0" dirty="0">
                <a:solidFill>
                  <a:srgbClr val="CCCCCC"/>
                </a:solidFill>
                <a:effectLst/>
                <a:latin typeface="Courier New" panose="02070309020205020404" pitchFamily="49" charset="0"/>
              </a:rPr>
              <a:t> {</a:t>
            </a:r>
          </a:p>
          <a:p>
            <a:pPr marL="34290" indent="0" algn="just">
              <a:buNone/>
            </a:pPr>
            <a:r>
              <a:rPr lang="ro-RO" sz="2000" b="1" i="0" noProof="0" dirty="0" err="1">
                <a:solidFill>
                  <a:srgbClr val="CC99CD"/>
                </a:solidFill>
                <a:effectLst/>
                <a:latin typeface="Courier New" panose="02070309020205020404" pitchFamily="49" charset="0"/>
              </a:rPr>
              <a:t>class</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CloneArray</a:t>
            </a:r>
            <a:r>
              <a:rPr lang="ro-RO" sz="2000" b="1" i="0" noProof="0" dirty="0">
                <a:solidFill>
                  <a:srgbClr val="CCCCCC"/>
                </a:solidFill>
                <a:effectLst/>
                <a:latin typeface="Courier New" panose="02070309020205020404" pitchFamily="49" charset="0"/>
              </a:rPr>
              <a:t>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99CD"/>
                </a:solidFill>
                <a:effectLst/>
                <a:latin typeface="Courier New" panose="02070309020205020404" pitchFamily="49" charset="0"/>
              </a:rPr>
              <a:t>static</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void</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Main</a:t>
            </a:r>
            <a:r>
              <a:rPr lang="ro-RO" sz="2000" b="1" i="0" noProof="0" dirty="0">
                <a:solidFill>
                  <a:srgbClr val="CCCCCC"/>
                </a:solidFill>
                <a:effectLst/>
                <a:latin typeface="Courier New" panose="02070309020205020404" pitchFamily="49" charset="0"/>
              </a:rPr>
              <a:t>(</a:t>
            </a:r>
            <a:r>
              <a:rPr lang="ro-RO" sz="2000" b="1" i="0" noProof="0" dirty="0" err="1">
                <a:solidFill>
                  <a:srgbClr val="CC99CD"/>
                </a:solidFill>
                <a:effectLst/>
                <a:latin typeface="Courier New" panose="02070309020205020404" pitchFamily="49" charset="0"/>
              </a:rPr>
              <a:t>string</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args</a:t>
            </a:r>
            <a:r>
              <a:rPr lang="ro-RO" sz="2000" b="1" i="0" noProof="0" dirty="0">
                <a:solidFill>
                  <a:srgbClr val="CCCCCC"/>
                </a:solidFill>
                <a:effectLst/>
                <a:latin typeface="Courier New" panose="02070309020205020404" pitchFamily="49" charset="0"/>
              </a:rPr>
              <a:t>)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99CD"/>
                </a:solidFill>
                <a:effectLst/>
                <a:latin typeface="Courier New" panose="02070309020205020404" pitchFamily="49" charset="0"/>
              </a:rPr>
              <a:t>int</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sourceArray</a:t>
            </a:r>
            <a:r>
              <a:rPr lang="ro-RO" sz="2000" b="1" i="0" noProof="0" dirty="0">
                <a:solidFill>
                  <a:srgbClr val="CCCCCC"/>
                </a:solidFill>
                <a:effectLst/>
                <a:latin typeface="Courier New" panose="02070309020205020404" pitchFamily="49" charset="0"/>
              </a:rPr>
              <a:t>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 </a:t>
            </a:r>
            <a:r>
              <a:rPr lang="ro-RO" sz="2000" b="1" i="0" noProof="0" dirty="0">
                <a:solidFill>
                  <a:srgbClr val="F08D49"/>
                </a:solidFill>
                <a:effectLst/>
                <a:latin typeface="Courier New" panose="02070309020205020404" pitchFamily="49" charset="0"/>
              </a:rPr>
              <a:t>10</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20</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30</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40</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50</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int</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clonedArray</a:t>
            </a:r>
            <a:r>
              <a:rPr lang="ro-RO" sz="2000" b="1" i="0" noProof="0" dirty="0">
                <a:solidFill>
                  <a:srgbClr val="CCCCCC"/>
                </a:solidFill>
                <a:effectLst/>
                <a:latin typeface="Courier New" panose="02070309020205020404" pitchFamily="49" charset="0"/>
              </a:rPr>
              <a:t>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int</a:t>
            </a:r>
            <a:r>
              <a:rPr lang="ro-RO" sz="2000" b="1" i="0" noProof="0" dirty="0">
                <a:solidFill>
                  <a:srgbClr val="CCCCCC"/>
                </a:solidFill>
                <a:effectLst/>
                <a:latin typeface="Courier New" panose="02070309020205020404" pitchFamily="49" charset="0"/>
              </a:rPr>
              <a:t>[])</a:t>
            </a:r>
            <a:r>
              <a:rPr lang="ro-RO" sz="2000" b="1" i="0" noProof="0" dirty="0" err="1">
                <a:solidFill>
                  <a:srgbClr val="CCCCCC"/>
                </a:solidFill>
                <a:effectLst/>
                <a:latin typeface="Courier New" panose="02070309020205020404" pitchFamily="49" charset="0"/>
              </a:rPr>
              <a:t>sourceArray.</a:t>
            </a:r>
            <a:r>
              <a:rPr lang="ro-RO" sz="2000" b="1" i="0" noProof="0" dirty="0" err="1">
                <a:solidFill>
                  <a:srgbClr val="F08D49"/>
                </a:solidFill>
                <a:effectLst/>
                <a:latin typeface="Courier New" panose="02070309020205020404" pitchFamily="49" charset="0"/>
              </a:rPr>
              <a:t>Clone</a:t>
            </a:r>
            <a:r>
              <a:rPr lang="ro-RO" sz="2000" b="1" i="0" noProof="0" dirty="0">
                <a:solidFill>
                  <a:srgbClr val="CCCCCC"/>
                </a:solidFill>
                <a:effectLst/>
                <a:latin typeface="Courier New" panose="02070309020205020404" pitchFamily="49" charset="0"/>
              </a:rPr>
              <a:t>();</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Console.</a:t>
            </a:r>
            <a:r>
              <a:rPr lang="ro-RO" sz="2000" b="1" i="0" noProof="0" dirty="0" err="1">
                <a:solidFill>
                  <a:srgbClr val="F08D49"/>
                </a:solidFill>
                <a:effectLst/>
                <a:latin typeface="Courier New" panose="02070309020205020404" pitchFamily="49" charset="0"/>
              </a:rPr>
              <a:t>WriteLine</a:t>
            </a:r>
            <a:r>
              <a:rPr lang="ro-RO" sz="2000" b="1" i="0" noProof="0" dirty="0">
                <a:solidFill>
                  <a:srgbClr val="CCCCCC"/>
                </a:solidFill>
                <a:effectLst/>
                <a:latin typeface="Courier New" panose="02070309020205020404" pitchFamily="49" charset="0"/>
              </a:rPr>
              <a:t>(</a:t>
            </a:r>
            <a:r>
              <a:rPr lang="ro-RO" sz="2000" b="1" i="0" noProof="0" dirty="0">
                <a:solidFill>
                  <a:srgbClr val="7EC699"/>
                </a:solidFill>
                <a:effectLst/>
                <a:latin typeface="Courier New" panose="02070309020205020404" pitchFamily="49" charset="0"/>
              </a:rPr>
              <a:t>"</a:t>
            </a:r>
            <a:r>
              <a:rPr lang="ro-RO" sz="2000" b="1" i="0" noProof="0" dirty="0" err="1">
                <a:solidFill>
                  <a:srgbClr val="7EC699"/>
                </a:solidFill>
                <a:effectLst/>
                <a:latin typeface="Courier New" panose="02070309020205020404" pitchFamily="49" charset="0"/>
              </a:rPr>
              <a:t>Cloned</a:t>
            </a:r>
            <a:r>
              <a:rPr lang="ro-RO" sz="2000" b="1" i="0" noProof="0" dirty="0">
                <a:solidFill>
                  <a:srgbClr val="7EC699"/>
                </a:solidFill>
                <a:effectLst/>
                <a:latin typeface="Courier New" panose="02070309020205020404" pitchFamily="49" charset="0"/>
              </a:rPr>
              <a:t> </a:t>
            </a:r>
            <a:r>
              <a:rPr lang="ro-RO" sz="2000" b="1" i="0" noProof="0" dirty="0" err="1">
                <a:solidFill>
                  <a:srgbClr val="7EC699"/>
                </a:solidFill>
                <a:effectLst/>
                <a:latin typeface="Courier New" panose="02070309020205020404" pitchFamily="49" charset="0"/>
              </a:rPr>
              <a:t>Array</a:t>
            </a:r>
            <a:r>
              <a:rPr lang="ro-RO" sz="2000" b="1" i="0" noProof="0" dirty="0">
                <a:solidFill>
                  <a:srgbClr val="7EC699"/>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99CD"/>
                </a:solidFill>
                <a:effectLst/>
                <a:latin typeface="Courier New" panose="02070309020205020404" pitchFamily="49" charset="0"/>
              </a:rPr>
              <a:t>foreach</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int</a:t>
            </a:r>
            <a:r>
              <a:rPr lang="ro-RO" sz="2000" b="1" i="0" noProof="0" dirty="0">
                <a:solidFill>
                  <a:srgbClr val="CCCCCC"/>
                </a:solidFill>
                <a:effectLst/>
                <a:latin typeface="Courier New" panose="02070309020205020404" pitchFamily="49" charset="0"/>
              </a:rPr>
              <a:t> num </a:t>
            </a:r>
            <a:r>
              <a:rPr lang="ro-RO" sz="2000" b="1" i="0" noProof="0" dirty="0">
                <a:solidFill>
                  <a:srgbClr val="CC99CD"/>
                </a:solidFill>
                <a:effectLst/>
                <a:latin typeface="Courier New" panose="02070309020205020404" pitchFamily="49" charset="0"/>
              </a:rPr>
              <a:t>in</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clonedArray</a:t>
            </a:r>
            <a:r>
              <a:rPr lang="ro-RO" sz="2000" b="1" i="0" noProof="0" dirty="0">
                <a:solidFill>
                  <a:srgbClr val="CCCCCC"/>
                </a:solidFill>
                <a:effectLst/>
                <a:latin typeface="Courier New" panose="02070309020205020404" pitchFamily="49" charset="0"/>
              </a:rPr>
              <a:t>)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Console.</a:t>
            </a:r>
            <a:r>
              <a:rPr lang="ro-RO" sz="2000" b="1" i="0" noProof="0" dirty="0" err="1">
                <a:solidFill>
                  <a:srgbClr val="F08D49"/>
                </a:solidFill>
                <a:effectLst/>
                <a:latin typeface="Courier New" panose="02070309020205020404" pitchFamily="49" charset="0"/>
              </a:rPr>
              <a:t>Write</a:t>
            </a:r>
            <a:r>
              <a:rPr lang="ro-RO" sz="2000" b="1" i="0" noProof="0" dirty="0">
                <a:solidFill>
                  <a:srgbClr val="CCCCCC"/>
                </a:solidFill>
                <a:effectLst/>
                <a:latin typeface="Courier New" panose="02070309020205020404" pitchFamily="49" charset="0"/>
              </a:rPr>
              <a:t>(num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r>
              <a:rPr lang="ro-RO" sz="2000" b="1" i="0" noProof="0" dirty="0">
                <a:solidFill>
                  <a:srgbClr val="7EC699"/>
                </a:solidFill>
                <a:effectLst/>
                <a:latin typeface="Courier New" panose="02070309020205020404" pitchFamily="49" charset="0"/>
              </a:rPr>
              <a:t>" "</a:t>
            </a:r>
            <a:r>
              <a:rPr lang="ro-RO" sz="2000" b="1" i="0" noProof="0" dirty="0">
                <a:solidFill>
                  <a:srgbClr val="CCCCCC"/>
                </a:solidFill>
                <a:effectLst/>
                <a:latin typeface="Courier New" panose="02070309020205020404" pitchFamily="49" charset="0"/>
              </a:rPr>
              <a:t>);</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p>
          <a:p>
            <a:pPr marL="34290" indent="0" algn="just">
              <a:buNone/>
            </a:pPr>
            <a:r>
              <a:rPr lang="ro-RO" sz="2000" b="1" i="0" noProof="0" dirty="0">
                <a:solidFill>
                  <a:srgbClr val="CCCCCC"/>
                </a:solidFill>
                <a:effectLst/>
                <a:latin typeface="Courier New" panose="02070309020205020404" pitchFamily="49" charset="0"/>
              </a:rPr>
              <a:t>}</a:t>
            </a:r>
          </a:p>
          <a:p>
            <a:pPr marL="34290" indent="0" algn="just">
              <a:buNone/>
            </a:pPr>
            <a:r>
              <a:rPr lang="ro-RO" sz="2000" b="1" i="0" noProof="0" dirty="0">
                <a:solidFill>
                  <a:srgbClr val="CCCCCC"/>
                </a:solidFill>
                <a:effectLst/>
                <a:latin typeface="Courier New" panose="02070309020205020404" pitchFamily="49" charset="0"/>
              </a:rPr>
              <a:t>}</a:t>
            </a:r>
            <a:endParaRPr lang="ro-RO" sz="2000" b="1"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35799512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2FE6B-DAD0-5E4D-492D-7F2EF160583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9847FA7-24C1-7B1E-1BD6-5BE4F395DBE0}"/>
              </a:ext>
            </a:extLst>
          </p:cNvPr>
          <p:cNvSpPr>
            <a:spLocks noGrp="1"/>
          </p:cNvSpPr>
          <p:nvPr>
            <p:ph type="title"/>
          </p:nvPr>
        </p:nvSpPr>
        <p:spPr>
          <a:xfrm>
            <a:off x="463925" y="582705"/>
            <a:ext cx="7819465" cy="504265"/>
          </a:xfrm>
        </p:spPr>
        <p:txBody>
          <a:bodyPr>
            <a:noAutofit/>
          </a:bodyPr>
          <a:lstStyle/>
          <a:p>
            <a:r>
              <a:rPr lang="ro-RO" sz="3200" noProof="0" dirty="0"/>
              <a:t>C# - Cursul 9</a:t>
            </a:r>
          </a:p>
        </p:txBody>
      </p:sp>
      <p:sp>
        <p:nvSpPr>
          <p:cNvPr id="5" name="Content Placeholder 4">
            <a:extLst>
              <a:ext uri="{FF2B5EF4-FFF2-40B4-BE49-F238E27FC236}">
                <a16:creationId xmlns:a16="http://schemas.microsoft.com/office/drawing/2014/main" id="{0C74D184-B60D-393D-57FA-96305E9AA2C0}"/>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Arrays</a:t>
            </a:r>
            <a:r>
              <a:rPr lang="ro-RO" sz="2800" noProof="0" dirty="0">
                <a:solidFill>
                  <a:srgbClr val="00B0F0"/>
                </a:solidFill>
              </a:rPr>
              <a:t> (tablouri) în C# - tablouri multidimensionale</a:t>
            </a: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C# permite utilizarea tablourilor multidimensionale. Dacă dorim să inseram datele într-o formă tabelară, similară unui tabel cu rânduri și coloane, este important să înțelegem cum să lucram cu tablouri multidimensionale.</a:t>
            </a: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25362469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F0551-9A07-943D-B425-8A529CDC18B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6E61992-951B-AD44-7151-F2D37C29CD37}"/>
              </a:ext>
            </a:extLst>
          </p:cNvPr>
          <p:cNvSpPr>
            <a:spLocks noGrp="1"/>
          </p:cNvSpPr>
          <p:nvPr>
            <p:ph type="title"/>
          </p:nvPr>
        </p:nvSpPr>
        <p:spPr>
          <a:xfrm>
            <a:off x="463925" y="582705"/>
            <a:ext cx="7819465" cy="504265"/>
          </a:xfrm>
        </p:spPr>
        <p:txBody>
          <a:bodyPr>
            <a:noAutofit/>
          </a:bodyPr>
          <a:lstStyle/>
          <a:p>
            <a:r>
              <a:rPr lang="ro-RO" sz="3200" noProof="0" dirty="0"/>
              <a:t>C# - Cursul 9</a:t>
            </a:r>
          </a:p>
        </p:txBody>
      </p:sp>
      <p:sp>
        <p:nvSpPr>
          <p:cNvPr id="5" name="Content Placeholder 4">
            <a:extLst>
              <a:ext uri="{FF2B5EF4-FFF2-40B4-BE49-F238E27FC236}">
                <a16:creationId xmlns:a16="http://schemas.microsoft.com/office/drawing/2014/main" id="{4AC26BE5-553D-8682-A873-F5FAA7147FC0}"/>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Arrays</a:t>
            </a:r>
            <a:r>
              <a:rPr lang="ro-RO" sz="2800" noProof="0" dirty="0">
                <a:solidFill>
                  <a:srgbClr val="00B0F0"/>
                </a:solidFill>
              </a:rPr>
              <a:t> (tablouri) în C# - tablouri multidimensionale</a:t>
            </a:r>
          </a:p>
          <a:p>
            <a:pPr marL="34290" indent="0" algn="just">
              <a:buNone/>
            </a:pPr>
            <a:r>
              <a:rPr lang="ro-RO" sz="2800" noProof="0" dirty="0">
                <a:solidFill>
                  <a:srgbClr val="00B0F0"/>
                </a:solidFill>
              </a:rPr>
              <a:t>Declararea unui tablou multidimensional</a:t>
            </a:r>
          </a:p>
          <a:p>
            <a:pPr marL="34290" indent="0" algn="just">
              <a:buNone/>
            </a:pPr>
            <a:r>
              <a:rPr lang="ro-RO" sz="2800" noProof="0" dirty="0">
                <a:solidFill>
                  <a:srgbClr val="00B0F0"/>
                </a:solidFill>
              </a:rPr>
              <a:t>Puteți declara un tablou multidimensional specificând numărul de dimensiuni între paranteze pătrate. </a:t>
            </a:r>
          </a:p>
          <a:p>
            <a:pPr marL="34290" indent="0" algn="just">
              <a:buNone/>
            </a:pPr>
            <a:r>
              <a:rPr lang="ro-RO" sz="2800" noProof="0" dirty="0">
                <a:solidFill>
                  <a:srgbClr val="00B0F0"/>
                </a:solidFill>
              </a:rPr>
              <a:t>De exemplu, un tablou bidimensional de șiruri de caractere poate fi declarant astfel:</a:t>
            </a:r>
          </a:p>
          <a:p>
            <a:pPr marL="34290" indent="0" algn="just">
              <a:buNone/>
            </a:pPr>
            <a:r>
              <a:rPr lang="ro-RO" sz="2400" b="1" i="0" noProof="0" dirty="0" err="1">
                <a:solidFill>
                  <a:srgbClr val="CC99CD"/>
                </a:solidFill>
                <a:effectLst/>
                <a:latin typeface="Courier New" panose="02070309020205020404" pitchFamily="49" charset="0"/>
              </a:rPr>
              <a:t>string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names</a:t>
            </a:r>
            <a:r>
              <a:rPr lang="ro-RO" sz="2400" b="1" i="0" noProof="0" dirty="0">
                <a:solidFill>
                  <a:srgbClr val="CCCCCC"/>
                </a:solidFill>
                <a:effectLst/>
                <a:latin typeface="Courier New" panose="02070309020205020404" pitchFamily="49" charset="0"/>
              </a:rPr>
              <a:t>;</a:t>
            </a:r>
          </a:p>
          <a:p>
            <a:pPr marL="34290" indent="0" algn="just">
              <a:buNone/>
            </a:pPr>
            <a:r>
              <a:rPr lang="ro-RO" sz="2800" noProof="0" dirty="0">
                <a:solidFill>
                  <a:srgbClr val="00B0F0"/>
                </a:solidFill>
              </a:rPr>
              <a:t>În mod similar, un tablou tridimensional de numere întregi poate fi declarat </a:t>
            </a:r>
            <a:r>
              <a:rPr lang="ro-RO" sz="2800" noProof="0" dirty="0" err="1">
                <a:solidFill>
                  <a:srgbClr val="00B0F0"/>
                </a:solidFill>
              </a:rPr>
              <a:t>asa</a:t>
            </a:r>
            <a:r>
              <a:rPr lang="ro-RO" sz="2800" noProof="0" dirty="0">
                <a:solidFill>
                  <a:srgbClr val="00B0F0"/>
                </a:solidFill>
              </a:rPr>
              <a:t>:</a:t>
            </a:r>
          </a:p>
          <a:p>
            <a:pPr marL="34290" indent="0" algn="just">
              <a:buNone/>
            </a:pP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cube</a:t>
            </a:r>
            <a:r>
              <a:rPr lang="ro-RO" sz="2400" b="1" i="0" noProof="0" dirty="0">
                <a:solidFill>
                  <a:srgbClr val="CCCCCC"/>
                </a:solidFill>
                <a:effectLst/>
                <a:latin typeface="Courier New" panose="02070309020205020404" pitchFamily="49" charset="0"/>
              </a:rPr>
              <a:t>;</a:t>
            </a:r>
            <a:endParaRPr lang="ro-RO" sz="2400" b="1"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32732570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B2C48-3011-B081-5537-C30A73AC5D9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1A6DB3B-5612-8C46-1ED9-E8FEC0D43C29}"/>
              </a:ext>
            </a:extLst>
          </p:cNvPr>
          <p:cNvSpPr>
            <a:spLocks noGrp="1"/>
          </p:cNvSpPr>
          <p:nvPr>
            <p:ph type="title"/>
          </p:nvPr>
        </p:nvSpPr>
        <p:spPr>
          <a:xfrm>
            <a:off x="463925" y="582705"/>
            <a:ext cx="7819465" cy="504265"/>
          </a:xfrm>
        </p:spPr>
        <p:txBody>
          <a:bodyPr>
            <a:noAutofit/>
          </a:bodyPr>
          <a:lstStyle/>
          <a:p>
            <a:r>
              <a:rPr lang="ro-RO" sz="3200" noProof="0" dirty="0"/>
              <a:t>C# - Cursul 9</a:t>
            </a:r>
          </a:p>
        </p:txBody>
      </p:sp>
      <p:sp>
        <p:nvSpPr>
          <p:cNvPr id="5" name="Content Placeholder 4">
            <a:extLst>
              <a:ext uri="{FF2B5EF4-FFF2-40B4-BE49-F238E27FC236}">
                <a16:creationId xmlns:a16="http://schemas.microsoft.com/office/drawing/2014/main" id="{02F69655-F686-ED85-0999-ECE797C81E32}"/>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Arrays</a:t>
            </a:r>
            <a:r>
              <a:rPr lang="ro-RO" sz="2800" noProof="0" dirty="0">
                <a:solidFill>
                  <a:srgbClr val="00B0F0"/>
                </a:solidFill>
              </a:rPr>
              <a:t> (tablouri) în C# - tablouri multidimensionale</a:t>
            </a:r>
          </a:p>
          <a:p>
            <a:pPr marL="34290" indent="0" algn="just">
              <a:buNone/>
            </a:pPr>
            <a:r>
              <a:rPr lang="ro-RO" sz="2800" dirty="0">
                <a:solidFill>
                  <a:srgbClr val="00B0F0"/>
                </a:solidFill>
              </a:rPr>
              <a:t>Inițializarea tablourilor bidimensionale</a:t>
            </a:r>
          </a:p>
          <a:p>
            <a:pPr marL="34290" indent="0" algn="just">
              <a:buNone/>
            </a:pPr>
            <a:r>
              <a:rPr lang="ro-RO" sz="2800" dirty="0">
                <a:solidFill>
                  <a:srgbClr val="00B0F0"/>
                </a:solidFill>
              </a:rPr>
              <a:t>Tablourile multidimensionale pot fi inițializate prin specificarea valorilor între paranteze pentru fiecare rând. Următorul tablou are 3 rânduri și fiecare rând are 4 coloane.</a:t>
            </a:r>
            <a:endParaRPr lang="en-US" sz="2800" dirty="0">
              <a:solidFill>
                <a:srgbClr val="00B0F0"/>
              </a:solidFill>
            </a:endParaRPr>
          </a:p>
          <a:p>
            <a:pPr marL="34290" indent="0" algn="just">
              <a:buNone/>
            </a:pPr>
            <a:r>
              <a:rPr lang="en-US" sz="2400" b="1" i="0" dirty="0">
                <a:solidFill>
                  <a:srgbClr val="CC99CD"/>
                </a:solidFill>
                <a:effectLst/>
                <a:latin typeface="Courier New" panose="02070309020205020404" pitchFamily="49" charset="0"/>
              </a:rPr>
              <a:t>int</a:t>
            </a:r>
            <a:r>
              <a:rPr lang="en-US" sz="2400" b="1" i="0" dirty="0">
                <a:solidFill>
                  <a:srgbClr val="CCCCCC"/>
                </a:solidFill>
                <a:effectLst/>
                <a:latin typeface="Courier New" panose="02070309020205020404" pitchFamily="49" charset="0"/>
              </a:rPr>
              <a:t> [,] a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new</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int</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3</a:t>
            </a:r>
            <a:r>
              <a:rPr lang="en-US" sz="2400" b="1" i="0" dirty="0">
                <a:solidFill>
                  <a:srgbClr val="CCCCCC"/>
                </a:solidFill>
                <a:effectLst/>
                <a:latin typeface="Courier New" panose="02070309020205020404" pitchFamily="49" charset="0"/>
              </a:rPr>
              <a:t>,</a:t>
            </a:r>
            <a:r>
              <a:rPr lang="en-US" sz="2400" b="1" i="0" dirty="0">
                <a:solidFill>
                  <a:srgbClr val="F08D49"/>
                </a:solidFill>
                <a:effectLst/>
                <a:latin typeface="Courier New" panose="02070309020205020404" pitchFamily="49" charset="0"/>
              </a:rPr>
              <a:t>4</a:t>
            </a:r>
            <a:r>
              <a:rPr lang="en-US" sz="2400" b="1" i="0" dirty="0">
                <a:solidFill>
                  <a:srgbClr val="CCCCCC"/>
                </a:solidFill>
                <a:effectLst/>
                <a:latin typeface="Courier New" panose="02070309020205020404" pitchFamily="49" charset="0"/>
              </a:rPr>
              <a:t>] {</a:t>
            </a:r>
          </a:p>
          <a:p>
            <a:pPr marL="34290" indent="0" algn="just">
              <a:buNone/>
            </a:pP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0</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1</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2</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3</a:t>
            </a:r>
            <a:r>
              <a:rPr lang="en-US" sz="2400" b="1" i="0" dirty="0">
                <a:solidFill>
                  <a:srgbClr val="CCCCCC"/>
                </a:solidFill>
                <a:effectLst/>
                <a:latin typeface="Courier New" panose="02070309020205020404" pitchFamily="49" charset="0"/>
              </a:rPr>
              <a:t>} , </a:t>
            </a:r>
          </a:p>
          <a:p>
            <a:pPr marL="34290" indent="0" algn="just">
              <a:buNone/>
            </a:pPr>
            <a:r>
              <a:rPr lang="en-US" sz="2400" b="1" dirty="0">
                <a:solidFill>
                  <a:srgbClr val="CCCCCC"/>
                </a:solidFill>
                <a:latin typeface="Courier New" panose="02070309020205020404" pitchFamily="49" charset="0"/>
              </a:rPr>
              <a:t> </a:t>
            </a:r>
            <a:r>
              <a:rPr lang="en-US" sz="2400" b="1" i="0" dirty="0">
                <a:solidFill>
                  <a:srgbClr val="CCCCCC"/>
                </a:solidFill>
                <a:effectLst/>
                <a:latin typeface="Courier New" panose="02070309020205020404" pitchFamily="49" charset="0"/>
              </a:rPr>
              <a:t>{</a:t>
            </a:r>
            <a:r>
              <a:rPr lang="en-US" sz="2400" b="1" i="0" dirty="0">
                <a:solidFill>
                  <a:srgbClr val="F08D49"/>
                </a:solidFill>
                <a:effectLst/>
                <a:latin typeface="Courier New" panose="02070309020205020404" pitchFamily="49" charset="0"/>
              </a:rPr>
              <a:t>4</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5</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6</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7</a:t>
            </a:r>
            <a:r>
              <a:rPr lang="en-US" sz="2400" b="1" i="0" dirty="0">
                <a:solidFill>
                  <a:srgbClr val="CCCCCC"/>
                </a:solidFill>
                <a:effectLst/>
                <a:latin typeface="Courier New" panose="02070309020205020404" pitchFamily="49" charset="0"/>
              </a:rPr>
              <a:t>} , </a:t>
            </a:r>
          </a:p>
          <a:p>
            <a:pPr marL="34290" indent="0" algn="just">
              <a:buNone/>
            </a:pP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8</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9</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10</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11</a:t>
            </a:r>
            <a:r>
              <a:rPr lang="en-US" sz="2400" b="1" i="0" dirty="0">
                <a:solidFill>
                  <a:srgbClr val="CCCCCC"/>
                </a:solidFill>
                <a:effectLst/>
                <a:latin typeface="Courier New" panose="02070309020205020404" pitchFamily="49" charset="0"/>
              </a:rPr>
              <a:t>} </a:t>
            </a:r>
          </a:p>
          <a:p>
            <a:pPr marL="34290" indent="0" algn="just">
              <a:buNone/>
            </a:pPr>
            <a:r>
              <a:rPr lang="en-US" sz="2400" b="1" i="0" dirty="0">
                <a:solidFill>
                  <a:srgbClr val="CCCCCC"/>
                </a:solidFill>
                <a:effectLst/>
                <a:latin typeface="Courier New" panose="02070309020205020404" pitchFamily="49" charset="0"/>
              </a:rPr>
              <a:t>};</a:t>
            </a:r>
            <a:endParaRPr lang="en-US" sz="2400" b="1"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14461038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08A02-AD8E-0DC9-B22B-24155D8FAEF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8629C49-8D55-EE77-5E86-2CF60E969950}"/>
              </a:ext>
            </a:extLst>
          </p:cNvPr>
          <p:cNvSpPr>
            <a:spLocks noGrp="1"/>
          </p:cNvSpPr>
          <p:nvPr>
            <p:ph type="title"/>
          </p:nvPr>
        </p:nvSpPr>
        <p:spPr>
          <a:xfrm>
            <a:off x="463925" y="582705"/>
            <a:ext cx="7819465" cy="504265"/>
          </a:xfrm>
        </p:spPr>
        <p:txBody>
          <a:bodyPr>
            <a:noAutofit/>
          </a:bodyPr>
          <a:lstStyle/>
          <a:p>
            <a:r>
              <a:rPr lang="ro-RO" sz="3200" noProof="0" dirty="0"/>
              <a:t>C# - Cursul 9</a:t>
            </a:r>
          </a:p>
        </p:txBody>
      </p:sp>
      <p:sp>
        <p:nvSpPr>
          <p:cNvPr id="5" name="Content Placeholder 4">
            <a:extLst>
              <a:ext uri="{FF2B5EF4-FFF2-40B4-BE49-F238E27FC236}">
                <a16:creationId xmlns:a16="http://schemas.microsoft.com/office/drawing/2014/main" id="{321F02D1-54DA-82CA-E069-03E5242DCABB}"/>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Arrays</a:t>
            </a:r>
            <a:r>
              <a:rPr lang="ro-RO" sz="2800" noProof="0" dirty="0">
                <a:solidFill>
                  <a:srgbClr val="00B0F0"/>
                </a:solidFill>
              </a:rPr>
              <a:t> (tablouri) în C# - tablouri multidimensionale</a:t>
            </a:r>
          </a:p>
          <a:p>
            <a:pPr marL="34290" indent="0" algn="just">
              <a:buNone/>
            </a:pPr>
            <a:r>
              <a:rPr lang="ro-RO" sz="2800" dirty="0">
                <a:solidFill>
                  <a:srgbClr val="00B0F0"/>
                </a:solidFill>
              </a:rPr>
              <a:t>Accesarea elementelor unui </a:t>
            </a:r>
            <a:r>
              <a:rPr lang="ro-RO" sz="2800" dirty="0" err="1">
                <a:solidFill>
                  <a:srgbClr val="00B0F0"/>
                </a:solidFill>
              </a:rPr>
              <a:t>array</a:t>
            </a:r>
            <a:r>
              <a:rPr lang="ro-RO" sz="2800" dirty="0">
                <a:solidFill>
                  <a:srgbClr val="00B0F0"/>
                </a:solidFill>
              </a:rPr>
              <a:t> bidimensional</a:t>
            </a:r>
          </a:p>
          <a:p>
            <a:pPr marL="34290" indent="0" algn="just">
              <a:buNone/>
            </a:pPr>
            <a:r>
              <a:rPr lang="ro-RO" sz="2800" dirty="0">
                <a:solidFill>
                  <a:srgbClr val="00B0F0"/>
                </a:solidFill>
              </a:rPr>
              <a:t>Un element dintr-un </a:t>
            </a:r>
            <a:r>
              <a:rPr lang="ro-RO" sz="2800" dirty="0" err="1">
                <a:solidFill>
                  <a:srgbClr val="00B0F0"/>
                </a:solidFill>
              </a:rPr>
              <a:t>array</a:t>
            </a:r>
            <a:r>
              <a:rPr lang="ro-RO" sz="2800" dirty="0">
                <a:solidFill>
                  <a:srgbClr val="00B0F0"/>
                </a:solidFill>
              </a:rPr>
              <a:t> bidimensional este accesat utilizând indicii. Adică, indicele rândului și indicele coloanei din </a:t>
            </a:r>
            <a:r>
              <a:rPr lang="ro-RO" sz="2800" dirty="0" err="1">
                <a:solidFill>
                  <a:srgbClr val="00B0F0"/>
                </a:solidFill>
              </a:rPr>
              <a:t>array</a:t>
            </a:r>
            <a:r>
              <a:rPr lang="ro-RO" sz="2800" dirty="0">
                <a:solidFill>
                  <a:srgbClr val="00B0F0"/>
                </a:solidFill>
              </a:rPr>
              <a:t>. De exemplu</a:t>
            </a:r>
            <a:endParaRPr lang="en-US" sz="2800" dirty="0">
              <a:solidFill>
                <a:srgbClr val="00B0F0"/>
              </a:solidFill>
            </a:endParaRPr>
          </a:p>
          <a:p>
            <a:pPr marL="34290" indent="0" algn="just">
              <a:buNone/>
            </a:pPr>
            <a:r>
              <a:rPr lang="en-US" sz="2400" b="1" i="0" dirty="0">
                <a:solidFill>
                  <a:srgbClr val="CC99CD"/>
                </a:solidFill>
                <a:effectLst/>
                <a:latin typeface="Courier New" panose="02070309020205020404" pitchFamily="49" charset="0"/>
              </a:rPr>
              <a:t>int</a:t>
            </a:r>
            <a:r>
              <a:rPr lang="en-US" sz="2400" b="1" i="0" dirty="0">
                <a:solidFill>
                  <a:srgbClr val="CCCCCC"/>
                </a:solidFill>
                <a:effectLst/>
                <a:latin typeface="Courier New" panose="02070309020205020404" pitchFamily="49" charset="0"/>
              </a:rPr>
              <a:t> </a:t>
            </a:r>
            <a:r>
              <a:rPr lang="en-US" sz="2400" b="1" i="0" dirty="0" err="1">
                <a:solidFill>
                  <a:srgbClr val="CCCCCC"/>
                </a:solidFill>
                <a:effectLst/>
                <a:latin typeface="Courier New" panose="02070309020205020404" pitchFamily="49" charset="0"/>
              </a:rPr>
              <a:t>val</a:t>
            </a:r>
            <a:r>
              <a:rPr lang="en-US" sz="2400" b="1" i="0" dirty="0">
                <a:solidFill>
                  <a:srgbClr val="CCCCCC"/>
                </a:solidFill>
                <a:effectLst/>
                <a:latin typeface="Courier New" panose="02070309020205020404" pitchFamily="49" charset="0"/>
              </a:rPr>
              <a:t>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a[</a:t>
            </a:r>
            <a:r>
              <a:rPr lang="en-US" sz="2400" b="1" i="0" dirty="0">
                <a:solidFill>
                  <a:srgbClr val="F08D49"/>
                </a:solidFill>
                <a:effectLst/>
                <a:latin typeface="Courier New" panose="02070309020205020404" pitchFamily="49" charset="0"/>
              </a:rPr>
              <a:t>2</a:t>
            </a:r>
            <a:r>
              <a:rPr lang="en-US" sz="2400" b="1" i="0" dirty="0">
                <a:solidFill>
                  <a:srgbClr val="CCCCCC"/>
                </a:solidFill>
                <a:effectLst/>
                <a:latin typeface="Courier New" panose="02070309020205020404" pitchFamily="49" charset="0"/>
              </a:rPr>
              <a:t>,</a:t>
            </a:r>
            <a:r>
              <a:rPr lang="en-US" sz="2400" b="1" i="0" dirty="0">
                <a:solidFill>
                  <a:srgbClr val="F08D49"/>
                </a:solidFill>
                <a:effectLst/>
                <a:latin typeface="Courier New" panose="02070309020205020404" pitchFamily="49" charset="0"/>
              </a:rPr>
              <a:t>3</a:t>
            </a:r>
            <a:r>
              <a:rPr lang="en-US" sz="2400" b="1" i="0" dirty="0">
                <a:solidFill>
                  <a:srgbClr val="CCCCCC"/>
                </a:solidFill>
                <a:effectLst/>
                <a:latin typeface="Courier New" panose="02070309020205020404" pitchFamily="49" charset="0"/>
              </a:rPr>
              <a:t>];</a:t>
            </a:r>
          </a:p>
          <a:p>
            <a:pPr marL="34290" indent="0" algn="just">
              <a:buNone/>
            </a:pPr>
            <a:endParaRPr lang="ro-RO" sz="2400" b="1"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6603046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C3007-7DFB-0D51-93E8-84FF3C61386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63245A7-16E7-F643-46B9-C84BB6685E12}"/>
              </a:ext>
            </a:extLst>
          </p:cNvPr>
          <p:cNvSpPr>
            <a:spLocks noGrp="1"/>
          </p:cNvSpPr>
          <p:nvPr>
            <p:ph type="title"/>
          </p:nvPr>
        </p:nvSpPr>
        <p:spPr>
          <a:xfrm>
            <a:off x="463925" y="582705"/>
            <a:ext cx="7819465" cy="504265"/>
          </a:xfrm>
        </p:spPr>
        <p:txBody>
          <a:bodyPr>
            <a:noAutofit/>
          </a:bodyPr>
          <a:lstStyle/>
          <a:p>
            <a:r>
              <a:rPr lang="ro-RO" sz="3200" noProof="0" dirty="0"/>
              <a:t>C# - Cursul 9</a:t>
            </a:r>
          </a:p>
        </p:txBody>
      </p:sp>
      <p:sp>
        <p:nvSpPr>
          <p:cNvPr id="5" name="Content Placeholder 4">
            <a:extLst>
              <a:ext uri="{FF2B5EF4-FFF2-40B4-BE49-F238E27FC236}">
                <a16:creationId xmlns:a16="http://schemas.microsoft.com/office/drawing/2014/main" id="{BC156D5A-3213-58A2-E491-8B763CEA7CE7}"/>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Arrays</a:t>
            </a:r>
            <a:r>
              <a:rPr lang="ro-RO" sz="2800" noProof="0" dirty="0">
                <a:solidFill>
                  <a:srgbClr val="00B0F0"/>
                </a:solidFill>
              </a:rPr>
              <a:t> (tablouri) în C# - tablouri multidimensionale</a:t>
            </a:r>
          </a:p>
          <a:p>
            <a:pPr marL="34290" indent="0" algn="just">
              <a:buNone/>
            </a:pPr>
            <a:r>
              <a:rPr lang="en-US" sz="2000" b="1" i="0" dirty="0">
                <a:solidFill>
                  <a:srgbClr val="CC99CD"/>
                </a:solidFill>
                <a:effectLst/>
                <a:latin typeface="Courier New" panose="02070309020205020404" pitchFamily="49" charset="0"/>
              </a:rPr>
              <a:t>using</a:t>
            </a:r>
            <a:r>
              <a:rPr lang="en-US" sz="2000" b="1" i="0" dirty="0">
                <a:solidFill>
                  <a:srgbClr val="CCCCCC"/>
                </a:solidFill>
                <a:effectLst/>
                <a:latin typeface="Courier New" panose="02070309020205020404" pitchFamily="49" charset="0"/>
              </a:rPr>
              <a:t> System; </a:t>
            </a:r>
          </a:p>
          <a:p>
            <a:pPr marL="34290" indent="0" algn="just">
              <a:buNone/>
            </a:pPr>
            <a:r>
              <a:rPr lang="en-US" sz="2000" b="1" i="0" dirty="0">
                <a:solidFill>
                  <a:srgbClr val="CC99CD"/>
                </a:solidFill>
                <a:effectLst/>
                <a:latin typeface="Courier New" panose="02070309020205020404" pitchFamily="49" charset="0"/>
              </a:rPr>
              <a:t>namespace</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ArrayApplication</a:t>
            </a:r>
            <a:r>
              <a:rPr lang="en-US" sz="2000" b="1" i="0" dirty="0">
                <a:solidFill>
                  <a:srgbClr val="CCCCCC"/>
                </a:solidFill>
                <a:effectLst/>
                <a:latin typeface="Courier New" panose="02070309020205020404" pitchFamily="49" charset="0"/>
              </a:rPr>
              <a:t> {</a:t>
            </a:r>
          </a:p>
          <a:p>
            <a:pPr marL="34290" indent="0" algn="just">
              <a:buNone/>
            </a:pPr>
            <a:r>
              <a:rPr lang="en-US" sz="2000" b="1" i="0" dirty="0">
                <a:solidFill>
                  <a:srgbClr val="CC99CD"/>
                </a:solidFill>
                <a:effectLst/>
                <a:latin typeface="Courier New" panose="02070309020205020404" pitchFamily="49" charset="0"/>
              </a:rPr>
              <a:t>class</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MyArray</a:t>
            </a:r>
            <a:r>
              <a:rPr lang="en-US" sz="2000" b="1" i="0" dirty="0">
                <a:solidFill>
                  <a:srgbClr val="CCCCCC"/>
                </a:solidFill>
                <a:effectLst/>
                <a:latin typeface="Courier New" panose="02070309020205020404" pitchFamily="49" charset="0"/>
              </a:rPr>
              <a:t> {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99CD"/>
                </a:solidFill>
                <a:effectLst/>
                <a:latin typeface="Courier New" panose="02070309020205020404" pitchFamily="49" charset="0"/>
              </a:rPr>
              <a:t>static</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void</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Main</a:t>
            </a:r>
            <a:r>
              <a:rPr lang="en-US" sz="2000" b="1" i="0" dirty="0">
                <a:solidFill>
                  <a:srgbClr val="CCCCCC"/>
                </a:solidFill>
                <a:effectLst/>
                <a:latin typeface="Courier New" panose="02070309020205020404" pitchFamily="49" charset="0"/>
              </a:rPr>
              <a:t>(</a:t>
            </a:r>
            <a:r>
              <a:rPr lang="en-US" sz="2000" b="1" i="0" dirty="0">
                <a:solidFill>
                  <a:srgbClr val="CC99CD"/>
                </a:solidFill>
                <a:effectLst/>
                <a:latin typeface="Courier New" panose="02070309020205020404" pitchFamily="49" charset="0"/>
              </a:rPr>
              <a:t>string</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args</a:t>
            </a:r>
            <a:r>
              <a:rPr lang="en-US" sz="2000" b="1" i="0" dirty="0">
                <a:solidFill>
                  <a:srgbClr val="CCCCCC"/>
                </a:solidFill>
                <a:effectLst/>
                <a:latin typeface="Courier New" panose="02070309020205020404" pitchFamily="49" charset="0"/>
              </a:rPr>
              <a:t>) {</a:t>
            </a:r>
          </a:p>
          <a:p>
            <a:pPr marL="34290" indent="0">
              <a:buNone/>
            </a:pP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int</a:t>
            </a:r>
            <a:r>
              <a:rPr lang="en-US" sz="2000" b="1" i="0" dirty="0">
                <a:solidFill>
                  <a:srgbClr val="CCCCCC"/>
                </a:solidFill>
                <a:effectLst/>
                <a:latin typeface="Courier New" panose="02070309020205020404" pitchFamily="49" charset="0"/>
              </a:rPr>
              <a:t>[,] a </a:t>
            </a:r>
            <a:r>
              <a:rPr lang="en-US" sz="2000" b="1" i="0" dirty="0">
                <a:solidFill>
                  <a:srgbClr val="67CDCC"/>
                </a:solidFill>
                <a:effectLst/>
                <a:latin typeface="Courier New" panose="02070309020205020404" pitchFamily="49" charset="0"/>
              </a:rPr>
              <a:t>=</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new</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int</a:t>
            </a:r>
            <a:r>
              <a:rPr lang="en-US" sz="2000" b="1" i="0" dirty="0">
                <a:solidFill>
                  <a:srgbClr val="CCCCCC"/>
                </a:solidFill>
                <a:effectLst/>
                <a:latin typeface="Courier New" panose="02070309020205020404" pitchFamily="49" charset="0"/>
              </a:rPr>
              <a:t>[</a:t>
            </a:r>
            <a:r>
              <a:rPr lang="en-US" sz="2000" b="1" i="0" dirty="0">
                <a:solidFill>
                  <a:srgbClr val="F08D49"/>
                </a:solidFill>
                <a:effectLst/>
                <a:latin typeface="Courier New" panose="02070309020205020404" pitchFamily="49" charset="0"/>
              </a:rPr>
              <a:t>5</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2</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0</a:t>
            </a:r>
            <a:r>
              <a:rPr lang="en-US" sz="2000" b="1" i="0" dirty="0">
                <a:solidFill>
                  <a:srgbClr val="CCCCCC"/>
                </a:solidFill>
                <a:effectLst/>
                <a:latin typeface="Courier New" panose="02070309020205020404" pitchFamily="49" charset="0"/>
              </a:rPr>
              <a:t>,</a:t>
            </a:r>
            <a:r>
              <a:rPr lang="en-US" sz="2000" b="1" i="0" dirty="0">
                <a:solidFill>
                  <a:srgbClr val="F08D49"/>
                </a:solidFill>
                <a:effectLst/>
                <a:latin typeface="Courier New" panose="02070309020205020404" pitchFamily="49" charset="0"/>
              </a:rPr>
              <a:t>0</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1</a:t>
            </a:r>
            <a:r>
              <a:rPr lang="en-US" sz="2000" b="1" i="0" dirty="0">
                <a:solidFill>
                  <a:srgbClr val="CCCCCC"/>
                </a:solidFill>
                <a:effectLst/>
                <a:latin typeface="Courier New" panose="02070309020205020404" pitchFamily="49" charset="0"/>
              </a:rPr>
              <a:t>,</a:t>
            </a:r>
            <a:r>
              <a:rPr lang="en-US" sz="2000" b="1" i="0" dirty="0">
                <a:solidFill>
                  <a:srgbClr val="F08D49"/>
                </a:solidFill>
                <a:effectLst/>
                <a:latin typeface="Courier New" panose="02070309020205020404" pitchFamily="49" charset="0"/>
              </a:rPr>
              <a:t>2</a:t>
            </a:r>
            <a:r>
              <a:rPr lang="en-US" sz="2000" b="1" i="0" dirty="0">
                <a:solidFill>
                  <a:srgbClr val="CCCCCC"/>
                </a:solidFill>
                <a:effectLst/>
                <a:latin typeface="Courier New" panose="02070309020205020404" pitchFamily="49" charset="0"/>
              </a:rPr>
              <a:t>},</a:t>
            </a: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a:t>
            </a:r>
            <a:r>
              <a:rPr lang="en-US" sz="2000" b="1" i="0" dirty="0">
                <a:solidFill>
                  <a:srgbClr val="F08D49"/>
                </a:solidFill>
                <a:effectLst/>
                <a:latin typeface="Courier New" panose="02070309020205020404" pitchFamily="49" charset="0"/>
              </a:rPr>
              <a:t>2</a:t>
            </a:r>
            <a:r>
              <a:rPr lang="en-US" sz="2000" b="1" i="0" dirty="0">
                <a:solidFill>
                  <a:srgbClr val="CCCCCC"/>
                </a:solidFill>
                <a:effectLst/>
                <a:latin typeface="Courier New" panose="02070309020205020404" pitchFamily="49" charset="0"/>
              </a:rPr>
              <a:t>,</a:t>
            </a:r>
            <a:r>
              <a:rPr lang="en-US" sz="2000" b="1" i="0" dirty="0">
                <a:solidFill>
                  <a:srgbClr val="F08D49"/>
                </a:solidFill>
                <a:effectLst/>
                <a:latin typeface="Courier New" panose="02070309020205020404" pitchFamily="49" charset="0"/>
              </a:rPr>
              <a:t>4</a:t>
            </a:r>
            <a:r>
              <a:rPr lang="en-US" sz="2000" b="1" i="0" dirty="0">
                <a:solidFill>
                  <a:srgbClr val="CCCCCC"/>
                </a:solidFill>
                <a:effectLst/>
                <a:latin typeface="Courier New" panose="02070309020205020404" pitchFamily="49" charset="0"/>
              </a:rPr>
              <a:t>}, </a:t>
            </a:r>
          </a:p>
          <a:p>
            <a:pPr marL="34290" indent="0" algn="just">
              <a:buNone/>
            </a:pP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3</a:t>
            </a:r>
            <a:r>
              <a:rPr lang="en-US" sz="2000" b="1" i="0" dirty="0">
                <a:solidFill>
                  <a:srgbClr val="CCCCCC"/>
                </a:solidFill>
                <a:effectLst/>
                <a:latin typeface="Courier New" panose="02070309020205020404" pitchFamily="49" charset="0"/>
              </a:rPr>
              <a:t>,</a:t>
            </a:r>
            <a:r>
              <a:rPr lang="en-US" sz="2000" b="1" i="0" dirty="0">
                <a:solidFill>
                  <a:srgbClr val="F08D49"/>
                </a:solidFill>
                <a:effectLst/>
                <a:latin typeface="Courier New" panose="02070309020205020404" pitchFamily="49" charset="0"/>
              </a:rPr>
              <a:t>6</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4</a:t>
            </a:r>
            <a:r>
              <a:rPr lang="en-US" sz="2000" b="1" i="0" dirty="0">
                <a:solidFill>
                  <a:srgbClr val="CCCCCC"/>
                </a:solidFill>
                <a:effectLst/>
                <a:latin typeface="Courier New" panose="02070309020205020404" pitchFamily="49" charset="0"/>
              </a:rPr>
              <a:t>,</a:t>
            </a:r>
            <a:r>
              <a:rPr lang="en-US" sz="2000" b="1" i="0" dirty="0">
                <a:solidFill>
                  <a:srgbClr val="F08D49"/>
                </a:solidFill>
                <a:effectLst/>
                <a:latin typeface="Courier New" panose="02070309020205020404" pitchFamily="49" charset="0"/>
              </a:rPr>
              <a:t>8</a:t>
            </a:r>
            <a:r>
              <a:rPr lang="en-US" sz="2000" b="1" i="0" dirty="0">
                <a:solidFill>
                  <a:srgbClr val="CCCCCC"/>
                </a:solidFill>
                <a:effectLst/>
                <a:latin typeface="Courier New" panose="02070309020205020404" pitchFamily="49" charset="0"/>
              </a:rPr>
              <a:t>} }; </a:t>
            </a:r>
          </a:p>
          <a:p>
            <a:pPr marL="34290" indent="0" algn="just">
              <a:buNone/>
            </a:pPr>
            <a:r>
              <a:rPr lang="en-US" sz="2000" b="1" i="0" dirty="0">
                <a:solidFill>
                  <a:srgbClr val="CC99CD"/>
                </a:solidFill>
                <a:effectLst/>
                <a:latin typeface="Courier New" panose="02070309020205020404" pitchFamily="49" charset="0"/>
              </a:rPr>
              <a:t>    for</a:t>
            </a:r>
            <a:r>
              <a:rPr lang="en-US" sz="2000" b="1" i="0" dirty="0">
                <a:solidFill>
                  <a:srgbClr val="CCCCCC"/>
                </a:solidFill>
                <a:effectLst/>
                <a:latin typeface="Courier New" panose="02070309020205020404" pitchFamily="49" charset="0"/>
              </a:rPr>
              <a:t> (int </a:t>
            </a:r>
            <a:r>
              <a:rPr lang="en-US" sz="2000" b="1" i="0" dirty="0" err="1">
                <a:solidFill>
                  <a:srgbClr val="CCCCCC"/>
                </a:solidFill>
                <a:effectLst/>
                <a:latin typeface="Courier New" panose="02070309020205020404" pitchFamily="49" charset="0"/>
              </a:rPr>
              <a:t>i</a:t>
            </a:r>
            <a:r>
              <a:rPr lang="en-US" sz="2000" b="1" i="0" dirty="0">
                <a:solidFill>
                  <a:srgbClr val="CCCCCC"/>
                </a:solidFill>
                <a:effectLst/>
                <a:latin typeface="Courier New" panose="02070309020205020404" pitchFamily="49" charset="0"/>
              </a:rPr>
              <a:t> </a:t>
            </a:r>
            <a:r>
              <a:rPr lang="en-US" sz="2000" b="1" i="0" dirty="0">
                <a:solidFill>
                  <a:srgbClr val="67CDCC"/>
                </a:solidFill>
                <a:effectLst/>
                <a:latin typeface="Courier New" panose="02070309020205020404" pitchFamily="49" charset="0"/>
              </a:rPr>
              <a:t>=</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0</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i</a:t>
            </a:r>
            <a:r>
              <a:rPr lang="en-US" sz="2000" b="1" i="0" dirty="0">
                <a:solidFill>
                  <a:srgbClr val="CCCCCC"/>
                </a:solidFill>
                <a:effectLst/>
                <a:latin typeface="Courier New" panose="02070309020205020404" pitchFamily="49" charset="0"/>
              </a:rPr>
              <a:t> </a:t>
            </a:r>
            <a:r>
              <a:rPr lang="en-US" sz="2000" b="1" i="0" dirty="0">
                <a:solidFill>
                  <a:srgbClr val="67CDCC"/>
                </a:solidFill>
                <a:effectLst/>
                <a:latin typeface="Courier New" panose="02070309020205020404" pitchFamily="49" charset="0"/>
              </a:rPr>
              <a:t>&lt;</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5</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i</a:t>
            </a:r>
            <a:r>
              <a:rPr lang="en-US" sz="2000" b="1" i="0" dirty="0">
                <a:solidFill>
                  <a:srgbClr val="67CDCC"/>
                </a:solidFill>
                <a:effectLst/>
                <a:latin typeface="Courier New" panose="02070309020205020404" pitchFamily="49" charset="0"/>
              </a:rPr>
              <a:t>++</a:t>
            </a:r>
            <a:r>
              <a:rPr lang="en-US" sz="2000" b="1" i="0" dirty="0">
                <a:solidFill>
                  <a:srgbClr val="CCCCCC"/>
                </a:solidFill>
                <a:effectLst/>
                <a:latin typeface="Courier New" panose="02070309020205020404" pitchFamily="49" charset="0"/>
              </a:rPr>
              <a:t>)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for</a:t>
            </a:r>
            <a:r>
              <a:rPr lang="en-US" sz="2000" b="1" i="0" dirty="0">
                <a:solidFill>
                  <a:srgbClr val="CCCCCC"/>
                </a:solidFill>
                <a:effectLst/>
                <a:latin typeface="Courier New" panose="02070309020205020404" pitchFamily="49" charset="0"/>
              </a:rPr>
              <a:t> (int j </a:t>
            </a:r>
            <a:r>
              <a:rPr lang="en-US" sz="2000" b="1" i="0" dirty="0">
                <a:solidFill>
                  <a:srgbClr val="67CDCC"/>
                </a:solidFill>
                <a:effectLst/>
                <a:latin typeface="Courier New" panose="02070309020205020404" pitchFamily="49" charset="0"/>
              </a:rPr>
              <a:t>=</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0</a:t>
            </a:r>
            <a:r>
              <a:rPr lang="en-US" sz="2000" b="1" i="0" dirty="0">
                <a:solidFill>
                  <a:srgbClr val="CCCCCC"/>
                </a:solidFill>
                <a:effectLst/>
                <a:latin typeface="Courier New" panose="02070309020205020404" pitchFamily="49" charset="0"/>
              </a:rPr>
              <a:t>; j </a:t>
            </a:r>
            <a:r>
              <a:rPr lang="en-US" sz="2000" b="1" i="0" dirty="0">
                <a:solidFill>
                  <a:srgbClr val="67CDCC"/>
                </a:solidFill>
                <a:effectLst/>
                <a:latin typeface="Courier New" panose="02070309020205020404" pitchFamily="49" charset="0"/>
              </a:rPr>
              <a:t>&lt;</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2</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j</a:t>
            </a:r>
            <a:r>
              <a:rPr lang="en-US" sz="2000" b="1" i="0" dirty="0" err="1">
                <a:solidFill>
                  <a:srgbClr val="67CDCC"/>
                </a:solidFill>
                <a:effectLst/>
                <a:latin typeface="Courier New" panose="02070309020205020404" pitchFamily="49" charset="0"/>
              </a:rPr>
              <a:t>++</a:t>
            </a:r>
            <a:r>
              <a:rPr lang="en-US" sz="2000" b="1" i="0" dirty="0">
                <a:solidFill>
                  <a:srgbClr val="CCCCCC"/>
                </a:solidFill>
                <a:effectLst/>
                <a:latin typeface="Courier New" panose="02070309020205020404" pitchFamily="49" charset="0"/>
              </a:rPr>
              <a:t>)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Console.</a:t>
            </a:r>
            <a:r>
              <a:rPr lang="en-US" sz="2000" b="1" i="0" dirty="0" err="1">
                <a:solidFill>
                  <a:srgbClr val="F08D49"/>
                </a:solidFill>
                <a:effectLst/>
                <a:latin typeface="Courier New" panose="02070309020205020404" pitchFamily="49" charset="0"/>
              </a:rPr>
              <a:t>WriteLine</a:t>
            </a:r>
            <a:r>
              <a:rPr lang="en-US" sz="2000" b="1" i="0" dirty="0">
                <a:solidFill>
                  <a:srgbClr val="CCCCCC"/>
                </a:solidFill>
                <a:effectLst/>
                <a:latin typeface="Courier New" panose="02070309020205020404" pitchFamily="49" charset="0"/>
              </a:rPr>
              <a:t>(</a:t>
            </a:r>
            <a:r>
              <a:rPr lang="en-US" sz="2000" b="1" i="0" dirty="0">
                <a:solidFill>
                  <a:srgbClr val="7EC699"/>
                </a:solidFill>
                <a:effectLst/>
                <a:latin typeface="Courier New" panose="02070309020205020404" pitchFamily="49" charset="0"/>
              </a:rPr>
              <a:t>"a[{0},{1}] = </a:t>
            </a:r>
          </a:p>
          <a:p>
            <a:pPr marL="34290" indent="0" algn="just">
              <a:buNone/>
            </a:pPr>
            <a:r>
              <a:rPr lang="en-US" sz="2000" b="1" i="0" dirty="0">
                <a:solidFill>
                  <a:srgbClr val="7EC699"/>
                </a:solidFill>
                <a:effectLst/>
                <a:latin typeface="Courier New" panose="02070309020205020404" pitchFamily="49" charset="0"/>
              </a:rPr>
              <a:t>        {2}"</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i</a:t>
            </a:r>
            <a:r>
              <a:rPr lang="en-US" sz="2000" b="1" i="0" dirty="0">
                <a:solidFill>
                  <a:srgbClr val="CCCCCC"/>
                </a:solidFill>
                <a:effectLst/>
                <a:latin typeface="Courier New" panose="02070309020205020404" pitchFamily="49" charset="0"/>
              </a:rPr>
              <a:t>, j, a[</a:t>
            </a:r>
            <a:r>
              <a:rPr lang="en-US" sz="2000" b="1" i="0" dirty="0" err="1">
                <a:solidFill>
                  <a:srgbClr val="CCCCCC"/>
                </a:solidFill>
                <a:effectLst/>
                <a:latin typeface="Courier New" panose="02070309020205020404" pitchFamily="49" charset="0"/>
              </a:rPr>
              <a:t>i,j</a:t>
            </a:r>
            <a:r>
              <a:rPr lang="en-US" sz="2000" b="1" i="0" dirty="0">
                <a:solidFill>
                  <a:srgbClr val="CCCCCC"/>
                </a:solidFill>
                <a:effectLst/>
                <a:latin typeface="Courier New" panose="02070309020205020404" pitchFamily="49" charset="0"/>
              </a:rPr>
              <a:t>]);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 </a:t>
            </a:r>
          </a:p>
          <a:p>
            <a:pPr marL="34290" indent="0" algn="just">
              <a:buNone/>
            </a:pPr>
            <a:r>
              <a:rPr lang="en-US" sz="2000" b="1" i="0" dirty="0">
                <a:solidFill>
                  <a:srgbClr val="CCCCCC"/>
                </a:solidFill>
                <a:effectLst/>
                <a:latin typeface="Courier New" panose="02070309020205020404" pitchFamily="49" charset="0"/>
              </a:rPr>
              <a:t>  } </a:t>
            </a:r>
          </a:p>
          <a:p>
            <a:pPr marL="34290" indent="0" algn="just">
              <a:buNone/>
            </a:pPr>
            <a:r>
              <a:rPr lang="en-US" sz="2000" b="1" i="0" dirty="0">
                <a:solidFill>
                  <a:srgbClr val="CCCCCC"/>
                </a:solidFill>
                <a:effectLst/>
                <a:latin typeface="Courier New" panose="02070309020205020404" pitchFamily="49" charset="0"/>
              </a:rPr>
              <a:t>} </a:t>
            </a:r>
          </a:p>
          <a:p>
            <a:pPr marL="34290" indent="0" algn="just">
              <a:buNone/>
            </a:pPr>
            <a:r>
              <a:rPr lang="en-US" sz="2000" b="1" i="0" dirty="0">
                <a:solidFill>
                  <a:srgbClr val="CCCCCC"/>
                </a:solidFill>
                <a:effectLst/>
                <a:latin typeface="Courier New" panose="02070309020205020404" pitchFamily="49" charset="0"/>
              </a:rPr>
              <a:t>}</a:t>
            </a:r>
            <a:endParaRPr lang="ro-RO" sz="2000" b="1"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20583651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578F4-C972-B5EA-BCC3-A2863DBE3D3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98729D7-1B62-EF71-D71E-80BAFCAF4A24}"/>
              </a:ext>
            </a:extLst>
          </p:cNvPr>
          <p:cNvSpPr>
            <a:spLocks noGrp="1"/>
          </p:cNvSpPr>
          <p:nvPr>
            <p:ph type="title"/>
          </p:nvPr>
        </p:nvSpPr>
        <p:spPr>
          <a:xfrm>
            <a:off x="463925" y="582705"/>
            <a:ext cx="7819465" cy="504265"/>
          </a:xfrm>
        </p:spPr>
        <p:txBody>
          <a:bodyPr>
            <a:noAutofit/>
          </a:bodyPr>
          <a:lstStyle/>
          <a:p>
            <a:r>
              <a:rPr lang="ro-RO" sz="3200" noProof="0" dirty="0"/>
              <a:t>C# - Cursul 9</a:t>
            </a:r>
          </a:p>
        </p:txBody>
      </p:sp>
      <p:sp>
        <p:nvSpPr>
          <p:cNvPr id="5" name="Content Placeholder 4">
            <a:extLst>
              <a:ext uri="{FF2B5EF4-FFF2-40B4-BE49-F238E27FC236}">
                <a16:creationId xmlns:a16="http://schemas.microsoft.com/office/drawing/2014/main" id="{7C38273A-CDFD-40A1-7D43-317B7F4CB006}"/>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Arrays</a:t>
            </a:r>
            <a:r>
              <a:rPr lang="ro-RO" sz="2800" noProof="0" dirty="0">
                <a:solidFill>
                  <a:srgbClr val="00B0F0"/>
                </a:solidFill>
              </a:rPr>
              <a:t> (tablouri) în C# - tablouri multidimensionale</a:t>
            </a:r>
          </a:p>
          <a:p>
            <a:pPr marL="34290" indent="0" algn="just">
              <a:buNone/>
            </a:pPr>
            <a:r>
              <a:rPr lang="ro-RO" sz="2800" dirty="0">
                <a:solidFill>
                  <a:srgbClr val="00B0F0"/>
                </a:solidFill>
              </a:rPr>
              <a:t>Găsirea dimensiunii unui </a:t>
            </a:r>
            <a:r>
              <a:rPr lang="ro-RO" sz="2800" dirty="0" err="1">
                <a:solidFill>
                  <a:srgbClr val="00B0F0"/>
                </a:solidFill>
              </a:rPr>
              <a:t>array</a:t>
            </a:r>
            <a:r>
              <a:rPr lang="ro-RO" sz="2800" dirty="0">
                <a:solidFill>
                  <a:srgbClr val="00B0F0"/>
                </a:solidFill>
              </a:rPr>
              <a:t> bidimensional</a:t>
            </a:r>
          </a:p>
          <a:p>
            <a:pPr marL="34290" indent="0" algn="just">
              <a:buNone/>
            </a:pPr>
            <a:r>
              <a:rPr lang="ro-RO" sz="2800" dirty="0">
                <a:solidFill>
                  <a:srgbClr val="00B0F0"/>
                </a:solidFill>
              </a:rPr>
              <a:t>Puteți găsi numărul total de elemente dintr-un </a:t>
            </a:r>
            <a:r>
              <a:rPr lang="ro-RO" sz="2800" dirty="0" err="1">
                <a:solidFill>
                  <a:srgbClr val="00B0F0"/>
                </a:solidFill>
              </a:rPr>
              <a:t>array</a:t>
            </a:r>
            <a:r>
              <a:rPr lang="ro-RO" sz="2800" dirty="0">
                <a:solidFill>
                  <a:srgbClr val="00B0F0"/>
                </a:solidFill>
              </a:rPr>
              <a:t> bidimensional folosind proprietatea </a:t>
            </a:r>
            <a:r>
              <a:rPr lang="ro-RO" sz="2800" dirty="0" err="1">
                <a:solidFill>
                  <a:srgbClr val="00B0F0"/>
                </a:solidFill>
              </a:rPr>
              <a:t>Length</a:t>
            </a:r>
            <a:r>
              <a:rPr lang="ro-RO" sz="2800" dirty="0">
                <a:solidFill>
                  <a:srgbClr val="00B0F0"/>
                </a:solidFill>
              </a:rPr>
              <a:t>.</a:t>
            </a:r>
          </a:p>
          <a:p>
            <a:pPr marL="34290" indent="0" algn="just">
              <a:buNone/>
            </a:pPr>
            <a:endParaRPr lang="ro-RO" sz="2800" dirty="0">
              <a:solidFill>
                <a:srgbClr val="00B0F0"/>
              </a:solidFill>
            </a:endParaRPr>
          </a:p>
          <a:p>
            <a:pPr marL="34290" indent="0" algn="just">
              <a:buNone/>
            </a:pPr>
            <a:r>
              <a:rPr lang="en-US" sz="2800" dirty="0" err="1">
                <a:solidFill>
                  <a:srgbClr val="00B0F0"/>
                </a:solidFill>
              </a:rPr>
              <a:t>Exemplu</a:t>
            </a:r>
            <a:r>
              <a:rPr lang="en-US" sz="2800" dirty="0">
                <a:solidFill>
                  <a:srgbClr val="00B0F0"/>
                </a:solidFill>
              </a:rPr>
              <a:t>:</a:t>
            </a:r>
          </a:p>
          <a:p>
            <a:pPr marL="34290" indent="0">
              <a:buNone/>
            </a:pPr>
            <a:r>
              <a:rPr lang="en-US" sz="2400" b="1" i="0" dirty="0">
                <a:solidFill>
                  <a:srgbClr val="CC99CD"/>
                </a:solidFill>
                <a:effectLst/>
                <a:latin typeface="Courier New" panose="02070309020205020404" pitchFamily="49" charset="0"/>
              </a:rPr>
              <a:t>int</a:t>
            </a:r>
            <a:r>
              <a:rPr lang="en-US" sz="2400" b="1" i="0" dirty="0">
                <a:solidFill>
                  <a:srgbClr val="CCCCCC"/>
                </a:solidFill>
                <a:effectLst/>
                <a:latin typeface="Courier New" panose="02070309020205020404" pitchFamily="49" charset="0"/>
              </a:rPr>
              <a:t>[,] matrix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new</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int</a:t>
            </a:r>
            <a:r>
              <a:rPr lang="en-US" sz="2400" b="1" i="0" dirty="0">
                <a:solidFill>
                  <a:srgbClr val="CCCCCC"/>
                </a:solidFill>
                <a:effectLst/>
                <a:latin typeface="Courier New" panose="02070309020205020404" pitchFamily="49" charset="0"/>
              </a:rPr>
              <a:t>[</a:t>
            </a:r>
            <a:r>
              <a:rPr lang="en-US" sz="2400" b="1" i="0" dirty="0">
                <a:solidFill>
                  <a:srgbClr val="F08D49"/>
                </a:solidFill>
                <a:effectLst/>
                <a:latin typeface="Courier New" panose="02070309020205020404" pitchFamily="49" charset="0"/>
              </a:rPr>
              <a:t>3</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4</a:t>
            </a:r>
            <a:r>
              <a:rPr lang="en-US" sz="2400" b="1" i="0" dirty="0">
                <a:solidFill>
                  <a:srgbClr val="CCCCCC"/>
                </a:solidFill>
                <a:effectLst/>
                <a:latin typeface="Courier New" panose="02070309020205020404" pitchFamily="49" charset="0"/>
              </a:rPr>
              <a:t>]; </a:t>
            </a:r>
          </a:p>
          <a:p>
            <a:pPr marL="34290" indent="0">
              <a:buNone/>
            </a:pPr>
            <a:r>
              <a:rPr lang="en-US" sz="2400" b="1" i="0" dirty="0">
                <a:solidFill>
                  <a:srgbClr val="CC99CD"/>
                </a:solidFill>
                <a:effectLst/>
                <a:latin typeface="Courier New" panose="02070309020205020404" pitchFamily="49" charset="0"/>
              </a:rPr>
              <a:t>int</a:t>
            </a:r>
            <a:r>
              <a:rPr lang="en-US" sz="2400" b="1" i="0" dirty="0">
                <a:solidFill>
                  <a:srgbClr val="CCCCCC"/>
                </a:solidFill>
                <a:effectLst/>
                <a:latin typeface="Courier New" panose="02070309020205020404" pitchFamily="49" charset="0"/>
              </a:rPr>
              <a:t> </a:t>
            </a:r>
            <a:r>
              <a:rPr lang="en-US" sz="2400" b="1" i="0" dirty="0" err="1">
                <a:solidFill>
                  <a:srgbClr val="CCCCCC"/>
                </a:solidFill>
                <a:effectLst/>
                <a:latin typeface="Courier New" panose="02070309020205020404" pitchFamily="49" charset="0"/>
              </a:rPr>
              <a:t>totalElements</a:t>
            </a:r>
            <a:r>
              <a:rPr lang="en-US" sz="2400" b="1" i="0" dirty="0">
                <a:solidFill>
                  <a:srgbClr val="CCCCCC"/>
                </a:solidFill>
                <a:effectLst/>
                <a:latin typeface="Courier New" panose="02070309020205020404" pitchFamily="49" charset="0"/>
              </a:rPr>
              <a:t>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a:t>
            </a:r>
            <a:r>
              <a:rPr lang="en-US" sz="2400" b="1" i="0" dirty="0" err="1">
                <a:solidFill>
                  <a:srgbClr val="CCCCCC"/>
                </a:solidFill>
                <a:effectLst/>
                <a:latin typeface="Courier New" panose="02070309020205020404" pitchFamily="49" charset="0"/>
              </a:rPr>
              <a:t>matrix.Length</a:t>
            </a:r>
            <a:r>
              <a:rPr lang="en-US" sz="2400" b="1" i="0" dirty="0">
                <a:solidFill>
                  <a:srgbClr val="CCCCCC"/>
                </a:solidFill>
                <a:effectLst/>
                <a:latin typeface="Courier New" panose="02070309020205020404" pitchFamily="49" charset="0"/>
              </a:rPr>
              <a:t>; </a:t>
            </a:r>
            <a:r>
              <a:rPr lang="en-US" sz="2400" b="1" i="0" dirty="0">
                <a:solidFill>
                  <a:schemeClr val="bg1">
                    <a:lumMod val="50000"/>
                    <a:lumOff val="50000"/>
                  </a:schemeClr>
                </a:solidFill>
                <a:effectLst/>
                <a:latin typeface="Courier New" panose="02070309020205020404" pitchFamily="49" charset="0"/>
              </a:rPr>
              <a:t>// 12</a:t>
            </a:r>
            <a:endParaRPr lang="ro-RO" sz="2400" b="1" noProof="0" dirty="0">
              <a:solidFill>
                <a:schemeClr val="bg1">
                  <a:lumMod val="50000"/>
                  <a:lumOff val="50000"/>
                </a:schemeClr>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35629348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C6A05-876F-9E24-142E-C693985A929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4A0A134-96A6-6173-8546-82CF654FF9C4}"/>
              </a:ext>
            </a:extLst>
          </p:cNvPr>
          <p:cNvSpPr>
            <a:spLocks noGrp="1"/>
          </p:cNvSpPr>
          <p:nvPr>
            <p:ph type="title"/>
          </p:nvPr>
        </p:nvSpPr>
        <p:spPr>
          <a:xfrm>
            <a:off x="463925" y="582705"/>
            <a:ext cx="7819465" cy="504265"/>
          </a:xfrm>
        </p:spPr>
        <p:txBody>
          <a:bodyPr>
            <a:noAutofit/>
          </a:bodyPr>
          <a:lstStyle/>
          <a:p>
            <a:r>
              <a:rPr lang="ro-RO" sz="3200" noProof="0" dirty="0"/>
              <a:t>C# - Cursul 9</a:t>
            </a:r>
          </a:p>
        </p:txBody>
      </p:sp>
      <p:sp>
        <p:nvSpPr>
          <p:cNvPr id="5" name="Content Placeholder 4">
            <a:extLst>
              <a:ext uri="{FF2B5EF4-FFF2-40B4-BE49-F238E27FC236}">
                <a16:creationId xmlns:a16="http://schemas.microsoft.com/office/drawing/2014/main" id="{FD9CF558-BCE9-90E5-A132-AA6211D92085}"/>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Arrays</a:t>
            </a:r>
            <a:r>
              <a:rPr lang="ro-RO" sz="2800" noProof="0" dirty="0">
                <a:solidFill>
                  <a:srgbClr val="00B0F0"/>
                </a:solidFill>
              </a:rPr>
              <a:t> (tablouri) în C# - tablouri multidimensionale</a:t>
            </a:r>
          </a:p>
          <a:p>
            <a:pPr marL="34290" indent="0" algn="just">
              <a:buNone/>
            </a:pPr>
            <a:r>
              <a:rPr lang="ro-RO" sz="2800" dirty="0">
                <a:solidFill>
                  <a:srgbClr val="00B0F0"/>
                </a:solidFill>
              </a:rPr>
              <a:t>Obținerea dimensiunii fiecărei dimensiuni dintr-un </a:t>
            </a:r>
            <a:r>
              <a:rPr lang="ro-RO" sz="2800" dirty="0" err="1">
                <a:solidFill>
                  <a:srgbClr val="00B0F0"/>
                </a:solidFill>
              </a:rPr>
              <a:t>array</a:t>
            </a:r>
            <a:r>
              <a:rPr lang="ro-RO" sz="2800" dirty="0">
                <a:solidFill>
                  <a:srgbClr val="00B0F0"/>
                </a:solidFill>
              </a:rPr>
              <a:t> multidimensional</a:t>
            </a:r>
          </a:p>
          <a:p>
            <a:pPr marL="34290" indent="0" algn="just">
              <a:buNone/>
            </a:pPr>
            <a:r>
              <a:rPr lang="ro-RO" sz="2800" dirty="0">
                <a:solidFill>
                  <a:srgbClr val="00B0F0"/>
                </a:solidFill>
              </a:rPr>
              <a:t>Puteți obține dimensiunea fiecărei dimensiuni dintr-un </a:t>
            </a:r>
            <a:r>
              <a:rPr lang="ro-RO" sz="2800" dirty="0" err="1">
                <a:solidFill>
                  <a:srgbClr val="00B0F0"/>
                </a:solidFill>
              </a:rPr>
              <a:t>array</a:t>
            </a:r>
            <a:r>
              <a:rPr lang="ro-RO" sz="2800" dirty="0">
                <a:solidFill>
                  <a:srgbClr val="00B0F0"/>
                </a:solidFill>
              </a:rPr>
              <a:t> multidimensional folosind metoda </a:t>
            </a:r>
            <a:r>
              <a:rPr lang="ro-RO" sz="2800" dirty="0" err="1">
                <a:solidFill>
                  <a:srgbClr val="00B0F0"/>
                </a:solidFill>
              </a:rPr>
              <a:t>GetLength</a:t>
            </a:r>
            <a:r>
              <a:rPr lang="ro-RO" sz="2800" dirty="0">
                <a:solidFill>
                  <a:srgbClr val="00B0F0"/>
                </a:solidFill>
              </a:rPr>
              <a:t>().</a:t>
            </a:r>
            <a:endParaRPr lang="en-US" sz="2800" dirty="0">
              <a:solidFill>
                <a:srgbClr val="00B0F0"/>
              </a:solidFill>
            </a:endParaRPr>
          </a:p>
          <a:p>
            <a:pPr marL="34290" indent="0" algn="just">
              <a:buNone/>
            </a:pPr>
            <a:r>
              <a:rPr lang="en-US" sz="2800" noProof="0" dirty="0" err="1">
                <a:solidFill>
                  <a:srgbClr val="00B0F0"/>
                </a:solidFill>
              </a:rPr>
              <a:t>Sintaxa</a:t>
            </a:r>
            <a:r>
              <a:rPr lang="en-US" sz="2800" noProof="0" dirty="0">
                <a:solidFill>
                  <a:srgbClr val="00B0F0"/>
                </a:solidFill>
              </a:rPr>
              <a:t>:</a:t>
            </a:r>
          </a:p>
          <a:p>
            <a:pPr marL="34290" indent="0">
              <a:buNone/>
            </a:pPr>
            <a:r>
              <a:rPr lang="en-US" sz="2400" b="1" i="0" dirty="0">
                <a:solidFill>
                  <a:srgbClr val="CC99CD"/>
                </a:solidFill>
                <a:effectLst/>
                <a:latin typeface="Courier New" panose="02070309020205020404" pitchFamily="49" charset="0"/>
              </a:rPr>
              <a:t>int</a:t>
            </a:r>
            <a:r>
              <a:rPr lang="en-US" sz="2400" b="1" i="0" dirty="0">
                <a:solidFill>
                  <a:srgbClr val="CCCCCC"/>
                </a:solidFill>
                <a:effectLst/>
                <a:latin typeface="Courier New" panose="02070309020205020404" pitchFamily="49" charset="0"/>
              </a:rPr>
              <a:t> rows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a:t>
            </a:r>
            <a:r>
              <a:rPr lang="en-US" sz="2400" b="1" i="0" dirty="0" err="1">
                <a:solidFill>
                  <a:srgbClr val="CCCCCC"/>
                </a:solidFill>
                <a:effectLst/>
                <a:latin typeface="Courier New" panose="02070309020205020404" pitchFamily="49" charset="0"/>
              </a:rPr>
              <a:t>array.</a:t>
            </a:r>
            <a:r>
              <a:rPr lang="en-US" sz="2400" b="1" i="0" dirty="0" err="1">
                <a:solidFill>
                  <a:srgbClr val="F08D49"/>
                </a:solidFill>
                <a:effectLst/>
                <a:latin typeface="Courier New" panose="02070309020205020404" pitchFamily="49" charset="0"/>
              </a:rPr>
              <a:t>GetLength</a:t>
            </a:r>
            <a:r>
              <a:rPr lang="en-US" sz="2400" b="1" i="0" dirty="0">
                <a:solidFill>
                  <a:srgbClr val="CCCCCC"/>
                </a:solidFill>
                <a:effectLst/>
                <a:latin typeface="Courier New" panose="02070309020205020404" pitchFamily="49" charset="0"/>
              </a:rPr>
              <a:t>(</a:t>
            </a:r>
            <a:r>
              <a:rPr lang="en-US" sz="2400" b="1" i="0" dirty="0">
                <a:solidFill>
                  <a:srgbClr val="F08D49"/>
                </a:solidFill>
                <a:effectLst/>
                <a:latin typeface="Courier New" panose="02070309020205020404" pitchFamily="49" charset="0"/>
              </a:rPr>
              <a:t>0</a:t>
            </a:r>
            <a:r>
              <a:rPr lang="en-US" sz="2400" b="1" i="0" dirty="0">
                <a:solidFill>
                  <a:srgbClr val="CCCCCC"/>
                </a:solidFill>
                <a:effectLst/>
                <a:latin typeface="Courier New" panose="02070309020205020404" pitchFamily="49" charset="0"/>
              </a:rPr>
              <a:t>); </a:t>
            </a:r>
          </a:p>
          <a:p>
            <a:pPr marL="34290" indent="0">
              <a:buNone/>
            </a:pPr>
            <a:r>
              <a:rPr lang="en-US" sz="2400" b="1" i="0" dirty="0">
                <a:solidFill>
                  <a:srgbClr val="999999"/>
                </a:solidFill>
                <a:effectLst/>
                <a:latin typeface="Courier New" panose="02070309020205020404" pitchFamily="49" charset="0"/>
              </a:rPr>
              <a:t>// Returns the number of rows</a:t>
            </a:r>
            <a:r>
              <a:rPr lang="en-US" sz="2400" b="1" i="0" dirty="0">
                <a:solidFill>
                  <a:srgbClr val="CCCCCC"/>
                </a:solidFill>
                <a:effectLst/>
                <a:latin typeface="Courier New" panose="02070309020205020404" pitchFamily="49" charset="0"/>
              </a:rPr>
              <a:t> </a:t>
            </a:r>
          </a:p>
          <a:p>
            <a:pPr marL="34290" indent="0">
              <a:buNone/>
            </a:pPr>
            <a:r>
              <a:rPr lang="en-US" sz="2400" b="1" i="0" dirty="0">
                <a:solidFill>
                  <a:srgbClr val="CC99CD"/>
                </a:solidFill>
                <a:effectLst/>
                <a:latin typeface="Courier New" panose="02070309020205020404" pitchFamily="49" charset="0"/>
              </a:rPr>
              <a:t>int</a:t>
            </a:r>
            <a:r>
              <a:rPr lang="en-US" sz="2400" b="1" i="0" dirty="0">
                <a:solidFill>
                  <a:srgbClr val="CCCCCC"/>
                </a:solidFill>
                <a:effectLst/>
                <a:latin typeface="Courier New" panose="02070309020205020404" pitchFamily="49" charset="0"/>
              </a:rPr>
              <a:t> cols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a:t>
            </a:r>
            <a:r>
              <a:rPr lang="en-US" sz="2400" b="1" i="0" dirty="0" err="1">
                <a:solidFill>
                  <a:srgbClr val="CCCCCC"/>
                </a:solidFill>
                <a:effectLst/>
                <a:latin typeface="Courier New" panose="02070309020205020404" pitchFamily="49" charset="0"/>
              </a:rPr>
              <a:t>array.</a:t>
            </a:r>
            <a:r>
              <a:rPr lang="en-US" sz="2400" b="1" i="0" dirty="0" err="1">
                <a:solidFill>
                  <a:srgbClr val="F08D49"/>
                </a:solidFill>
                <a:effectLst/>
                <a:latin typeface="Courier New" panose="02070309020205020404" pitchFamily="49" charset="0"/>
              </a:rPr>
              <a:t>GetLength</a:t>
            </a:r>
            <a:r>
              <a:rPr lang="en-US" sz="2400" b="1" i="0" dirty="0">
                <a:solidFill>
                  <a:srgbClr val="CCCCCC"/>
                </a:solidFill>
                <a:effectLst/>
                <a:latin typeface="Courier New" panose="02070309020205020404" pitchFamily="49" charset="0"/>
              </a:rPr>
              <a:t>(</a:t>
            </a:r>
            <a:r>
              <a:rPr lang="en-US" sz="2400" b="1" i="0" dirty="0">
                <a:solidFill>
                  <a:srgbClr val="F08D49"/>
                </a:solidFill>
                <a:effectLst/>
                <a:latin typeface="Courier New" panose="02070309020205020404" pitchFamily="49" charset="0"/>
              </a:rPr>
              <a:t>1</a:t>
            </a:r>
            <a:r>
              <a:rPr lang="en-US" sz="2400" b="1" i="0" dirty="0">
                <a:solidFill>
                  <a:srgbClr val="CCCCCC"/>
                </a:solidFill>
                <a:effectLst/>
                <a:latin typeface="Courier New" panose="02070309020205020404" pitchFamily="49" charset="0"/>
              </a:rPr>
              <a:t>); </a:t>
            </a:r>
          </a:p>
          <a:p>
            <a:pPr marL="34290" indent="0">
              <a:buNone/>
            </a:pPr>
            <a:r>
              <a:rPr lang="en-US" sz="2400" b="1" i="0" dirty="0">
                <a:solidFill>
                  <a:srgbClr val="999999"/>
                </a:solidFill>
                <a:effectLst/>
                <a:latin typeface="Courier New" panose="02070309020205020404" pitchFamily="49" charset="0"/>
              </a:rPr>
              <a:t>// Returns the number of columns</a:t>
            </a:r>
            <a:endParaRPr lang="ro-RO" sz="2400" b="1"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20871178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BF581-8C71-4447-6048-1E38A7F3727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A306A53-5100-9A6C-E5F0-99BF6A729550}"/>
              </a:ext>
            </a:extLst>
          </p:cNvPr>
          <p:cNvSpPr>
            <a:spLocks noGrp="1"/>
          </p:cNvSpPr>
          <p:nvPr>
            <p:ph type="title"/>
          </p:nvPr>
        </p:nvSpPr>
        <p:spPr>
          <a:xfrm>
            <a:off x="463925" y="582705"/>
            <a:ext cx="7819465" cy="504265"/>
          </a:xfrm>
        </p:spPr>
        <p:txBody>
          <a:bodyPr>
            <a:noAutofit/>
          </a:bodyPr>
          <a:lstStyle/>
          <a:p>
            <a:r>
              <a:rPr lang="ro-RO" sz="3200" noProof="0" dirty="0"/>
              <a:t>C# - Cursul 9</a:t>
            </a:r>
          </a:p>
        </p:txBody>
      </p:sp>
      <p:sp>
        <p:nvSpPr>
          <p:cNvPr id="5" name="Content Placeholder 4">
            <a:extLst>
              <a:ext uri="{FF2B5EF4-FFF2-40B4-BE49-F238E27FC236}">
                <a16:creationId xmlns:a16="http://schemas.microsoft.com/office/drawing/2014/main" id="{ED2797A7-69E1-8A32-3BE8-9E9AE749955E}"/>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Arrays</a:t>
            </a:r>
            <a:r>
              <a:rPr lang="ro-RO" sz="2800" noProof="0" dirty="0">
                <a:solidFill>
                  <a:srgbClr val="00B0F0"/>
                </a:solidFill>
              </a:rPr>
              <a:t> (tablouri) în C# - tablouri multidimensionale</a:t>
            </a:r>
          </a:p>
          <a:p>
            <a:pPr marL="34290" indent="0" algn="just">
              <a:buNone/>
            </a:pPr>
            <a:r>
              <a:rPr lang="en-US" sz="2000" b="1" i="0" dirty="0">
                <a:solidFill>
                  <a:srgbClr val="CC99CD"/>
                </a:solidFill>
                <a:effectLst/>
                <a:latin typeface="Courier New" panose="02070309020205020404" pitchFamily="49" charset="0"/>
              </a:rPr>
              <a:t>using</a:t>
            </a:r>
            <a:r>
              <a:rPr lang="en-US" sz="2000" b="1" i="0" dirty="0">
                <a:solidFill>
                  <a:srgbClr val="CCCCCC"/>
                </a:solidFill>
                <a:effectLst/>
                <a:latin typeface="Courier New" panose="02070309020205020404" pitchFamily="49" charset="0"/>
              </a:rPr>
              <a:t> System; </a:t>
            </a:r>
          </a:p>
          <a:p>
            <a:pPr marL="34290" indent="0" algn="just">
              <a:buNone/>
            </a:pPr>
            <a:r>
              <a:rPr lang="en-US" sz="2000" b="1" i="0" dirty="0">
                <a:solidFill>
                  <a:srgbClr val="CC99CD"/>
                </a:solidFill>
                <a:effectLst/>
                <a:latin typeface="Courier New" panose="02070309020205020404" pitchFamily="49" charset="0"/>
              </a:rPr>
              <a:t>namespace</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ExGettingDimensions</a:t>
            </a:r>
            <a:r>
              <a:rPr lang="en-US" sz="2000" b="1" i="0" dirty="0">
                <a:solidFill>
                  <a:srgbClr val="CCCCCC"/>
                </a:solidFill>
                <a:effectLst/>
                <a:latin typeface="Courier New" panose="02070309020205020404" pitchFamily="49" charset="0"/>
              </a:rPr>
              <a:t> {</a:t>
            </a:r>
          </a:p>
          <a:p>
            <a:pPr marL="34290" indent="0" algn="just">
              <a:buNone/>
            </a:pPr>
            <a:r>
              <a:rPr lang="en-US" sz="2000" b="1" i="0" dirty="0">
                <a:solidFill>
                  <a:srgbClr val="CC99CD"/>
                </a:solidFill>
                <a:effectLst/>
                <a:latin typeface="Courier New" panose="02070309020205020404" pitchFamily="49" charset="0"/>
              </a:rPr>
              <a:t>class</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MyArray</a:t>
            </a:r>
            <a:r>
              <a:rPr lang="en-US" sz="2000" b="1" i="0" dirty="0">
                <a:solidFill>
                  <a:srgbClr val="CCCCCC"/>
                </a:solidFill>
                <a:effectLst/>
                <a:latin typeface="Courier New" panose="02070309020205020404" pitchFamily="49" charset="0"/>
              </a:rPr>
              <a:t> {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99CD"/>
                </a:solidFill>
                <a:effectLst/>
                <a:latin typeface="Courier New" panose="02070309020205020404" pitchFamily="49" charset="0"/>
              </a:rPr>
              <a:t>static</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void</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Main</a:t>
            </a:r>
            <a:r>
              <a:rPr lang="en-US" sz="2000" b="1" i="0" dirty="0">
                <a:solidFill>
                  <a:srgbClr val="CCCCCC"/>
                </a:solidFill>
                <a:effectLst/>
                <a:latin typeface="Courier New" panose="02070309020205020404" pitchFamily="49" charset="0"/>
              </a:rPr>
              <a:t>(</a:t>
            </a:r>
            <a:r>
              <a:rPr lang="en-US" sz="2000" b="1" i="0" dirty="0">
                <a:solidFill>
                  <a:srgbClr val="CC99CD"/>
                </a:solidFill>
                <a:effectLst/>
                <a:latin typeface="Courier New" panose="02070309020205020404" pitchFamily="49" charset="0"/>
              </a:rPr>
              <a:t>string</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args</a:t>
            </a:r>
            <a:r>
              <a:rPr lang="en-US" sz="2000" b="1" i="0" dirty="0">
                <a:solidFill>
                  <a:srgbClr val="CCCCCC"/>
                </a:solidFill>
                <a:effectLst/>
                <a:latin typeface="Courier New" panose="02070309020205020404" pitchFamily="49" charset="0"/>
              </a:rPr>
              <a:t>) { </a:t>
            </a:r>
          </a:p>
          <a:p>
            <a:pPr marL="34290" indent="0">
              <a:buNone/>
            </a:pPr>
            <a:r>
              <a:rPr lang="en-US" sz="2000" b="1" dirty="0">
                <a:solidFill>
                  <a:srgbClr val="999999"/>
                </a:solidFill>
                <a:latin typeface="Courier New" panose="02070309020205020404" pitchFamily="49" charset="0"/>
              </a:rPr>
              <a:t>    </a:t>
            </a:r>
            <a:r>
              <a:rPr lang="en-US" sz="2000" b="1" i="0" dirty="0">
                <a:solidFill>
                  <a:srgbClr val="CC99CD"/>
                </a:solidFill>
                <a:effectLst/>
                <a:latin typeface="Courier New" panose="02070309020205020404" pitchFamily="49" charset="0"/>
              </a:rPr>
              <a:t>int</a:t>
            </a:r>
            <a:r>
              <a:rPr lang="en-US" sz="2000" b="1" i="0" dirty="0">
                <a:solidFill>
                  <a:srgbClr val="CCCCCC"/>
                </a:solidFill>
                <a:effectLst/>
                <a:latin typeface="Courier New" panose="02070309020205020404" pitchFamily="49" charset="0"/>
              </a:rPr>
              <a:t>[,] matrix </a:t>
            </a:r>
            <a:r>
              <a:rPr lang="en-US" sz="2000" b="1" i="0" dirty="0">
                <a:solidFill>
                  <a:srgbClr val="67CDCC"/>
                </a:solidFill>
                <a:effectLst/>
                <a:latin typeface="Courier New" panose="02070309020205020404" pitchFamily="49" charset="0"/>
              </a:rPr>
              <a:t>=</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1</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2</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3</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4</a:t>
            </a:r>
            <a:r>
              <a:rPr lang="en-US" sz="2000" b="1" i="0" dirty="0">
                <a:solidFill>
                  <a:srgbClr val="CCCCCC"/>
                </a:solidFill>
                <a:effectLst/>
                <a:latin typeface="Courier New" panose="02070309020205020404" pitchFamily="49" charset="0"/>
              </a:rPr>
              <a:t>},{</a:t>
            </a:r>
            <a:r>
              <a:rPr lang="en-US" sz="2000" b="1" i="0" dirty="0">
                <a:solidFill>
                  <a:srgbClr val="F08D49"/>
                </a:solidFill>
                <a:effectLst/>
                <a:latin typeface="Courier New" panose="02070309020205020404" pitchFamily="49" charset="0"/>
              </a:rPr>
              <a:t>5</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6</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7</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8</a:t>
            </a:r>
            <a:r>
              <a:rPr lang="en-US" sz="2000" b="1" i="0" dirty="0">
                <a:solidFill>
                  <a:srgbClr val="CCCCCC"/>
                </a:solidFill>
                <a:effectLst/>
                <a:latin typeface="Courier New" panose="02070309020205020404" pitchFamily="49" charset="0"/>
              </a:rPr>
              <a:t>}, </a:t>
            </a:r>
          </a:p>
          <a:p>
            <a:pPr marL="34290" indent="0">
              <a:buNone/>
            </a:pP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a:t>
            </a:r>
            <a:r>
              <a:rPr lang="en-US" sz="2000" b="1" i="0" dirty="0">
                <a:solidFill>
                  <a:srgbClr val="F08D49"/>
                </a:solidFill>
                <a:effectLst/>
                <a:latin typeface="Courier New" panose="02070309020205020404" pitchFamily="49" charset="0"/>
              </a:rPr>
              <a:t>9</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10</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11</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12</a:t>
            </a:r>
            <a:r>
              <a:rPr lang="en-US" sz="2000" b="1" i="0" dirty="0">
                <a:solidFill>
                  <a:srgbClr val="CCCCCC"/>
                </a:solidFill>
                <a:effectLst/>
                <a:latin typeface="Courier New" panose="02070309020205020404" pitchFamily="49" charset="0"/>
              </a:rPr>
              <a:t>}}; </a:t>
            </a:r>
          </a:p>
          <a:p>
            <a:pPr marL="34290" indent="0">
              <a:buNone/>
            </a:pPr>
            <a:r>
              <a:rPr lang="en-US" sz="2000" b="1" dirty="0">
                <a:solidFill>
                  <a:srgbClr val="CCCCCC"/>
                </a:solidFill>
                <a:latin typeface="Courier New" panose="02070309020205020404" pitchFamily="49" charset="0"/>
              </a:rPr>
              <a:t>    </a:t>
            </a:r>
            <a:r>
              <a:rPr lang="en-US" sz="2000" b="1" i="0" dirty="0">
                <a:solidFill>
                  <a:srgbClr val="CC99CD"/>
                </a:solidFill>
                <a:effectLst/>
                <a:latin typeface="Courier New" panose="02070309020205020404" pitchFamily="49" charset="0"/>
              </a:rPr>
              <a:t>int</a:t>
            </a:r>
            <a:r>
              <a:rPr lang="en-US" sz="2000" b="1" i="0" dirty="0">
                <a:solidFill>
                  <a:srgbClr val="CCCCCC"/>
                </a:solidFill>
                <a:effectLst/>
                <a:latin typeface="Courier New" panose="02070309020205020404" pitchFamily="49" charset="0"/>
              </a:rPr>
              <a:t> rows </a:t>
            </a:r>
            <a:r>
              <a:rPr lang="en-US" sz="2000" b="1" i="0" dirty="0">
                <a:solidFill>
                  <a:srgbClr val="67CDCC"/>
                </a:solidFill>
                <a:effectLst/>
                <a:latin typeface="Courier New" panose="02070309020205020404" pitchFamily="49" charset="0"/>
              </a:rPr>
              <a:t>=</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matrix.</a:t>
            </a:r>
            <a:r>
              <a:rPr lang="en-US" sz="2000" b="1" i="0" dirty="0" err="1">
                <a:solidFill>
                  <a:srgbClr val="F08D49"/>
                </a:solidFill>
                <a:effectLst/>
                <a:latin typeface="Courier New" panose="02070309020205020404" pitchFamily="49" charset="0"/>
              </a:rPr>
              <a:t>GetLength</a:t>
            </a:r>
            <a:r>
              <a:rPr lang="en-US" sz="2000" b="1" i="0" dirty="0">
                <a:solidFill>
                  <a:srgbClr val="CCCCCC"/>
                </a:solidFill>
                <a:effectLst/>
                <a:latin typeface="Courier New" panose="02070309020205020404" pitchFamily="49" charset="0"/>
              </a:rPr>
              <a:t>(</a:t>
            </a:r>
            <a:r>
              <a:rPr lang="en-US" sz="2000" b="1" i="0" dirty="0">
                <a:solidFill>
                  <a:srgbClr val="F08D49"/>
                </a:solidFill>
                <a:effectLst/>
                <a:latin typeface="Courier New" panose="02070309020205020404" pitchFamily="49" charset="0"/>
              </a:rPr>
              <a:t>0</a:t>
            </a:r>
            <a:r>
              <a:rPr lang="en-US" sz="2000" b="1" i="0" dirty="0">
                <a:solidFill>
                  <a:srgbClr val="CCCCCC"/>
                </a:solidFill>
                <a:effectLst/>
                <a:latin typeface="Courier New" panose="02070309020205020404" pitchFamily="49" charset="0"/>
              </a:rPr>
              <a:t>); </a:t>
            </a:r>
          </a:p>
          <a:p>
            <a:pPr marL="34290" indent="0">
              <a:buNone/>
            </a:pPr>
            <a:r>
              <a:rPr lang="en-US" sz="2000" b="1" dirty="0">
                <a:solidFill>
                  <a:srgbClr val="CCCCCC"/>
                </a:solidFill>
                <a:latin typeface="Courier New" panose="02070309020205020404" pitchFamily="49" charset="0"/>
              </a:rPr>
              <a:t>    </a:t>
            </a:r>
            <a:r>
              <a:rPr lang="en-US" sz="2000" b="1" i="0" dirty="0">
                <a:solidFill>
                  <a:srgbClr val="CC99CD"/>
                </a:solidFill>
                <a:effectLst/>
                <a:latin typeface="Courier New" panose="02070309020205020404" pitchFamily="49" charset="0"/>
              </a:rPr>
              <a:t>int</a:t>
            </a:r>
            <a:r>
              <a:rPr lang="en-US" sz="2000" b="1" i="0" dirty="0">
                <a:solidFill>
                  <a:srgbClr val="CCCCCC"/>
                </a:solidFill>
                <a:effectLst/>
                <a:latin typeface="Courier New" panose="02070309020205020404" pitchFamily="49" charset="0"/>
              </a:rPr>
              <a:t> cols </a:t>
            </a:r>
            <a:r>
              <a:rPr lang="en-US" sz="2000" b="1" i="0" dirty="0">
                <a:solidFill>
                  <a:srgbClr val="67CDCC"/>
                </a:solidFill>
                <a:effectLst/>
                <a:latin typeface="Courier New" panose="02070309020205020404" pitchFamily="49" charset="0"/>
              </a:rPr>
              <a:t>=</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matrix.</a:t>
            </a:r>
            <a:r>
              <a:rPr lang="en-US" sz="2000" b="1" i="0" dirty="0" err="1">
                <a:solidFill>
                  <a:srgbClr val="F08D49"/>
                </a:solidFill>
                <a:effectLst/>
                <a:latin typeface="Courier New" panose="02070309020205020404" pitchFamily="49" charset="0"/>
              </a:rPr>
              <a:t>GetLength</a:t>
            </a:r>
            <a:r>
              <a:rPr lang="en-US" sz="2000" b="1" i="0" dirty="0">
                <a:solidFill>
                  <a:srgbClr val="CCCCCC"/>
                </a:solidFill>
                <a:effectLst/>
                <a:latin typeface="Courier New" panose="02070309020205020404" pitchFamily="49" charset="0"/>
              </a:rPr>
              <a:t>(</a:t>
            </a:r>
            <a:r>
              <a:rPr lang="en-US" sz="2000" b="1" i="0" dirty="0">
                <a:solidFill>
                  <a:srgbClr val="F08D49"/>
                </a:solidFill>
                <a:effectLst/>
                <a:latin typeface="Courier New" panose="02070309020205020404" pitchFamily="49" charset="0"/>
              </a:rPr>
              <a:t>1</a:t>
            </a:r>
            <a:r>
              <a:rPr lang="en-US" sz="2000" b="1" i="0" dirty="0">
                <a:solidFill>
                  <a:srgbClr val="CCCCCC"/>
                </a:solidFill>
                <a:effectLst/>
                <a:latin typeface="Courier New" panose="02070309020205020404" pitchFamily="49" charset="0"/>
              </a:rPr>
              <a:t>); </a:t>
            </a:r>
          </a:p>
          <a:p>
            <a:pPr marL="34290" indent="0">
              <a:buNone/>
            </a:pP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Console.</a:t>
            </a:r>
            <a:r>
              <a:rPr lang="en-US" sz="2000" b="1" i="0" dirty="0" err="1">
                <a:solidFill>
                  <a:srgbClr val="F08D49"/>
                </a:solidFill>
                <a:effectLst/>
                <a:latin typeface="Courier New" panose="02070309020205020404" pitchFamily="49" charset="0"/>
              </a:rPr>
              <a:t>WriteLine</a:t>
            </a:r>
            <a:r>
              <a:rPr lang="en-US" sz="2000" b="1" i="0" dirty="0">
                <a:solidFill>
                  <a:srgbClr val="CCCCCC"/>
                </a:solidFill>
                <a:effectLst/>
                <a:latin typeface="Courier New" panose="02070309020205020404" pitchFamily="49" charset="0"/>
              </a:rPr>
              <a:t>(</a:t>
            </a:r>
            <a:r>
              <a:rPr lang="en-US" sz="2000" b="1" i="0" dirty="0">
                <a:solidFill>
                  <a:srgbClr val="7EC699"/>
                </a:solidFill>
                <a:effectLst/>
                <a:latin typeface="Courier New" panose="02070309020205020404" pitchFamily="49" charset="0"/>
              </a:rPr>
              <a:t>"Number of Rows: "</a:t>
            </a:r>
            <a:r>
              <a:rPr lang="en-US" sz="2000" b="1" i="0" dirty="0">
                <a:solidFill>
                  <a:srgbClr val="CCCCCC"/>
                </a:solidFill>
                <a:effectLst/>
                <a:latin typeface="Courier New" panose="02070309020205020404" pitchFamily="49" charset="0"/>
              </a:rPr>
              <a:t> </a:t>
            </a:r>
            <a:r>
              <a:rPr lang="en-US" sz="2000" b="1" i="0" dirty="0">
                <a:solidFill>
                  <a:srgbClr val="67CDCC"/>
                </a:solidFill>
                <a:effectLst/>
                <a:latin typeface="Courier New" panose="02070309020205020404" pitchFamily="49" charset="0"/>
              </a:rPr>
              <a:t>+</a:t>
            </a:r>
            <a:r>
              <a:rPr lang="en-US" sz="2000" b="1" i="0" dirty="0">
                <a:solidFill>
                  <a:srgbClr val="CCCCCC"/>
                </a:solidFill>
                <a:effectLst/>
                <a:latin typeface="Courier New" panose="02070309020205020404" pitchFamily="49" charset="0"/>
              </a:rPr>
              <a:t> rows); </a:t>
            </a:r>
          </a:p>
          <a:p>
            <a:pPr marL="34290" indent="0">
              <a:buNone/>
            </a:pPr>
            <a:r>
              <a:rPr lang="en-US" sz="2000" b="1" dirty="0">
                <a:solidFill>
                  <a:srgbClr val="CCCCCC"/>
                </a:solidFill>
                <a:latin typeface="Courier New" panose="02070309020205020404" pitchFamily="49" charset="0"/>
              </a:rPr>
              <a:t>    </a:t>
            </a:r>
            <a:r>
              <a:rPr lang="en-US" sz="2000" b="1" i="0" dirty="0" err="1">
                <a:solidFill>
                  <a:srgbClr val="CCCCCC"/>
                </a:solidFill>
                <a:effectLst/>
                <a:latin typeface="Courier New" panose="02070309020205020404" pitchFamily="49" charset="0"/>
              </a:rPr>
              <a:t>Console.</a:t>
            </a:r>
            <a:r>
              <a:rPr lang="en-US" sz="2000" b="1" i="0" dirty="0" err="1">
                <a:solidFill>
                  <a:srgbClr val="F08D49"/>
                </a:solidFill>
                <a:effectLst/>
                <a:latin typeface="Courier New" panose="02070309020205020404" pitchFamily="49" charset="0"/>
              </a:rPr>
              <a:t>WriteLine</a:t>
            </a:r>
            <a:r>
              <a:rPr lang="en-US" sz="2000" b="1" i="0" dirty="0">
                <a:solidFill>
                  <a:srgbClr val="CCCCCC"/>
                </a:solidFill>
                <a:effectLst/>
                <a:latin typeface="Courier New" panose="02070309020205020404" pitchFamily="49" charset="0"/>
              </a:rPr>
              <a:t>(</a:t>
            </a:r>
            <a:r>
              <a:rPr lang="en-US" sz="2000" b="1" i="0" dirty="0">
                <a:solidFill>
                  <a:srgbClr val="7EC699"/>
                </a:solidFill>
                <a:effectLst/>
                <a:latin typeface="Courier New" panose="02070309020205020404" pitchFamily="49" charset="0"/>
              </a:rPr>
              <a:t>"Number of Columns: "</a:t>
            </a:r>
            <a:r>
              <a:rPr lang="en-US" sz="2000" b="1" i="0" dirty="0">
                <a:solidFill>
                  <a:srgbClr val="CCCCCC"/>
                </a:solidFill>
                <a:effectLst/>
                <a:latin typeface="Courier New" panose="02070309020205020404" pitchFamily="49" charset="0"/>
              </a:rPr>
              <a:t> </a:t>
            </a:r>
            <a:r>
              <a:rPr lang="en-US" sz="2000" b="1" i="0" dirty="0">
                <a:solidFill>
                  <a:srgbClr val="67CDCC"/>
                </a:solidFill>
                <a:effectLst/>
                <a:latin typeface="Courier New" panose="02070309020205020404" pitchFamily="49" charset="0"/>
              </a:rPr>
              <a:t>+</a:t>
            </a:r>
            <a:r>
              <a:rPr lang="en-US" sz="2000" b="1" i="0" dirty="0">
                <a:solidFill>
                  <a:srgbClr val="CCCCCC"/>
                </a:solidFill>
                <a:effectLst/>
                <a:latin typeface="Courier New" panose="02070309020205020404" pitchFamily="49" charset="0"/>
              </a:rPr>
              <a:t> cols); </a:t>
            </a:r>
          </a:p>
          <a:p>
            <a:pPr marL="34290" indent="0">
              <a:buNone/>
            </a:pPr>
            <a:r>
              <a:rPr lang="en-US" sz="2000" b="1" i="0" dirty="0">
                <a:solidFill>
                  <a:srgbClr val="CCCCCC"/>
                </a:solidFill>
                <a:effectLst/>
                <a:latin typeface="Courier New" panose="02070309020205020404" pitchFamily="49" charset="0"/>
              </a:rPr>
              <a:t>  } </a:t>
            </a:r>
          </a:p>
          <a:p>
            <a:pPr marL="34290" indent="0">
              <a:buNone/>
            </a:pPr>
            <a:r>
              <a:rPr lang="en-US" sz="2000" b="1" i="0" dirty="0">
                <a:solidFill>
                  <a:srgbClr val="CCCCCC"/>
                </a:solidFill>
                <a:effectLst/>
                <a:latin typeface="Courier New" panose="02070309020205020404" pitchFamily="49" charset="0"/>
              </a:rPr>
              <a:t>}</a:t>
            </a:r>
          </a:p>
          <a:p>
            <a:pPr marL="34290" indent="0">
              <a:buNone/>
            </a:pPr>
            <a:r>
              <a:rPr lang="en-US" sz="2000" b="1" i="0" dirty="0">
                <a:solidFill>
                  <a:srgbClr val="CCCCCC"/>
                </a:solidFill>
                <a:effectLst/>
                <a:latin typeface="Courier New" panose="02070309020205020404" pitchFamily="49" charset="0"/>
              </a:rPr>
              <a:t>}</a:t>
            </a:r>
            <a:endParaRPr lang="ro-RO" sz="2000" b="1"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31374347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5CB3F-0A0C-0CD8-3EDA-354D5A832AC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CED8AB0-CC69-B700-509D-BE47247FB3C9}"/>
              </a:ext>
            </a:extLst>
          </p:cNvPr>
          <p:cNvSpPr>
            <a:spLocks noGrp="1"/>
          </p:cNvSpPr>
          <p:nvPr>
            <p:ph type="title"/>
          </p:nvPr>
        </p:nvSpPr>
        <p:spPr>
          <a:xfrm>
            <a:off x="463925" y="582705"/>
            <a:ext cx="7819465" cy="504265"/>
          </a:xfrm>
        </p:spPr>
        <p:txBody>
          <a:bodyPr>
            <a:noAutofit/>
          </a:bodyPr>
          <a:lstStyle/>
          <a:p>
            <a:r>
              <a:rPr lang="ro-RO" sz="3200" noProof="0" dirty="0"/>
              <a:t>C# - Cursul 9</a:t>
            </a:r>
          </a:p>
        </p:txBody>
      </p:sp>
      <p:sp>
        <p:nvSpPr>
          <p:cNvPr id="5" name="Content Placeholder 4">
            <a:extLst>
              <a:ext uri="{FF2B5EF4-FFF2-40B4-BE49-F238E27FC236}">
                <a16:creationId xmlns:a16="http://schemas.microsoft.com/office/drawing/2014/main" id="{98EA6DDF-C7B0-4675-478D-6F93C1E4CFE5}"/>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Arrays</a:t>
            </a:r>
            <a:r>
              <a:rPr lang="ro-RO" sz="2800" noProof="0" dirty="0">
                <a:solidFill>
                  <a:srgbClr val="00B0F0"/>
                </a:solidFill>
              </a:rPr>
              <a:t> (tablouri) în C# - tablouri multidimensionale</a:t>
            </a:r>
          </a:p>
          <a:p>
            <a:pPr marL="34290" indent="0" algn="just">
              <a:buNone/>
            </a:pPr>
            <a:endParaRPr lang="en-US" sz="2800" dirty="0">
              <a:solidFill>
                <a:srgbClr val="00B0F0"/>
              </a:solidFill>
            </a:endParaRPr>
          </a:p>
          <a:p>
            <a:pPr marL="34290" indent="0" algn="just">
              <a:buNone/>
            </a:pPr>
            <a:r>
              <a:rPr lang="ro-RO" sz="2800" dirty="0">
                <a:solidFill>
                  <a:srgbClr val="00B0F0"/>
                </a:solidFill>
              </a:rPr>
              <a:t>Sortarea unui </a:t>
            </a:r>
            <a:r>
              <a:rPr lang="ro-RO" sz="2800" dirty="0" err="1">
                <a:solidFill>
                  <a:srgbClr val="00B0F0"/>
                </a:solidFill>
              </a:rPr>
              <a:t>array</a:t>
            </a:r>
            <a:r>
              <a:rPr lang="ro-RO" sz="2800" dirty="0">
                <a:solidFill>
                  <a:srgbClr val="00B0F0"/>
                </a:solidFill>
              </a:rPr>
              <a:t> bidimensional</a:t>
            </a:r>
          </a:p>
          <a:p>
            <a:pPr marL="34290" indent="0" algn="just">
              <a:buNone/>
            </a:pPr>
            <a:endParaRPr lang="en-US" sz="2800" dirty="0">
              <a:solidFill>
                <a:srgbClr val="00B0F0"/>
              </a:solidFill>
            </a:endParaRPr>
          </a:p>
          <a:p>
            <a:pPr marL="34290" indent="0" algn="just">
              <a:buNone/>
            </a:pPr>
            <a:r>
              <a:rPr lang="ro-RO" sz="2800" dirty="0">
                <a:solidFill>
                  <a:srgbClr val="00B0F0"/>
                </a:solidFill>
              </a:rPr>
              <a:t>C# nu oferă nicio metodă încorporată pentru sortare. Puteți sorta elementele unui </a:t>
            </a:r>
            <a:r>
              <a:rPr lang="ro-RO" sz="2800" dirty="0" err="1">
                <a:solidFill>
                  <a:srgbClr val="00B0F0"/>
                </a:solidFill>
              </a:rPr>
              <a:t>array</a:t>
            </a:r>
            <a:r>
              <a:rPr lang="ro-RO" sz="2800" dirty="0">
                <a:solidFill>
                  <a:srgbClr val="00B0F0"/>
                </a:solidFill>
              </a:rPr>
              <a:t> bidimensional sortând rândurile sau coloanele sale. Puteți utiliza bucle și </a:t>
            </a:r>
            <a:r>
              <a:rPr lang="ro-RO" sz="2800" dirty="0" err="1">
                <a:solidFill>
                  <a:srgbClr val="00B0F0"/>
                </a:solidFill>
              </a:rPr>
              <a:t>Array.Sort</a:t>
            </a:r>
            <a:r>
              <a:rPr lang="ro-RO" sz="2800" dirty="0">
                <a:solidFill>
                  <a:srgbClr val="00B0F0"/>
                </a:solidFill>
              </a:rPr>
              <a:t>() pentru a sorta fiecare rând.</a:t>
            </a:r>
            <a:endParaRPr lang="en-US" sz="280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36804469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97204-F353-3794-86EF-95ABD429C68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0AD2B78-5A51-4B90-8DC3-1ED38D007B73}"/>
              </a:ext>
            </a:extLst>
          </p:cNvPr>
          <p:cNvSpPr>
            <a:spLocks noGrp="1"/>
          </p:cNvSpPr>
          <p:nvPr>
            <p:ph type="title"/>
          </p:nvPr>
        </p:nvSpPr>
        <p:spPr>
          <a:xfrm>
            <a:off x="463925" y="582705"/>
            <a:ext cx="7819465" cy="504265"/>
          </a:xfrm>
        </p:spPr>
        <p:txBody>
          <a:bodyPr>
            <a:noAutofit/>
          </a:bodyPr>
          <a:lstStyle/>
          <a:p>
            <a:r>
              <a:rPr lang="ro-RO" sz="3200" noProof="0" dirty="0"/>
              <a:t>C# - Cursul 9</a:t>
            </a:r>
          </a:p>
        </p:txBody>
      </p:sp>
      <p:sp>
        <p:nvSpPr>
          <p:cNvPr id="5" name="Content Placeholder 4">
            <a:extLst>
              <a:ext uri="{FF2B5EF4-FFF2-40B4-BE49-F238E27FC236}">
                <a16:creationId xmlns:a16="http://schemas.microsoft.com/office/drawing/2014/main" id="{6DF02320-4318-F94C-7521-15574EA9842F}"/>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Arrays</a:t>
            </a:r>
            <a:r>
              <a:rPr lang="ro-RO" sz="2800" noProof="0" dirty="0">
                <a:solidFill>
                  <a:srgbClr val="00B0F0"/>
                </a:solidFill>
              </a:rPr>
              <a:t> (tablouri) în C# - tablouri multidimensionale</a:t>
            </a:r>
          </a:p>
          <a:p>
            <a:pPr marL="34290" indent="0" algn="just">
              <a:buNone/>
            </a:pPr>
            <a:r>
              <a:rPr lang="en-US" sz="2000" b="1" i="0" dirty="0">
                <a:solidFill>
                  <a:srgbClr val="CC99CD"/>
                </a:solidFill>
                <a:effectLst/>
                <a:latin typeface="Courier New" panose="02070309020205020404" pitchFamily="49" charset="0"/>
              </a:rPr>
              <a:t>using</a:t>
            </a:r>
            <a:r>
              <a:rPr lang="en-US" sz="2000" b="1" i="0" dirty="0">
                <a:solidFill>
                  <a:srgbClr val="CCCCCC"/>
                </a:solidFill>
                <a:effectLst/>
                <a:latin typeface="Courier New" panose="02070309020205020404" pitchFamily="49" charset="0"/>
              </a:rPr>
              <a:t> System; </a:t>
            </a:r>
          </a:p>
          <a:p>
            <a:pPr marL="34290" indent="0" algn="just">
              <a:buNone/>
            </a:pPr>
            <a:r>
              <a:rPr lang="en-US" sz="2000" b="1" i="0" dirty="0">
                <a:solidFill>
                  <a:srgbClr val="CC99CD"/>
                </a:solidFill>
                <a:effectLst/>
                <a:latin typeface="Courier New" panose="02070309020205020404" pitchFamily="49" charset="0"/>
              </a:rPr>
              <a:t>class</a:t>
            </a:r>
            <a:r>
              <a:rPr lang="en-US" sz="2000" b="1" i="0" dirty="0">
                <a:solidFill>
                  <a:srgbClr val="CCCCCC"/>
                </a:solidFill>
                <a:effectLst/>
                <a:latin typeface="Courier New" panose="02070309020205020404" pitchFamily="49" charset="0"/>
              </a:rPr>
              <a:t> Program {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99CD"/>
                </a:solidFill>
                <a:effectLst/>
                <a:latin typeface="Courier New" panose="02070309020205020404" pitchFamily="49" charset="0"/>
              </a:rPr>
              <a:t>static</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void</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Main</a:t>
            </a:r>
            <a:r>
              <a:rPr lang="en-US" sz="2000" b="1" i="0" dirty="0">
                <a:solidFill>
                  <a:srgbClr val="CCCCCC"/>
                </a:solidFill>
                <a:effectLst/>
                <a:latin typeface="Courier New" panose="02070309020205020404" pitchFamily="49" charset="0"/>
              </a:rPr>
              <a:t>() {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99CD"/>
                </a:solidFill>
                <a:effectLst/>
                <a:latin typeface="Courier New" panose="02070309020205020404" pitchFamily="49" charset="0"/>
              </a:rPr>
              <a:t>int</a:t>
            </a:r>
            <a:r>
              <a:rPr lang="en-US" sz="2000" b="1" i="0" dirty="0">
                <a:solidFill>
                  <a:srgbClr val="CCCCCC"/>
                </a:solidFill>
                <a:effectLst/>
                <a:latin typeface="Courier New" panose="02070309020205020404" pitchFamily="49" charset="0"/>
              </a:rPr>
              <a:t>[,] array </a:t>
            </a:r>
            <a:r>
              <a:rPr lang="en-US" sz="2000" b="1" i="0" dirty="0">
                <a:solidFill>
                  <a:srgbClr val="67CDCC"/>
                </a:solidFill>
                <a:effectLst/>
                <a:latin typeface="Courier New" panose="02070309020205020404" pitchFamily="49" charset="0"/>
              </a:rPr>
              <a:t>=</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3</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1</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4</a:t>
            </a:r>
            <a:r>
              <a:rPr lang="en-US" sz="2000" b="1" i="0" dirty="0">
                <a:solidFill>
                  <a:srgbClr val="CCCCCC"/>
                </a:solidFill>
                <a:effectLst/>
                <a:latin typeface="Courier New" panose="02070309020205020404" pitchFamily="49" charset="0"/>
              </a:rPr>
              <a:t>},{</a:t>
            </a:r>
            <a:r>
              <a:rPr lang="en-US" sz="2000" b="1" i="0" dirty="0">
                <a:solidFill>
                  <a:srgbClr val="F08D49"/>
                </a:solidFill>
                <a:effectLst/>
                <a:latin typeface="Courier New" panose="02070309020205020404" pitchFamily="49" charset="0"/>
              </a:rPr>
              <a:t>9</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2</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8</a:t>
            </a:r>
            <a:r>
              <a:rPr lang="en-US" sz="2000" b="1" i="0" dirty="0">
                <a:solidFill>
                  <a:srgbClr val="CCCCCC"/>
                </a:solidFill>
                <a:effectLst/>
                <a:latin typeface="Courier New" panose="02070309020205020404" pitchFamily="49" charset="0"/>
              </a:rPr>
              <a:t>},{</a:t>
            </a:r>
            <a:r>
              <a:rPr lang="en-US" sz="2000" b="1" i="0" dirty="0">
                <a:solidFill>
                  <a:srgbClr val="F08D49"/>
                </a:solidFill>
                <a:effectLst/>
                <a:latin typeface="Courier New" panose="02070309020205020404" pitchFamily="49" charset="0"/>
              </a:rPr>
              <a:t>5</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7</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6</a:t>
            </a:r>
            <a:r>
              <a:rPr lang="en-US" sz="2000" b="1" i="0" dirty="0">
                <a:solidFill>
                  <a:srgbClr val="CCCCCC"/>
                </a:solidFill>
                <a:effectLst/>
                <a:latin typeface="Courier New" panose="02070309020205020404" pitchFamily="49" charset="0"/>
              </a:rPr>
              <a:t>}}; </a:t>
            </a:r>
          </a:p>
          <a:p>
            <a:pPr marL="34290" indent="0" algn="just">
              <a:buNone/>
            </a:pPr>
            <a:r>
              <a:rPr lang="en-US" sz="2000" b="1" dirty="0">
                <a:solidFill>
                  <a:srgbClr val="999999"/>
                </a:solidFill>
                <a:latin typeface="Courier New" panose="02070309020205020404" pitchFamily="49" charset="0"/>
              </a:rPr>
              <a:t>    </a:t>
            </a:r>
            <a:r>
              <a:rPr lang="en-US" sz="2000" b="1" i="0" dirty="0">
                <a:solidFill>
                  <a:srgbClr val="CC99CD"/>
                </a:solidFill>
                <a:effectLst/>
                <a:latin typeface="Courier New" panose="02070309020205020404" pitchFamily="49" charset="0"/>
              </a:rPr>
              <a:t>for</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int</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i</a:t>
            </a:r>
            <a:r>
              <a:rPr lang="en-US" sz="2000" b="1" i="0" dirty="0">
                <a:solidFill>
                  <a:srgbClr val="CCCCCC"/>
                </a:solidFill>
                <a:effectLst/>
                <a:latin typeface="Courier New" panose="02070309020205020404" pitchFamily="49" charset="0"/>
              </a:rPr>
              <a:t> </a:t>
            </a:r>
            <a:r>
              <a:rPr lang="en-US" sz="2000" b="1" i="0" dirty="0">
                <a:solidFill>
                  <a:srgbClr val="67CDCC"/>
                </a:solidFill>
                <a:effectLst/>
                <a:latin typeface="Courier New" panose="02070309020205020404" pitchFamily="49" charset="0"/>
              </a:rPr>
              <a:t>=</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0</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i</a:t>
            </a:r>
            <a:r>
              <a:rPr lang="en-US" sz="2000" b="1" i="0" dirty="0">
                <a:solidFill>
                  <a:srgbClr val="CCCCCC"/>
                </a:solidFill>
                <a:effectLst/>
                <a:latin typeface="Courier New" panose="02070309020205020404" pitchFamily="49" charset="0"/>
              </a:rPr>
              <a:t> </a:t>
            </a:r>
            <a:r>
              <a:rPr lang="en-US" sz="2000" b="1" i="0" dirty="0">
                <a:solidFill>
                  <a:srgbClr val="67CDCC"/>
                </a:solidFill>
                <a:effectLst/>
                <a:latin typeface="Courier New" panose="02070309020205020404" pitchFamily="49" charset="0"/>
              </a:rPr>
              <a:t>&lt;</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array.</a:t>
            </a:r>
            <a:r>
              <a:rPr lang="en-US" sz="2000" b="1" i="0" dirty="0" err="1">
                <a:solidFill>
                  <a:srgbClr val="F08D49"/>
                </a:solidFill>
                <a:effectLst/>
                <a:latin typeface="Courier New" panose="02070309020205020404" pitchFamily="49" charset="0"/>
              </a:rPr>
              <a:t>GetLength</a:t>
            </a:r>
            <a:r>
              <a:rPr lang="en-US" sz="2000" b="1" i="0" dirty="0">
                <a:solidFill>
                  <a:srgbClr val="CCCCCC"/>
                </a:solidFill>
                <a:effectLst/>
                <a:latin typeface="Courier New" panose="02070309020205020404" pitchFamily="49" charset="0"/>
              </a:rPr>
              <a:t>(</a:t>
            </a:r>
            <a:r>
              <a:rPr lang="en-US" sz="2000" b="1" i="0" dirty="0">
                <a:solidFill>
                  <a:srgbClr val="F08D49"/>
                </a:solidFill>
                <a:effectLst/>
                <a:latin typeface="Courier New" panose="02070309020205020404" pitchFamily="49" charset="0"/>
              </a:rPr>
              <a:t>0</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i</a:t>
            </a:r>
            <a:r>
              <a:rPr lang="en-US" sz="2000" b="1" i="0" dirty="0">
                <a:solidFill>
                  <a:srgbClr val="67CDCC"/>
                </a:solidFill>
                <a:effectLst/>
                <a:latin typeface="Courier New" panose="02070309020205020404" pitchFamily="49" charset="0"/>
              </a:rPr>
              <a:t>++</a:t>
            </a:r>
            <a:r>
              <a:rPr lang="en-US" sz="2000" b="1" i="0" dirty="0">
                <a:solidFill>
                  <a:srgbClr val="CCCCCC"/>
                </a:solidFill>
                <a:effectLst/>
                <a:latin typeface="Courier New" panose="02070309020205020404" pitchFamily="49" charset="0"/>
              </a:rPr>
              <a:t>) {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99CD"/>
                </a:solidFill>
                <a:effectLst/>
                <a:latin typeface="Courier New" panose="02070309020205020404" pitchFamily="49" charset="0"/>
              </a:rPr>
              <a:t>int</a:t>
            </a:r>
            <a:r>
              <a:rPr lang="en-US" sz="2000" b="1" i="0" dirty="0">
                <a:solidFill>
                  <a:srgbClr val="CCCCCC"/>
                </a:solidFill>
                <a:effectLst/>
                <a:latin typeface="Courier New" panose="02070309020205020404" pitchFamily="49" charset="0"/>
              </a:rPr>
              <a:t>[] row </a:t>
            </a:r>
            <a:r>
              <a:rPr lang="en-US" sz="2000" b="1" i="0" dirty="0">
                <a:solidFill>
                  <a:srgbClr val="67CDCC"/>
                </a:solidFill>
                <a:effectLst/>
                <a:latin typeface="Courier New" panose="02070309020205020404" pitchFamily="49" charset="0"/>
              </a:rPr>
              <a:t>=</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new</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int</a:t>
            </a:r>
            <a:r>
              <a:rPr lang="en-US" sz="2000" b="1" i="0" dirty="0">
                <a:solidFill>
                  <a:srgbClr val="CCCCCC"/>
                </a:solidFill>
                <a:effectLst/>
                <a:latin typeface="Courier New" panose="02070309020205020404" pitchFamily="49" charset="0"/>
              </a:rPr>
              <a:t>[</a:t>
            </a:r>
            <a:r>
              <a:rPr lang="en-US" sz="2000" b="1" i="0" dirty="0" err="1">
                <a:solidFill>
                  <a:srgbClr val="CCCCCC"/>
                </a:solidFill>
                <a:effectLst/>
                <a:latin typeface="Courier New" panose="02070309020205020404" pitchFamily="49" charset="0"/>
              </a:rPr>
              <a:t>array.</a:t>
            </a:r>
            <a:r>
              <a:rPr lang="en-US" sz="2000" b="1" i="0" dirty="0" err="1">
                <a:solidFill>
                  <a:srgbClr val="F08D49"/>
                </a:solidFill>
                <a:effectLst/>
                <a:latin typeface="Courier New" panose="02070309020205020404" pitchFamily="49" charset="0"/>
              </a:rPr>
              <a:t>GetLength</a:t>
            </a:r>
            <a:r>
              <a:rPr lang="en-US" sz="2000" b="1" i="0" dirty="0">
                <a:solidFill>
                  <a:srgbClr val="CCCCCC"/>
                </a:solidFill>
                <a:effectLst/>
                <a:latin typeface="Courier New" panose="02070309020205020404" pitchFamily="49" charset="0"/>
              </a:rPr>
              <a:t>(</a:t>
            </a:r>
            <a:r>
              <a:rPr lang="en-US" sz="2000" b="1" i="0" dirty="0">
                <a:solidFill>
                  <a:srgbClr val="F08D49"/>
                </a:solidFill>
                <a:effectLst/>
                <a:latin typeface="Courier New" panose="02070309020205020404" pitchFamily="49" charset="0"/>
              </a:rPr>
              <a:t>1</a:t>
            </a:r>
            <a:r>
              <a:rPr lang="en-US" sz="2000" b="1" i="0" dirty="0">
                <a:solidFill>
                  <a:srgbClr val="CCCCCC"/>
                </a:solidFill>
                <a:effectLst/>
                <a:latin typeface="Courier New" panose="02070309020205020404" pitchFamily="49" charset="0"/>
              </a:rPr>
              <a:t>)];</a:t>
            </a:r>
          </a:p>
          <a:p>
            <a:pPr marL="34290" indent="0" algn="just">
              <a:buNone/>
            </a:pPr>
            <a:r>
              <a:rPr lang="en-US" sz="2000" b="1" i="0" dirty="0">
                <a:solidFill>
                  <a:srgbClr val="CC99CD"/>
                </a:solidFill>
                <a:effectLst/>
                <a:latin typeface="Courier New" panose="02070309020205020404" pitchFamily="49" charset="0"/>
              </a:rPr>
              <a:t>      for</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int</a:t>
            </a:r>
            <a:r>
              <a:rPr lang="en-US" sz="2000" b="1" i="0" dirty="0">
                <a:solidFill>
                  <a:srgbClr val="CCCCCC"/>
                </a:solidFill>
                <a:effectLst/>
                <a:latin typeface="Courier New" panose="02070309020205020404" pitchFamily="49" charset="0"/>
              </a:rPr>
              <a:t> j </a:t>
            </a:r>
            <a:r>
              <a:rPr lang="en-US" sz="2000" b="1" i="0" dirty="0">
                <a:solidFill>
                  <a:srgbClr val="67CDCC"/>
                </a:solidFill>
                <a:effectLst/>
                <a:latin typeface="Courier New" panose="02070309020205020404" pitchFamily="49" charset="0"/>
              </a:rPr>
              <a:t>=</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0</a:t>
            </a:r>
            <a:r>
              <a:rPr lang="en-US" sz="2000" b="1" i="0" dirty="0">
                <a:solidFill>
                  <a:srgbClr val="CCCCCC"/>
                </a:solidFill>
                <a:effectLst/>
                <a:latin typeface="Courier New" panose="02070309020205020404" pitchFamily="49" charset="0"/>
              </a:rPr>
              <a:t>; j </a:t>
            </a:r>
            <a:r>
              <a:rPr lang="en-US" sz="2000" b="1" i="0" dirty="0">
                <a:solidFill>
                  <a:srgbClr val="67CDCC"/>
                </a:solidFill>
                <a:effectLst/>
                <a:latin typeface="Courier New" panose="02070309020205020404" pitchFamily="49" charset="0"/>
              </a:rPr>
              <a:t>&lt;</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array.</a:t>
            </a:r>
            <a:r>
              <a:rPr lang="en-US" sz="2000" b="1" i="0" dirty="0" err="1">
                <a:solidFill>
                  <a:srgbClr val="F08D49"/>
                </a:solidFill>
                <a:effectLst/>
                <a:latin typeface="Courier New" panose="02070309020205020404" pitchFamily="49" charset="0"/>
              </a:rPr>
              <a:t>GetLength</a:t>
            </a:r>
            <a:r>
              <a:rPr lang="en-US" sz="2000" b="1" i="0" dirty="0">
                <a:solidFill>
                  <a:srgbClr val="CCCCCC"/>
                </a:solidFill>
                <a:effectLst/>
                <a:latin typeface="Courier New" panose="02070309020205020404" pitchFamily="49" charset="0"/>
              </a:rPr>
              <a:t>(</a:t>
            </a:r>
            <a:r>
              <a:rPr lang="en-US" sz="2000" b="1" i="0" dirty="0">
                <a:solidFill>
                  <a:srgbClr val="F08D49"/>
                </a:solidFill>
                <a:effectLst/>
                <a:latin typeface="Courier New" panose="02070309020205020404" pitchFamily="49" charset="0"/>
              </a:rPr>
              <a:t>1</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j</a:t>
            </a:r>
            <a:r>
              <a:rPr lang="en-US" sz="2000" b="1" i="0" dirty="0" err="1">
                <a:solidFill>
                  <a:srgbClr val="67CDCC"/>
                </a:solidFill>
                <a:effectLst/>
                <a:latin typeface="Courier New" panose="02070309020205020404" pitchFamily="49" charset="0"/>
              </a:rPr>
              <a:t>++</a:t>
            </a:r>
            <a:r>
              <a:rPr lang="en-US" sz="2000" b="1" i="0" dirty="0">
                <a:solidFill>
                  <a:srgbClr val="CCCCCC"/>
                </a:solidFill>
                <a:effectLst/>
                <a:latin typeface="Courier New" panose="02070309020205020404" pitchFamily="49" charset="0"/>
              </a:rPr>
              <a:t>) {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row[j] </a:t>
            </a:r>
            <a:r>
              <a:rPr lang="en-US" sz="2000" b="1" i="0" dirty="0">
                <a:solidFill>
                  <a:srgbClr val="67CDCC"/>
                </a:solidFill>
                <a:effectLst/>
                <a:latin typeface="Courier New" panose="02070309020205020404" pitchFamily="49" charset="0"/>
              </a:rPr>
              <a:t>=</a:t>
            </a:r>
            <a:r>
              <a:rPr lang="en-US" sz="2000" b="1" i="0" dirty="0">
                <a:solidFill>
                  <a:srgbClr val="CCCCCC"/>
                </a:solidFill>
                <a:effectLst/>
                <a:latin typeface="Courier New" panose="02070309020205020404" pitchFamily="49" charset="0"/>
              </a:rPr>
              <a:t> array[</a:t>
            </a:r>
            <a:r>
              <a:rPr lang="en-US" sz="2000" b="1" i="0" dirty="0" err="1">
                <a:solidFill>
                  <a:srgbClr val="CCCCCC"/>
                </a:solidFill>
                <a:effectLst/>
                <a:latin typeface="Courier New" panose="02070309020205020404" pitchFamily="49" charset="0"/>
              </a:rPr>
              <a:t>i</a:t>
            </a:r>
            <a:r>
              <a:rPr lang="en-US" sz="2000" b="1" i="0" dirty="0">
                <a:solidFill>
                  <a:srgbClr val="CCCCCC"/>
                </a:solidFill>
                <a:effectLst/>
                <a:latin typeface="Courier New" panose="02070309020205020404" pitchFamily="49" charset="0"/>
              </a:rPr>
              <a:t>, j];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 </a:t>
            </a:r>
            <a:endParaRPr lang="en-US" sz="2000" b="1" i="0" dirty="0">
              <a:solidFill>
                <a:srgbClr val="999999"/>
              </a:solidFill>
              <a:effectLst/>
              <a:latin typeface="Courier New" panose="02070309020205020404" pitchFamily="49" charset="0"/>
            </a:endParaRPr>
          </a:p>
          <a:p>
            <a:pPr marL="34290" indent="0" algn="just">
              <a:buNone/>
            </a:pPr>
            <a:r>
              <a:rPr lang="en-US" sz="2000" b="1" dirty="0">
                <a:solidFill>
                  <a:srgbClr val="999999"/>
                </a:solidFill>
                <a:latin typeface="Courier New" panose="02070309020205020404" pitchFamily="49" charset="0"/>
              </a:rPr>
              <a:t>      </a:t>
            </a:r>
            <a:r>
              <a:rPr lang="en-US" sz="2000" b="1" i="0" dirty="0" err="1">
                <a:solidFill>
                  <a:srgbClr val="CCCCCC"/>
                </a:solidFill>
                <a:effectLst/>
                <a:latin typeface="Courier New" panose="02070309020205020404" pitchFamily="49" charset="0"/>
              </a:rPr>
              <a:t>Array.</a:t>
            </a:r>
            <a:r>
              <a:rPr lang="en-US" sz="2000" b="1" i="0" dirty="0" err="1">
                <a:solidFill>
                  <a:srgbClr val="F08D49"/>
                </a:solidFill>
                <a:effectLst/>
                <a:latin typeface="Courier New" panose="02070309020205020404" pitchFamily="49" charset="0"/>
              </a:rPr>
              <a:t>Sort</a:t>
            </a:r>
            <a:r>
              <a:rPr lang="en-US" sz="2000" b="1" i="0" dirty="0">
                <a:solidFill>
                  <a:srgbClr val="CCCCCC"/>
                </a:solidFill>
                <a:effectLst/>
                <a:latin typeface="Courier New" panose="02070309020205020404" pitchFamily="49" charset="0"/>
              </a:rPr>
              <a:t>(row); </a:t>
            </a:r>
            <a:endParaRPr lang="en-US" sz="2000" b="1" i="0" dirty="0">
              <a:solidFill>
                <a:srgbClr val="999999"/>
              </a:solidFill>
              <a:effectLst/>
              <a:latin typeface="Courier New" panose="02070309020205020404" pitchFamily="49" charset="0"/>
            </a:endParaRPr>
          </a:p>
          <a:p>
            <a:pPr marL="34290" indent="0" algn="just">
              <a:buNone/>
            </a:pPr>
            <a:r>
              <a:rPr lang="en-US" sz="2000" b="1" dirty="0">
                <a:solidFill>
                  <a:srgbClr val="999999"/>
                </a:solidFill>
                <a:latin typeface="Courier New" panose="02070309020205020404" pitchFamily="49" charset="0"/>
              </a:rPr>
              <a:t>      </a:t>
            </a:r>
            <a:r>
              <a:rPr lang="en-US" sz="2000" b="1" i="0" dirty="0">
                <a:solidFill>
                  <a:srgbClr val="CC99CD"/>
                </a:solidFill>
                <a:effectLst/>
                <a:latin typeface="Courier New" panose="02070309020205020404" pitchFamily="49" charset="0"/>
              </a:rPr>
              <a:t>for</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int</a:t>
            </a:r>
            <a:r>
              <a:rPr lang="en-US" sz="2000" b="1" i="0" dirty="0">
                <a:solidFill>
                  <a:srgbClr val="CCCCCC"/>
                </a:solidFill>
                <a:effectLst/>
                <a:latin typeface="Courier New" panose="02070309020205020404" pitchFamily="49" charset="0"/>
              </a:rPr>
              <a:t> j </a:t>
            </a:r>
            <a:r>
              <a:rPr lang="en-US" sz="2000" b="1" i="0" dirty="0">
                <a:solidFill>
                  <a:srgbClr val="67CDCC"/>
                </a:solidFill>
                <a:effectLst/>
                <a:latin typeface="Courier New" panose="02070309020205020404" pitchFamily="49" charset="0"/>
              </a:rPr>
              <a:t>=</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0</a:t>
            </a:r>
            <a:r>
              <a:rPr lang="en-US" sz="2000" b="1" i="0" dirty="0">
                <a:solidFill>
                  <a:srgbClr val="CCCCCC"/>
                </a:solidFill>
                <a:effectLst/>
                <a:latin typeface="Courier New" panose="02070309020205020404" pitchFamily="49" charset="0"/>
              </a:rPr>
              <a:t>; j </a:t>
            </a:r>
            <a:r>
              <a:rPr lang="en-US" sz="2000" b="1" i="0" dirty="0">
                <a:solidFill>
                  <a:srgbClr val="67CDCC"/>
                </a:solidFill>
                <a:effectLst/>
                <a:latin typeface="Courier New" panose="02070309020205020404" pitchFamily="49" charset="0"/>
              </a:rPr>
              <a:t>&lt;</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array.</a:t>
            </a:r>
            <a:r>
              <a:rPr lang="en-US" sz="2000" b="1" i="0" dirty="0" err="1">
                <a:solidFill>
                  <a:srgbClr val="F08D49"/>
                </a:solidFill>
                <a:effectLst/>
                <a:latin typeface="Courier New" panose="02070309020205020404" pitchFamily="49" charset="0"/>
              </a:rPr>
              <a:t>GetLength</a:t>
            </a:r>
            <a:r>
              <a:rPr lang="en-US" sz="2000" b="1" i="0" dirty="0">
                <a:solidFill>
                  <a:srgbClr val="CCCCCC"/>
                </a:solidFill>
                <a:effectLst/>
                <a:latin typeface="Courier New" panose="02070309020205020404" pitchFamily="49" charset="0"/>
              </a:rPr>
              <a:t>(</a:t>
            </a:r>
            <a:r>
              <a:rPr lang="en-US" sz="2000" b="1" i="0" dirty="0">
                <a:solidFill>
                  <a:srgbClr val="F08D49"/>
                </a:solidFill>
                <a:effectLst/>
                <a:latin typeface="Courier New" panose="02070309020205020404" pitchFamily="49" charset="0"/>
              </a:rPr>
              <a:t>1</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j</a:t>
            </a:r>
            <a:r>
              <a:rPr lang="en-US" sz="2000" b="1" i="0" dirty="0" err="1">
                <a:solidFill>
                  <a:srgbClr val="67CDCC"/>
                </a:solidFill>
                <a:effectLst/>
                <a:latin typeface="Courier New" panose="02070309020205020404" pitchFamily="49" charset="0"/>
              </a:rPr>
              <a:t>++</a:t>
            </a:r>
            <a:r>
              <a:rPr lang="en-US" sz="2000" b="1" i="0" dirty="0">
                <a:solidFill>
                  <a:srgbClr val="CCCCCC"/>
                </a:solidFill>
                <a:effectLst/>
                <a:latin typeface="Courier New" panose="02070309020205020404" pitchFamily="49" charset="0"/>
              </a:rPr>
              <a:t>) {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array[</a:t>
            </a:r>
            <a:r>
              <a:rPr lang="en-US" sz="2000" b="1" i="0" dirty="0" err="1">
                <a:solidFill>
                  <a:srgbClr val="CCCCCC"/>
                </a:solidFill>
                <a:effectLst/>
                <a:latin typeface="Courier New" panose="02070309020205020404" pitchFamily="49" charset="0"/>
              </a:rPr>
              <a:t>i</a:t>
            </a:r>
            <a:r>
              <a:rPr lang="en-US" sz="2000" b="1" i="0" dirty="0">
                <a:solidFill>
                  <a:srgbClr val="CCCCCC"/>
                </a:solidFill>
                <a:effectLst/>
                <a:latin typeface="Courier New" panose="02070309020205020404" pitchFamily="49" charset="0"/>
              </a:rPr>
              <a:t>, j] </a:t>
            </a:r>
            <a:r>
              <a:rPr lang="en-US" sz="2000" b="1" i="0" dirty="0">
                <a:solidFill>
                  <a:srgbClr val="67CDCC"/>
                </a:solidFill>
                <a:effectLst/>
                <a:latin typeface="Courier New" panose="02070309020205020404" pitchFamily="49" charset="0"/>
              </a:rPr>
              <a:t>=</a:t>
            </a:r>
            <a:r>
              <a:rPr lang="en-US" sz="2000" b="1" i="0" dirty="0">
                <a:solidFill>
                  <a:srgbClr val="CCCCCC"/>
                </a:solidFill>
                <a:effectLst/>
                <a:latin typeface="Courier New" panose="02070309020205020404" pitchFamily="49" charset="0"/>
              </a:rPr>
              <a:t> row[j];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a:t>
            </a:r>
            <a:endParaRPr lang="ro-RO" sz="2800" noProof="0" dirty="0">
              <a:solidFill>
                <a:srgbClr val="00B0F0"/>
              </a:solidFill>
            </a:endParaRPr>
          </a:p>
        </p:txBody>
      </p:sp>
    </p:spTree>
    <p:extLst>
      <p:ext uri="{BB962C8B-B14F-4D97-AF65-F5344CB8AC3E}">
        <p14:creationId xmlns:p14="http://schemas.microsoft.com/office/powerpoint/2010/main" val="12542220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8C529-3BDC-29C1-C69B-ECEEAA62842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2BC1671-BA24-F234-4298-24141B59C41C}"/>
              </a:ext>
            </a:extLst>
          </p:cNvPr>
          <p:cNvSpPr>
            <a:spLocks noGrp="1"/>
          </p:cNvSpPr>
          <p:nvPr>
            <p:ph type="title"/>
          </p:nvPr>
        </p:nvSpPr>
        <p:spPr>
          <a:xfrm>
            <a:off x="463925" y="582705"/>
            <a:ext cx="7819465" cy="504265"/>
          </a:xfrm>
        </p:spPr>
        <p:txBody>
          <a:bodyPr>
            <a:noAutofit/>
          </a:bodyPr>
          <a:lstStyle/>
          <a:p>
            <a:r>
              <a:rPr lang="ro-RO" sz="3200" noProof="0" dirty="0"/>
              <a:t>C# - Cursul 9</a:t>
            </a:r>
          </a:p>
        </p:txBody>
      </p:sp>
      <p:sp>
        <p:nvSpPr>
          <p:cNvPr id="5" name="Content Placeholder 4">
            <a:extLst>
              <a:ext uri="{FF2B5EF4-FFF2-40B4-BE49-F238E27FC236}">
                <a16:creationId xmlns:a16="http://schemas.microsoft.com/office/drawing/2014/main" id="{9806E790-5B73-6267-7DCC-6F45EC74B9E2}"/>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Arrays</a:t>
            </a:r>
            <a:r>
              <a:rPr lang="ro-RO" sz="2800" noProof="0" dirty="0">
                <a:solidFill>
                  <a:srgbClr val="00B0F0"/>
                </a:solidFill>
              </a:rPr>
              <a:t> (tablouri) în C# - tablouri multidimensionale</a:t>
            </a:r>
          </a:p>
          <a:p>
            <a:pPr marL="34290" indent="0" algn="just">
              <a:buNone/>
            </a:pPr>
            <a:r>
              <a:rPr lang="en-US" sz="2000" b="1" dirty="0">
                <a:solidFill>
                  <a:srgbClr val="CC99CD"/>
                </a:solidFill>
                <a:latin typeface="Courier New" panose="02070309020205020404" pitchFamily="49" charset="0"/>
              </a:rPr>
              <a:t>    for</a:t>
            </a:r>
            <a:r>
              <a:rPr lang="en-US" sz="2000" b="1" dirty="0">
                <a:solidFill>
                  <a:srgbClr val="CCCCCC"/>
                </a:solidFill>
                <a:latin typeface="Courier New" panose="02070309020205020404" pitchFamily="49" charset="0"/>
              </a:rPr>
              <a:t> (</a:t>
            </a:r>
            <a:r>
              <a:rPr lang="en-US" sz="2000" b="1" dirty="0">
                <a:solidFill>
                  <a:srgbClr val="CC99CD"/>
                </a:solidFill>
                <a:latin typeface="Courier New" panose="02070309020205020404" pitchFamily="49" charset="0"/>
              </a:rPr>
              <a:t>int</a:t>
            </a:r>
            <a:r>
              <a:rPr lang="en-US" sz="2000" b="1" dirty="0">
                <a:solidFill>
                  <a:srgbClr val="CCCCCC"/>
                </a:solidFill>
                <a:latin typeface="Courier New" panose="02070309020205020404" pitchFamily="49" charset="0"/>
              </a:rPr>
              <a:t> </a:t>
            </a:r>
            <a:r>
              <a:rPr lang="en-US" sz="2000" b="1" dirty="0" err="1">
                <a:solidFill>
                  <a:srgbClr val="CCCCCC"/>
                </a:solidFill>
                <a:latin typeface="Courier New" panose="02070309020205020404" pitchFamily="49" charset="0"/>
              </a:rPr>
              <a:t>i</a:t>
            </a:r>
            <a:r>
              <a:rPr lang="en-US" sz="2000" b="1" dirty="0">
                <a:solidFill>
                  <a:srgbClr val="CCCCCC"/>
                </a:solidFill>
                <a:latin typeface="Courier New" panose="02070309020205020404" pitchFamily="49" charset="0"/>
              </a:rPr>
              <a:t> </a:t>
            </a:r>
            <a:r>
              <a:rPr lang="en-US" sz="2000" b="1" dirty="0">
                <a:solidFill>
                  <a:srgbClr val="67CDCC"/>
                </a:solidFill>
                <a:latin typeface="Courier New" panose="02070309020205020404" pitchFamily="49" charset="0"/>
              </a:rPr>
              <a:t>=</a:t>
            </a:r>
            <a:r>
              <a:rPr lang="en-US" sz="2000" b="1" dirty="0">
                <a:solidFill>
                  <a:srgbClr val="CCCCCC"/>
                </a:solidFill>
                <a:latin typeface="Courier New" panose="02070309020205020404" pitchFamily="49" charset="0"/>
              </a:rPr>
              <a:t> </a:t>
            </a:r>
            <a:r>
              <a:rPr lang="en-US" sz="2000" b="1" dirty="0">
                <a:solidFill>
                  <a:srgbClr val="F08D49"/>
                </a:solidFill>
                <a:latin typeface="Courier New" panose="02070309020205020404" pitchFamily="49" charset="0"/>
              </a:rPr>
              <a:t>0</a:t>
            </a:r>
            <a:r>
              <a:rPr lang="en-US" sz="2000" b="1" dirty="0">
                <a:solidFill>
                  <a:srgbClr val="CCCCCC"/>
                </a:solidFill>
                <a:latin typeface="Courier New" panose="02070309020205020404" pitchFamily="49" charset="0"/>
              </a:rPr>
              <a:t>; </a:t>
            </a:r>
            <a:r>
              <a:rPr lang="en-US" sz="2000" b="1" dirty="0" err="1">
                <a:solidFill>
                  <a:srgbClr val="CCCCCC"/>
                </a:solidFill>
                <a:latin typeface="Courier New" panose="02070309020205020404" pitchFamily="49" charset="0"/>
              </a:rPr>
              <a:t>i</a:t>
            </a:r>
            <a:r>
              <a:rPr lang="en-US" sz="2000" b="1" dirty="0">
                <a:solidFill>
                  <a:srgbClr val="CCCCCC"/>
                </a:solidFill>
                <a:latin typeface="Courier New" panose="02070309020205020404" pitchFamily="49" charset="0"/>
              </a:rPr>
              <a:t> </a:t>
            </a:r>
            <a:r>
              <a:rPr lang="en-US" sz="2000" b="1" dirty="0">
                <a:solidFill>
                  <a:srgbClr val="67CDCC"/>
                </a:solidFill>
                <a:latin typeface="Courier New" panose="02070309020205020404" pitchFamily="49" charset="0"/>
              </a:rPr>
              <a:t>&lt;</a:t>
            </a:r>
            <a:r>
              <a:rPr lang="en-US" sz="2000" b="1" dirty="0">
                <a:solidFill>
                  <a:srgbClr val="CCCCCC"/>
                </a:solidFill>
                <a:latin typeface="Courier New" panose="02070309020205020404" pitchFamily="49" charset="0"/>
              </a:rPr>
              <a:t> </a:t>
            </a:r>
            <a:r>
              <a:rPr lang="en-US" sz="2000" b="1" dirty="0" err="1">
                <a:solidFill>
                  <a:srgbClr val="CCCCCC"/>
                </a:solidFill>
                <a:latin typeface="Courier New" panose="02070309020205020404" pitchFamily="49" charset="0"/>
              </a:rPr>
              <a:t>array.</a:t>
            </a:r>
            <a:r>
              <a:rPr lang="en-US" sz="2000" b="1" dirty="0" err="1">
                <a:solidFill>
                  <a:srgbClr val="F08D49"/>
                </a:solidFill>
                <a:latin typeface="Courier New" panose="02070309020205020404" pitchFamily="49" charset="0"/>
              </a:rPr>
              <a:t>GetLength</a:t>
            </a:r>
            <a:r>
              <a:rPr lang="en-US" sz="2000" b="1" dirty="0">
                <a:solidFill>
                  <a:srgbClr val="CCCCCC"/>
                </a:solidFill>
                <a:latin typeface="Courier New" panose="02070309020205020404" pitchFamily="49" charset="0"/>
              </a:rPr>
              <a:t>(</a:t>
            </a:r>
            <a:r>
              <a:rPr lang="en-US" sz="2000" b="1" dirty="0">
                <a:solidFill>
                  <a:srgbClr val="F08D49"/>
                </a:solidFill>
                <a:latin typeface="Courier New" panose="02070309020205020404" pitchFamily="49" charset="0"/>
              </a:rPr>
              <a:t>0</a:t>
            </a:r>
            <a:r>
              <a:rPr lang="en-US" sz="2000" b="1" dirty="0">
                <a:solidFill>
                  <a:srgbClr val="CCCCCC"/>
                </a:solidFill>
                <a:latin typeface="Courier New" panose="02070309020205020404" pitchFamily="49" charset="0"/>
              </a:rPr>
              <a:t>); </a:t>
            </a:r>
            <a:r>
              <a:rPr lang="en-US" sz="2000" b="1" dirty="0" err="1">
                <a:solidFill>
                  <a:srgbClr val="CCCCCC"/>
                </a:solidFill>
                <a:latin typeface="Courier New" panose="02070309020205020404" pitchFamily="49" charset="0"/>
              </a:rPr>
              <a:t>i</a:t>
            </a:r>
            <a:r>
              <a:rPr lang="en-US" sz="2000" b="1" dirty="0">
                <a:solidFill>
                  <a:srgbClr val="67CDCC"/>
                </a:solidFill>
                <a:latin typeface="Courier New" panose="02070309020205020404" pitchFamily="49" charset="0"/>
              </a:rPr>
              <a:t>++</a:t>
            </a:r>
            <a:r>
              <a:rPr lang="en-US" sz="2000" b="1" dirty="0">
                <a:solidFill>
                  <a:srgbClr val="CCCCCC"/>
                </a:solidFill>
                <a:latin typeface="Courier New" panose="02070309020205020404" pitchFamily="49" charset="0"/>
              </a:rPr>
              <a:t>) {</a:t>
            </a:r>
          </a:p>
          <a:p>
            <a:pPr marL="34290" indent="0" algn="just">
              <a:buNone/>
            </a:pPr>
            <a:r>
              <a:rPr lang="en-US" sz="2000" b="1" dirty="0">
                <a:solidFill>
                  <a:srgbClr val="CCCCCC"/>
                </a:solidFill>
                <a:latin typeface="Courier New" panose="02070309020205020404" pitchFamily="49" charset="0"/>
              </a:rPr>
              <a:t>      </a:t>
            </a:r>
            <a:r>
              <a:rPr lang="en-US" sz="2000" b="1" dirty="0">
                <a:solidFill>
                  <a:srgbClr val="CC99CD"/>
                </a:solidFill>
                <a:latin typeface="Courier New" panose="02070309020205020404" pitchFamily="49" charset="0"/>
              </a:rPr>
              <a:t>for</a:t>
            </a:r>
            <a:r>
              <a:rPr lang="en-US" sz="2000" b="1" dirty="0">
                <a:solidFill>
                  <a:srgbClr val="CCCCCC"/>
                </a:solidFill>
                <a:latin typeface="Courier New" panose="02070309020205020404" pitchFamily="49" charset="0"/>
              </a:rPr>
              <a:t> (</a:t>
            </a:r>
            <a:r>
              <a:rPr lang="en-US" sz="2000" b="1" dirty="0">
                <a:solidFill>
                  <a:srgbClr val="CC99CD"/>
                </a:solidFill>
                <a:latin typeface="Courier New" panose="02070309020205020404" pitchFamily="49" charset="0"/>
              </a:rPr>
              <a:t>int</a:t>
            </a:r>
            <a:r>
              <a:rPr lang="en-US" sz="2000" b="1" dirty="0">
                <a:solidFill>
                  <a:srgbClr val="CCCCCC"/>
                </a:solidFill>
                <a:latin typeface="Courier New" panose="02070309020205020404" pitchFamily="49" charset="0"/>
              </a:rPr>
              <a:t> j </a:t>
            </a:r>
            <a:r>
              <a:rPr lang="en-US" sz="2000" b="1" dirty="0">
                <a:solidFill>
                  <a:srgbClr val="67CDCC"/>
                </a:solidFill>
                <a:latin typeface="Courier New" panose="02070309020205020404" pitchFamily="49" charset="0"/>
              </a:rPr>
              <a:t>=</a:t>
            </a:r>
            <a:r>
              <a:rPr lang="en-US" sz="2000" b="1" dirty="0">
                <a:solidFill>
                  <a:srgbClr val="CCCCCC"/>
                </a:solidFill>
                <a:latin typeface="Courier New" panose="02070309020205020404" pitchFamily="49" charset="0"/>
              </a:rPr>
              <a:t> </a:t>
            </a:r>
            <a:r>
              <a:rPr lang="en-US" sz="2000" b="1" dirty="0">
                <a:solidFill>
                  <a:srgbClr val="F08D49"/>
                </a:solidFill>
                <a:latin typeface="Courier New" panose="02070309020205020404" pitchFamily="49" charset="0"/>
              </a:rPr>
              <a:t>0</a:t>
            </a:r>
            <a:r>
              <a:rPr lang="en-US" sz="2000" b="1" dirty="0">
                <a:solidFill>
                  <a:srgbClr val="CCCCCC"/>
                </a:solidFill>
                <a:latin typeface="Courier New" panose="02070309020205020404" pitchFamily="49" charset="0"/>
              </a:rPr>
              <a:t>; j </a:t>
            </a:r>
            <a:r>
              <a:rPr lang="en-US" sz="2000" b="1" dirty="0">
                <a:solidFill>
                  <a:srgbClr val="67CDCC"/>
                </a:solidFill>
                <a:latin typeface="Courier New" panose="02070309020205020404" pitchFamily="49" charset="0"/>
              </a:rPr>
              <a:t>&lt;</a:t>
            </a:r>
            <a:r>
              <a:rPr lang="en-US" sz="2000" b="1" dirty="0">
                <a:solidFill>
                  <a:srgbClr val="CCCCCC"/>
                </a:solidFill>
                <a:latin typeface="Courier New" panose="02070309020205020404" pitchFamily="49" charset="0"/>
              </a:rPr>
              <a:t> </a:t>
            </a:r>
            <a:r>
              <a:rPr lang="en-US" sz="2000" b="1" dirty="0" err="1">
                <a:solidFill>
                  <a:srgbClr val="CCCCCC"/>
                </a:solidFill>
                <a:latin typeface="Courier New" panose="02070309020205020404" pitchFamily="49" charset="0"/>
              </a:rPr>
              <a:t>array.</a:t>
            </a:r>
            <a:r>
              <a:rPr lang="en-US" sz="2000" b="1" dirty="0" err="1">
                <a:solidFill>
                  <a:srgbClr val="F08D49"/>
                </a:solidFill>
                <a:latin typeface="Courier New" panose="02070309020205020404" pitchFamily="49" charset="0"/>
              </a:rPr>
              <a:t>GetLength</a:t>
            </a:r>
            <a:r>
              <a:rPr lang="en-US" sz="2000" b="1" dirty="0">
                <a:solidFill>
                  <a:srgbClr val="CCCCCC"/>
                </a:solidFill>
                <a:latin typeface="Courier New" panose="02070309020205020404" pitchFamily="49" charset="0"/>
              </a:rPr>
              <a:t>(</a:t>
            </a:r>
            <a:r>
              <a:rPr lang="en-US" sz="2000" b="1" dirty="0">
                <a:solidFill>
                  <a:srgbClr val="F08D49"/>
                </a:solidFill>
                <a:latin typeface="Courier New" panose="02070309020205020404" pitchFamily="49" charset="0"/>
              </a:rPr>
              <a:t>1</a:t>
            </a:r>
            <a:r>
              <a:rPr lang="en-US" sz="2000" b="1" dirty="0">
                <a:solidFill>
                  <a:srgbClr val="CCCCCC"/>
                </a:solidFill>
                <a:latin typeface="Courier New" panose="02070309020205020404" pitchFamily="49" charset="0"/>
              </a:rPr>
              <a:t>); </a:t>
            </a:r>
            <a:r>
              <a:rPr lang="en-US" sz="2000" b="1" dirty="0" err="1">
                <a:solidFill>
                  <a:srgbClr val="CCCCCC"/>
                </a:solidFill>
                <a:latin typeface="Courier New" panose="02070309020205020404" pitchFamily="49" charset="0"/>
              </a:rPr>
              <a:t>j</a:t>
            </a:r>
            <a:r>
              <a:rPr lang="en-US" sz="2000" b="1" dirty="0" err="1">
                <a:solidFill>
                  <a:srgbClr val="67CDCC"/>
                </a:solidFill>
                <a:latin typeface="Courier New" panose="02070309020205020404" pitchFamily="49" charset="0"/>
              </a:rPr>
              <a:t>++</a:t>
            </a:r>
            <a:r>
              <a:rPr lang="en-US" sz="2000" b="1" dirty="0">
                <a:solidFill>
                  <a:srgbClr val="CCCCCC"/>
                </a:solidFill>
                <a:latin typeface="Courier New" panose="02070309020205020404" pitchFamily="49" charset="0"/>
              </a:rPr>
              <a:t>) {</a:t>
            </a:r>
          </a:p>
          <a:p>
            <a:pPr marL="34290" indent="0" algn="just">
              <a:buNone/>
            </a:pPr>
            <a:r>
              <a:rPr lang="en-US" sz="2000" b="1" dirty="0">
                <a:solidFill>
                  <a:srgbClr val="CCCCCC"/>
                </a:solidFill>
                <a:latin typeface="Courier New" panose="02070309020205020404" pitchFamily="49" charset="0"/>
              </a:rPr>
              <a:t>        </a:t>
            </a:r>
            <a:r>
              <a:rPr lang="en-US" sz="2000" b="1" dirty="0" err="1">
                <a:solidFill>
                  <a:srgbClr val="CCCCCC"/>
                </a:solidFill>
                <a:latin typeface="Courier New" panose="02070309020205020404" pitchFamily="49" charset="0"/>
              </a:rPr>
              <a:t>Console.</a:t>
            </a:r>
            <a:r>
              <a:rPr lang="en-US" sz="2000" b="1" dirty="0" err="1">
                <a:solidFill>
                  <a:srgbClr val="F08D49"/>
                </a:solidFill>
                <a:latin typeface="Courier New" panose="02070309020205020404" pitchFamily="49" charset="0"/>
              </a:rPr>
              <a:t>Write</a:t>
            </a:r>
            <a:r>
              <a:rPr lang="en-US" sz="2000" b="1" dirty="0">
                <a:solidFill>
                  <a:srgbClr val="CCCCCC"/>
                </a:solidFill>
                <a:latin typeface="Courier New" panose="02070309020205020404" pitchFamily="49" charset="0"/>
              </a:rPr>
              <a:t>(array[</a:t>
            </a:r>
            <a:r>
              <a:rPr lang="en-US" sz="2000" b="1" dirty="0" err="1">
                <a:solidFill>
                  <a:srgbClr val="CCCCCC"/>
                </a:solidFill>
                <a:latin typeface="Courier New" panose="02070309020205020404" pitchFamily="49" charset="0"/>
              </a:rPr>
              <a:t>i</a:t>
            </a:r>
            <a:r>
              <a:rPr lang="en-US" sz="2000" b="1" dirty="0">
                <a:solidFill>
                  <a:srgbClr val="CCCCCC"/>
                </a:solidFill>
                <a:latin typeface="Courier New" panose="02070309020205020404" pitchFamily="49" charset="0"/>
              </a:rPr>
              <a:t>, j] </a:t>
            </a:r>
            <a:r>
              <a:rPr lang="en-US" sz="2000" b="1" dirty="0">
                <a:solidFill>
                  <a:srgbClr val="67CDCC"/>
                </a:solidFill>
                <a:latin typeface="Courier New" panose="02070309020205020404" pitchFamily="49" charset="0"/>
              </a:rPr>
              <a:t>+</a:t>
            </a:r>
            <a:r>
              <a:rPr lang="en-US" sz="2000" b="1" dirty="0">
                <a:solidFill>
                  <a:srgbClr val="CCCCCC"/>
                </a:solidFill>
                <a:latin typeface="Courier New" panose="02070309020205020404" pitchFamily="49" charset="0"/>
              </a:rPr>
              <a:t> </a:t>
            </a:r>
            <a:r>
              <a:rPr lang="en-US" sz="2000" b="1" dirty="0">
                <a:solidFill>
                  <a:srgbClr val="7EC699"/>
                </a:solidFill>
                <a:latin typeface="Courier New" panose="02070309020205020404" pitchFamily="49" charset="0"/>
              </a:rPr>
              <a:t>" "</a:t>
            </a:r>
            <a:r>
              <a:rPr lang="en-US" sz="2000" b="1" dirty="0">
                <a:solidFill>
                  <a:srgbClr val="CCCCCC"/>
                </a:solidFill>
                <a:latin typeface="Courier New" panose="02070309020205020404" pitchFamily="49" charset="0"/>
              </a:rPr>
              <a:t>);</a:t>
            </a:r>
          </a:p>
          <a:p>
            <a:pPr marL="34290" indent="0" algn="just">
              <a:buNone/>
            </a:pPr>
            <a:r>
              <a:rPr lang="en-US" sz="2000" b="1" dirty="0">
                <a:solidFill>
                  <a:srgbClr val="CCCCCC"/>
                </a:solidFill>
                <a:latin typeface="Courier New" panose="02070309020205020404" pitchFamily="49" charset="0"/>
              </a:rPr>
              <a:t>      } </a:t>
            </a:r>
          </a:p>
          <a:p>
            <a:pPr marL="34290" indent="0" algn="just">
              <a:buNone/>
            </a:pPr>
            <a:r>
              <a:rPr lang="en-US" sz="2000" b="1" dirty="0">
                <a:solidFill>
                  <a:srgbClr val="CCCCCC"/>
                </a:solidFill>
                <a:latin typeface="Courier New" panose="02070309020205020404" pitchFamily="49" charset="0"/>
              </a:rPr>
              <a:t>      </a:t>
            </a:r>
            <a:r>
              <a:rPr lang="en-US" sz="2000" b="1" dirty="0" err="1">
                <a:solidFill>
                  <a:srgbClr val="CCCCCC"/>
                </a:solidFill>
                <a:latin typeface="Courier New" panose="02070309020205020404" pitchFamily="49" charset="0"/>
              </a:rPr>
              <a:t>Console.</a:t>
            </a:r>
            <a:r>
              <a:rPr lang="en-US" sz="2000" b="1" dirty="0" err="1">
                <a:solidFill>
                  <a:srgbClr val="F08D49"/>
                </a:solidFill>
                <a:latin typeface="Courier New" panose="02070309020205020404" pitchFamily="49" charset="0"/>
              </a:rPr>
              <a:t>WriteLine</a:t>
            </a:r>
            <a:r>
              <a:rPr lang="en-US" sz="2000" b="1" dirty="0">
                <a:solidFill>
                  <a:srgbClr val="CCCCCC"/>
                </a:solidFill>
                <a:latin typeface="Courier New" panose="02070309020205020404" pitchFamily="49" charset="0"/>
              </a:rPr>
              <a:t>(); </a:t>
            </a:r>
          </a:p>
          <a:p>
            <a:pPr marL="34290" indent="0" algn="just">
              <a:buNone/>
            </a:pPr>
            <a:r>
              <a:rPr lang="en-US" sz="2000" b="1" dirty="0">
                <a:solidFill>
                  <a:srgbClr val="CCCCCC"/>
                </a:solidFill>
                <a:latin typeface="Courier New" panose="02070309020205020404" pitchFamily="49" charset="0"/>
              </a:rPr>
              <a:t>    } </a:t>
            </a:r>
          </a:p>
          <a:p>
            <a:pPr marL="34290" indent="0" algn="just">
              <a:buNone/>
            </a:pPr>
            <a:r>
              <a:rPr lang="en-US" sz="2000" b="1" dirty="0">
                <a:solidFill>
                  <a:srgbClr val="CCCCCC"/>
                </a:solidFill>
                <a:latin typeface="Courier New" panose="02070309020205020404" pitchFamily="49" charset="0"/>
              </a:rPr>
              <a:t>  }</a:t>
            </a:r>
          </a:p>
          <a:p>
            <a:pPr marL="34290" indent="0" algn="just">
              <a:buNone/>
            </a:pPr>
            <a:r>
              <a:rPr lang="en-US" sz="2000" b="1" dirty="0">
                <a:solidFill>
                  <a:srgbClr val="CCCCCC"/>
                </a:solidFill>
                <a:latin typeface="Courier New" panose="02070309020205020404" pitchFamily="49" charset="0"/>
              </a:rPr>
              <a:t>}</a:t>
            </a:r>
            <a:endParaRPr lang="ro-RO" sz="2000" b="1" dirty="0">
              <a:solidFill>
                <a:srgbClr val="00B0F0"/>
              </a:solidFill>
            </a:endParaRPr>
          </a:p>
          <a:p>
            <a:pPr marL="34290" indent="0" algn="just">
              <a:buNone/>
            </a:pPr>
            <a:endParaRPr lang="ro-RO" sz="360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8597535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7CA87-B727-4928-CDA2-5F21EEEA884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812DBAA-25E0-BC9F-F65F-83C20569B484}"/>
              </a:ext>
            </a:extLst>
          </p:cNvPr>
          <p:cNvSpPr>
            <a:spLocks noGrp="1"/>
          </p:cNvSpPr>
          <p:nvPr>
            <p:ph type="title"/>
          </p:nvPr>
        </p:nvSpPr>
        <p:spPr>
          <a:xfrm>
            <a:off x="463925" y="582705"/>
            <a:ext cx="7819465" cy="504265"/>
          </a:xfrm>
        </p:spPr>
        <p:txBody>
          <a:bodyPr>
            <a:noAutofit/>
          </a:bodyPr>
          <a:lstStyle/>
          <a:p>
            <a:r>
              <a:rPr lang="ro-RO" sz="3200" noProof="0" dirty="0"/>
              <a:t>C# - Cursul 9</a:t>
            </a:r>
          </a:p>
        </p:txBody>
      </p:sp>
      <p:sp>
        <p:nvSpPr>
          <p:cNvPr id="5" name="Content Placeholder 4">
            <a:extLst>
              <a:ext uri="{FF2B5EF4-FFF2-40B4-BE49-F238E27FC236}">
                <a16:creationId xmlns:a16="http://schemas.microsoft.com/office/drawing/2014/main" id="{E80577B3-1478-0A6C-A766-D792F761AC01}"/>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Arrays</a:t>
            </a:r>
            <a:r>
              <a:rPr lang="ro-RO" sz="2800" noProof="0" dirty="0">
                <a:solidFill>
                  <a:srgbClr val="00B0F0"/>
                </a:solidFill>
              </a:rPr>
              <a:t> (tablouri) în C# - </a:t>
            </a:r>
            <a:r>
              <a:rPr lang="en-US" sz="2800" noProof="0" dirty="0">
                <a:solidFill>
                  <a:srgbClr val="00B0F0"/>
                </a:solidFill>
              </a:rPr>
              <a:t>jagged arrays</a:t>
            </a:r>
          </a:p>
          <a:p>
            <a:pPr marL="34290" indent="0" algn="just">
              <a:buNone/>
            </a:pPr>
            <a:r>
              <a:rPr lang="ro-RO" sz="2800" dirty="0">
                <a:solidFill>
                  <a:srgbClr val="00B0F0"/>
                </a:solidFill>
              </a:rPr>
              <a:t>Un tablou zimțat este un tablou de tablouri, ceea ce înseamnă că elementele unui tablou zimțat sunt ele însele tablouri. Spre deosebire de un tablou multidimensional, un tablou zimțat poate conține </a:t>
            </a:r>
            <a:r>
              <a:rPr lang="en-US" sz="2800" dirty="0" err="1">
                <a:solidFill>
                  <a:srgbClr val="00B0F0"/>
                </a:solidFill>
              </a:rPr>
              <a:t>tablouri</a:t>
            </a:r>
            <a:r>
              <a:rPr lang="en-US" sz="2800" dirty="0">
                <a:solidFill>
                  <a:srgbClr val="00B0F0"/>
                </a:solidFill>
              </a:rPr>
              <a:t> </a:t>
            </a:r>
            <a:r>
              <a:rPr lang="ro-RO" sz="2800" dirty="0">
                <a:solidFill>
                  <a:srgbClr val="00B0F0"/>
                </a:solidFill>
              </a:rPr>
              <a:t>de lungimi diferite. Puteți declara un tablou zimțat numit „</a:t>
            </a:r>
            <a:r>
              <a:rPr lang="ro-RO" sz="2800" dirty="0" err="1">
                <a:solidFill>
                  <a:srgbClr val="00B0F0"/>
                </a:solidFill>
              </a:rPr>
              <a:t>scores</a:t>
            </a:r>
            <a:r>
              <a:rPr lang="ro-RO" sz="2800" dirty="0">
                <a:solidFill>
                  <a:srgbClr val="00B0F0"/>
                </a:solidFill>
              </a:rPr>
              <a:t>” de tip </a:t>
            </a:r>
            <a:r>
              <a:rPr lang="ro-RO" sz="2800" dirty="0" err="1">
                <a:solidFill>
                  <a:srgbClr val="00B0F0"/>
                </a:solidFill>
              </a:rPr>
              <a:t>int</a:t>
            </a:r>
            <a:r>
              <a:rPr lang="ro-RO" sz="2800" dirty="0">
                <a:solidFill>
                  <a:srgbClr val="00B0F0"/>
                </a:solidFill>
              </a:rPr>
              <a:t> după cum urmează:</a:t>
            </a:r>
            <a:endParaRPr lang="en-US" sz="2800" dirty="0">
              <a:solidFill>
                <a:srgbClr val="00B0F0"/>
              </a:solidFill>
            </a:endParaRPr>
          </a:p>
          <a:p>
            <a:pPr marL="34290" indent="0" algn="just">
              <a:buNone/>
            </a:pPr>
            <a:endParaRPr lang="en-US" sz="2400" b="1" i="0" dirty="0">
              <a:solidFill>
                <a:srgbClr val="CC99CD"/>
              </a:solidFill>
              <a:effectLst/>
              <a:latin typeface="Courier New" panose="02070309020205020404" pitchFamily="49" charset="0"/>
            </a:endParaRPr>
          </a:p>
          <a:p>
            <a:pPr marL="34290" indent="0" algn="just">
              <a:buNone/>
            </a:pPr>
            <a:r>
              <a:rPr lang="en-US" sz="2400" b="1" i="0" dirty="0">
                <a:solidFill>
                  <a:srgbClr val="CC99CD"/>
                </a:solidFill>
                <a:effectLst/>
                <a:latin typeface="Courier New" panose="02070309020205020404" pitchFamily="49" charset="0"/>
              </a:rPr>
              <a:t>int</a:t>
            </a:r>
            <a:r>
              <a:rPr lang="en-US" sz="2400" b="1" i="0" dirty="0">
                <a:solidFill>
                  <a:srgbClr val="CCCCCC"/>
                </a:solidFill>
                <a:effectLst/>
                <a:latin typeface="Courier New" panose="02070309020205020404" pitchFamily="49" charset="0"/>
              </a:rPr>
              <a:t>[][] scores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new</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int</a:t>
            </a:r>
            <a:r>
              <a:rPr lang="en-US" sz="2400" b="1" i="0" dirty="0">
                <a:solidFill>
                  <a:srgbClr val="CCCCCC"/>
                </a:solidFill>
                <a:effectLst/>
                <a:latin typeface="Courier New" panose="02070309020205020404" pitchFamily="49" charset="0"/>
              </a:rPr>
              <a:t>[</a:t>
            </a:r>
            <a:r>
              <a:rPr lang="en-US" sz="2400" b="1" i="0" dirty="0">
                <a:solidFill>
                  <a:srgbClr val="F08D49"/>
                </a:solidFill>
                <a:effectLst/>
                <a:latin typeface="Courier New" panose="02070309020205020404" pitchFamily="49" charset="0"/>
              </a:rPr>
              <a:t>5</a:t>
            </a:r>
            <a:r>
              <a:rPr lang="en-US" sz="2400" b="1" i="0" dirty="0">
                <a:solidFill>
                  <a:srgbClr val="CCCCCC"/>
                </a:solidFill>
                <a:effectLst/>
                <a:latin typeface="Courier New" panose="02070309020205020404" pitchFamily="49" charset="0"/>
              </a:rPr>
              <a:t>][];</a:t>
            </a:r>
            <a:endParaRPr lang="en-US" sz="2400" b="1" dirty="0">
              <a:solidFill>
                <a:srgbClr val="00B0F0"/>
              </a:solidFill>
            </a:endParaRPr>
          </a:p>
          <a:p>
            <a:pPr marL="34290" indent="0" algn="just">
              <a:buNone/>
            </a:pPr>
            <a:endParaRPr lang="en-US" sz="280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7395504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099CA-DF04-93AA-7DC8-7A41B0F45FC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E021C53-5114-882D-0E3D-4CB6A0F1153C}"/>
              </a:ext>
            </a:extLst>
          </p:cNvPr>
          <p:cNvSpPr>
            <a:spLocks noGrp="1"/>
          </p:cNvSpPr>
          <p:nvPr>
            <p:ph type="title"/>
          </p:nvPr>
        </p:nvSpPr>
        <p:spPr>
          <a:xfrm>
            <a:off x="463925" y="582705"/>
            <a:ext cx="7819465" cy="504265"/>
          </a:xfrm>
        </p:spPr>
        <p:txBody>
          <a:bodyPr>
            <a:noAutofit/>
          </a:bodyPr>
          <a:lstStyle/>
          <a:p>
            <a:r>
              <a:rPr lang="ro-RO" sz="3200" noProof="0" dirty="0"/>
              <a:t>C# - Cursul 9</a:t>
            </a:r>
          </a:p>
        </p:txBody>
      </p:sp>
      <p:sp>
        <p:nvSpPr>
          <p:cNvPr id="5" name="Content Placeholder 4">
            <a:extLst>
              <a:ext uri="{FF2B5EF4-FFF2-40B4-BE49-F238E27FC236}">
                <a16:creationId xmlns:a16="http://schemas.microsoft.com/office/drawing/2014/main" id="{476D30D1-E4CF-7684-9FC7-0301854D19AA}"/>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Arrays</a:t>
            </a:r>
            <a:r>
              <a:rPr lang="ro-RO" sz="2800" noProof="0" dirty="0">
                <a:solidFill>
                  <a:srgbClr val="00B0F0"/>
                </a:solidFill>
              </a:rPr>
              <a:t> (tablouri) în C# - </a:t>
            </a:r>
            <a:r>
              <a:rPr lang="en-US" sz="2800" dirty="0">
                <a:solidFill>
                  <a:srgbClr val="00B0F0"/>
                </a:solidFill>
              </a:rPr>
              <a:t>jagged arrays</a:t>
            </a:r>
          </a:p>
          <a:p>
            <a:pPr marL="34290" indent="0" algn="just">
              <a:buNone/>
            </a:pPr>
            <a:r>
              <a:rPr lang="ro-RO" sz="2800" dirty="0">
                <a:solidFill>
                  <a:srgbClr val="00B0F0"/>
                </a:solidFill>
              </a:rPr>
              <a:t>Declararea unui tablou nu alocă spațiu în memorie pentru acesta. </a:t>
            </a:r>
            <a:endParaRPr lang="en-US" sz="2800" dirty="0">
              <a:solidFill>
                <a:srgbClr val="00B0F0"/>
              </a:solidFill>
            </a:endParaRPr>
          </a:p>
          <a:p>
            <a:pPr marL="34290" indent="0" algn="just">
              <a:buNone/>
            </a:pPr>
            <a:r>
              <a:rPr lang="ro-RO" sz="2800" dirty="0">
                <a:solidFill>
                  <a:srgbClr val="00B0F0"/>
                </a:solidFill>
              </a:rPr>
              <a:t>Pentru a crea tabloul, trebuie să urmați sintaxa de mai jos:</a:t>
            </a:r>
            <a:endParaRPr lang="en-US" sz="2800" dirty="0">
              <a:solidFill>
                <a:srgbClr val="00B0F0"/>
              </a:solidFill>
            </a:endParaRPr>
          </a:p>
          <a:p>
            <a:pPr marL="34290" indent="0" algn="just">
              <a:buNone/>
            </a:pPr>
            <a:endParaRPr lang="en-US" sz="2800" dirty="0">
              <a:solidFill>
                <a:srgbClr val="00B0F0"/>
              </a:solidFill>
            </a:endParaRPr>
          </a:p>
          <a:p>
            <a:pPr marL="34290" indent="0" algn="just">
              <a:buNone/>
            </a:pPr>
            <a:r>
              <a:rPr lang="en-US" sz="2400" b="1" i="0" dirty="0">
                <a:solidFill>
                  <a:srgbClr val="CC99CD"/>
                </a:solidFill>
                <a:effectLst/>
                <a:latin typeface="Courier New" panose="02070309020205020404" pitchFamily="49" charset="0"/>
              </a:rPr>
              <a:t>int</a:t>
            </a:r>
            <a:r>
              <a:rPr lang="en-US" sz="2400" b="1" i="0" dirty="0">
                <a:solidFill>
                  <a:srgbClr val="CCCCCC"/>
                </a:solidFill>
                <a:effectLst/>
                <a:latin typeface="Courier New" panose="02070309020205020404" pitchFamily="49" charset="0"/>
              </a:rPr>
              <a:t>[][] scores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new</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int</a:t>
            </a:r>
            <a:r>
              <a:rPr lang="en-US" sz="2400" b="1" i="0" dirty="0">
                <a:solidFill>
                  <a:srgbClr val="CCCCCC"/>
                </a:solidFill>
                <a:effectLst/>
                <a:latin typeface="Courier New" panose="02070309020205020404" pitchFamily="49" charset="0"/>
              </a:rPr>
              <a:t>[</a:t>
            </a:r>
            <a:r>
              <a:rPr lang="en-US" sz="2400" b="1" i="0" dirty="0">
                <a:solidFill>
                  <a:srgbClr val="F08D49"/>
                </a:solidFill>
                <a:effectLst/>
                <a:latin typeface="Courier New" panose="02070309020205020404" pitchFamily="49" charset="0"/>
              </a:rPr>
              <a:t>5</a:t>
            </a:r>
            <a:r>
              <a:rPr lang="en-US" sz="2400" b="1" i="0" dirty="0">
                <a:solidFill>
                  <a:srgbClr val="CCCCCC"/>
                </a:solidFill>
                <a:effectLst/>
                <a:latin typeface="Courier New" panose="02070309020205020404" pitchFamily="49" charset="0"/>
              </a:rPr>
              <a:t>][]; </a:t>
            </a:r>
          </a:p>
          <a:p>
            <a:pPr marL="34290" indent="0" algn="just">
              <a:buNone/>
            </a:pPr>
            <a:r>
              <a:rPr lang="en-US" sz="2400" b="1" i="0" dirty="0">
                <a:solidFill>
                  <a:srgbClr val="CC99CD"/>
                </a:solidFill>
                <a:effectLst/>
                <a:latin typeface="Courier New" panose="02070309020205020404" pitchFamily="49" charset="0"/>
              </a:rPr>
              <a:t>for</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int</a:t>
            </a:r>
            <a:r>
              <a:rPr lang="en-US" sz="2400" b="1" i="0" dirty="0">
                <a:solidFill>
                  <a:srgbClr val="CCCCCC"/>
                </a:solidFill>
                <a:effectLst/>
                <a:latin typeface="Courier New" panose="02070309020205020404" pitchFamily="49" charset="0"/>
              </a:rPr>
              <a:t> </a:t>
            </a:r>
            <a:r>
              <a:rPr lang="en-US" sz="2400" b="1" i="0" dirty="0" err="1">
                <a:solidFill>
                  <a:srgbClr val="CCCCCC"/>
                </a:solidFill>
                <a:effectLst/>
                <a:latin typeface="Courier New" panose="02070309020205020404" pitchFamily="49" charset="0"/>
              </a:rPr>
              <a:t>i</a:t>
            </a:r>
            <a:r>
              <a:rPr lang="en-US" sz="2400" b="1" i="0" dirty="0">
                <a:solidFill>
                  <a:srgbClr val="CCCCCC"/>
                </a:solidFill>
                <a:effectLst/>
                <a:latin typeface="Courier New" panose="02070309020205020404" pitchFamily="49" charset="0"/>
              </a:rPr>
              <a:t>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0</a:t>
            </a:r>
            <a:r>
              <a:rPr lang="en-US" sz="2400" b="1" i="0" dirty="0">
                <a:solidFill>
                  <a:srgbClr val="CCCCCC"/>
                </a:solidFill>
                <a:effectLst/>
                <a:latin typeface="Courier New" panose="02070309020205020404" pitchFamily="49" charset="0"/>
              </a:rPr>
              <a:t>; </a:t>
            </a:r>
            <a:r>
              <a:rPr lang="en-US" sz="2400" b="1" i="0" dirty="0" err="1">
                <a:solidFill>
                  <a:srgbClr val="CCCCCC"/>
                </a:solidFill>
                <a:effectLst/>
                <a:latin typeface="Courier New" panose="02070309020205020404" pitchFamily="49" charset="0"/>
              </a:rPr>
              <a:t>i</a:t>
            </a:r>
            <a:r>
              <a:rPr lang="en-US" sz="2400" b="1" i="0" dirty="0">
                <a:solidFill>
                  <a:srgbClr val="CCCCCC"/>
                </a:solidFill>
                <a:effectLst/>
                <a:latin typeface="Courier New" panose="02070309020205020404" pitchFamily="49" charset="0"/>
              </a:rPr>
              <a:t> </a:t>
            </a:r>
            <a:r>
              <a:rPr lang="en-US" sz="2400" b="1" i="0" dirty="0">
                <a:solidFill>
                  <a:srgbClr val="67CDCC"/>
                </a:solidFill>
                <a:effectLst/>
                <a:latin typeface="Courier New" panose="02070309020205020404" pitchFamily="49" charset="0"/>
              </a:rPr>
              <a:t>&lt;</a:t>
            </a:r>
            <a:r>
              <a:rPr lang="en-US" sz="2400" b="1" i="0" dirty="0">
                <a:solidFill>
                  <a:srgbClr val="CCCCCC"/>
                </a:solidFill>
                <a:effectLst/>
                <a:latin typeface="Courier New" panose="02070309020205020404" pitchFamily="49" charset="0"/>
              </a:rPr>
              <a:t> </a:t>
            </a:r>
            <a:r>
              <a:rPr lang="en-US" sz="2400" b="1" i="0" dirty="0" err="1">
                <a:solidFill>
                  <a:srgbClr val="CCCCCC"/>
                </a:solidFill>
                <a:effectLst/>
                <a:latin typeface="Courier New" panose="02070309020205020404" pitchFamily="49" charset="0"/>
              </a:rPr>
              <a:t>scores.Length</a:t>
            </a:r>
            <a:r>
              <a:rPr lang="en-US" sz="2400" b="1" i="0" dirty="0">
                <a:solidFill>
                  <a:srgbClr val="CCCCCC"/>
                </a:solidFill>
                <a:effectLst/>
                <a:latin typeface="Courier New" panose="02070309020205020404" pitchFamily="49" charset="0"/>
              </a:rPr>
              <a:t>; </a:t>
            </a:r>
            <a:r>
              <a:rPr lang="en-US" sz="2400" b="1" i="0" dirty="0" err="1">
                <a:solidFill>
                  <a:srgbClr val="CCCCCC"/>
                </a:solidFill>
                <a:effectLst/>
                <a:latin typeface="Courier New" panose="02070309020205020404" pitchFamily="49" charset="0"/>
              </a:rPr>
              <a:t>i</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a:t>
            </a:r>
          </a:p>
          <a:p>
            <a:pPr marL="34290" indent="0" algn="just">
              <a:buNone/>
            </a:pPr>
            <a:r>
              <a:rPr lang="en-US" sz="2400" b="1" dirty="0">
                <a:solidFill>
                  <a:srgbClr val="CCCCCC"/>
                </a:solidFill>
                <a:latin typeface="Courier New" panose="02070309020205020404" pitchFamily="49" charset="0"/>
              </a:rPr>
              <a:t> </a:t>
            </a:r>
            <a:r>
              <a:rPr lang="en-US" sz="2400" b="1" i="0" dirty="0">
                <a:solidFill>
                  <a:srgbClr val="CCCCCC"/>
                </a:solidFill>
                <a:effectLst/>
                <a:latin typeface="Courier New" panose="02070309020205020404" pitchFamily="49" charset="0"/>
              </a:rPr>
              <a:t> scores[</a:t>
            </a:r>
            <a:r>
              <a:rPr lang="en-US" sz="2400" b="1" i="0" dirty="0" err="1">
                <a:solidFill>
                  <a:srgbClr val="CCCCCC"/>
                </a:solidFill>
                <a:effectLst/>
                <a:latin typeface="Courier New" panose="02070309020205020404" pitchFamily="49" charset="0"/>
              </a:rPr>
              <a:t>i</a:t>
            </a:r>
            <a:r>
              <a:rPr lang="en-US" sz="2400" b="1" i="0" dirty="0">
                <a:solidFill>
                  <a:srgbClr val="CCCCCC"/>
                </a:solidFill>
                <a:effectLst/>
                <a:latin typeface="Courier New" panose="02070309020205020404" pitchFamily="49" charset="0"/>
              </a:rPr>
              <a:t>]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new</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int</a:t>
            </a:r>
            <a:r>
              <a:rPr lang="en-US" sz="2400" b="1" i="0" dirty="0">
                <a:solidFill>
                  <a:srgbClr val="CCCCCC"/>
                </a:solidFill>
                <a:effectLst/>
                <a:latin typeface="Courier New" panose="02070309020205020404" pitchFamily="49" charset="0"/>
              </a:rPr>
              <a:t>[</a:t>
            </a:r>
            <a:r>
              <a:rPr lang="en-US" sz="2400" b="1" i="0" dirty="0">
                <a:solidFill>
                  <a:srgbClr val="F08D49"/>
                </a:solidFill>
                <a:effectLst/>
                <a:latin typeface="Courier New" panose="02070309020205020404" pitchFamily="49" charset="0"/>
              </a:rPr>
              <a:t>4</a:t>
            </a:r>
            <a:r>
              <a:rPr lang="en-US" sz="2400" b="1" i="0" dirty="0">
                <a:solidFill>
                  <a:srgbClr val="CCCCCC"/>
                </a:solidFill>
                <a:effectLst/>
                <a:latin typeface="Courier New" panose="02070309020205020404" pitchFamily="49" charset="0"/>
              </a:rPr>
              <a:t>]; </a:t>
            </a:r>
          </a:p>
          <a:p>
            <a:pPr marL="34290" indent="0" algn="just">
              <a:buNone/>
            </a:pPr>
            <a:r>
              <a:rPr lang="en-US" sz="2400" b="1" i="0" dirty="0">
                <a:solidFill>
                  <a:srgbClr val="CCCCCC"/>
                </a:solidFill>
                <a:effectLst/>
                <a:latin typeface="Courier New" panose="02070309020205020404" pitchFamily="49" charset="0"/>
              </a:rPr>
              <a:t>}</a:t>
            </a:r>
            <a:endParaRPr lang="ro-RO" sz="2400" b="1"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41654564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4087D-2ED0-0BB0-A314-A840A0EF45E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517665E-EDE7-AD06-E39E-A5AE104C238F}"/>
              </a:ext>
            </a:extLst>
          </p:cNvPr>
          <p:cNvSpPr>
            <a:spLocks noGrp="1"/>
          </p:cNvSpPr>
          <p:nvPr>
            <p:ph type="title"/>
          </p:nvPr>
        </p:nvSpPr>
        <p:spPr>
          <a:xfrm>
            <a:off x="463925" y="582705"/>
            <a:ext cx="7819465" cy="504265"/>
          </a:xfrm>
        </p:spPr>
        <p:txBody>
          <a:bodyPr>
            <a:noAutofit/>
          </a:bodyPr>
          <a:lstStyle/>
          <a:p>
            <a:r>
              <a:rPr lang="ro-RO" sz="3200" noProof="0" dirty="0"/>
              <a:t>C# - Cursul 9</a:t>
            </a:r>
          </a:p>
        </p:txBody>
      </p:sp>
      <p:sp>
        <p:nvSpPr>
          <p:cNvPr id="5" name="Content Placeholder 4">
            <a:extLst>
              <a:ext uri="{FF2B5EF4-FFF2-40B4-BE49-F238E27FC236}">
                <a16:creationId xmlns:a16="http://schemas.microsoft.com/office/drawing/2014/main" id="{AFEA8E60-2B9D-3367-A09F-0CB45D0C7681}"/>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Arrays</a:t>
            </a:r>
            <a:r>
              <a:rPr lang="ro-RO" sz="2800" noProof="0" dirty="0">
                <a:solidFill>
                  <a:srgbClr val="00B0F0"/>
                </a:solidFill>
              </a:rPr>
              <a:t> (tablouri) în C# - </a:t>
            </a:r>
            <a:r>
              <a:rPr lang="en-US" sz="2800" noProof="0" dirty="0">
                <a:solidFill>
                  <a:srgbClr val="00B0F0"/>
                </a:solidFill>
              </a:rPr>
              <a:t>jagged arrays</a:t>
            </a:r>
            <a:endParaRPr lang="ro-RO" sz="2800" noProof="0" dirty="0">
              <a:solidFill>
                <a:srgbClr val="00B0F0"/>
              </a:solidFill>
            </a:endParaRPr>
          </a:p>
          <a:p>
            <a:pPr marL="34290" indent="0" algn="just">
              <a:buNone/>
            </a:pPr>
            <a:r>
              <a:rPr lang="ro-RO" sz="2800" dirty="0">
                <a:solidFill>
                  <a:srgbClr val="00B0F0"/>
                </a:solidFill>
              </a:rPr>
              <a:t>Inițializarea tablourilor zimțate</a:t>
            </a:r>
          </a:p>
          <a:p>
            <a:pPr marL="34290" indent="0" algn="just">
              <a:buNone/>
            </a:pPr>
            <a:r>
              <a:rPr lang="ro-RO" sz="2800" dirty="0">
                <a:solidFill>
                  <a:srgbClr val="00B0F0"/>
                </a:solidFill>
              </a:rPr>
              <a:t>Un tablou zimțat poate fi inițializat prin furnizarea de valori pentru fiecare rând individual, numărul de elemente putând fi diferit în fiecare rând.</a:t>
            </a:r>
          </a:p>
          <a:p>
            <a:pPr marL="34290" indent="0" algn="just">
              <a:buNone/>
            </a:pPr>
            <a:r>
              <a:rPr lang="ro-RO" sz="2800" dirty="0">
                <a:solidFill>
                  <a:srgbClr val="00B0F0"/>
                </a:solidFill>
              </a:rPr>
              <a:t>Puteți inițializa un tablou zimțat </a:t>
            </a:r>
            <a:r>
              <a:rPr lang="en-US" sz="2800" dirty="0" err="1">
                <a:solidFill>
                  <a:srgbClr val="00B0F0"/>
                </a:solidFill>
              </a:rPr>
              <a:t>asa</a:t>
            </a:r>
            <a:r>
              <a:rPr lang="ro-RO" sz="2800" dirty="0">
                <a:solidFill>
                  <a:srgbClr val="00B0F0"/>
                </a:solidFill>
              </a:rPr>
              <a:t>:</a:t>
            </a:r>
            <a:endParaRPr lang="en-US" sz="2800" dirty="0">
              <a:solidFill>
                <a:srgbClr val="00B0F0"/>
              </a:solidFill>
            </a:endParaRPr>
          </a:p>
          <a:p>
            <a:pPr marL="34290" indent="0" algn="just">
              <a:buNone/>
            </a:pPr>
            <a:r>
              <a:rPr lang="en-US" sz="2400" b="1" i="0" dirty="0">
                <a:solidFill>
                  <a:srgbClr val="CC99CD"/>
                </a:solidFill>
                <a:effectLst/>
                <a:latin typeface="Courier New" panose="02070309020205020404" pitchFamily="49" charset="0"/>
              </a:rPr>
              <a:t>int</a:t>
            </a:r>
            <a:r>
              <a:rPr lang="en-US" sz="2400" b="1" i="0" dirty="0">
                <a:solidFill>
                  <a:srgbClr val="CCCCCC"/>
                </a:solidFill>
                <a:effectLst/>
                <a:latin typeface="Courier New" panose="02070309020205020404" pitchFamily="49" charset="0"/>
              </a:rPr>
              <a:t>[][] scores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new</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int</a:t>
            </a:r>
            <a:r>
              <a:rPr lang="en-US" sz="2400" b="1" i="0" dirty="0">
                <a:solidFill>
                  <a:srgbClr val="CCCCCC"/>
                </a:solidFill>
                <a:effectLst/>
                <a:latin typeface="Courier New" panose="02070309020205020404" pitchFamily="49" charset="0"/>
              </a:rPr>
              <a:t>[</a:t>
            </a:r>
            <a:r>
              <a:rPr lang="en-US" sz="2400" b="1" i="0" dirty="0">
                <a:solidFill>
                  <a:srgbClr val="F08D49"/>
                </a:solidFill>
                <a:effectLst/>
                <a:latin typeface="Courier New" panose="02070309020205020404" pitchFamily="49" charset="0"/>
              </a:rPr>
              <a:t>2</a:t>
            </a:r>
            <a:r>
              <a:rPr lang="en-US" sz="2400" b="1" i="0" dirty="0">
                <a:solidFill>
                  <a:srgbClr val="CCCCCC"/>
                </a:solidFill>
                <a:effectLst/>
                <a:latin typeface="Courier New" panose="02070309020205020404" pitchFamily="49" charset="0"/>
              </a:rPr>
              <a:t>][] { </a:t>
            </a:r>
          </a:p>
          <a:p>
            <a:pPr marL="34290" indent="0" algn="just">
              <a:buNone/>
            </a:pPr>
            <a:r>
              <a:rPr lang="en-US" sz="2400" b="1" dirty="0">
                <a:solidFill>
                  <a:srgbClr val="CCCCCC"/>
                </a:solidFill>
                <a:latin typeface="Courier New" panose="02070309020205020404" pitchFamily="49" charset="0"/>
              </a:rPr>
              <a:t>  </a:t>
            </a:r>
            <a:r>
              <a:rPr lang="en-US" sz="2400" b="1" i="0" dirty="0">
                <a:solidFill>
                  <a:srgbClr val="CC99CD"/>
                </a:solidFill>
                <a:effectLst/>
                <a:latin typeface="Courier New" panose="02070309020205020404" pitchFamily="49" charset="0"/>
              </a:rPr>
              <a:t>new</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int</a:t>
            </a:r>
            <a:r>
              <a:rPr lang="en-US" sz="2400" b="1" i="0" dirty="0">
                <a:solidFill>
                  <a:srgbClr val="CCCCCC"/>
                </a:solidFill>
                <a:effectLst/>
                <a:latin typeface="Courier New" panose="02070309020205020404" pitchFamily="49" charset="0"/>
              </a:rPr>
              <a:t>[] { </a:t>
            </a:r>
            <a:r>
              <a:rPr lang="en-US" sz="2400" b="1" i="0" dirty="0">
                <a:solidFill>
                  <a:srgbClr val="F08D49"/>
                </a:solidFill>
                <a:effectLst/>
                <a:latin typeface="Courier New" panose="02070309020205020404" pitchFamily="49" charset="0"/>
              </a:rPr>
              <a:t>92</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93</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94</a:t>
            </a:r>
            <a:r>
              <a:rPr lang="en-US" sz="2400" b="1" i="0" dirty="0">
                <a:solidFill>
                  <a:srgbClr val="CCCCCC"/>
                </a:solidFill>
                <a:effectLst/>
                <a:latin typeface="Courier New" panose="02070309020205020404" pitchFamily="49" charset="0"/>
              </a:rPr>
              <a:t> }, </a:t>
            </a:r>
          </a:p>
          <a:p>
            <a:pPr marL="34290" indent="0" algn="just">
              <a:buNone/>
            </a:pPr>
            <a:r>
              <a:rPr lang="en-US" sz="2400" b="1" dirty="0">
                <a:solidFill>
                  <a:srgbClr val="CCCCCC"/>
                </a:solidFill>
                <a:latin typeface="Courier New" panose="02070309020205020404" pitchFamily="49" charset="0"/>
              </a:rPr>
              <a:t>  </a:t>
            </a:r>
            <a:r>
              <a:rPr lang="en-US" sz="2400" b="1" i="0" dirty="0">
                <a:solidFill>
                  <a:srgbClr val="CC99CD"/>
                </a:solidFill>
                <a:effectLst/>
                <a:latin typeface="Courier New" panose="02070309020205020404" pitchFamily="49" charset="0"/>
              </a:rPr>
              <a:t>new</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int</a:t>
            </a:r>
            <a:r>
              <a:rPr lang="en-US" sz="2400" b="1" i="0" dirty="0">
                <a:solidFill>
                  <a:srgbClr val="CCCCCC"/>
                </a:solidFill>
                <a:effectLst/>
                <a:latin typeface="Courier New" panose="02070309020205020404" pitchFamily="49" charset="0"/>
              </a:rPr>
              <a:t>[] { </a:t>
            </a:r>
            <a:r>
              <a:rPr lang="en-US" sz="2400" b="1" i="0" dirty="0">
                <a:solidFill>
                  <a:srgbClr val="F08D49"/>
                </a:solidFill>
                <a:effectLst/>
                <a:latin typeface="Courier New" panose="02070309020205020404" pitchFamily="49" charset="0"/>
              </a:rPr>
              <a:t>85</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66</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87</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88</a:t>
            </a:r>
            <a:r>
              <a:rPr lang="en-US" sz="2400" b="1" i="0" dirty="0">
                <a:solidFill>
                  <a:srgbClr val="CCCCCC"/>
                </a:solidFill>
                <a:effectLst/>
                <a:latin typeface="Courier New" panose="02070309020205020404" pitchFamily="49" charset="0"/>
              </a:rPr>
              <a:t> } </a:t>
            </a:r>
          </a:p>
          <a:p>
            <a:pPr marL="34290" indent="0" algn="just">
              <a:buNone/>
            </a:pPr>
            <a:r>
              <a:rPr lang="en-US" sz="2400" b="1" i="0" dirty="0">
                <a:solidFill>
                  <a:srgbClr val="CCCCCC"/>
                </a:solidFill>
                <a:effectLst/>
                <a:latin typeface="Courier New" panose="02070309020205020404" pitchFamily="49" charset="0"/>
              </a:rPr>
              <a:t>};</a:t>
            </a:r>
            <a:endParaRPr lang="en-US" sz="2400" b="1"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23014938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4E40A-2974-8456-2560-9E9305986F9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8FC8F11-435A-F5E9-CAD5-3CEA22EADB12}"/>
              </a:ext>
            </a:extLst>
          </p:cNvPr>
          <p:cNvSpPr>
            <a:spLocks noGrp="1"/>
          </p:cNvSpPr>
          <p:nvPr>
            <p:ph type="title"/>
          </p:nvPr>
        </p:nvSpPr>
        <p:spPr>
          <a:xfrm>
            <a:off x="463925" y="582705"/>
            <a:ext cx="7819465" cy="504265"/>
          </a:xfrm>
        </p:spPr>
        <p:txBody>
          <a:bodyPr>
            <a:noAutofit/>
          </a:bodyPr>
          <a:lstStyle/>
          <a:p>
            <a:r>
              <a:rPr lang="ro-RO" sz="3200" noProof="0" dirty="0"/>
              <a:t>C# - Cursul 9</a:t>
            </a:r>
          </a:p>
        </p:txBody>
      </p:sp>
      <p:sp>
        <p:nvSpPr>
          <p:cNvPr id="5" name="Content Placeholder 4">
            <a:extLst>
              <a:ext uri="{FF2B5EF4-FFF2-40B4-BE49-F238E27FC236}">
                <a16:creationId xmlns:a16="http://schemas.microsoft.com/office/drawing/2014/main" id="{FF918F8B-51D5-5BD6-4E3B-308567E8F88A}"/>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Arrays</a:t>
            </a:r>
            <a:r>
              <a:rPr lang="ro-RO" sz="2800" noProof="0" dirty="0">
                <a:solidFill>
                  <a:srgbClr val="00B0F0"/>
                </a:solidFill>
              </a:rPr>
              <a:t> (tablouri) în C# - </a:t>
            </a:r>
            <a:r>
              <a:rPr lang="en-US" sz="2800" noProof="0" dirty="0">
                <a:solidFill>
                  <a:srgbClr val="00B0F0"/>
                </a:solidFill>
              </a:rPr>
              <a:t>jagged arrays </a:t>
            </a:r>
            <a:r>
              <a:rPr lang="en-US" sz="2800" noProof="0" dirty="0" err="1">
                <a:solidFill>
                  <a:srgbClr val="00B0F0"/>
                </a:solidFill>
              </a:rPr>
              <a:t>exemplu</a:t>
            </a:r>
            <a:endParaRPr lang="en-US" sz="2800" noProof="0" dirty="0">
              <a:solidFill>
                <a:srgbClr val="00B0F0"/>
              </a:solidFill>
            </a:endParaRPr>
          </a:p>
          <a:p>
            <a:pPr marL="34290" indent="0" algn="just">
              <a:buNone/>
            </a:pPr>
            <a:r>
              <a:rPr lang="en-US" sz="2000" b="1" i="0" dirty="0">
                <a:solidFill>
                  <a:srgbClr val="CC99CD"/>
                </a:solidFill>
                <a:effectLst/>
                <a:latin typeface="Courier New" panose="02070309020205020404" pitchFamily="49" charset="0"/>
              </a:rPr>
              <a:t>using</a:t>
            </a:r>
            <a:r>
              <a:rPr lang="en-US" sz="2000" b="1" i="0" dirty="0">
                <a:solidFill>
                  <a:srgbClr val="CCCCCC"/>
                </a:solidFill>
                <a:effectLst/>
                <a:latin typeface="Courier New" panose="02070309020205020404" pitchFamily="49" charset="0"/>
              </a:rPr>
              <a:t> System; </a:t>
            </a:r>
          </a:p>
          <a:p>
            <a:pPr marL="34290" indent="0" algn="just">
              <a:buNone/>
            </a:pPr>
            <a:r>
              <a:rPr lang="en-US" sz="2000" b="1" i="0" dirty="0">
                <a:solidFill>
                  <a:srgbClr val="CC99CD"/>
                </a:solidFill>
                <a:effectLst/>
                <a:latin typeface="Courier New" panose="02070309020205020404" pitchFamily="49" charset="0"/>
              </a:rPr>
              <a:t>namespace</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ArrayApplication</a:t>
            </a:r>
            <a:r>
              <a:rPr lang="en-US" sz="2000" b="1" i="0" dirty="0">
                <a:solidFill>
                  <a:srgbClr val="CCCCCC"/>
                </a:solidFill>
                <a:effectLst/>
                <a:latin typeface="Courier New" panose="02070309020205020404" pitchFamily="49" charset="0"/>
              </a:rPr>
              <a:t> { </a:t>
            </a:r>
          </a:p>
          <a:p>
            <a:pPr marL="34290" indent="0" algn="just">
              <a:buNone/>
            </a:pPr>
            <a:r>
              <a:rPr lang="en-US" sz="2000" b="1" i="0" dirty="0">
                <a:solidFill>
                  <a:srgbClr val="CC99CD"/>
                </a:solidFill>
                <a:effectLst/>
                <a:latin typeface="Courier New" panose="02070309020205020404" pitchFamily="49" charset="0"/>
              </a:rPr>
              <a:t>class</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MyArray</a:t>
            </a:r>
            <a:r>
              <a:rPr lang="en-US" sz="2000" b="1" i="0" dirty="0">
                <a:solidFill>
                  <a:srgbClr val="CCCCCC"/>
                </a:solidFill>
                <a:effectLst/>
                <a:latin typeface="Courier New" panose="02070309020205020404" pitchFamily="49" charset="0"/>
              </a:rPr>
              <a:t> {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99CD"/>
                </a:solidFill>
                <a:effectLst/>
                <a:latin typeface="Courier New" panose="02070309020205020404" pitchFamily="49" charset="0"/>
              </a:rPr>
              <a:t>static</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void</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Main</a:t>
            </a:r>
            <a:r>
              <a:rPr lang="en-US" sz="2000" b="1" i="0" dirty="0">
                <a:solidFill>
                  <a:srgbClr val="CCCCCC"/>
                </a:solidFill>
                <a:effectLst/>
                <a:latin typeface="Courier New" panose="02070309020205020404" pitchFamily="49" charset="0"/>
              </a:rPr>
              <a:t>(</a:t>
            </a:r>
            <a:r>
              <a:rPr lang="en-US" sz="2000" b="1" i="0" dirty="0">
                <a:solidFill>
                  <a:srgbClr val="CC99CD"/>
                </a:solidFill>
                <a:effectLst/>
                <a:latin typeface="Courier New" panose="02070309020205020404" pitchFamily="49" charset="0"/>
              </a:rPr>
              <a:t>string</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args</a:t>
            </a:r>
            <a:r>
              <a:rPr lang="en-US" sz="2000" b="1" i="0" dirty="0">
                <a:solidFill>
                  <a:srgbClr val="CCCCCC"/>
                </a:solidFill>
                <a:effectLst/>
                <a:latin typeface="Courier New" panose="02070309020205020404" pitchFamily="49" charset="0"/>
              </a:rPr>
              <a:t>) { </a:t>
            </a:r>
          </a:p>
          <a:p>
            <a:pPr marL="34290" indent="0">
              <a:buNone/>
            </a:pP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int</a:t>
            </a:r>
            <a:r>
              <a:rPr lang="en-US" sz="2000" b="1" i="0" dirty="0">
                <a:solidFill>
                  <a:srgbClr val="CCCCCC"/>
                </a:solidFill>
                <a:effectLst/>
                <a:latin typeface="Courier New" panose="02070309020205020404" pitchFamily="49" charset="0"/>
              </a:rPr>
              <a:t>[][] a </a:t>
            </a:r>
            <a:r>
              <a:rPr lang="en-US" sz="2000" b="1" i="0" dirty="0">
                <a:solidFill>
                  <a:srgbClr val="67CDCC"/>
                </a:solidFill>
                <a:effectLst/>
                <a:latin typeface="Courier New" panose="02070309020205020404" pitchFamily="49" charset="0"/>
              </a:rPr>
              <a:t>=</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new</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int</a:t>
            </a:r>
            <a:r>
              <a:rPr lang="en-US" sz="2000" b="1" i="0" dirty="0">
                <a:solidFill>
                  <a:srgbClr val="CCCCCC"/>
                </a:solidFill>
                <a:effectLst/>
                <a:latin typeface="Courier New" panose="02070309020205020404" pitchFamily="49" charset="0"/>
              </a:rPr>
              <a:t>[][]{</a:t>
            </a:r>
            <a:r>
              <a:rPr lang="en-US" sz="2000" b="1" i="0" dirty="0">
                <a:solidFill>
                  <a:srgbClr val="CC99CD"/>
                </a:solidFill>
                <a:effectLst/>
                <a:latin typeface="Courier New" panose="02070309020205020404" pitchFamily="49" charset="0"/>
              </a:rPr>
              <a:t>new</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int</a:t>
            </a:r>
            <a:r>
              <a:rPr lang="en-US" sz="2000" b="1" i="0" dirty="0">
                <a:solidFill>
                  <a:srgbClr val="CCCCCC"/>
                </a:solidFill>
                <a:effectLst/>
                <a:latin typeface="Courier New" panose="02070309020205020404" pitchFamily="49" charset="0"/>
              </a:rPr>
              <a:t>[]{</a:t>
            </a:r>
            <a:r>
              <a:rPr lang="en-US" sz="2000" b="1" i="0" dirty="0">
                <a:solidFill>
                  <a:srgbClr val="F08D49"/>
                </a:solidFill>
                <a:effectLst/>
                <a:latin typeface="Courier New" panose="02070309020205020404" pitchFamily="49" charset="0"/>
              </a:rPr>
              <a:t>0</a:t>
            </a:r>
            <a:r>
              <a:rPr lang="en-US" sz="2000" b="1" i="0" dirty="0">
                <a:solidFill>
                  <a:srgbClr val="CCCCCC"/>
                </a:solidFill>
                <a:effectLst/>
                <a:latin typeface="Courier New" panose="02070309020205020404" pitchFamily="49" charset="0"/>
              </a:rPr>
              <a:t>,</a:t>
            </a:r>
            <a:r>
              <a:rPr lang="en-US" sz="2000" b="1" i="0" dirty="0">
                <a:solidFill>
                  <a:srgbClr val="F08D49"/>
                </a:solidFill>
                <a:effectLst/>
                <a:latin typeface="Courier New" panose="02070309020205020404" pitchFamily="49" charset="0"/>
              </a:rPr>
              <a:t>0</a:t>
            </a:r>
            <a:r>
              <a:rPr lang="en-US" sz="2000" b="1" i="0" dirty="0">
                <a:solidFill>
                  <a:srgbClr val="CCCCCC"/>
                </a:solidFill>
                <a:effectLst/>
                <a:latin typeface="Courier New" panose="02070309020205020404" pitchFamily="49" charset="0"/>
              </a:rPr>
              <a:t>},</a:t>
            </a:r>
            <a:r>
              <a:rPr lang="en-US" sz="2000" b="1" i="0" dirty="0">
                <a:solidFill>
                  <a:srgbClr val="CC99CD"/>
                </a:solidFill>
                <a:effectLst/>
                <a:latin typeface="Courier New" panose="02070309020205020404" pitchFamily="49" charset="0"/>
              </a:rPr>
              <a:t>new</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int</a:t>
            </a:r>
            <a:r>
              <a:rPr lang="en-US" sz="2000" b="1" i="0" dirty="0">
                <a:solidFill>
                  <a:srgbClr val="CCCCCC"/>
                </a:solidFill>
                <a:effectLst/>
                <a:latin typeface="Courier New" panose="02070309020205020404" pitchFamily="49" charset="0"/>
              </a:rPr>
              <a:t>[]{</a:t>
            </a:r>
            <a:r>
              <a:rPr lang="en-US" sz="2000" b="1" i="0" dirty="0">
                <a:solidFill>
                  <a:srgbClr val="F08D49"/>
                </a:solidFill>
                <a:effectLst/>
                <a:latin typeface="Courier New" panose="02070309020205020404" pitchFamily="49" charset="0"/>
              </a:rPr>
              <a:t>1</a:t>
            </a:r>
            <a:r>
              <a:rPr lang="en-US" sz="2000" b="1" i="0" dirty="0">
                <a:solidFill>
                  <a:srgbClr val="CCCCCC"/>
                </a:solidFill>
                <a:effectLst/>
                <a:latin typeface="Courier New" panose="02070309020205020404" pitchFamily="49" charset="0"/>
              </a:rPr>
              <a:t>,</a:t>
            </a:r>
            <a:r>
              <a:rPr lang="en-US" sz="2000" b="1" i="0" dirty="0">
                <a:solidFill>
                  <a:srgbClr val="F08D49"/>
                </a:solidFill>
                <a:effectLst/>
                <a:latin typeface="Courier New" panose="02070309020205020404" pitchFamily="49" charset="0"/>
              </a:rPr>
              <a:t>2</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new</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int</a:t>
            </a:r>
            <a:r>
              <a:rPr lang="en-US" sz="2000" b="1" i="0" dirty="0">
                <a:solidFill>
                  <a:srgbClr val="CCCCCC"/>
                </a:solidFill>
                <a:effectLst/>
                <a:latin typeface="Courier New" panose="02070309020205020404" pitchFamily="49" charset="0"/>
              </a:rPr>
              <a:t>[]{</a:t>
            </a:r>
            <a:r>
              <a:rPr lang="en-US" sz="2000" b="1" i="0" dirty="0">
                <a:solidFill>
                  <a:srgbClr val="F08D49"/>
                </a:solidFill>
                <a:effectLst/>
                <a:latin typeface="Courier New" panose="02070309020205020404" pitchFamily="49" charset="0"/>
              </a:rPr>
              <a:t>2</a:t>
            </a:r>
            <a:r>
              <a:rPr lang="en-US" sz="2000" b="1" i="0" dirty="0">
                <a:solidFill>
                  <a:srgbClr val="CCCCCC"/>
                </a:solidFill>
                <a:effectLst/>
                <a:latin typeface="Courier New" panose="02070309020205020404" pitchFamily="49" charset="0"/>
              </a:rPr>
              <a:t>,</a:t>
            </a:r>
            <a:r>
              <a:rPr lang="en-US" sz="2000" b="1" i="0" dirty="0">
                <a:solidFill>
                  <a:srgbClr val="F08D49"/>
                </a:solidFill>
                <a:effectLst/>
                <a:latin typeface="Courier New" panose="02070309020205020404" pitchFamily="49" charset="0"/>
              </a:rPr>
              <a:t>4</a:t>
            </a:r>
            <a:r>
              <a:rPr lang="en-US" sz="2000" b="1" i="0" dirty="0">
                <a:solidFill>
                  <a:srgbClr val="CCCCCC"/>
                </a:solidFill>
                <a:effectLst/>
                <a:latin typeface="Courier New" panose="02070309020205020404" pitchFamily="49" charset="0"/>
              </a:rPr>
              <a:t>},</a:t>
            </a:r>
            <a:r>
              <a:rPr lang="en-US" sz="2000" b="1" i="0" dirty="0">
                <a:solidFill>
                  <a:srgbClr val="CC99CD"/>
                </a:solidFill>
                <a:effectLst/>
                <a:latin typeface="Courier New" panose="02070309020205020404" pitchFamily="49" charset="0"/>
              </a:rPr>
              <a:t>new</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int</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3</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6</a:t>
            </a:r>
            <a:r>
              <a:rPr lang="en-US" sz="2000" b="1" i="0" dirty="0">
                <a:solidFill>
                  <a:srgbClr val="CCCCCC"/>
                </a:solidFill>
                <a:effectLst/>
                <a:latin typeface="Courier New" panose="02070309020205020404" pitchFamily="49" charset="0"/>
              </a:rPr>
              <a:t> }, </a:t>
            </a:r>
            <a:r>
              <a:rPr lang="en-US" sz="2000" b="1" i="0" dirty="0">
                <a:solidFill>
                  <a:srgbClr val="CC99CD"/>
                </a:solidFill>
                <a:effectLst/>
                <a:latin typeface="Courier New" panose="02070309020205020404" pitchFamily="49" charset="0"/>
              </a:rPr>
              <a:t>new</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int</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4</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8</a:t>
            </a:r>
            <a:r>
              <a:rPr lang="en-US" sz="2000" b="1" i="0" dirty="0">
                <a:solidFill>
                  <a:srgbClr val="CCCCCC"/>
                </a:solidFill>
                <a:effectLst/>
                <a:latin typeface="Courier New" panose="02070309020205020404" pitchFamily="49" charset="0"/>
              </a:rPr>
              <a:t> } };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99CD"/>
                </a:solidFill>
                <a:effectLst/>
                <a:latin typeface="Courier New" panose="02070309020205020404" pitchFamily="49" charset="0"/>
              </a:rPr>
              <a:t>for</a:t>
            </a:r>
            <a:r>
              <a:rPr lang="en-US" sz="2000" b="1" i="0" dirty="0">
                <a:solidFill>
                  <a:srgbClr val="CCCCCC"/>
                </a:solidFill>
                <a:effectLst/>
                <a:latin typeface="Courier New" panose="02070309020205020404" pitchFamily="49" charset="0"/>
              </a:rPr>
              <a:t> (int </a:t>
            </a:r>
            <a:r>
              <a:rPr lang="en-US" sz="2000" b="1" i="0" dirty="0" err="1">
                <a:solidFill>
                  <a:srgbClr val="CCCCCC"/>
                </a:solidFill>
                <a:effectLst/>
                <a:latin typeface="Courier New" panose="02070309020205020404" pitchFamily="49" charset="0"/>
              </a:rPr>
              <a:t>i</a:t>
            </a:r>
            <a:r>
              <a:rPr lang="en-US" sz="2000" b="1" i="0" dirty="0">
                <a:solidFill>
                  <a:srgbClr val="CCCCCC"/>
                </a:solidFill>
                <a:effectLst/>
                <a:latin typeface="Courier New" panose="02070309020205020404" pitchFamily="49" charset="0"/>
              </a:rPr>
              <a:t> </a:t>
            </a:r>
            <a:r>
              <a:rPr lang="en-US" sz="2000" b="1" i="0" dirty="0">
                <a:solidFill>
                  <a:srgbClr val="67CDCC"/>
                </a:solidFill>
                <a:effectLst/>
                <a:latin typeface="Courier New" panose="02070309020205020404" pitchFamily="49" charset="0"/>
              </a:rPr>
              <a:t>=</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0</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i</a:t>
            </a:r>
            <a:r>
              <a:rPr lang="en-US" sz="2000" b="1" i="0" dirty="0">
                <a:solidFill>
                  <a:srgbClr val="CCCCCC"/>
                </a:solidFill>
                <a:effectLst/>
                <a:latin typeface="Courier New" panose="02070309020205020404" pitchFamily="49" charset="0"/>
              </a:rPr>
              <a:t> </a:t>
            </a:r>
            <a:r>
              <a:rPr lang="en-US" sz="2000" b="1" i="0" dirty="0">
                <a:solidFill>
                  <a:srgbClr val="67CDCC"/>
                </a:solidFill>
                <a:effectLst/>
                <a:latin typeface="Courier New" panose="02070309020205020404" pitchFamily="49" charset="0"/>
              </a:rPr>
              <a:t>&lt;</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5</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i</a:t>
            </a:r>
            <a:r>
              <a:rPr lang="en-US" sz="2000" b="1" i="0" dirty="0">
                <a:solidFill>
                  <a:srgbClr val="67CDCC"/>
                </a:solidFill>
                <a:effectLst/>
                <a:latin typeface="Courier New" panose="02070309020205020404" pitchFamily="49" charset="0"/>
              </a:rPr>
              <a:t>++</a:t>
            </a:r>
            <a:r>
              <a:rPr lang="en-US" sz="2000" b="1" i="0" dirty="0">
                <a:solidFill>
                  <a:srgbClr val="CCCCCC"/>
                </a:solidFill>
                <a:effectLst/>
                <a:latin typeface="Courier New" panose="02070309020205020404" pitchFamily="49" charset="0"/>
              </a:rPr>
              <a:t>) {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99CD"/>
                </a:solidFill>
                <a:effectLst/>
                <a:latin typeface="Courier New" panose="02070309020205020404" pitchFamily="49" charset="0"/>
              </a:rPr>
              <a:t>for</a:t>
            </a:r>
            <a:r>
              <a:rPr lang="en-US" sz="2000" b="1" i="0" dirty="0">
                <a:solidFill>
                  <a:srgbClr val="CCCCCC"/>
                </a:solidFill>
                <a:effectLst/>
                <a:latin typeface="Courier New" panose="02070309020205020404" pitchFamily="49" charset="0"/>
              </a:rPr>
              <a:t> (int j </a:t>
            </a:r>
            <a:r>
              <a:rPr lang="en-US" sz="2000" b="1" i="0" dirty="0">
                <a:solidFill>
                  <a:srgbClr val="67CDCC"/>
                </a:solidFill>
                <a:effectLst/>
                <a:latin typeface="Courier New" panose="02070309020205020404" pitchFamily="49" charset="0"/>
              </a:rPr>
              <a:t>=</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0</a:t>
            </a:r>
            <a:r>
              <a:rPr lang="en-US" sz="2000" b="1" i="0" dirty="0">
                <a:solidFill>
                  <a:srgbClr val="CCCCCC"/>
                </a:solidFill>
                <a:effectLst/>
                <a:latin typeface="Courier New" panose="02070309020205020404" pitchFamily="49" charset="0"/>
              </a:rPr>
              <a:t>; j </a:t>
            </a:r>
            <a:r>
              <a:rPr lang="en-US" sz="2000" b="1" i="0" dirty="0">
                <a:solidFill>
                  <a:srgbClr val="67CDCC"/>
                </a:solidFill>
                <a:effectLst/>
                <a:latin typeface="Courier New" panose="02070309020205020404" pitchFamily="49" charset="0"/>
              </a:rPr>
              <a:t>&lt;</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2</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j</a:t>
            </a:r>
            <a:r>
              <a:rPr lang="en-US" sz="2000" b="1" i="0" dirty="0" err="1">
                <a:solidFill>
                  <a:srgbClr val="67CDCC"/>
                </a:solidFill>
                <a:effectLst/>
                <a:latin typeface="Courier New" panose="02070309020205020404" pitchFamily="49" charset="0"/>
              </a:rPr>
              <a:t>++</a:t>
            </a:r>
            <a:r>
              <a:rPr lang="en-US" sz="2000" b="1" i="0" dirty="0">
                <a:solidFill>
                  <a:srgbClr val="CCCCCC"/>
                </a:solidFill>
                <a:effectLst/>
                <a:latin typeface="Courier New" panose="02070309020205020404" pitchFamily="49" charset="0"/>
              </a:rPr>
              <a:t>)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Console.</a:t>
            </a:r>
            <a:r>
              <a:rPr lang="en-US" sz="2000" b="1" i="0" dirty="0" err="1">
                <a:solidFill>
                  <a:srgbClr val="F08D49"/>
                </a:solidFill>
                <a:effectLst/>
                <a:latin typeface="Courier New" panose="02070309020205020404" pitchFamily="49" charset="0"/>
              </a:rPr>
              <a:t>WriteLine</a:t>
            </a:r>
            <a:r>
              <a:rPr lang="en-US" sz="2000" b="1" i="0" dirty="0">
                <a:solidFill>
                  <a:srgbClr val="CCCCCC"/>
                </a:solidFill>
                <a:effectLst/>
                <a:latin typeface="Courier New" panose="02070309020205020404" pitchFamily="49" charset="0"/>
              </a:rPr>
              <a:t>(</a:t>
            </a:r>
            <a:r>
              <a:rPr lang="en-US" sz="2000" b="1" i="0" dirty="0">
                <a:solidFill>
                  <a:srgbClr val="7EC699"/>
                </a:solidFill>
                <a:effectLst/>
                <a:latin typeface="Courier New" panose="02070309020205020404" pitchFamily="49" charset="0"/>
              </a:rPr>
              <a:t>"a[{0}][{1}] = {2}"</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i</a:t>
            </a:r>
            <a:r>
              <a:rPr lang="en-US" sz="2000" b="1" i="0" dirty="0">
                <a:solidFill>
                  <a:srgbClr val="CCCCCC"/>
                </a:solidFill>
                <a:effectLst/>
                <a:latin typeface="Courier New" panose="02070309020205020404" pitchFamily="49" charset="0"/>
              </a:rPr>
              <a:t>, j, a[</a:t>
            </a:r>
            <a:r>
              <a:rPr lang="en-US" sz="2000" b="1" i="0" dirty="0" err="1">
                <a:solidFill>
                  <a:srgbClr val="CCCCCC"/>
                </a:solidFill>
                <a:effectLst/>
                <a:latin typeface="Courier New" panose="02070309020205020404" pitchFamily="49" charset="0"/>
              </a:rPr>
              <a:t>i</a:t>
            </a:r>
            <a:r>
              <a:rPr lang="en-US" sz="2000" b="1" i="0" dirty="0">
                <a:solidFill>
                  <a:srgbClr val="CCCCCC"/>
                </a:solidFill>
                <a:effectLst/>
                <a:latin typeface="Courier New" panose="02070309020205020404" pitchFamily="49" charset="0"/>
              </a:rPr>
              <a:t>][j]);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 }</a:t>
            </a:r>
          </a:p>
          <a:p>
            <a:pPr marL="34290" indent="0" algn="just">
              <a:buNone/>
            </a:pPr>
            <a:r>
              <a:rPr lang="en-US" sz="2000" b="1" i="0" dirty="0">
                <a:solidFill>
                  <a:srgbClr val="CCCCCC"/>
                </a:solidFill>
                <a:effectLst/>
                <a:latin typeface="Courier New" panose="02070309020205020404" pitchFamily="49" charset="0"/>
              </a:rPr>
              <a:t>}</a:t>
            </a:r>
          </a:p>
          <a:p>
            <a:pPr marL="34290" indent="0" algn="just">
              <a:buNone/>
            </a:pPr>
            <a:r>
              <a:rPr lang="en-US" sz="2000" b="1" i="0" dirty="0">
                <a:solidFill>
                  <a:srgbClr val="CCCCCC"/>
                </a:solidFill>
                <a:effectLst/>
                <a:latin typeface="Courier New" panose="02070309020205020404" pitchFamily="49" charset="0"/>
              </a:rPr>
              <a:t>}</a:t>
            </a:r>
            <a:endParaRPr lang="ro-RO" sz="2000" b="1"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13925000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D6087-14BB-A6FC-52F5-D93A5024255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FFCAEDC-F9CB-EA77-C8B3-C785B66C1D35}"/>
              </a:ext>
            </a:extLst>
          </p:cNvPr>
          <p:cNvSpPr>
            <a:spLocks noGrp="1"/>
          </p:cNvSpPr>
          <p:nvPr>
            <p:ph type="title"/>
          </p:nvPr>
        </p:nvSpPr>
        <p:spPr>
          <a:xfrm>
            <a:off x="463925" y="582705"/>
            <a:ext cx="7819465" cy="504265"/>
          </a:xfrm>
        </p:spPr>
        <p:txBody>
          <a:bodyPr>
            <a:noAutofit/>
          </a:bodyPr>
          <a:lstStyle/>
          <a:p>
            <a:r>
              <a:rPr lang="ro-RO" sz="3200" noProof="0" dirty="0"/>
              <a:t>C# - Cursul 9</a:t>
            </a:r>
          </a:p>
        </p:txBody>
      </p:sp>
      <p:sp>
        <p:nvSpPr>
          <p:cNvPr id="5" name="Content Placeholder 4">
            <a:extLst>
              <a:ext uri="{FF2B5EF4-FFF2-40B4-BE49-F238E27FC236}">
                <a16:creationId xmlns:a16="http://schemas.microsoft.com/office/drawing/2014/main" id="{1C351BDD-EC5A-4979-B007-797FC2B7670F}"/>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Arrays</a:t>
            </a:r>
            <a:r>
              <a:rPr lang="ro-RO" sz="2800" noProof="0" dirty="0">
                <a:solidFill>
                  <a:srgbClr val="00B0F0"/>
                </a:solidFill>
              </a:rPr>
              <a:t> (tablouri) în C# - </a:t>
            </a:r>
            <a:r>
              <a:rPr lang="en-US" sz="2800" noProof="0" dirty="0">
                <a:solidFill>
                  <a:srgbClr val="00B0F0"/>
                </a:solidFill>
              </a:rPr>
              <a:t>jagged arrays </a:t>
            </a:r>
            <a:r>
              <a:rPr lang="en-US" sz="2800" noProof="0" dirty="0" err="1">
                <a:solidFill>
                  <a:srgbClr val="00B0F0"/>
                </a:solidFill>
              </a:rPr>
              <a:t>parcurgere</a:t>
            </a:r>
            <a:endParaRPr lang="en-US" sz="2800" noProof="0" dirty="0">
              <a:solidFill>
                <a:srgbClr val="00B0F0"/>
              </a:solidFill>
            </a:endParaRPr>
          </a:p>
          <a:p>
            <a:pPr marL="34290" indent="0" algn="just">
              <a:buNone/>
            </a:pPr>
            <a:r>
              <a:rPr lang="en-US" sz="1800" b="1" i="0" dirty="0">
                <a:solidFill>
                  <a:srgbClr val="CC99CD"/>
                </a:solidFill>
                <a:effectLst/>
                <a:latin typeface="Courier New" panose="02070309020205020404" pitchFamily="49" charset="0"/>
              </a:rPr>
              <a:t>using</a:t>
            </a:r>
            <a:r>
              <a:rPr lang="en-US" sz="1800" b="1" i="0" dirty="0">
                <a:solidFill>
                  <a:srgbClr val="CCCCCC"/>
                </a:solidFill>
                <a:effectLst/>
                <a:latin typeface="Courier New" panose="02070309020205020404" pitchFamily="49" charset="0"/>
              </a:rPr>
              <a:t> System; </a:t>
            </a:r>
          </a:p>
          <a:p>
            <a:pPr marL="34290" indent="0" algn="just">
              <a:buNone/>
            </a:pPr>
            <a:r>
              <a:rPr lang="en-US" sz="1800" b="1" i="0" dirty="0">
                <a:solidFill>
                  <a:srgbClr val="CC99CD"/>
                </a:solidFill>
                <a:effectLst/>
                <a:latin typeface="Courier New" panose="02070309020205020404" pitchFamily="49" charset="0"/>
              </a:rPr>
              <a:t>class</a:t>
            </a:r>
            <a:r>
              <a:rPr lang="en-US" sz="1800" b="1" i="0" dirty="0">
                <a:solidFill>
                  <a:srgbClr val="CCCCCC"/>
                </a:solidFill>
                <a:effectLst/>
                <a:latin typeface="Courier New" panose="02070309020205020404" pitchFamily="49" charset="0"/>
              </a:rPr>
              <a:t> Program { </a:t>
            </a:r>
          </a:p>
          <a:p>
            <a:pPr marL="34290" indent="0" algn="just">
              <a:buNone/>
            </a:pPr>
            <a:r>
              <a:rPr lang="en-US" sz="1800" b="1" dirty="0">
                <a:solidFill>
                  <a:srgbClr val="CCCCCC"/>
                </a:solidFill>
                <a:latin typeface="Courier New" panose="02070309020205020404" pitchFamily="49" charset="0"/>
              </a:rPr>
              <a:t>  </a:t>
            </a:r>
            <a:r>
              <a:rPr lang="en-US" sz="1800" b="1" i="0" dirty="0">
                <a:solidFill>
                  <a:srgbClr val="CC99CD"/>
                </a:solidFill>
                <a:effectLst/>
                <a:latin typeface="Courier New" panose="02070309020205020404" pitchFamily="49" charset="0"/>
              </a:rPr>
              <a:t>static</a:t>
            </a:r>
            <a:r>
              <a:rPr lang="en-US" sz="1800" b="1" i="0" dirty="0">
                <a:solidFill>
                  <a:srgbClr val="CCCCCC"/>
                </a:solidFill>
                <a:effectLst/>
                <a:latin typeface="Courier New" panose="02070309020205020404" pitchFamily="49" charset="0"/>
              </a:rPr>
              <a:t> </a:t>
            </a:r>
            <a:r>
              <a:rPr lang="en-US" sz="1800" b="1" i="0" dirty="0">
                <a:solidFill>
                  <a:srgbClr val="CC99CD"/>
                </a:solidFill>
                <a:effectLst/>
                <a:latin typeface="Courier New" panose="02070309020205020404" pitchFamily="49" charset="0"/>
              </a:rPr>
              <a:t>void</a:t>
            </a:r>
            <a:r>
              <a:rPr lang="en-US" sz="1800" b="1" i="0" dirty="0">
                <a:solidFill>
                  <a:srgbClr val="CCCCCC"/>
                </a:solidFill>
                <a:effectLst/>
                <a:latin typeface="Courier New" panose="02070309020205020404" pitchFamily="49" charset="0"/>
              </a:rPr>
              <a:t> </a:t>
            </a:r>
            <a:r>
              <a:rPr lang="en-US" sz="1800" b="1" i="0" dirty="0">
                <a:solidFill>
                  <a:srgbClr val="F08D49"/>
                </a:solidFill>
                <a:effectLst/>
                <a:latin typeface="Courier New" panose="02070309020205020404" pitchFamily="49" charset="0"/>
              </a:rPr>
              <a:t>Main</a:t>
            </a:r>
            <a:r>
              <a:rPr lang="en-US" sz="1800" b="1" i="0" dirty="0">
                <a:solidFill>
                  <a:srgbClr val="CCCCCC"/>
                </a:solidFill>
                <a:effectLst/>
                <a:latin typeface="Courier New" panose="02070309020205020404" pitchFamily="49" charset="0"/>
              </a:rPr>
              <a:t>() { </a:t>
            </a:r>
          </a:p>
          <a:p>
            <a:pPr marL="34290" indent="0" algn="just">
              <a:buNone/>
            </a:pPr>
            <a:r>
              <a:rPr lang="en-US" sz="1800" b="1" dirty="0">
                <a:solidFill>
                  <a:srgbClr val="CCCCCC"/>
                </a:solidFill>
                <a:latin typeface="Courier New" panose="02070309020205020404" pitchFamily="49" charset="0"/>
              </a:rPr>
              <a:t>    </a:t>
            </a:r>
            <a:r>
              <a:rPr lang="en-US" sz="1800" b="1" i="0" dirty="0">
                <a:solidFill>
                  <a:srgbClr val="CC99CD"/>
                </a:solidFill>
                <a:effectLst/>
                <a:latin typeface="Courier New" panose="02070309020205020404" pitchFamily="49" charset="0"/>
              </a:rPr>
              <a:t>int</a:t>
            </a:r>
            <a:r>
              <a:rPr lang="en-US" sz="1800" b="1" i="0" dirty="0">
                <a:solidFill>
                  <a:srgbClr val="CCCCCC"/>
                </a:solidFill>
                <a:effectLst/>
                <a:latin typeface="Courier New" panose="02070309020205020404" pitchFamily="49" charset="0"/>
              </a:rPr>
              <a:t>[][] </a:t>
            </a:r>
            <a:r>
              <a:rPr lang="en-US" sz="1800" b="1" i="0" dirty="0" err="1">
                <a:solidFill>
                  <a:srgbClr val="CCCCCC"/>
                </a:solidFill>
                <a:effectLst/>
                <a:latin typeface="Courier New" panose="02070309020205020404" pitchFamily="49" charset="0"/>
              </a:rPr>
              <a:t>jaggedArray</a:t>
            </a:r>
            <a:r>
              <a:rPr lang="en-US" sz="1800" b="1" i="0" dirty="0">
                <a:solidFill>
                  <a:srgbClr val="CCCCCC"/>
                </a:solidFill>
                <a:effectLst/>
                <a:latin typeface="Courier New" panose="02070309020205020404" pitchFamily="49" charset="0"/>
              </a:rPr>
              <a:t> </a:t>
            </a:r>
            <a:r>
              <a:rPr lang="en-US" sz="1800" b="1" i="0" dirty="0">
                <a:solidFill>
                  <a:srgbClr val="67CDCC"/>
                </a:solidFill>
                <a:effectLst/>
                <a:latin typeface="Courier New" panose="02070309020205020404" pitchFamily="49" charset="0"/>
              </a:rPr>
              <a:t>=</a:t>
            </a:r>
            <a:r>
              <a:rPr lang="en-US" sz="1800" b="1" i="0" dirty="0">
                <a:solidFill>
                  <a:srgbClr val="CCCCCC"/>
                </a:solidFill>
                <a:effectLst/>
                <a:latin typeface="Courier New" panose="02070309020205020404" pitchFamily="49" charset="0"/>
              </a:rPr>
              <a:t> </a:t>
            </a:r>
            <a:r>
              <a:rPr lang="en-US" sz="1800" b="1" i="0" dirty="0">
                <a:solidFill>
                  <a:srgbClr val="CC99CD"/>
                </a:solidFill>
                <a:effectLst/>
                <a:latin typeface="Courier New" panose="02070309020205020404" pitchFamily="49" charset="0"/>
              </a:rPr>
              <a:t>new</a:t>
            </a:r>
            <a:r>
              <a:rPr lang="en-US" sz="1800" b="1" i="0" dirty="0">
                <a:solidFill>
                  <a:srgbClr val="CCCCCC"/>
                </a:solidFill>
                <a:effectLst/>
                <a:latin typeface="Courier New" panose="02070309020205020404" pitchFamily="49" charset="0"/>
              </a:rPr>
              <a:t> </a:t>
            </a:r>
            <a:r>
              <a:rPr lang="en-US" sz="1800" b="1" i="0" dirty="0">
                <a:solidFill>
                  <a:srgbClr val="CC99CD"/>
                </a:solidFill>
                <a:effectLst/>
                <a:latin typeface="Courier New" panose="02070309020205020404" pitchFamily="49" charset="0"/>
              </a:rPr>
              <a:t>int</a:t>
            </a:r>
            <a:r>
              <a:rPr lang="en-US" sz="1800" b="1" i="0" dirty="0">
                <a:solidFill>
                  <a:srgbClr val="CCCCCC"/>
                </a:solidFill>
                <a:effectLst/>
                <a:latin typeface="Courier New" panose="02070309020205020404" pitchFamily="49" charset="0"/>
              </a:rPr>
              <a:t>[][] { </a:t>
            </a:r>
          </a:p>
          <a:p>
            <a:pPr marL="34290" indent="0" algn="just">
              <a:buNone/>
            </a:pPr>
            <a:r>
              <a:rPr lang="en-US" sz="1800" b="1" dirty="0">
                <a:solidFill>
                  <a:srgbClr val="CCCCCC"/>
                </a:solidFill>
                <a:latin typeface="Courier New" panose="02070309020205020404" pitchFamily="49" charset="0"/>
              </a:rPr>
              <a:t>      </a:t>
            </a:r>
            <a:r>
              <a:rPr lang="en-US" sz="1800" b="1" i="0" dirty="0">
                <a:solidFill>
                  <a:srgbClr val="CC99CD"/>
                </a:solidFill>
                <a:effectLst/>
                <a:latin typeface="Courier New" panose="02070309020205020404" pitchFamily="49" charset="0"/>
              </a:rPr>
              <a:t>new</a:t>
            </a:r>
            <a:r>
              <a:rPr lang="en-US" sz="1800" b="1" i="0" dirty="0">
                <a:solidFill>
                  <a:srgbClr val="CCCCCC"/>
                </a:solidFill>
                <a:effectLst/>
                <a:latin typeface="Courier New" panose="02070309020205020404" pitchFamily="49" charset="0"/>
              </a:rPr>
              <a:t> </a:t>
            </a:r>
            <a:r>
              <a:rPr lang="en-US" sz="1800" b="1" i="0" dirty="0">
                <a:solidFill>
                  <a:srgbClr val="CC99CD"/>
                </a:solidFill>
                <a:effectLst/>
                <a:latin typeface="Courier New" panose="02070309020205020404" pitchFamily="49" charset="0"/>
              </a:rPr>
              <a:t>int</a:t>
            </a:r>
            <a:r>
              <a:rPr lang="en-US" sz="1800" b="1" i="0" dirty="0">
                <a:solidFill>
                  <a:srgbClr val="CCCCCC"/>
                </a:solidFill>
                <a:effectLst/>
                <a:latin typeface="Courier New" panose="02070309020205020404" pitchFamily="49" charset="0"/>
              </a:rPr>
              <a:t>[] {</a:t>
            </a:r>
            <a:r>
              <a:rPr lang="en-US" sz="1800" b="1" i="0" dirty="0">
                <a:solidFill>
                  <a:srgbClr val="F08D49"/>
                </a:solidFill>
                <a:effectLst/>
                <a:latin typeface="Courier New" panose="02070309020205020404" pitchFamily="49" charset="0"/>
              </a:rPr>
              <a:t>1</a:t>
            </a:r>
            <a:r>
              <a:rPr lang="en-US" sz="1800" b="1" i="0" dirty="0">
                <a:solidFill>
                  <a:srgbClr val="CCCCCC"/>
                </a:solidFill>
                <a:effectLst/>
                <a:latin typeface="Courier New" panose="02070309020205020404" pitchFamily="49" charset="0"/>
              </a:rPr>
              <a:t>, </a:t>
            </a:r>
            <a:r>
              <a:rPr lang="en-US" sz="1800" b="1" i="0" dirty="0">
                <a:solidFill>
                  <a:srgbClr val="F08D49"/>
                </a:solidFill>
                <a:effectLst/>
                <a:latin typeface="Courier New" panose="02070309020205020404" pitchFamily="49" charset="0"/>
              </a:rPr>
              <a:t>2</a:t>
            </a:r>
            <a:r>
              <a:rPr lang="en-US" sz="1800" b="1" i="0" dirty="0">
                <a:solidFill>
                  <a:srgbClr val="CCCCCC"/>
                </a:solidFill>
                <a:effectLst/>
                <a:latin typeface="Courier New" panose="02070309020205020404" pitchFamily="49" charset="0"/>
              </a:rPr>
              <a:t>, </a:t>
            </a:r>
            <a:r>
              <a:rPr lang="en-US" sz="1800" b="1" i="0" dirty="0">
                <a:solidFill>
                  <a:srgbClr val="F08D49"/>
                </a:solidFill>
                <a:effectLst/>
                <a:latin typeface="Courier New" panose="02070309020205020404" pitchFamily="49" charset="0"/>
              </a:rPr>
              <a:t>3</a:t>
            </a:r>
            <a:r>
              <a:rPr lang="en-US" sz="1800" b="1" i="0" dirty="0">
                <a:solidFill>
                  <a:srgbClr val="CCCCCC"/>
                </a:solidFill>
                <a:effectLst/>
                <a:latin typeface="Courier New" panose="02070309020205020404" pitchFamily="49" charset="0"/>
              </a:rPr>
              <a:t>}, </a:t>
            </a:r>
            <a:r>
              <a:rPr lang="en-US" sz="1800" b="1" i="0" dirty="0">
                <a:solidFill>
                  <a:srgbClr val="CC99CD"/>
                </a:solidFill>
                <a:effectLst/>
                <a:latin typeface="Courier New" panose="02070309020205020404" pitchFamily="49" charset="0"/>
              </a:rPr>
              <a:t>new</a:t>
            </a:r>
            <a:r>
              <a:rPr lang="en-US" sz="1800" b="1" i="0" dirty="0">
                <a:solidFill>
                  <a:srgbClr val="CCCCCC"/>
                </a:solidFill>
                <a:effectLst/>
                <a:latin typeface="Courier New" panose="02070309020205020404" pitchFamily="49" charset="0"/>
              </a:rPr>
              <a:t> </a:t>
            </a:r>
            <a:r>
              <a:rPr lang="en-US" sz="1800" b="1" i="0" dirty="0">
                <a:solidFill>
                  <a:srgbClr val="CC99CD"/>
                </a:solidFill>
                <a:effectLst/>
                <a:latin typeface="Courier New" panose="02070309020205020404" pitchFamily="49" charset="0"/>
              </a:rPr>
              <a:t>int</a:t>
            </a:r>
            <a:r>
              <a:rPr lang="en-US" sz="1800" b="1" i="0" dirty="0">
                <a:solidFill>
                  <a:srgbClr val="CCCCCC"/>
                </a:solidFill>
                <a:effectLst/>
                <a:latin typeface="Courier New" panose="02070309020205020404" pitchFamily="49" charset="0"/>
              </a:rPr>
              <a:t>[] {</a:t>
            </a:r>
            <a:r>
              <a:rPr lang="en-US" sz="1800" b="1" i="0" dirty="0">
                <a:solidFill>
                  <a:srgbClr val="F08D49"/>
                </a:solidFill>
                <a:effectLst/>
                <a:latin typeface="Courier New" panose="02070309020205020404" pitchFamily="49" charset="0"/>
              </a:rPr>
              <a:t>4</a:t>
            </a:r>
            <a:r>
              <a:rPr lang="en-US" sz="1800" b="1" i="0" dirty="0">
                <a:solidFill>
                  <a:srgbClr val="CCCCCC"/>
                </a:solidFill>
                <a:effectLst/>
                <a:latin typeface="Courier New" panose="02070309020205020404" pitchFamily="49" charset="0"/>
              </a:rPr>
              <a:t>, </a:t>
            </a:r>
            <a:r>
              <a:rPr lang="en-US" sz="1800" b="1" i="0" dirty="0">
                <a:solidFill>
                  <a:srgbClr val="F08D49"/>
                </a:solidFill>
                <a:effectLst/>
                <a:latin typeface="Courier New" panose="02070309020205020404" pitchFamily="49" charset="0"/>
              </a:rPr>
              <a:t>5</a:t>
            </a:r>
            <a:r>
              <a:rPr lang="en-US" sz="1800" b="1" i="0" dirty="0">
                <a:solidFill>
                  <a:srgbClr val="CCCCCC"/>
                </a:solidFill>
                <a:effectLst/>
                <a:latin typeface="Courier New" panose="02070309020205020404" pitchFamily="49" charset="0"/>
              </a:rPr>
              <a:t>}, </a:t>
            </a:r>
          </a:p>
          <a:p>
            <a:pPr marL="34290" indent="0" algn="just">
              <a:buNone/>
            </a:pPr>
            <a:r>
              <a:rPr lang="en-US" sz="1800" b="1" dirty="0">
                <a:solidFill>
                  <a:srgbClr val="CCCCCC"/>
                </a:solidFill>
                <a:latin typeface="Courier New" panose="02070309020205020404" pitchFamily="49" charset="0"/>
              </a:rPr>
              <a:t>      </a:t>
            </a:r>
            <a:r>
              <a:rPr lang="en-US" sz="1800" b="1" i="0" dirty="0">
                <a:solidFill>
                  <a:srgbClr val="CC99CD"/>
                </a:solidFill>
                <a:effectLst/>
                <a:latin typeface="Courier New" panose="02070309020205020404" pitchFamily="49" charset="0"/>
              </a:rPr>
              <a:t>new</a:t>
            </a:r>
            <a:r>
              <a:rPr lang="en-US" sz="1800" b="1" i="0" dirty="0">
                <a:solidFill>
                  <a:srgbClr val="CCCCCC"/>
                </a:solidFill>
                <a:effectLst/>
                <a:latin typeface="Courier New" panose="02070309020205020404" pitchFamily="49" charset="0"/>
              </a:rPr>
              <a:t> </a:t>
            </a:r>
            <a:r>
              <a:rPr lang="en-US" sz="1800" b="1" i="0" dirty="0">
                <a:solidFill>
                  <a:srgbClr val="CC99CD"/>
                </a:solidFill>
                <a:effectLst/>
                <a:latin typeface="Courier New" panose="02070309020205020404" pitchFamily="49" charset="0"/>
              </a:rPr>
              <a:t>int</a:t>
            </a:r>
            <a:r>
              <a:rPr lang="en-US" sz="1800" b="1" i="0" dirty="0">
                <a:solidFill>
                  <a:srgbClr val="CCCCCC"/>
                </a:solidFill>
                <a:effectLst/>
                <a:latin typeface="Courier New" panose="02070309020205020404" pitchFamily="49" charset="0"/>
              </a:rPr>
              <a:t>[] {</a:t>
            </a:r>
            <a:r>
              <a:rPr lang="en-US" sz="1800" b="1" i="0" dirty="0">
                <a:solidFill>
                  <a:srgbClr val="F08D49"/>
                </a:solidFill>
                <a:effectLst/>
                <a:latin typeface="Courier New" panose="02070309020205020404" pitchFamily="49" charset="0"/>
              </a:rPr>
              <a:t>6</a:t>
            </a:r>
            <a:r>
              <a:rPr lang="en-US" sz="1800" b="1" i="0" dirty="0">
                <a:solidFill>
                  <a:srgbClr val="CCCCCC"/>
                </a:solidFill>
                <a:effectLst/>
                <a:latin typeface="Courier New" panose="02070309020205020404" pitchFamily="49" charset="0"/>
              </a:rPr>
              <a:t>, </a:t>
            </a:r>
            <a:r>
              <a:rPr lang="en-US" sz="1800" b="1" i="0" dirty="0">
                <a:solidFill>
                  <a:srgbClr val="F08D49"/>
                </a:solidFill>
                <a:effectLst/>
                <a:latin typeface="Courier New" panose="02070309020205020404" pitchFamily="49" charset="0"/>
              </a:rPr>
              <a:t>7</a:t>
            </a:r>
            <a:r>
              <a:rPr lang="en-US" sz="1800" b="1" i="0" dirty="0">
                <a:solidFill>
                  <a:srgbClr val="CCCCCC"/>
                </a:solidFill>
                <a:effectLst/>
                <a:latin typeface="Courier New" panose="02070309020205020404" pitchFamily="49" charset="0"/>
              </a:rPr>
              <a:t>, </a:t>
            </a:r>
            <a:r>
              <a:rPr lang="en-US" sz="1800" b="1" i="0" dirty="0">
                <a:solidFill>
                  <a:srgbClr val="F08D49"/>
                </a:solidFill>
                <a:effectLst/>
                <a:latin typeface="Courier New" panose="02070309020205020404" pitchFamily="49" charset="0"/>
              </a:rPr>
              <a:t>8</a:t>
            </a:r>
            <a:r>
              <a:rPr lang="en-US" sz="1800" b="1" i="0" dirty="0">
                <a:solidFill>
                  <a:srgbClr val="CCCCCC"/>
                </a:solidFill>
                <a:effectLst/>
                <a:latin typeface="Courier New" panose="02070309020205020404" pitchFamily="49" charset="0"/>
              </a:rPr>
              <a:t>, </a:t>
            </a:r>
            <a:r>
              <a:rPr lang="en-US" sz="1800" b="1" i="0" dirty="0">
                <a:solidFill>
                  <a:srgbClr val="F08D49"/>
                </a:solidFill>
                <a:effectLst/>
                <a:latin typeface="Courier New" panose="02070309020205020404" pitchFamily="49" charset="0"/>
              </a:rPr>
              <a:t>9</a:t>
            </a:r>
            <a:r>
              <a:rPr lang="en-US" sz="1800" b="1" i="0" dirty="0">
                <a:solidFill>
                  <a:srgbClr val="CCCCCC"/>
                </a:solidFill>
                <a:effectLst/>
                <a:latin typeface="Courier New" panose="02070309020205020404" pitchFamily="49" charset="0"/>
              </a:rPr>
              <a:t>} </a:t>
            </a:r>
          </a:p>
          <a:p>
            <a:pPr marL="34290" indent="0" algn="just">
              <a:buNone/>
            </a:pPr>
            <a:r>
              <a:rPr lang="en-US" sz="1800" b="1" dirty="0">
                <a:solidFill>
                  <a:srgbClr val="CCCCCC"/>
                </a:solidFill>
                <a:latin typeface="Courier New" panose="02070309020205020404" pitchFamily="49" charset="0"/>
              </a:rPr>
              <a:t>    </a:t>
            </a:r>
            <a:r>
              <a:rPr lang="en-US" sz="1800" b="1" i="0" dirty="0">
                <a:solidFill>
                  <a:srgbClr val="CCCCCC"/>
                </a:solidFill>
                <a:effectLst/>
                <a:latin typeface="Courier New" panose="02070309020205020404" pitchFamily="49" charset="0"/>
              </a:rPr>
              <a:t>}; </a:t>
            </a:r>
          </a:p>
          <a:p>
            <a:pPr marL="34290" indent="0" algn="just">
              <a:buNone/>
            </a:pPr>
            <a:r>
              <a:rPr lang="en-US" sz="1800" b="1" dirty="0">
                <a:solidFill>
                  <a:srgbClr val="CCCCCC"/>
                </a:solidFill>
                <a:latin typeface="Courier New" panose="02070309020205020404" pitchFamily="49" charset="0"/>
              </a:rPr>
              <a:t>    </a:t>
            </a:r>
            <a:r>
              <a:rPr lang="en-US" sz="1800" b="1" i="0" dirty="0">
                <a:solidFill>
                  <a:srgbClr val="CC99CD"/>
                </a:solidFill>
                <a:effectLst/>
                <a:latin typeface="Courier New" panose="02070309020205020404" pitchFamily="49" charset="0"/>
              </a:rPr>
              <a:t>for</a:t>
            </a:r>
            <a:r>
              <a:rPr lang="en-US" sz="1800" b="1" i="0" dirty="0">
                <a:solidFill>
                  <a:srgbClr val="CCCCCC"/>
                </a:solidFill>
                <a:effectLst/>
                <a:latin typeface="Courier New" panose="02070309020205020404" pitchFamily="49" charset="0"/>
              </a:rPr>
              <a:t> (</a:t>
            </a:r>
            <a:r>
              <a:rPr lang="en-US" sz="1800" b="1" i="0" dirty="0">
                <a:solidFill>
                  <a:srgbClr val="CC99CD"/>
                </a:solidFill>
                <a:effectLst/>
                <a:latin typeface="Courier New" panose="02070309020205020404" pitchFamily="49" charset="0"/>
              </a:rPr>
              <a:t>int</a:t>
            </a:r>
            <a:r>
              <a:rPr lang="en-US" sz="1800" b="1" i="0" dirty="0">
                <a:solidFill>
                  <a:srgbClr val="CCCCCC"/>
                </a:solidFill>
                <a:effectLst/>
                <a:latin typeface="Courier New" panose="02070309020205020404" pitchFamily="49" charset="0"/>
              </a:rPr>
              <a:t> </a:t>
            </a:r>
            <a:r>
              <a:rPr lang="en-US" sz="1800" b="1" i="0" dirty="0" err="1">
                <a:solidFill>
                  <a:srgbClr val="CCCCCC"/>
                </a:solidFill>
                <a:effectLst/>
                <a:latin typeface="Courier New" panose="02070309020205020404" pitchFamily="49" charset="0"/>
              </a:rPr>
              <a:t>i</a:t>
            </a:r>
            <a:r>
              <a:rPr lang="en-US" sz="1800" b="1" i="0" dirty="0">
                <a:solidFill>
                  <a:srgbClr val="CCCCCC"/>
                </a:solidFill>
                <a:effectLst/>
                <a:latin typeface="Courier New" panose="02070309020205020404" pitchFamily="49" charset="0"/>
              </a:rPr>
              <a:t> </a:t>
            </a:r>
            <a:r>
              <a:rPr lang="en-US" sz="1800" b="1" i="0" dirty="0">
                <a:solidFill>
                  <a:srgbClr val="67CDCC"/>
                </a:solidFill>
                <a:effectLst/>
                <a:latin typeface="Courier New" panose="02070309020205020404" pitchFamily="49" charset="0"/>
              </a:rPr>
              <a:t>=</a:t>
            </a:r>
            <a:r>
              <a:rPr lang="en-US" sz="1800" b="1" i="0" dirty="0">
                <a:solidFill>
                  <a:srgbClr val="CCCCCC"/>
                </a:solidFill>
                <a:effectLst/>
                <a:latin typeface="Courier New" panose="02070309020205020404" pitchFamily="49" charset="0"/>
              </a:rPr>
              <a:t> </a:t>
            </a:r>
            <a:r>
              <a:rPr lang="en-US" sz="1800" b="1" i="0" dirty="0">
                <a:solidFill>
                  <a:srgbClr val="F08D49"/>
                </a:solidFill>
                <a:effectLst/>
                <a:latin typeface="Courier New" panose="02070309020205020404" pitchFamily="49" charset="0"/>
              </a:rPr>
              <a:t>0</a:t>
            </a:r>
            <a:r>
              <a:rPr lang="en-US" sz="1800" b="1" i="0" dirty="0">
                <a:solidFill>
                  <a:srgbClr val="CCCCCC"/>
                </a:solidFill>
                <a:effectLst/>
                <a:latin typeface="Courier New" panose="02070309020205020404" pitchFamily="49" charset="0"/>
              </a:rPr>
              <a:t>; </a:t>
            </a:r>
            <a:r>
              <a:rPr lang="en-US" sz="1800" b="1" i="0" dirty="0" err="1">
                <a:solidFill>
                  <a:srgbClr val="CCCCCC"/>
                </a:solidFill>
                <a:effectLst/>
                <a:latin typeface="Courier New" panose="02070309020205020404" pitchFamily="49" charset="0"/>
              </a:rPr>
              <a:t>i</a:t>
            </a:r>
            <a:r>
              <a:rPr lang="en-US" sz="1800" b="1" i="0" dirty="0">
                <a:solidFill>
                  <a:srgbClr val="CCCCCC"/>
                </a:solidFill>
                <a:effectLst/>
                <a:latin typeface="Courier New" panose="02070309020205020404" pitchFamily="49" charset="0"/>
              </a:rPr>
              <a:t> </a:t>
            </a:r>
            <a:r>
              <a:rPr lang="en-US" sz="1800" b="1" i="0" dirty="0">
                <a:solidFill>
                  <a:srgbClr val="67CDCC"/>
                </a:solidFill>
                <a:effectLst/>
                <a:latin typeface="Courier New" panose="02070309020205020404" pitchFamily="49" charset="0"/>
              </a:rPr>
              <a:t>&lt;</a:t>
            </a:r>
            <a:r>
              <a:rPr lang="en-US" sz="1800" b="1" i="0" dirty="0">
                <a:solidFill>
                  <a:srgbClr val="CCCCCC"/>
                </a:solidFill>
                <a:effectLst/>
                <a:latin typeface="Courier New" panose="02070309020205020404" pitchFamily="49" charset="0"/>
              </a:rPr>
              <a:t> </a:t>
            </a:r>
            <a:r>
              <a:rPr lang="en-US" sz="1800" b="1" i="0" dirty="0" err="1">
                <a:solidFill>
                  <a:srgbClr val="CCCCCC"/>
                </a:solidFill>
                <a:effectLst/>
                <a:latin typeface="Courier New" panose="02070309020205020404" pitchFamily="49" charset="0"/>
              </a:rPr>
              <a:t>jaggedArray.Length</a:t>
            </a:r>
            <a:r>
              <a:rPr lang="en-US" sz="1800" b="1" i="0" dirty="0">
                <a:solidFill>
                  <a:srgbClr val="CCCCCC"/>
                </a:solidFill>
                <a:effectLst/>
                <a:latin typeface="Courier New" panose="02070309020205020404" pitchFamily="49" charset="0"/>
              </a:rPr>
              <a:t>; </a:t>
            </a:r>
            <a:r>
              <a:rPr lang="en-US" sz="1800" b="1" i="0" dirty="0" err="1">
                <a:solidFill>
                  <a:srgbClr val="CCCCCC"/>
                </a:solidFill>
                <a:effectLst/>
                <a:latin typeface="Courier New" panose="02070309020205020404" pitchFamily="49" charset="0"/>
              </a:rPr>
              <a:t>i</a:t>
            </a:r>
            <a:r>
              <a:rPr lang="en-US" sz="1800" b="1" i="0" dirty="0">
                <a:solidFill>
                  <a:srgbClr val="67CDCC"/>
                </a:solidFill>
                <a:effectLst/>
                <a:latin typeface="Courier New" panose="02070309020205020404" pitchFamily="49" charset="0"/>
              </a:rPr>
              <a:t>++</a:t>
            </a:r>
            <a:r>
              <a:rPr lang="en-US" sz="1800" b="1" i="0" dirty="0">
                <a:solidFill>
                  <a:srgbClr val="CCCCCC"/>
                </a:solidFill>
                <a:effectLst/>
                <a:latin typeface="Courier New" panose="02070309020205020404" pitchFamily="49" charset="0"/>
              </a:rPr>
              <a:t>) { </a:t>
            </a:r>
          </a:p>
          <a:p>
            <a:pPr marL="34290" indent="0" algn="just">
              <a:buNone/>
            </a:pPr>
            <a:r>
              <a:rPr lang="en-US" sz="1800" b="1" i="0" dirty="0">
                <a:solidFill>
                  <a:srgbClr val="CC99CD"/>
                </a:solidFill>
                <a:effectLst/>
                <a:latin typeface="Courier New" panose="02070309020205020404" pitchFamily="49" charset="0"/>
              </a:rPr>
              <a:t>      for</a:t>
            </a:r>
            <a:r>
              <a:rPr lang="en-US" sz="1800" b="1" i="0" dirty="0">
                <a:solidFill>
                  <a:srgbClr val="CCCCCC"/>
                </a:solidFill>
                <a:effectLst/>
                <a:latin typeface="Courier New" panose="02070309020205020404" pitchFamily="49" charset="0"/>
              </a:rPr>
              <a:t> (</a:t>
            </a:r>
            <a:r>
              <a:rPr lang="en-US" sz="1800" b="1" i="0" dirty="0">
                <a:solidFill>
                  <a:srgbClr val="CC99CD"/>
                </a:solidFill>
                <a:effectLst/>
                <a:latin typeface="Courier New" panose="02070309020205020404" pitchFamily="49" charset="0"/>
              </a:rPr>
              <a:t>int</a:t>
            </a:r>
            <a:r>
              <a:rPr lang="en-US" sz="1800" b="1" i="0" dirty="0">
                <a:solidFill>
                  <a:srgbClr val="CCCCCC"/>
                </a:solidFill>
                <a:effectLst/>
                <a:latin typeface="Courier New" panose="02070309020205020404" pitchFamily="49" charset="0"/>
              </a:rPr>
              <a:t> j </a:t>
            </a:r>
            <a:r>
              <a:rPr lang="en-US" sz="1800" b="1" i="0" dirty="0">
                <a:solidFill>
                  <a:srgbClr val="67CDCC"/>
                </a:solidFill>
                <a:effectLst/>
                <a:latin typeface="Courier New" panose="02070309020205020404" pitchFamily="49" charset="0"/>
              </a:rPr>
              <a:t>=</a:t>
            </a:r>
            <a:r>
              <a:rPr lang="en-US" sz="1800" b="1" i="0" dirty="0">
                <a:solidFill>
                  <a:srgbClr val="CCCCCC"/>
                </a:solidFill>
                <a:effectLst/>
                <a:latin typeface="Courier New" panose="02070309020205020404" pitchFamily="49" charset="0"/>
              </a:rPr>
              <a:t> </a:t>
            </a:r>
            <a:r>
              <a:rPr lang="en-US" sz="1800" b="1" i="0" dirty="0">
                <a:solidFill>
                  <a:srgbClr val="F08D49"/>
                </a:solidFill>
                <a:effectLst/>
                <a:latin typeface="Courier New" panose="02070309020205020404" pitchFamily="49" charset="0"/>
              </a:rPr>
              <a:t>0</a:t>
            </a:r>
            <a:r>
              <a:rPr lang="en-US" sz="1800" b="1" i="0" dirty="0">
                <a:solidFill>
                  <a:srgbClr val="CCCCCC"/>
                </a:solidFill>
                <a:effectLst/>
                <a:latin typeface="Courier New" panose="02070309020205020404" pitchFamily="49" charset="0"/>
              </a:rPr>
              <a:t>; j </a:t>
            </a:r>
            <a:r>
              <a:rPr lang="en-US" sz="1800" b="1" i="0" dirty="0">
                <a:solidFill>
                  <a:srgbClr val="67CDCC"/>
                </a:solidFill>
                <a:effectLst/>
                <a:latin typeface="Courier New" panose="02070309020205020404" pitchFamily="49" charset="0"/>
              </a:rPr>
              <a:t>&lt;</a:t>
            </a:r>
            <a:r>
              <a:rPr lang="en-US" sz="1800" b="1" i="0" dirty="0">
                <a:solidFill>
                  <a:srgbClr val="CCCCCC"/>
                </a:solidFill>
                <a:effectLst/>
                <a:latin typeface="Courier New" panose="02070309020205020404" pitchFamily="49" charset="0"/>
              </a:rPr>
              <a:t> </a:t>
            </a:r>
            <a:r>
              <a:rPr lang="en-US" sz="1800" b="1" i="0" dirty="0" err="1">
                <a:solidFill>
                  <a:srgbClr val="CCCCCC"/>
                </a:solidFill>
                <a:effectLst/>
                <a:latin typeface="Courier New" panose="02070309020205020404" pitchFamily="49" charset="0"/>
              </a:rPr>
              <a:t>jaggedArray</a:t>
            </a:r>
            <a:r>
              <a:rPr lang="en-US" sz="1800" b="1" i="0" dirty="0">
                <a:solidFill>
                  <a:srgbClr val="CCCCCC"/>
                </a:solidFill>
                <a:effectLst/>
                <a:latin typeface="Courier New" panose="02070309020205020404" pitchFamily="49" charset="0"/>
              </a:rPr>
              <a:t>[</a:t>
            </a:r>
            <a:r>
              <a:rPr lang="en-US" sz="1800" b="1" i="0" dirty="0" err="1">
                <a:solidFill>
                  <a:srgbClr val="CCCCCC"/>
                </a:solidFill>
                <a:effectLst/>
                <a:latin typeface="Courier New" panose="02070309020205020404" pitchFamily="49" charset="0"/>
              </a:rPr>
              <a:t>i</a:t>
            </a:r>
            <a:r>
              <a:rPr lang="en-US" sz="1800" b="1" i="0" dirty="0">
                <a:solidFill>
                  <a:srgbClr val="CCCCCC"/>
                </a:solidFill>
                <a:effectLst/>
                <a:latin typeface="Courier New" panose="02070309020205020404" pitchFamily="49" charset="0"/>
              </a:rPr>
              <a:t>].Length; </a:t>
            </a:r>
            <a:r>
              <a:rPr lang="en-US" sz="1800" b="1" i="0" dirty="0" err="1">
                <a:solidFill>
                  <a:srgbClr val="CCCCCC"/>
                </a:solidFill>
                <a:effectLst/>
                <a:latin typeface="Courier New" panose="02070309020205020404" pitchFamily="49" charset="0"/>
              </a:rPr>
              <a:t>j</a:t>
            </a:r>
            <a:r>
              <a:rPr lang="en-US" sz="1800" b="1" i="0" dirty="0" err="1">
                <a:solidFill>
                  <a:srgbClr val="67CDCC"/>
                </a:solidFill>
                <a:effectLst/>
                <a:latin typeface="Courier New" panose="02070309020205020404" pitchFamily="49" charset="0"/>
              </a:rPr>
              <a:t>++</a:t>
            </a:r>
            <a:r>
              <a:rPr lang="en-US" sz="1800" b="1" i="0" dirty="0">
                <a:solidFill>
                  <a:srgbClr val="CCCCCC"/>
                </a:solidFill>
                <a:effectLst/>
                <a:latin typeface="Courier New" panose="02070309020205020404" pitchFamily="49" charset="0"/>
              </a:rPr>
              <a:t>) {</a:t>
            </a:r>
          </a:p>
          <a:p>
            <a:pPr marL="34290" indent="0" algn="just">
              <a:buNone/>
            </a:pPr>
            <a:r>
              <a:rPr lang="en-US" sz="1800" b="1" dirty="0">
                <a:solidFill>
                  <a:srgbClr val="CCCCCC"/>
                </a:solidFill>
                <a:latin typeface="Courier New" panose="02070309020205020404" pitchFamily="49" charset="0"/>
              </a:rPr>
              <a:t>       </a:t>
            </a:r>
            <a:r>
              <a:rPr lang="en-US" sz="1800" b="1" i="0" dirty="0">
                <a:solidFill>
                  <a:srgbClr val="CCCCCC"/>
                </a:solidFill>
                <a:effectLst/>
                <a:latin typeface="Courier New" panose="02070309020205020404" pitchFamily="49" charset="0"/>
              </a:rPr>
              <a:t> </a:t>
            </a:r>
            <a:r>
              <a:rPr lang="en-US" sz="1800" b="1" i="0" dirty="0" err="1">
                <a:solidFill>
                  <a:srgbClr val="CCCCCC"/>
                </a:solidFill>
                <a:effectLst/>
                <a:latin typeface="Courier New" panose="02070309020205020404" pitchFamily="49" charset="0"/>
              </a:rPr>
              <a:t>Console.</a:t>
            </a:r>
            <a:r>
              <a:rPr lang="en-US" sz="1800" b="1" i="0" dirty="0" err="1">
                <a:solidFill>
                  <a:srgbClr val="F08D49"/>
                </a:solidFill>
                <a:effectLst/>
                <a:latin typeface="Courier New" panose="02070309020205020404" pitchFamily="49" charset="0"/>
              </a:rPr>
              <a:t>Write</a:t>
            </a:r>
            <a:r>
              <a:rPr lang="en-US" sz="1800" b="1" i="0" dirty="0">
                <a:solidFill>
                  <a:srgbClr val="CCCCCC"/>
                </a:solidFill>
                <a:effectLst/>
                <a:latin typeface="Courier New" panose="02070309020205020404" pitchFamily="49" charset="0"/>
              </a:rPr>
              <a:t>(</a:t>
            </a:r>
            <a:r>
              <a:rPr lang="en-US" sz="1800" b="1" i="0" dirty="0" err="1">
                <a:solidFill>
                  <a:srgbClr val="CCCCCC"/>
                </a:solidFill>
                <a:effectLst/>
                <a:latin typeface="Courier New" panose="02070309020205020404" pitchFamily="49" charset="0"/>
              </a:rPr>
              <a:t>jaggedArray</a:t>
            </a:r>
            <a:r>
              <a:rPr lang="en-US" sz="1800" b="1" i="0" dirty="0">
                <a:solidFill>
                  <a:srgbClr val="CCCCCC"/>
                </a:solidFill>
                <a:effectLst/>
                <a:latin typeface="Courier New" panose="02070309020205020404" pitchFamily="49" charset="0"/>
              </a:rPr>
              <a:t>[</a:t>
            </a:r>
            <a:r>
              <a:rPr lang="en-US" sz="1800" b="1" i="0" dirty="0" err="1">
                <a:solidFill>
                  <a:srgbClr val="CCCCCC"/>
                </a:solidFill>
                <a:effectLst/>
                <a:latin typeface="Courier New" panose="02070309020205020404" pitchFamily="49" charset="0"/>
              </a:rPr>
              <a:t>i</a:t>
            </a:r>
            <a:r>
              <a:rPr lang="en-US" sz="1800" b="1" i="0" dirty="0">
                <a:solidFill>
                  <a:srgbClr val="CCCCCC"/>
                </a:solidFill>
                <a:effectLst/>
                <a:latin typeface="Courier New" panose="02070309020205020404" pitchFamily="49" charset="0"/>
              </a:rPr>
              <a:t>][j] </a:t>
            </a:r>
            <a:r>
              <a:rPr lang="en-US" sz="1800" b="1" i="0" dirty="0">
                <a:solidFill>
                  <a:srgbClr val="67CDCC"/>
                </a:solidFill>
                <a:effectLst/>
                <a:latin typeface="Courier New" panose="02070309020205020404" pitchFamily="49" charset="0"/>
              </a:rPr>
              <a:t>+</a:t>
            </a:r>
            <a:r>
              <a:rPr lang="en-US" sz="1800" b="1" i="0" dirty="0">
                <a:solidFill>
                  <a:srgbClr val="CCCCCC"/>
                </a:solidFill>
                <a:effectLst/>
                <a:latin typeface="Courier New" panose="02070309020205020404" pitchFamily="49" charset="0"/>
              </a:rPr>
              <a:t> </a:t>
            </a:r>
            <a:r>
              <a:rPr lang="en-US" sz="1800" b="1" i="0" dirty="0">
                <a:solidFill>
                  <a:srgbClr val="7EC699"/>
                </a:solidFill>
                <a:effectLst/>
                <a:latin typeface="Courier New" panose="02070309020205020404" pitchFamily="49" charset="0"/>
              </a:rPr>
              <a:t>" "</a:t>
            </a:r>
            <a:r>
              <a:rPr lang="en-US" sz="1800" b="1" i="0" dirty="0">
                <a:solidFill>
                  <a:srgbClr val="CCCCCC"/>
                </a:solidFill>
                <a:effectLst/>
                <a:latin typeface="Courier New" panose="02070309020205020404" pitchFamily="49" charset="0"/>
              </a:rPr>
              <a:t>); </a:t>
            </a:r>
          </a:p>
          <a:p>
            <a:pPr marL="34290" indent="0" algn="just">
              <a:buNone/>
            </a:pPr>
            <a:r>
              <a:rPr lang="en-US" sz="1800" b="1" dirty="0">
                <a:solidFill>
                  <a:srgbClr val="CCCCCC"/>
                </a:solidFill>
                <a:latin typeface="Courier New" panose="02070309020205020404" pitchFamily="49" charset="0"/>
              </a:rPr>
              <a:t>      </a:t>
            </a:r>
            <a:r>
              <a:rPr lang="en-US" sz="1800" b="1" i="0">
                <a:solidFill>
                  <a:srgbClr val="CCCCCC"/>
                </a:solidFill>
                <a:effectLst/>
                <a:latin typeface="Courier New" panose="02070309020205020404" pitchFamily="49" charset="0"/>
              </a:rPr>
              <a:t>} </a:t>
            </a:r>
            <a:endParaRPr lang="en-US" sz="1800" b="1" i="0" dirty="0">
              <a:solidFill>
                <a:srgbClr val="CCCCCC"/>
              </a:solidFill>
              <a:effectLst/>
              <a:latin typeface="Courier New" panose="02070309020205020404" pitchFamily="49" charset="0"/>
            </a:endParaRPr>
          </a:p>
          <a:p>
            <a:pPr marL="34290" indent="0" algn="just">
              <a:buNone/>
            </a:pPr>
            <a:r>
              <a:rPr lang="en-US" sz="1800" b="1" dirty="0">
                <a:solidFill>
                  <a:srgbClr val="CCCCCC"/>
                </a:solidFill>
                <a:latin typeface="Courier New" panose="02070309020205020404" pitchFamily="49" charset="0"/>
              </a:rPr>
              <a:t>    </a:t>
            </a:r>
            <a:r>
              <a:rPr lang="en-US" sz="1800" b="1" i="0" dirty="0">
                <a:solidFill>
                  <a:srgbClr val="CCCCCC"/>
                </a:solidFill>
                <a:effectLst/>
                <a:latin typeface="Courier New" panose="02070309020205020404" pitchFamily="49" charset="0"/>
              </a:rPr>
              <a:t>} </a:t>
            </a:r>
          </a:p>
          <a:p>
            <a:pPr marL="34290" indent="0" algn="just">
              <a:buNone/>
            </a:pPr>
            <a:r>
              <a:rPr lang="en-US" sz="1800" b="1" dirty="0">
                <a:solidFill>
                  <a:srgbClr val="CCCCCC"/>
                </a:solidFill>
                <a:latin typeface="Courier New" panose="02070309020205020404" pitchFamily="49" charset="0"/>
              </a:rPr>
              <a:t>  </a:t>
            </a:r>
            <a:r>
              <a:rPr lang="en-US" sz="1800" b="1" i="0" dirty="0">
                <a:solidFill>
                  <a:srgbClr val="CCCCCC"/>
                </a:solidFill>
                <a:effectLst/>
                <a:latin typeface="Courier New" panose="02070309020205020404" pitchFamily="49" charset="0"/>
              </a:rPr>
              <a:t>}</a:t>
            </a:r>
          </a:p>
          <a:p>
            <a:pPr marL="34290" indent="0" algn="just">
              <a:buNone/>
            </a:pPr>
            <a:r>
              <a:rPr lang="en-US" sz="1800" b="1" i="0" dirty="0">
                <a:solidFill>
                  <a:srgbClr val="CCCCCC"/>
                </a:solidFill>
                <a:effectLst/>
                <a:latin typeface="Courier New" panose="02070309020205020404" pitchFamily="49" charset="0"/>
              </a:rPr>
              <a:t>}</a:t>
            </a:r>
            <a:endParaRPr lang="ro-RO" sz="1800" b="1"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31572352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128BA-6B05-47E9-256A-6B371AAF25D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83AE5BE-D342-FA37-C111-6039A524CC9D}"/>
              </a:ext>
            </a:extLst>
          </p:cNvPr>
          <p:cNvSpPr>
            <a:spLocks noGrp="1"/>
          </p:cNvSpPr>
          <p:nvPr>
            <p:ph type="title"/>
          </p:nvPr>
        </p:nvSpPr>
        <p:spPr>
          <a:xfrm>
            <a:off x="463925" y="582705"/>
            <a:ext cx="7819465" cy="504265"/>
          </a:xfrm>
        </p:spPr>
        <p:txBody>
          <a:bodyPr>
            <a:noAutofit/>
          </a:bodyPr>
          <a:lstStyle/>
          <a:p>
            <a:r>
              <a:rPr lang="ro-RO" sz="3200" noProof="0" dirty="0"/>
              <a:t>C# - Cursul 9</a:t>
            </a:r>
          </a:p>
        </p:txBody>
      </p:sp>
      <p:sp>
        <p:nvSpPr>
          <p:cNvPr id="5" name="Content Placeholder 4">
            <a:extLst>
              <a:ext uri="{FF2B5EF4-FFF2-40B4-BE49-F238E27FC236}">
                <a16:creationId xmlns:a16="http://schemas.microsoft.com/office/drawing/2014/main" id="{B7544714-C886-D38F-613A-96777FE51F49}"/>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Arrays</a:t>
            </a:r>
            <a:r>
              <a:rPr lang="ro-RO" sz="2800" noProof="0" dirty="0">
                <a:solidFill>
                  <a:srgbClr val="00B0F0"/>
                </a:solidFill>
              </a:rPr>
              <a:t> (tablouri) în C# - </a:t>
            </a:r>
            <a:r>
              <a:rPr lang="en-US" sz="2800" noProof="0" dirty="0">
                <a:solidFill>
                  <a:srgbClr val="00B0F0"/>
                </a:solidFill>
              </a:rPr>
              <a:t>jagged arrays </a:t>
            </a:r>
            <a:r>
              <a:rPr lang="en-US" sz="2800" noProof="0" dirty="0" err="1">
                <a:solidFill>
                  <a:srgbClr val="00B0F0"/>
                </a:solidFill>
              </a:rPr>
              <a:t>parcurgere</a:t>
            </a:r>
            <a:endParaRPr lang="en-US" sz="2800" noProof="0" dirty="0">
              <a:solidFill>
                <a:srgbClr val="00B0F0"/>
              </a:solidFill>
            </a:endParaRPr>
          </a:p>
          <a:p>
            <a:pPr marL="34290" indent="0" algn="just">
              <a:buNone/>
            </a:pPr>
            <a:r>
              <a:rPr lang="en-US" sz="2000" b="1" i="0" dirty="0">
                <a:solidFill>
                  <a:srgbClr val="CC99CD"/>
                </a:solidFill>
                <a:effectLst/>
                <a:latin typeface="Courier New" panose="02070309020205020404" pitchFamily="49" charset="0"/>
              </a:rPr>
              <a:t>using</a:t>
            </a:r>
            <a:r>
              <a:rPr lang="en-US" sz="2000" b="1" i="0" dirty="0">
                <a:solidFill>
                  <a:srgbClr val="CCCCCC"/>
                </a:solidFill>
                <a:effectLst/>
                <a:latin typeface="Courier New" panose="02070309020205020404" pitchFamily="49" charset="0"/>
              </a:rPr>
              <a:t> System; </a:t>
            </a:r>
          </a:p>
          <a:p>
            <a:pPr marL="34290" indent="0" algn="just">
              <a:buNone/>
            </a:pPr>
            <a:r>
              <a:rPr lang="en-US" sz="2000" b="1" i="0" dirty="0">
                <a:solidFill>
                  <a:srgbClr val="CC99CD"/>
                </a:solidFill>
                <a:effectLst/>
                <a:latin typeface="Courier New" panose="02070309020205020404" pitchFamily="49" charset="0"/>
              </a:rPr>
              <a:t>class</a:t>
            </a:r>
            <a:r>
              <a:rPr lang="en-US" sz="2000" b="1" i="0" dirty="0">
                <a:solidFill>
                  <a:srgbClr val="CCCCCC"/>
                </a:solidFill>
                <a:effectLst/>
                <a:latin typeface="Courier New" panose="02070309020205020404" pitchFamily="49" charset="0"/>
              </a:rPr>
              <a:t> Program {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99CD"/>
                </a:solidFill>
                <a:effectLst/>
                <a:latin typeface="Courier New" panose="02070309020205020404" pitchFamily="49" charset="0"/>
              </a:rPr>
              <a:t>static</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void</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Main</a:t>
            </a:r>
            <a:r>
              <a:rPr lang="en-US" sz="2000" b="1" i="0" dirty="0">
                <a:solidFill>
                  <a:srgbClr val="CCCCCC"/>
                </a:solidFill>
                <a:effectLst/>
                <a:latin typeface="Courier New" panose="02070309020205020404" pitchFamily="49" charset="0"/>
              </a:rPr>
              <a:t>() {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99CD"/>
                </a:solidFill>
                <a:effectLst/>
                <a:latin typeface="Courier New" panose="02070309020205020404" pitchFamily="49" charset="0"/>
              </a:rPr>
              <a:t>int</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jaggedArray</a:t>
            </a:r>
            <a:r>
              <a:rPr lang="en-US" sz="2000" b="1" i="0" dirty="0">
                <a:solidFill>
                  <a:srgbClr val="CCCCCC"/>
                </a:solidFill>
                <a:effectLst/>
                <a:latin typeface="Courier New" panose="02070309020205020404" pitchFamily="49" charset="0"/>
              </a:rPr>
              <a:t> </a:t>
            </a:r>
            <a:r>
              <a:rPr lang="en-US" sz="2000" b="1" i="0" dirty="0">
                <a:solidFill>
                  <a:srgbClr val="67CDCC"/>
                </a:solidFill>
                <a:effectLst/>
                <a:latin typeface="Courier New" panose="02070309020205020404" pitchFamily="49" charset="0"/>
              </a:rPr>
              <a:t>=</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new</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int</a:t>
            </a:r>
            <a:r>
              <a:rPr lang="en-US" sz="2000" b="1" i="0" dirty="0">
                <a:solidFill>
                  <a:srgbClr val="CCCCCC"/>
                </a:solidFill>
                <a:effectLst/>
                <a:latin typeface="Courier New" panose="02070309020205020404" pitchFamily="49" charset="0"/>
              </a:rPr>
              <a:t>[][] {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99CD"/>
                </a:solidFill>
                <a:effectLst/>
                <a:latin typeface="Courier New" panose="02070309020205020404" pitchFamily="49" charset="0"/>
              </a:rPr>
              <a:t>new</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int</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1</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2</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3</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new</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int</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4</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5</a:t>
            </a:r>
            <a:r>
              <a:rPr lang="en-US" sz="2000" b="1" i="0" dirty="0">
                <a:solidFill>
                  <a:srgbClr val="CCCCCC"/>
                </a:solidFill>
                <a:effectLst/>
                <a:latin typeface="Courier New" panose="02070309020205020404" pitchFamily="49" charset="0"/>
              </a:rPr>
              <a:t>},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99CD"/>
                </a:solidFill>
                <a:effectLst/>
                <a:latin typeface="Courier New" panose="02070309020205020404" pitchFamily="49" charset="0"/>
              </a:rPr>
              <a:t>new</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int</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6</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7</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8</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9</a:t>
            </a:r>
            <a:r>
              <a:rPr lang="en-US" sz="2000" b="1" i="0" dirty="0">
                <a:solidFill>
                  <a:srgbClr val="CCCCCC"/>
                </a:solidFill>
                <a:effectLst/>
                <a:latin typeface="Courier New" panose="02070309020205020404" pitchFamily="49" charset="0"/>
              </a:rPr>
              <a:t>}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99CD"/>
                </a:solidFill>
                <a:effectLst/>
                <a:latin typeface="Courier New" panose="02070309020205020404" pitchFamily="49" charset="0"/>
              </a:rPr>
              <a:t>foreach</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int</a:t>
            </a:r>
            <a:r>
              <a:rPr lang="en-US" sz="2000" b="1" i="0" dirty="0">
                <a:solidFill>
                  <a:srgbClr val="CCCCCC"/>
                </a:solidFill>
                <a:effectLst/>
                <a:latin typeface="Courier New" panose="02070309020205020404" pitchFamily="49" charset="0"/>
              </a:rPr>
              <a:t>[] array </a:t>
            </a:r>
            <a:r>
              <a:rPr lang="en-US" sz="2000" b="1" i="0" dirty="0">
                <a:solidFill>
                  <a:srgbClr val="CC99CD"/>
                </a:solidFill>
                <a:effectLst/>
                <a:latin typeface="Courier New" panose="02070309020205020404" pitchFamily="49" charset="0"/>
              </a:rPr>
              <a:t>in</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jaggedArray</a:t>
            </a:r>
            <a:r>
              <a:rPr lang="en-US" sz="2000" b="1" i="0" dirty="0">
                <a:solidFill>
                  <a:srgbClr val="CCCCCC"/>
                </a:solidFill>
                <a:effectLst/>
                <a:latin typeface="Courier New" panose="02070309020205020404" pitchFamily="49" charset="0"/>
              </a:rPr>
              <a:t>) {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99CD"/>
                </a:solidFill>
                <a:effectLst/>
                <a:latin typeface="Courier New" panose="02070309020205020404" pitchFamily="49" charset="0"/>
              </a:rPr>
              <a:t>foreach</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int</a:t>
            </a:r>
            <a:r>
              <a:rPr lang="en-US" sz="2000" b="1" i="0" dirty="0">
                <a:solidFill>
                  <a:srgbClr val="CCCCCC"/>
                </a:solidFill>
                <a:effectLst/>
                <a:latin typeface="Courier New" panose="02070309020205020404" pitchFamily="49" charset="0"/>
              </a:rPr>
              <a:t> num </a:t>
            </a:r>
            <a:r>
              <a:rPr lang="en-US" sz="2000" b="1" i="0" dirty="0">
                <a:solidFill>
                  <a:srgbClr val="CC99CD"/>
                </a:solidFill>
                <a:effectLst/>
                <a:latin typeface="Courier New" panose="02070309020205020404" pitchFamily="49" charset="0"/>
              </a:rPr>
              <a:t>in</a:t>
            </a:r>
            <a:r>
              <a:rPr lang="en-US" sz="2000" b="1" i="0" dirty="0">
                <a:solidFill>
                  <a:srgbClr val="CCCCCC"/>
                </a:solidFill>
                <a:effectLst/>
                <a:latin typeface="Courier New" panose="02070309020205020404" pitchFamily="49" charset="0"/>
              </a:rPr>
              <a:t> array) { </a:t>
            </a:r>
          </a:p>
          <a:p>
            <a:pPr marL="34290" indent="0" algn="just">
              <a:buNone/>
            </a:pPr>
            <a:r>
              <a:rPr lang="en-US" sz="2000" b="1" dirty="0">
                <a:solidFill>
                  <a:srgbClr val="CCCCCC"/>
                </a:solidFill>
                <a:latin typeface="Courier New" panose="02070309020205020404" pitchFamily="49" charset="0"/>
              </a:rPr>
              <a:t>        </a:t>
            </a:r>
            <a:r>
              <a:rPr lang="en-US" sz="2000" b="1" i="0" dirty="0" err="1">
                <a:solidFill>
                  <a:srgbClr val="CCCCCC"/>
                </a:solidFill>
                <a:effectLst/>
                <a:latin typeface="Courier New" panose="02070309020205020404" pitchFamily="49" charset="0"/>
              </a:rPr>
              <a:t>Console.</a:t>
            </a:r>
            <a:r>
              <a:rPr lang="en-US" sz="2000" b="1" i="0" dirty="0" err="1">
                <a:solidFill>
                  <a:srgbClr val="F08D49"/>
                </a:solidFill>
                <a:effectLst/>
                <a:latin typeface="Courier New" panose="02070309020205020404" pitchFamily="49" charset="0"/>
              </a:rPr>
              <a:t>Write</a:t>
            </a:r>
            <a:r>
              <a:rPr lang="en-US" sz="2000" b="1" i="0" dirty="0">
                <a:solidFill>
                  <a:srgbClr val="CCCCCC"/>
                </a:solidFill>
                <a:effectLst/>
                <a:latin typeface="Courier New" panose="02070309020205020404" pitchFamily="49" charset="0"/>
              </a:rPr>
              <a:t>(num </a:t>
            </a:r>
            <a:r>
              <a:rPr lang="en-US" sz="2000" b="1" i="0" dirty="0">
                <a:solidFill>
                  <a:srgbClr val="67CDCC"/>
                </a:solidFill>
                <a:effectLst/>
                <a:latin typeface="Courier New" panose="02070309020205020404" pitchFamily="49" charset="0"/>
              </a:rPr>
              <a:t>+</a:t>
            </a:r>
            <a:r>
              <a:rPr lang="en-US" sz="2000" b="1" i="0" dirty="0">
                <a:solidFill>
                  <a:srgbClr val="CCCCCC"/>
                </a:solidFill>
                <a:effectLst/>
                <a:latin typeface="Courier New" panose="02070309020205020404" pitchFamily="49" charset="0"/>
              </a:rPr>
              <a:t> </a:t>
            </a:r>
            <a:r>
              <a:rPr lang="en-US" sz="2000" b="1" i="0" dirty="0">
                <a:solidFill>
                  <a:srgbClr val="7EC699"/>
                </a:solidFill>
                <a:effectLst/>
                <a:latin typeface="Courier New" panose="02070309020205020404" pitchFamily="49" charset="0"/>
              </a:rPr>
              <a:t>" "</a:t>
            </a:r>
            <a:r>
              <a:rPr lang="en-US" sz="2000" b="1" i="0" dirty="0">
                <a:solidFill>
                  <a:srgbClr val="CCCCCC"/>
                </a:solidFill>
                <a:effectLst/>
                <a:latin typeface="Courier New" panose="02070309020205020404" pitchFamily="49" charset="0"/>
              </a:rPr>
              <a:t>);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 </a:t>
            </a:r>
          </a:p>
          <a:p>
            <a:pPr marL="34290" indent="0" algn="just">
              <a:buNone/>
            </a:pPr>
            <a:r>
              <a:rPr lang="en-US" sz="2000" b="1" dirty="0">
                <a:solidFill>
                  <a:srgbClr val="CCCCCC"/>
                </a:solidFill>
                <a:latin typeface="Courier New" panose="02070309020205020404" pitchFamily="49" charset="0"/>
              </a:rPr>
              <a:t>      </a:t>
            </a:r>
            <a:r>
              <a:rPr lang="en-US" sz="2000" b="1" i="0" dirty="0" err="1">
                <a:solidFill>
                  <a:srgbClr val="CCCCCC"/>
                </a:solidFill>
                <a:effectLst/>
                <a:latin typeface="Courier New" panose="02070309020205020404" pitchFamily="49" charset="0"/>
              </a:rPr>
              <a:t>Console.</a:t>
            </a:r>
            <a:r>
              <a:rPr lang="en-US" sz="2000" b="1" i="0" dirty="0" err="1">
                <a:solidFill>
                  <a:srgbClr val="F08D49"/>
                </a:solidFill>
                <a:effectLst/>
                <a:latin typeface="Courier New" panose="02070309020205020404" pitchFamily="49" charset="0"/>
              </a:rPr>
              <a:t>WriteLine</a:t>
            </a:r>
            <a:r>
              <a:rPr lang="en-US" sz="2000" b="1" i="0" dirty="0">
                <a:solidFill>
                  <a:srgbClr val="CCCCCC"/>
                </a:solidFill>
                <a:effectLst/>
                <a:latin typeface="Courier New" panose="02070309020205020404" pitchFamily="49" charset="0"/>
              </a:rPr>
              <a:t>();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 </a:t>
            </a:r>
          </a:p>
          <a:p>
            <a:pPr marL="34290" indent="0" algn="just">
              <a:buNone/>
            </a:pPr>
            <a:r>
              <a:rPr lang="en-US" sz="2000" b="1" i="0" dirty="0">
                <a:solidFill>
                  <a:srgbClr val="CCCCCC"/>
                </a:solidFill>
                <a:effectLst/>
                <a:latin typeface="Courier New" panose="02070309020205020404" pitchFamily="49" charset="0"/>
              </a:rPr>
              <a:t>}</a:t>
            </a:r>
            <a:endParaRPr lang="ro-RO" sz="2000" b="1" noProof="0" dirty="0">
              <a:solidFill>
                <a:srgbClr val="00B0F0"/>
              </a:solidFill>
            </a:endParaRP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380010624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ldTheme">
  <a:themeElements>
    <a:clrScheme name="Perspective">
      <a:dk1>
        <a:sysClr val="windowText" lastClr="000000"/>
      </a:dk1>
      <a:lt1>
        <a:sysClr val="window" lastClr="FFFFFF"/>
      </a:lt1>
      <a:dk2>
        <a:srgbClr val="283138"/>
      </a:dk2>
      <a:lt2>
        <a:srgbClr val="FF8600"/>
      </a:lt2>
      <a:accent1>
        <a:srgbClr val="838D9B"/>
      </a:accent1>
      <a:accent2>
        <a:srgbClr val="D2610C"/>
      </a:accent2>
      <a:accent3>
        <a:srgbClr val="80716A"/>
      </a:accent3>
      <a:accent4>
        <a:srgbClr val="94147C"/>
      </a:accent4>
      <a:accent5>
        <a:srgbClr val="5D5AD2"/>
      </a:accent5>
      <a:accent6>
        <a:srgbClr val="6F6C7D"/>
      </a:accent6>
      <a:hlink>
        <a:srgbClr val="6187E3"/>
      </a:hlink>
      <a:folHlink>
        <a:srgbClr val="7B8EB8"/>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erspective">
      <a:fillStyleLst>
        <a:solidFill>
          <a:schemeClr val="phClr"/>
        </a:solidFill>
        <a:gradFill rotWithShape="1">
          <a:gsLst>
            <a:gs pos="0">
              <a:schemeClr val="phClr">
                <a:tint val="50000"/>
                <a:alpha val="100000"/>
                <a:satMod val="160000"/>
                <a:lumMod val="105000"/>
              </a:schemeClr>
            </a:gs>
            <a:gs pos="41000">
              <a:schemeClr val="phClr">
                <a:tint val="57000"/>
                <a:satMod val="180000"/>
                <a:lumMod val="99000"/>
              </a:schemeClr>
            </a:gs>
            <a:gs pos="100000">
              <a:schemeClr val="phClr">
                <a:tint val="80000"/>
                <a:satMod val="200000"/>
                <a:lumMod val="104000"/>
              </a:schemeClr>
            </a:gs>
          </a:gsLst>
          <a:lin ang="5400000" scaled="1"/>
        </a:gradFill>
        <a:gradFill rotWithShape="1">
          <a:gsLst>
            <a:gs pos="0">
              <a:schemeClr val="phClr">
                <a:tint val="96000"/>
                <a:satMod val="130000"/>
                <a:lumMod val="114000"/>
              </a:schemeClr>
            </a:gs>
            <a:gs pos="60000">
              <a:schemeClr val="phClr">
                <a:tint val="100000"/>
                <a:satMod val="106000"/>
                <a:lumMod val="110000"/>
              </a:schemeClr>
            </a:gs>
            <a:gs pos="100000">
              <a:schemeClr val="ph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50800" dist="38100" dir="5400000" rotWithShape="0">
              <a:srgbClr val="000000">
                <a:alpha val="28000"/>
              </a:srgbClr>
            </a:outerShdw>
          </a:effectLst>
        </a:effectStyle>
        <a:effectStyle>
          <a:effectLst>
            <a:outerShdw blurRad="47625" dist="38100" dir="5400000" sy="98000" rotWithShape="0">
              <a:srgbClr val="000000">
                <a:alpha val="48000"/>
              </a:srgbClr>
            </a:outerShdw>
          </a:effectLst>
          <a:scene3d>
            <a:camera prst="orthographicFront">
              <a:rot lat="0" lon="0" rev="0"/>
            </a:camera>
            <a:lightRig rig="twoPt" dir="br">
              <a:rot lat="0" lon="0" rev="8700000"/>
            </a:lightRig>
          </a:scene3d>
          <a:sp3d prstMaterial="matte">
            <a:bevelT w="25400" h="53975"/>
          </a:sp3d>
        </a:effectStyle>
        <a:effectStyle>
          <a:effectLst>
            <a:reflection blurRad="12700" stA="24000" endPos="28000" dist="50800" dir="5400000" sy="-100000" rotWithShape="0"/>
          </a:effectLst>
          <a:scene3d>
            <a:camera prst="orthographicFront">
              <a:rot lat="0" lon="0" rev="0"/>
            </a:camera>
            <a:lightRig rig="threePt" dir="t">
              <a:rot lat="0" lon="0" rev="4800000"/>
            </a:lightRig>
          </a:scene3d>
          <a:sp3d>
            <a:bevelT w="69850" h="31750"/>
          </a:sp3d>
        </a:effectStyle>
      </a:effectStyleLst>
      <a:bgFillStyleLst>
        <a:solidFill>
          <a:schemeClr val="phClr"/>
        </a:solidFill>
        <a:gradFill rotWithShape="1">
          <a:gsLst>
            <a:gs pos="0">
              <a:schemeClr val="phClr">
                <a:tint val="100000"/>
                <a:shade val="80000"/>
                <a:satMod val="100000"/>
                <a:lumMod val="100000"/>
              </a:schemeClr>
            </a:gs>
            <a:gs pos="65000">
              <a:schemeClr val="phClr">
                <a:tint val="100000"/>
                <a:shade val="95000"/>
                <a:satMod val="100000"/>
                <a:lumMod val="100000"/>
              </a:schemeClr>
            </a:gs>
            <a:gs pos="100000">
              <a:schemeClr val="phClr">
                <a:tint val="88000"/>
                <a:shade val="100000"/>
                <a:satMod val="400000"/>
                <a:lumMod val="100000"/>
              </a:schemeClr>
            </a:gs>
          </a:gsLst>
          <a:lin ang="5400000" scaled="0"/>
        </a:gradFill>
        <a:blipFill rotWithShape="1">
          <a:blip xmlns:r="http://schemas.openxmlformats.org/officeDocument/2006/relationships" r:embed="rId1">
            <a:duotone>
              <a:schemeClr val="phClr">
                <a:tint val="95000"/>
                <a:satMod val="90000"/>
              </a:schemeClr>
              <a:schemeClr val="phClr">
                <a:shade val="92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oldTheme" id="{E044F4A2-B66D-45C2-96C7-FCDC24F4574A}" vid="{A3C9D0F2-0975-40A9-A9D7-E4850D5DE04F}"/>
    </a:ext>
  </a:extLst>
</a:theme>
</file>

<file path=docProps/app.xml><?xml version="1.0" encoding="utf-8"?>
<Properties xmlns="http://schemas.openxmlformats.org/officeDocument/2006/extended-properties" xmlns:vt="http://schemas.openxmlformats.org/officeDocument/2006/docPropsVTypes">
  <Template/>
  <TotalTime>6615</TotalTime>
  <Words>3046</Words>
  <Application>Microsoft Office PowerPoint</Application>
  <PresentationFormat>On-screen Show (4:3)</PresentationFormat>
  <Paragraphs>405</Paragraphs>
  <Slides>36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Courier New</vt:lpstr>
      <vt:lpstr>Wingdings</vt:lpstr>
      <vt:lpstr>oldTheme</vt:lpstr>
      <vt:lpstr>C# - Cursul 9</vt:lpstr>
      <vt:lpstr>C# - Cursul 9</vt:lpstr>
      <vt:lpstr>C# - Cursul 9</vt:lpstr>
      <vt:lpstr>C# - Cursul 9</vt:lpstr>
      <vt:lpstr>C# - Cursul 9</vt:lpstr>
      <vt:lpstr>C# - Cursul 9</vt:lpstr>
      <vt:lpstr>C# - Cursul 9</vt:lpstr>
      <vt:lpstr>C# - Cursul 9</vt:lpstr>
      <vt:lpstr>C# - Cursul 9</vt:lpstr>
      <vt:lpstr>C# - Cursul 9</vt:lpstr>
      <vt:lpstr>C# - Cursul 9</vt:lpstr>
      <vt:lpstr>C# - Cursul 9</vt:lpstr>
      <vt:lpstr>C# - Cursul 9</vt:lpstr>
      <vt:lpstr>C# - Cursul 9</vt:lpstr>
      <vt:lpstr>C# - Cursul 9</vt:lpstr>
      <vt:lpstr>C# - Cursul 9</vt:lpstr>
      <vt:lpstr>C# - Cursul 9</vt:lpstr>
      <vt:lpstr>C# - Cursul 9</vt:lpstr>
      <vt:lpstr>C# - Cursul 9</vt:lpstr>
      <vt:lpstr>C# - Cursul 9</vt:lpstr>
      <vt:lpstr>C# - Cursul 9</vt:lpstr>
      <vt:lpstr>C# - Cursul 9</vt:lpstr>
      <vt:lpstr>C# - Cursul 9</vt:lpstr>
      <vt:lpstr>C# - Cursul 9</vt:lpstr>
      <vt:lpstr>C# - Cursul 9</vt:lpstr>
      <vt:lpstr>C# - Cursul 9</vt:lpstr>
      <vt:lpstr>C# - Cursul 9</vt:lpstr>
      <vt:lpstr>C# - Cursul 9</vt:lpstr>
      <vt:lpstr>C# - Cursul 9</vt:lpstr>
      <vt:lpstr>C# - Cursul 9</vt:lpstr>
      <vt:lpstr>C# - Cursul 9</vt:lpstr>
      <vt:lpstr>C# - Cursul 9</vt:lpstr>
      <vt:lpstr>C# - Cursul 9</vt:lpstr>
      <vt:lpstr>C# - Cursul 9</vt:lpstr>
      <vt:lpstr>C# - Cursul 9</vt:lpstr>
      <vt:lpstr>C# - Cursul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Licenta A3 - Facultatea de Informatica și Ştiinţe</dc:creator>
  <cp:lastModifiedBy>Licenta A3 - Facultatea de Informatica și Ştiinţe</cp:lastModifiedBy>
  <cp:revision>66</cp:revision>
  <dcterms:created xsi:type="dcterms:W3CDTF">2025-10-05T09:43:55Z</dcterms:created>
  <dcterms:modified xsi:type="dcterms:W3CDTF">2025-12-10T10:02:05Z</dcterms:modified>
</cp:coreProperties>
</file>
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1" r:id="rId23"/>
    <p:sldId id="278" r:id="rId24"/>
    <p:sldId id="279" r:id="rId25"/>
    <p:sldId id="282" r:id="rId26"/>
    <p:sldId id="283" r:id="rId27"/>
    <p:sldId id="284" r:id="rId28"/>
    <p:sldId id="280" r:id="rId29"/>
    <p:sldId id="285" r:id="rId30"/>
    <p:sldId id="286" r:id="rId31"/>
    <p:sldId id="287" r:id="rId32"/>
    <p:sldId id="288" r:id="rId33"/>
    <p:sldId id="290" r:id="rId34"/>
    <p:sldId id="291" r:id="rId35"/>
    <p:sldId id="292" r:id="rId36"/>
    <p:sldId id="289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3" autoAdjust="0"/>
    <p:restoredTop sz="94660"/>
  </p:normalViewPr>
  <p:slideViewPr>
    <p:cSldViewPr snapToGrid="0">
      <p:cViewPr varScale="1">
        <p:scale>
          <a:sx n="99" d="100"/>
          <a:sy n="99" d="100"/>
        </p:scale>
        <p:origin x="7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5"/>
            <a:ext cx="7315200" cy="25950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8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5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9"/>
            <a:ext cx="7315200" cy="1098439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2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2"/>
            <a:ext cx="356616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7313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5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4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2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9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4"/>
            <a:ext cx="2950936" cy="2173015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7"/>
            <a:ext cx="2950936" cy="224538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8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62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1" y="1826709"/>
            <a:ext cx="1492499" cy="44844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2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5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1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C7856C7F-C199-47A3-AF94-EAE81E21E31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6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9" y="855958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92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spcBef>
          <a:spcPct val="0"/>
        </a:spcBef>
        <a:buNone/>
        <a:defRPr sz="3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14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5DB9B-9E97-997E-00C8-A8E670BC2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12F9F5-5FD0-BE2C-B5A9-F801A5912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B90E5B-A06C-297E-FF7E-91138F92D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Operatori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Un operator este un simbol care îi spune compilatorului să efectueze manipulări matematice sau logice specifice.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C# are un set bogat de operatori încorporați și oferă următoarele tipuri de operatori:</a:t>
            </a:r>
          </a:p>
        </p:txBody>
      </p:sp>
    </p:spTree>
    <p:extLst>
      <p:ext uri="{BB962C8B-B14F-4D97-AF65-F5344CB8AC3E}">
        <p14:creationId xmlns:p14="http://schemas.microsoft.com/office/powerpoint/2010/main" val="298528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1473D-CEF1-35FE-63EA-69A71C853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E051FC-7554-9EF9-8CA0-07A66C7EC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CF2AC7-137E-56D4-888A-95215B892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Tipuri de operatori in C#: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Operatori aritmetici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Operatori relaționali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Operatori logici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Operatori </a:t>
            </a:r>
            <a:r>
              <a:rPr lang="ro-RO" sz="2800" noProof="0" dirty="0" err="1">
                <a:solidFill>
                  <a:srgbClr val="00B0F0"/>
                </a:solidFill>
              </a:rPr>
              <a:t>bitwise</a:t>
            </a:r>
            <a:r>
              <a:rPr lang="en-US" sz="2800" noProof="0" dirty="0">
                <a:solidFill>
                  <a:srgbClr val="00B0F0"/>
                </a:solidFill>
              </a:rPr>
              <a:t>(pe bi</a:t>
            </a:r>
            <a:r>
              <a:rPr lang="ro-RO" sz="2800" noProof="0" dirty="0">
                <a:solidFill>
                  <a:srgbClr val="00B0F0"/>
                </a:solidFill>
              </a:rPr>
              <a:t>ți</a:t>
            </a:r>
            <a:r>
              <a:rPr lang="en-US" sz="2800" noProof="0" dirty="0">
                <a:solidFill>
                  <a:srgbClr val="00B0F0"/>
                </a:solidFill>
              </a:rPr>
              <a:t>)</a:t>
            </a:r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Operatori de atribuire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Alți diverși operatori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015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7AA06-473B-CCE9-FA95-D2D054EE8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C0EFF1-3854-C56C-07A2-CBB3C95EE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9E5B05-1F48-2ADD-EB5F-EF36F43E8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Operatori aritmetici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Operatorii aritmetici C# efectuează operații matematice precum adunarea, scăderea, înmulțirea, împărțirea și modulul între tipuri de date numerice. Acești operatori sunt operatori binari, care au nevoie de doi operanzi pentru a efectua operațiile.</a:t>
            </a:r>
          </a:p>
        </p:txBody>
      </p:sp>
    </p:spTree>
    <p:extLst>
      <p:ext uri="{BB962C8B-B14F-4D97-AF65-F5344CB8AC3E}">
        <p14:creationId xmlns:p14="http://schemas.microsoft.com/office/powerpoint/2010/main" val="501668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CC18F-BA25-DBEE-1F72-D8039C0E2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628EFE-9CB9-0146-387D-67FDBED0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23543E-7555-D695-70FA-1B25B1E0C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Lista operatorilor aritmetici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Următorul tabel prezintă toți operatorii aritmetici suportați de C#. Presupunem că variabila A conține valoarea 10 și variabila B conține valoarea 20, atunci: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0F5E23-4921-E926-A6E3-7F2C86748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000897"/>
              </p:ext>
            </p:extLst>
          </p:nvPr>
        </p:nvGraphicFramePr>
        <p:xfrm>
          <a:off x="559176" y="3584238"/>
          <a:ext cx="805926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42">
                  <a:extLst>
                    <a:ext uri="{9D8B030D-6E8A-4147-A177-3AD203B41FA5}">
                      <a16:colId xmlns:a16="http://schemas.microsoft.com/office/drawing/2014/main" val="226297537"/>
                    </a:ext>
                  </a:extLst>
                </a:gridCol>
                <a:gridCol w="1237129">
                  <a:extLst>
                    <a:ext uri="{9D8B030D-6E8A-4147-A177-3AD203B41FA5}">
                      <a16:colId xmlns:a16="http://schemas.microsoft.com/office/drawing/2014/main" val="3046459631"/>
                    </a:ext>
                  </a:extLst>
                </a:gridCol>
                <a:gridCol w="3313580">
                  <a:extLst>
                    <a:ext uri="{9D8B030D-6E8A-4147-A177-3AD203B41FA5}">
                      <a16:colId xmlns:a16="http://schemas.microsoft.com/office/drawing/2014/main" val="1529980048"/>
                    </a:ext>
                  </a:extLst>
                </a:gridCol>
                <a:gridCol w="2014817">
                  <a:extLst>
                    <a:ext uri="{9D8B030D-6E8A-4147-A177-3AD203B41FA5}">
                      <a16:colId xmlns:a16="http://schemas.microsoft.com/office/drawing/2014/main" val="3181262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Simbol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Descriere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Exemplu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138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Adunare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Aduna doi operanzi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A + B = 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08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Scădere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Scade doi operanzi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A - B = 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046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Înmulțire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Înmulțește doi operanzi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A * B =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20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Împărțire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Împătrește doi operanzi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B / A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629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 err="1"/>
                        <a:t>Modulo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Restul împărțirii a doi operanzi întregi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B % A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428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Incrementare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Mărește o valoare întreagă cu unu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A++ = 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618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Decrementare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Scade o valoare întreagă cu unu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A-- =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522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453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CA543-47BD-7929-7A1C-BF46F4007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B994EF-B8FA-9030-9B0E-3BC94D53A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F16F09-30D5-BCA8-675C-75FCC93AE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OperatorsAppl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a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21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b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c;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a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b;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"Line 1 -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of c                   	 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is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{0}"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c);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a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b;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"Line 2 -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of 	  c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is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{0}"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c);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130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18A6D-01F8-387A-8CC6-B3BC72905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977D7C-0A63-0130-1769-92BE82456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BF623A-2468-A3BB-3548-274E75384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 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c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a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*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b;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"Line 3 - 	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Value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of c 	 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is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{0}"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c);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	  c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a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/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b;		    	  	  	      	 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"Line 4 -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Value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of c 	 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is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{0}"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c);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 c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a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%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b;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"Line 5 - 	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Value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of c 	 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is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{0}"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c);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 c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a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++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"Line 6 -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Value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of c 	 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is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{0}"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c);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96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5C0F0-BEF5-054D-D6BA-0699192F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974866-6346-BFA9-EC13-200FDB241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C7129-EC2C-8138-1E60-E5D64321D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 c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a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--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"Line 7 -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Value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of c 	 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is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{0}"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c);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ReadLine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();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}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}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507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886CF-F3EA-8366-8F2D-818BED057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234BA2-CCFB-31A2-DA85-723870EB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88D81F-C321-4284-CE34-EED0518BE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	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a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b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double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c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d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Integer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Division: 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	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(a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b));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	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Floating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-Point 	  	 Division: 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(c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d));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}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025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2E48A-493C-C904-127F-CC7CCA593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8B9B9E-0D66-9DF8-A3AF-77D58A59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4156B9-A934-2052-6E61-85E99CDCD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Operatori relaționali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Operatorii relaționali C# compară doi operanzi și returnează fie „</a:t>
            </a:r>
            <a:r>
              <a:rPr lang="ro-RO" sz="2800" noProof="0" dirty="0" err="1">
                <a:solidFill>
                  <a:srgbClr val="00B0F0"/>
                </a:solidFill>
              </a:rPr>
              <a:t>true</a:t>
            </a:r>
            <a:r>
              <a:rPr lang="ro-RO" sz="2800" noProof="0" dirty="0">
                <a:solidFill>
                  <a:srgbClr val="00B0F0"/>
                </a:solidFill>
              </a:rPr>
              <a:t>”(adevărat), fie „false”(fals).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Acești operatori sunt utili pentru luarea deciziilor.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Următorul tabel prezintă toți operatorii relaționali acceptați de C#. Presupunem că variabila A conține 10 și variabila B conține 20, atunci:</a:t>
            </a:r>
          </a:p>
        </p:txBody>
      </p:sp>
    </p:spTree>
    <p:extLst>
      <p:ext uri="{BB962C8B-B14F-4D97-AF65-F5344CB8AC3E}">
        <p14:creationId xmlns:p14="http://schemas.microsoft.com/office/powerpoint/2010/main" val="3402003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5F21D-234B-1F3C-7757-3AE8F3000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F9463E-9092-CD38-EB1A-8B8FF51A7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F19CD1-38EC-B9E3-6D56-904E31ED3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Lista operatorilor relaționali din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BEAF7F-FAD1-AC6C-937D-594BDF8C5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475941"/>
              </p:ext>
            </p:extLst>
          </p:nvPr>
        </p:nvGraphicFramePr>
        <p:xfrm>
          <a:off x="600635" y="2078318"/>
          <a:ext cx="7897906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365">
                  <a:extLst>
                    <a:ext uri="{9D8B030D-6E8A-4147-A177-3AD203B41FA5}">
                      <a16:colId xmlns:a16="http://schemas.microsoft.com/office/drawing/2014/main" val="1828013490"/>
                    </a:ext>
                  </a:extLst>
                </a:gridCol>
                <a:gridCol w="4993341">
                  <a:extLst>
                    <a:ext uri="{9D8B030D-6E8A-4147-A177-3AD203B41FA5}">
                      <a16:colId xmlns:a16="http://schemas.microsoft.com/office/drawing/2014/main" val="107042019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919556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Descriere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Exemplu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59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==</a:t>
                      </a:r>
                      <a:endParaRPr lang="ro-RO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Verifică dacă valorile a doi operanzi sunt egale sau nu, dacă da, condiția devine adevărată.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(A==B) este falsă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245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!=</a:t>
                      </a:r>
                      <a:endParaRPr lang="ro-RO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Verifică dacă valorile a doi operanzi sunt egale sau nu. Dacă valorile nu sunt egale, atunci condiția devine adevărată.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(A != B) este adevărată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65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ro-RO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Verifică dacă valoarea operandului din stânga este mai mare decât valoarea operandului din dreapta; dacă da, condiția devine adevărată.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(A&gt;B) este falsă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645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noProof="0" dirty="0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Verifică dacă valoarea operandului din stânga este mai mică decât valoarea operandului din dreapta; dacă da, condiția devine adevărată.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(A&lt;B) este adevărată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101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noProof="0" dirty="0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Verifică dacă valoarea operandului din stânga este mai mare sau egală cu valoarea operandului din dreapta; dacă da, condiția devine adevărată.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noProof="0" dirty="0"/>
                        <a:t>(A&gt;=B) este falsă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94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noProof="0" dirty="0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Verifică dacă valoarea operandului din stânga este mai mică sau egală cu valoarea operandului din dreapta; dacă da, condiția devine adevărată.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noProof="0" dirty="0"/>
                        <a:t>(A&lt;=B) Este adevărată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918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171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10A53-38B3-0977-D381-8D2EE8BBB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1906AF-343A-2634-B352-4EF4EC231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E8584E-2B52-1EA4-5B39-B67B82399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a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20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b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15</a:t>
            </a:r>
            <a:endParaRPr lang="ro-RO" sz="2400" b="1" noProof="0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Is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a &gt; b? 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(a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</a:p>
          <a:p>
            <a:pPr marL="34290" indent="0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b));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Is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a == b? 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(a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==</a:t>
            </a:r>
            <a:endParaRPr lang="ro-RO" sz="2400" b="1" noProof="0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b));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marL="34290" indent="0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575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AD77C-556D-1280-C8AC-3E8638E2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F84292-A457-6B70-19B2-97EB45B06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039AE6-18A9-563E-42CF-6738C2B82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Operatori logici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Operatorii logici C# combină expresii booleene. Acești operatori sunt utili atunci când aveți mai multe condiții și doriți să le combinați și să le verificați. Rezultatul acestor operatori este fie adevărat, fie fals; adică, acești operatori returnează doar valori booleene.</a:t>
            </a:r>
          </a:p>
        </p:txBody>
      </p:sp>
    </p:spTree>
    <p:extLst>
      <p:ext uri="{BB962C8B-B14F-4D97-AF65-F5344CB8AC3E}">
        <p14:creationId xmlns:p14="http://schemas.microsoft.com/office/powerpoint/2010/main" val="2412066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4B237-E3B3-F90D-DB74-548C4C6B3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D80E7E-E300-A8AD-D9F3-8FCB13D7D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D02BE4-B5F4-4C00-4D4C-B69DEE5B2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Operatori logici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Următorul tabel prezintă toți operatorii logici acceptați de C#.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Presupunem că variabila A conține valoarea booleană „</a:t>
            </a:r>
            <a:r>
              <a:rPr lang="ro-RO" sz="2800" noProof="0" dirty="0" err="1">
                <a:solidFill>
                  <a:srgbClr val="00B0F0"/>
                </a:solidFill>
              </a:rPr>
              <a:t>true</a:t>
            </a:r>
            <a:r>
              <a:rPr lang="ro-RO" sz="2800" noProof="0" dirty="0">
                <a:solidFill>
                  <a:srgbClr val="00B0F0"/>
                </a:solidFill>
              </a:rPr>
              <a:t>” și variabila B conține valoarea booleană „false”, atunci:</a:t>
            </a:r>
          </a:p>
        </p:txBody>
      </p:sp>
    </p:spTree>
    <p:extLst>
      <p:ext uri="{BB962C8B-B14F-4D97-AF65-F5344CB8AC3E}">
        <p14:creationId xmlns:p14="http://schemas.microsoft.com/office/powerpoint/2010/main" val="2529069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55191-7802-8C8B-C614-F7A569E1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DDF0EE-21CE-1167-53C2-AA873EED5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94CB29-6F16-2498-A0F6-2050E0F60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Lista operatorilor logici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92002F-7F2A-6974-DA7A-94DCABEBC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953988"/>
              </p:ext>
            </p:extLst>
          </p:nvPr>
        </p:nvGraphicFramePr>
        <p:xfrm>
          <a:off x="627529" y="1945640"/>
          <a:ext cx="7844117" cy="2496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365">
                  <a:extLst>
                    <a:ext uri="{9D8B030D-6E8A-4147-A177-3AD203B41FA5}">
                      <a16:colId xmlns:a16="http://schemas.microsoft.com/office/drawing/2014/main" val="2208740037"/>
                    </a:ext>
                  </a:extLst>
                </a:gridCol>
                <a:gridCol w="4921624">
                  <a:extLst>
                    <a:ext uri="{9D8B030D-6E8A-4147-A177-3AD203B41FA5}">
                      <a16:colId xmlns:a16="http://schemas.microsoft.com/office/drawing/2014/main" val="3844984686"/>
                    </a:ext>
                  </a:extLst>
                </a:gridCol>
                <a:gridCol w="1999128">
                  <a:extLst>
                    <a:ext uri="{9D8B030D-6E8A-4147-A177-3AD203B41FA5}">
                      <a16:colId xmlns:a16="http://schemas.microsoft.com/office/drawing/2014/main" val="1232747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Descriere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Exemplu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379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noProof="0" dirty="0"/>
                        <a:t>&amp;&amp;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Se numește operator logic AND(ȘI). Dacă ambii operanzi sunt diferiți de zero, atunci condiția devine adevărată.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(A&amp;&amp;B) este falsă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096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noProof="0" dirty="0"/>
                        <a:t>||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Se numește operator logic OR(SAU). Dacă oricare dintre cei doi operanzi este diferit de zero, atunci condiția devine adevărată.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(A||B) este adevărată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246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noProof="0" dirty="0"/>
                        <a:t>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Se numește operator logic NOT(NEGATIE). Se folosește pentru a inversa starea logică a operandului său. Dacă o condiție este adevărată, atunci operatorul logic NOT va face ca aceasta să fie falsă.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!(A&amp;&amp;B) este adevărată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2538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4480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CE07B-AAF2-8DA2-61A6-37E8FC1C4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E7A435-4368-76AD-3377-B08A10FB0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2BD43B-759B-B467-CDF9-AE4867059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bool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x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y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false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"AND (&amp;&amp;) : 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(x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&amp;&amp;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y));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"OR (||) : 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(x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||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y));</a:t>
            </a:r>
          </a:p>
          <a:p>
            <a:pPr marL="34290" indent="0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"NOT (!) : 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!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x));   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marL="34290" indent="0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339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7BB4A-36EB-1D9D-28EE-3E64EA944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E010D-3C17-50ED-A720-AE6FCAD6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94D0A9-7F0A-16C9-5404-48E1D29D1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Operatori pe biți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Operatorii pe biți lucrează pe biți și efectuează operații bit cu bit. Tabelele de adevăr pentru &amp;, | și ^ sunt următoarele: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D263D9-1915-4402-4E30-A6AE7413F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442053"/>
              </p:ext>
            </p:extLst>
          </p:nvPr>
        </p:nvGraphicFramePr>
        <p:xfrm>
          <a:off x="2734235" y="4034117"/>
          <a:ext cx="226218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">
                  <a:extLst>
                    <a:ext uri="{9D8B030D-6E8A-4147-A177-3AD203B41FA5}">
                      <a16:colId xmlns:a16="http://schemas.microsoft.com/office/drawing/2014/main" val="1537631857"/>
                    </a:ext>
                  </a:extLst>
                </a:gridCol>
                <a:gridCol w="335280">
                  <a:extLst>
                    <a:ext uri="{9D8B030D-6E8A-4147-A177-3AD203B41FA5}">
                      <a16:colId xmlns:a16="http://schemas.microsoft.com/office/drawing/2014/main" val="562982831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val="1000371826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441907997"/>
                    </a:ext>
                  </a:extLst>
                </a:gridCol>
                <a:gridCol w="540068">
                  <a:extLst>
                    <a:ext uri="{9D8B030D-6E8A-4147-A177-3AD203B41FA5}">
                      <a16:colId xmlns:a16="http://schemas.microsoft.com/office/drawing/2014/main" val="194783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 err="1"/>
                        <a:t>p&amp;q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 err="1"/>
                        <a:t>p|q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 err="1"/>
                        <a:t>p^q</a:t>
                      </a:r>
                      <a:endParaRPr lang="ro-RO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866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75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657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071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148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433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8CAE1-3949-0D45-6FDC-00AF0717D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3621B3-CF05-DC45-EA09-E71BDA231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B7828F-2A88-D1C4-E029-0F72660DC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Operatori pe biți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Presupunem că A = 60 și B = 13, atunci în format binar acestea sunt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 = 0011 1100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B = 0000 1101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A&amp;B = 0000 1100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A|B = 0011 1101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A^B = 0011 0001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~A  = 1100 0011</a:t>
            </a:r>
          </a:p>
        </p:txBody>
      </p:sp>
    </p:spTree>
    <p:extLst>
      <p:ext uri="{BB962C8B-B14F-4D97-AF65-F5344CB8AC3E}">
        <p14:creationId xmlns:p14="http://schemas.microsoft.com/office/powerpoint/2010/main" val="2834603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FF54A-C360-4572-24C0-A05174E8B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555EB6-05C6-115A-2042-CD7A1FD84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0EA0A9-8B01-6B39-C8D6-1D1B355DA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Operatorii pe biți acceptați de C# sunt enumerați în tabelul următor. Presupunem că variabila A conține 60 și variabila B conține 13, atunci: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572E08-6390-FBA5-7241-4189EAF01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436976"/>
              </p:ext>
            </p:extLst>
          </p:nvPr>
        </p:nvGraphicFramePr>
        <p:xfrm>
          <a:off x="581587" y="2751118"/>
          <a:ext cx="8014446" cy="379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224">
                  <a:extLst>
                    <a:ext uri="{9D8B030D-6E8A-4147-A177-3AD203B41FA5}">
                      <a16:colId xmlns:a16="http://schemas.microsoft.com/office/drawing/2014/main" val="3087325802"/>
                    </a:ext>
                  </a:extLst>
                </a:gridCol>
                <a:gridCol w="4957483">
                  <a:extLst>
                    <a:ext uri="{9D8B030D-6E8A-4147-A177-3AD203B41FA5}">
                      <a16:colId xmlns:a16="http://schemas.microsoft.com/office/drawing/2014/main" val="3880551698"/>
                    </a:ext>
                  </a:extLst>
                </a:gridCol>
                <a:gridCol w="2097739">
                  <a:extLst>
                    <a:ext uri="{9D8B030D-6E8A-4147-A177-3AD203B41FA5}">
                      <a16:colId xmlns:a16="http://schemas.microsoft.com/office/drawing/2014/main" val="307560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Descriere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Exemplu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450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Operatorul pe biți AND(ȘI) copiază un bit în rezultat dacă acesta există în ambii operanzi.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 &amp; B) = 12, 0000 1100</a:t>
                      </a:r>
                      <a:endParaRPr lang="ro-RO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941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Operatorul pe biți OR(SAU) copiază un bit dacă există în oricare dintre operanzi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 | B) = 61, 0011 1101</a:t>
                      </a:r>
                      <a:endParaRPr lang="ro-RO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338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Operatorul pe biți XOR(SAU exclusiv) copiază bitul dacă acesta este setat într-un operand, dar nu în ambele.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 ^ B) = 49, 0011 0001</a:t>
                      </a:r>
                      <a:endParaRPr lang="ro-RO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27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Operatorul pe biți complementul față de 1 și are efectul de „inversare” a biților.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(~A ) = -61, 1100 0011</a:t>
                      </a:r>
                      <a:endParaRPr lang="ro-RO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068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&lt;&lt;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 pe biți de deplasare la stânga. Valoarea operandului din stânga este deplasată la stânga cu numărul de biți specificat de operandul din dreapta.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&lt;&lt; 2 = 240, 1111 0000</a:t>
                      </a:r>
                      <a:endParaRPr lang="ro-RO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032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 pe biți de deplasare la dreapta. Valoarea operandului din stânga este deplasată la dreapta cu numărul de biți specificat de operandul din dreapta.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&gt;&gt; 2 = 15, 0000 1111</a:t>
                      </a:r>
                      <a:endParaRPr lang="ro-RO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375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452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362F8-4A4A-8F43-4766-C2613D82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A019F4-D3E1-0355-F6C2-974CC1CFF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CEB68E-FC62-35FF-925A-6BB2C5094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a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b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Bitwise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AND: 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(a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&amp;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b));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Bitwise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OR: 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(a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|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b));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marL="34290" indent="0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05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30F3A-CD3D-85B4-2380-CD11118DF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9A1FEB-F213-BCB9-2313-80C69AD0B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02B3D2-79E1-0F41-3FFE-0E6797A0F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Operatori de atribuire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Operatorii de atribuire C# atribuie valori variabilelor și, de asemenea, efectuează operații aritmetice în unele cazuri.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Există următorii operatori de atribuire acceptați de C#:</a:t>
            </a:r>
          </a:p>
        </p:txBody>
      </p:sp>
    </p:spTree>
    <p:extLst>
      <p:ext uri="{BB962C8B-B14F-4D97-AF65-F5344CB8AC3E}">
        <p14:creationId xmlns:p14="http://schemas.microsoft.com/office/powerpoint/2010/main" val="981378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CD036-AB71-265A-5A67-30680763D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738692-B107-5273-4E5E-17EA74F3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A93562-B78A-4B1D-9312-99510FA5B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Lista operatorilor de atribuire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973F3B-2FA0-9501-A2F4-75449B74A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54163"/>
              </p:ext>
            </p:extLst>
          </p:nvPr>
        </p:nvGraphicFramePr>
        <p:xfrm>
          <a:off x="463925" y="2022642"/>
          <a:ext cx="8216151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113">
                  <a:extLst>
                    <a:ext uri="{9D8B030D-6E8A-4147-A177-3AD203B41FA5}">
                      <a16:colId xmlns:a16="http://schemas.microsoft.com/office/drawing/2014/main" val="1079247520"/>
                    </a:ext>
                  </a:extLst>
                </a:gridCol>
                <a:gridCol w="4812631">
                  <a:extLst>
                    <a:ext uri="{9D8B030D-6E8A-4147-A177-3AD203B41FA5}">
                      <a16:colId xmlns:a16="http://schemas.microsoft.com/office/drawing/2014/main" val="4244565555"/>
                    </a:ext>
                  </a:extLst>
                </a:gridCol>
                <a:gridCol w="2481407">
                  <a:extLst>
                    <a:ext uri="{9D8B030D-6E8A-4147-A177-3AD203B41FA5}">
                      <a16:colId xmlns:a16="http://schemas.microsoft.com/office/drawing/2014/main" val="865086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Descriere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Exemplu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969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noProof="0" dirty="0"/>
                        <a:t>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 simplu de atribuire, atribuie valori de la operanzii din dreapta la operandul din stânga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C = A + B atribuie valoarea lui A + B lui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03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noProof="0" dirty="0"/>
                        <a:t>+=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Operatorul adunare și atribuire. Adună operandul din dreapta la operandul din stânga și atribuie rezultatul operandului din stânga.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C += A este echivalent cu C = C +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893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noProof="0" dirty="0"/>
                        <a:t>-=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Operatorul de scădere și atribuire. Scade operandul drept din operandul stâng și atribuie rezultatul operandului stâng.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C -= A este echivalent cu C = C -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noProof="0" dirty="0"/>
                        <a:t>*=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Operatorul de înmulțire și atribuire. Înmulțește operandul drept cu operandul stâng și atribuie rezultatul operandului stâng.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C *= A este echivalent cu C = C *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723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noProof="0" dirty="0"/>
                        <a:t>/=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Operatorul de împărțire și atribuire. Împarte operandul din stânga cu operandul din dreapta și atribuie rezultatul operandului din stânga.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C /= A este echivalent cu C = C /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638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noProof="0" dirty="0"/>
                        <a:t>%=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Operatorul de rest și atribuire. Restul împărțirii operandului din stânga la operandul din dreapta este atribuit operandului din stânga.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C %= A este echivalent cu C = C %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7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641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31512-9844-1209-D42F-3AC36F03D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9A9521-F286-0D04-5661-E705F0C86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9BEC98-7D48-046C-8315-21D426649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Lista operatorilor de atribuire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BD1494-B2B7-662F-B817-1EE63DFC8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035694"/>
              </p:ext>
            </p:extLst>
          </p:nvPr>
        </p:nvGraphicFramePr>
        <p:xfrm>
          <a:off x="463925" y="2022642"/>
          <a:ext cx="808330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204">
                  <a:extLst>
                    <a:ext uri="{9D8B030D-6E8A-4147-A177-3AD203B41FA5}">
                      <a16:colId xmlns:a16="http://schemas.microsoft.com/office/drawing/2014/main" val="1079247520"/>
                    </a:ext>
                  </a:extLst>
                </a:gridCol>
                <a:gridCol w="4192273">
                  <a:extLst>
                    <a:ext uri="{9D8B030D-6E8A-4147-A177-3AD203B41FA5}">
                      <a16:colId xmlns:a16="http://schemas.microsoft.com/office/drawing/2014/main" val="4244565555"/>
                    </a:ext>
                  </a:extLst>
                </a:gridCol>
                <a:gridCol w="2983832">
                  <a:extLst>
                    <a:ext uri="{9D8B030D-6E8A-4147-A177-3AD203B41FA5}">
                      <a16:colId xmlns:a16="http://schemas.microsoft.com/office/drawing/2014/main" val="865086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Descriere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Exemplu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969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&lt;&lt;=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Operatorul de deplasare la stânga și de atribuire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C &lt;&lt;= 2 este același cu C = C &lt;&lt;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03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&gt;&gt;=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Operatorul de deplasare la dreapta și de atribuire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C &gt;&gt;= 2 este același cu C = C &gt;&gt;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893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&amp;=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Operatorul AND la nivel de bit și de atribuire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C &amp; = 2 este același cu C = C &amp;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^=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Operatorul SAU exclusiv pe biți și de atribuire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C ^= 2 este același cu C = C ^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723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|=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Operatorul SAU inclusiv pe biți și de atribuire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C |= 2 este același cu C = C |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638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930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1552B-9C12-A2BD-DCE2-7D700B321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69B941-F13E-D603-FB18-34BC43A01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25810F-3F83-DD1D-2D33-E33FDE4DC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Program {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num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num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o-RO" sz="24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Equivalent</a:t>
            </a:r>
            <a:r>
              <a:rPr lang="ro-RO" sz="24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ro-RO" sz="24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num = num + 5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(num);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" indent="0" algn="just">
              <a:buNone/>
            </a:pPr>
            <a:endParaRPr lang="ro-RO" sz="2400" b="1" noProof="0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546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8315E-88BE-8634-E524-4E501EE6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6B3CD5-C395-85D6-622B-5342739EC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115C3C-6979-EAA2-E0F9-117FF3E9F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Operatorul ternar in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Operatorul ternar C# necesită trei operanzi și efectuează o verificare condițională; este o scurtătură pentru instrucțiunile </a:t>
            </a:r>
            <a:r>
              <a:rPr lang="ro-RO" sz="2800" noProof="0" dirty="0" err="1">
                <a:solidFill>
                  <a:srgbClr val="00B0F0"/>
                </a:solidFill>
              </a:rPr>
              <a:t>if-else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Sintaxa:</a:t>
            </a:r>
          </a:p>
          <a:p>
            <a:pPr marL="34290" indent="0">
              <a:buNone/>
            </a:pPr>
            <a:r>
              <a:rPr lang="ro-RO" sz="2400" b="1" i="0" noProof="0" dirty="0">
                <a:solidFill>
                  <a:srgbClr val="EEF0F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</a:rPr>
              <a:t>condition</a:t>
            </a:r>
            <a:r>
              <a:rPr lang="ro-RO" sz="2400" b="1" i="0" noProof="0" dirty="0">
                <a:solidFill>
                  <a:srgbClr val="EEF0FF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ro-RO" sz="2400" b="1" i="0" noProof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?</a:t>
            </a:r>
            <a:r>
              <a:rPr lang="ro-RO" sz="2400" b="1" i="0" noProof="0" dirty="0">
                <a:solidFill>
                  <a:srgbClr val="EEF0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92D050"/>
                </a:solidFill>
                <a:effectLst/>
                <a:latin typeface="Courier New" panose="02070309020205020404" pitchFamily="49" charset="0"/>
              </a:rPr>
              <a:t>expressionIfTrue</a:t>
            </a:r>
            <a:r>
              <a:rPr lang="ro-RO" sz="2400" b="1" i="0" noProof="0" dirty="0">
                <a:solidFill>
                  <a:srgbClr val="EEF0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ro-RO" sz="2400" b="1" i="0" noProof="0" dirty="0">
                <a:solidFill>
                  <a:srgbClr val="EEF0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92D050"/>
                </a:solidFill>
                <a:effectLst/>
                <a:latin typeface="Courier New" panose="02070309020205020404" pitchFamily="49" charset="0"/>
              </a:rPr>
              <a:t>expressionIfFalse</a:t>
            </a:r>
            <a:r>
              <a:rPr lang="ro-RO" sz="2400" b="1" i="0" noProof="0" dirty="0">
                <a:solidFill>
                  <a:srgbClr val="EEF0FF"/>
                </a:solidFill>
                <a:effectLst/>
                <a:latin typeface="Courier New" panose="02070309020205020404" pitchFamily="49" charset="0"/>
              </a:rPr>
              <a:t>;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4851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C4C94-8249-5883-917F-A532A9228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EEDBCE-A4BC-1F13-A47D-7EC68F348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A71A02-E23B-8F6F-3C7D-9EE44E6BE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noProof="0" dirty="0">
                <a:solidFill>
                  <a:srgbClr val="00B0F0"/>
                </a:solidFill>
              </a:rPr>
              <a:t>Operatorul ternar in C#</a:t>
            </a:r>
          </a:p>
          <a:p>
            <a:pPr marL="34290" indent="0" algn="just">
              <a:buNone/>
            </a:pPr>
            <a:endParaRPr lang="ro-RO" sz="2400" b="1" i="0" noProof="0" dirty="0">
              <a:solidFill>
                <a:srgbClr val="CC99CD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age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18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age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&gt;=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18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? 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Eligible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  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to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vote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: 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eligible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}</a:t>
            </a:r>
          </a:p>
          <a:p>
            <a:pPr marL="34290" indent="0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142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01A2C-BC3F-847A-A911-8F360B0CC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0C32C6-BCB7-C037-E7E1-958CC2560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E94A88-FA1D-8513-2F8C-93BF285C9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Alți operatori diverși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Operatorii diverși din C# sunt operatori speciali care nu se încadrează în categoriile aritmetice, logice, relaționale sau pe biți.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Acești operatori sunt utilizați în principal pentru verificarea tipurilor, gestionarea valorilor nule și referirea la memorie.</a:t>
            </a:r>
          </a:p>
        </p:txBody>
      </p:sp>
    </p:spTree>
    <p:extLst>
      <p:ext uri="{BB962C8B-B14F-4D97-AF65-F5344CB8AC3E}">
        <p14:creationId xmlns:p14="http://schemas.microsoft.com/office/powerpoint/2010/main" val="2228907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5CD79-FA8B-83C6-C9C9-63D40DB9E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C3183D-5966-1D33-F149-EAA480B2E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37F079-EBDA-91A2-E4A7-AD9EB8F22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Alți operatori diverși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7778BB-259A-9375-0F2D-D6CE4534E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405082"/>
              </p:ext>
            </p:extLst>
          </p:nvPr>
        </p:nvGraphicFramePr>
        <p:xfrm>
          <a:off x="561473" y="1964764"/>
          <a:ext cx="7937634" cy="3741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430">
                  <a:extLst>
                    <a:ext uri="{9D8B030D-6E8A-4147-A177-3AD203B41FA5}">
                      <a16:colId xmlns:a16="http://schemas.microsoft.com/office/drawing/2014/main" val="3239833713"/>
                    </a:ext>
                  </a:extLst>
                </a:gridCol>
                <a:gridCol w="4210385">
                  <a:extLst>
                    <a:ext uri="{9D8B030D-6E8A-4147-A177-3AD203B41FA5}">
                      <a16:colId xmlns:a16="http://schemas.microsoft.com/office/drawing/2014/main" val="2836570722"/>
                    </a:ext>
                  </a:extLst>
                </a:gridCol>
                <a:gridCol w="2521819">
                  <a:extLst>
                    <a:ext uri="{9D8B030D-6E8A-4147-A177-3AD203B41FA5}">
                      <a16:colId xmlns:a16="http://schemas.microsoft.com/office/drawing/2014/main" val="997103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Descriere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Exemplu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763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sizeof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Returnează dimensiunea unui tip de date.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sizeof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returnează 4.</a:t>
                      </a:r>
                      <a:endParaRPr lang="ro-RO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912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typeof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 err="1"/>
                        <a:t>Returns</a:t>
                      </a:r>
                      <a:r>
                        <a:rPr lang="ro-RO" noProof="0" dirty="0"/>
                        <a:t> </a:t>
                      </a:r>
                      <a:r>
                        <a:rPr lang="ro-RO" noProof="0" dirty="0" err="1"/>
                        <a:t>the</a:t>
                      </a:r>
                      <a:r>
                        <a:rPr lang="ro-RO" noProof="0" dirty="0"/>
                        <a:t> </a:t>
                      </a:r>
                      <a:r>
                        <a:rPr lang="ro-RO" noProof="0" dirty="0" err="1"/>
                        <a:t>type</a:t>
                      </a:r>
                      <a:r>
                        <a:rPr lang="ro-RO" noProof="0" dirty="0"/>
                        <a:t> of a </a:t>
                      </a:r>
                      <a:r>
                        <a:rPr lang="ro-RO" noProof="0" dirty="0" err="1"/>
                        <a:t>class</a:t>
                      </a:r>
                      <a:r>
                        <a:rPr lang="ro-RO" noProof="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typeof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StreamReader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ro-RO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475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Returnează adresa unei variabile.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&amp;a; returnează adresa reală a variabilei.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95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Pointer către o variabilă.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*a; creează un pointer numit 'a' către o variabilă.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551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 err="1"/>
                        <a:t>is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Determină dacă un obiect aparține unui anumit tip.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 err="1"/>
                        <a:t>If</a:t>
                      </a:r>
                      <a:r>
                        <a:rPr lang="ro-RO" noProof="0" dirty="0"/>
                        <a:t>(Ford </a:t>
                      </a:r>
                      <a:r>
                        <a:rPr lang="ro-RO" noProof="0" dirty="0" err="1"/>
                        <a:t>is</a:t>
                      </a:r>
                      <a:r>
                        <a:rPr lang="ro-RO" noProof="0" dirty="0"/>
                        <a:t> Car) // verifică dacă Ford este un obiect al clasei Car.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946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Convertește fără a genera o excepție dacă conversia eșuează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StringReader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</a:t>
                      </a:r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Hello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");</a:t>
                      </a:r>
                      <a:endParaRPr lang="ro-RO" noProof="0" dirty="0"/>
                    </a:p>
                    <a:p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StringReader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 = </a:t>
                      </a:r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 </a:t>
                      </a:r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StringReader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542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649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AAE01-66DA-5769-67FA-D2095ECF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C3F643-CD69-1BBF-C98A-9135E3B47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1D27CA-9E60-1F18-95F7-F04FF2CE1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Type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of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typeof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)); 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// </a:t>
            </a:r>
            <a:r>
              <a:rPr lang="ro-RO" sz="2400" b="1" noProof="0" dirty="0" err="1">
                <a:solidFill>
                  <a:srgbClr val="999999"/>
                </a:solidFill>
                <a:latin typeface="Courier New" panose="02070309020205020404" pitchFamily="49" charset="0"/>
              </a:rPr>
              <a:t>typeof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operator</a:t>
            </a:r>
          </a:p>
          <a:p>
            <a:pPr marL="34290" indent="0">
              <a:buNone/>
            </a:pPr>
            <a:endParaRPr lang="ro-RO" sz="2400" b="1" i="0" noProof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Size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of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sizeof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));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// </a:t>
            </a:r>
            <a:r>
              <a:rPr lang="ro-RO" sz="2400" b="1" noProof="0" dirty="0" err="1">
                <a:solidFill>
                  <a:srgbClr val="999999"/>
                </a:solidFill>
                <a:latin typeface="Courier New" panose="02070309020205020404" pitchFamily="49" charset="0"/>
              </a:rPr>
              <a:t>sizeof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operator</a:t>
            </a:r>
          </a:p>
          <a:p>
            <a:pPr marL="34290" indent="0">
              <a:buNone/>
            </a:pPr>
            <a:endParaRPr lang="ro-RO" sz="2400" b="1" i="0" noProof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obj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Hello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Is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obj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a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? 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obj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)); 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// </a:t>
            </a:r>
            <a:r>
              <a:rPr lang="ro-RO" sz="2400" b="1" noProof="0" dirty="0" err="1">
                <a:solidFill>
                  <a:srgbClr val="999999"/>
                </a:solidFill>
                <a:latin typeface="Courier New" panose="02070309020205020404" pitchFamily="49" charset="0"/>
              </a:rPr>
              <a:t>is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operator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</a:p>
          <a:p>
            <a:pPr marL="34290" indent="0">
              <a:buNone/>
            </a:pPr>
            <a:endParaRPr lang="ro-RO" sz="2400" b="1" i="0" noProof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249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E5712-CFC0-EC07-213B-8C01740A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ED9B26-2C74-0D69-FF3B-EED9446C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252133-27FF-B035-FF7E-F69D9C438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// as operator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'as' operator: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??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Conversion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failed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));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</a:p>
          <a:p>
            <a:pPr marL="34290" indent="0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variableName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nameof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Variable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variableName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// </a:t>
            </a:r>
            <a:r>
              <a:rPr lang="ro-RO" sz="2400" b="1" noProof="0" dirty="0" err="1">
                <a:solidFill>
                  <a:srgbClr val="999999"/>
                </a:solidFill>
                <a:latin typeface="Courier New" panose="02070309020205020404" pitchFamily="49" charset="0"/>
              </a:rPr>
              <a:t>nameof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operator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endParaRPr lang="ro-RO" sz="2400" b="1" i="0" noProof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</a:p>
          <a:p>
            <a:pPr marL="34290" indent="0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429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CE162-9D76-3AD9-3345-546137FC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54A848-E856-25DF-CA01-41E3EA9E0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4ADA35-5F06-B2BD-3DD7-BE0B49BDF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Precedența(prioritatea) operatorilor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Prioritatea operatorilor determină gruparea termenilor dintr-o expresie. Aceasta afectează evaluarea unei expresii. Anumiți operatori au o prioritate mai mare decât alții; de exemplu, operatorul de înmulțire are o prioritate mai mare decât operatorul de adunare.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80944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C71C0-9D54-7807-5B2B-C2C54C5E4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723840-188E-6A6B-5F59-965F9D5C8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64CD21-9781-68F4-A5E8-70688EC5F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Precedența(prioritatea) operatorilor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 exemplu, x = 7 + 3 * 2; aici, lui x i se atribuie valoarea 13, nu 20, deoarece operatorul * are o prioritate mai mare decât +, deci prima evaluare are loc pentru 3 * 2 și apoi se adaugă 7.</a:t>
            </a:r>
          </a:p>
        </p:txBody>
      </p:sp>
    </p:spTree>
    <p:extLst>
      <p:ext uri="{BB962C8B-B14F-4D97-AF65-F5344CB8AC3E}">
        <p14:creationId xmlns:p14="http://schemas.microsoft.com/office/powerpoint/2010/main" val="16677106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065A-DD6E-2068-3E0C-87434C66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88451D-D626-AFDB-FE5B-1A60849B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8165B7-EB1F-0D17-5367-574FEC9C7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Precedența(prioritatea) operatorilor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4AE0E3-7169-DEF8-B911-5AF16E5B2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766717"/>
              </p:ext>
            </p:extLst>
          </p:nvPr>
        </p:nvGraphicFramePr>
        <p:xfrm>
          <a:off x="619226" y="1945640"/>
          <a:ext cx="789913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098">
                  <a:extLst>
                    <a:ext uri="{9D8B030D-6E8A-4147-A177-3AD203B41FA5}">
                      <a16:colId xmlns:a16="http://schemas.microsoft.com/office/drawing/2014/main" val="3693970401"/>
                    </a:ext>
                  </a:extLst>
                </a:gridCol>
                <a:gridCol w="3170990">
                  <a:extLst>
                    <a:ext uri="{9D8B030D-6E8A-4147-A177-3AD203B41FA5}">
                      <a16:colId xmlns:a16="http://schemas.microsoft.com/office/drawing/2014/main" val="2945646787"/>
                    </a:ext>
                  </a:extLst>
                </a:gridCol>
                <a:gridCol w="2633044">
                  <a:extLst>
                    <a:ext uri="{9D8B030D-6E8A-4147-A177-3AD203B41FA5}">
                      <a16:colId xmlns:a16="http://schemas.microsoft.com/office/drawing/2014/main" val="1210960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Categorie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Asociativitate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87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Postfix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[] -&gt; . ++ - -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78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Unari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- ! ~ ++ - - (</a:t>
                      </a:r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)* &amp; </a:t>
                      </a:r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sizeof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dreapta la stânga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040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Multiplicativi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/ %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13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Adiție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-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Deplasare pe biți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 &gt;&gt;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939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Relaționali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 &lt;= &gt; &gt;=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899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Egalitate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== !=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988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5094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A924-BF63-7F38-1FAE-CB64DEF2E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D013B3-5961-D8F9-A77F-650746B9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5ED413-C7D7-1EF1-C42B-E426FEFA5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Precedența(prioritatea) operatorilor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2A5CAA-D32B-4DB1-08C3-AEB46E3DD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96477"/>
              </p:ext>
            </p:extLst>
          </p:nvPr>
        </p:nvGraphicFramePr>
        <p:xfrm>
          <a:off x="619226" y="1945640"/>
          <a:ext cx="789913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4723">
                  <a:extLst>
                    <a:ext uri="{9D8B030D-6E8A-4147-A177-3AD203B41FA5}">
                      <a16:colId xmlns:a16="http://schemas.microsoft.com/office/drawing/2014/main" val="3693970401"/>
                    </a:ext>
                  </a:extLst>
                </a:gridCol>
                <a:gridCol w="3161365">
                  <a:extLst>
                    <a:ext uri="{9D8B030D-6E8A-4147-A177-3AD203B41FA5}">
                      <a16:colId xmlns:a16="http://schemas.microsoft.com/office/drawing/2014/main" val="2945646787"/>
                    </a:ext>
                  </a:extLst>
                </a:gridCol>
                <a:gridCol w="2633044">
                  <a:extLst>
                    <a:ext uri="{9D8B030D-6E8A-4147-A177-3AD203B41FA5}">
                      <a16:colId xmlns:a16="http://schemas.microsoft.com/office/drawing/2014/main" val="1210960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Categorie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Asociativitate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87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AND pe </a:t>
                      </a:r>
                      <a:r>
                        <a:rPr lang="ro-RO" noProof="0" dirty="0" err="1"/>
                        <a:t>biti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78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XOR pe </a:t>
                      </a:r>
                      <a:r>
                        <a:rPr lang="ro-RO" noProof="0" dirty="0" err="1"/>
                        <a:t>biti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040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OR pe </a:t>
                      </a:r>
                      <a:r>
                        <a:rPr lang="ro-RO" noProof="0" dirty="0" err="1"/>
                        <a:t>biti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13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AND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OR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939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Condițional(ternar)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?: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dreapta la stânga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899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Atribuire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noProof="0" dirty="0">
                          <a:effectLst/>
                        </a:rPr>
                        <a:t>= += -= *= /= %=&gt;&gt;= &lt;&lt;= &amp;= ^= |=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noProof="0" dirty="0"/>
                        <a:t>De la dreapta la stânga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988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507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F27FB-FD39-466E-7563-79CD2DBB3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D271C1-7C6E-791B-7B41-5F61F1AD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2DE3F8-864D-2A8E-73FB-E4BFD2238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Precedența(prioritatea) operatorilor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D91F82-68CC-E12D-E4A1-D48567FD8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923130"/>
              </p:ext>
            </p:extLst>
          </p:nvPr>
        </p:nvGraphicFramePr>
        <p:xfrm>
          <a:off x="619226" y="1945640"/>
          <a:ext cx="7899132" cy="346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098">
                  <a:extLst>
                    <a:ext uri="{9D8B030D-6E8A-4147-A177-3AD203B41FA5}">
                      <a16:colId xmlns:a16="http://schemas.microsoft.com/office/drawing/2014/main" val="3693970401"/>
                    </a:ext>
                  </a:extLst>
                </a:gridCol>
                <a:gridCol w="3170990">
                  <a:extLst>
                    <a:ext uri="{9D8B030D-6E8A-4147-A177-3AD203B41FA5}">
                      <a16:colId xmlns:a16="http://schemas.microsoft.com/office/drawing/2014/main" val="2945646787"/>
                    </a:ext>
                  </a:extLst>
                </a:gridCol>
                <a:gridCol w="2633044">
                  <a:extLst>
                    <a:ext uri="{9D8B030D-6E8A-4147-A177-3AD203B41FA5}">
                      <a16:colId xmlns:a16="http://schemas.microsoft.com/office/drawing/2014/main" val="1210960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Nivel de precedenta</a:t>
                      </a:r>
                    </a:p>
                    <a:p>
                      <a:r>
                        <a:rPr lang="ro-RO" noProof="0" dirty="0"/>
                        <a:t>Le la mare la mică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Asociativitate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87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ce mai mare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[] .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78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++ -- (postfix)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040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++ -- + - (prefix) ! ~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dreapta la stânga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13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* /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777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-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 &gt;&gt;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939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 &lt;= &gt; &gt;=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899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== !=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988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7553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29164-37E0-D535-4C8E-A6C105D4B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40C51C-84CA-59A1-2F29-AE6FF2617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281621-4FAA-9464-7F68-88B88F402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Precedența(prioritatea) operatorilor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CC8EB7-5DAF-9314-3006-3A3340D1E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094215"/>
              </p:ext>
            </p:extLst>
          </p:nvPr>
        </p:nvGraphicFramePr>
        <p:xfrm>
          <a:off x="619226" y="1945640"/>
          <a:ext cx="7899132" cy="346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098">
                  <a:extLst>
                    <a:ext uri="{9D8B030D-6E8A-4147-A177-3AD203B41FA5}">
                      <a16:colId xmlns:a16="http://schemas.microsoft.com/office/drawing/2014/main" val="3693970401"/>
                    </a:ext>
                  </a:extLst>
                </a:gridCol>
                <a:gridCol w="3170990">
                  <a:extLst>
                    <a:ext uri="{9D8B030D-6E8A-4147-A177-3AD203B41FA5}">
                      <a16:colId xmlns:a16="http://schemas.microsoft.com/office/drawing/2014/main" val="2945646787"/>
                    </a:ext>
                  </a:extLst>
                </a:gridCol>
                <a:gridCol w="2633044">
                  <a:extLst>
                    <a:ext uri="{9D8B030D-6E8A-4147-A177-3AD203B41FA5}">
                      <a16:colId xmlns:a16="http://schemas.microsoft.com/office/drawing/2014/main" val="1210960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Nivel de precedenta</a:t>
                      </a:r>
                    </a:p>
                    <a:p>
                      <a:r>
                        <a:rPr lang="ro-RO" noProof="0" dirty="0"/>
                        <a:t>Le la mare la mică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Operatori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Asociativitate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87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78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040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13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777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?: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dreapta la stânga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939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noProof="0" dirty="0">
                          <a:effectLst/>
                        </a:rPr>
                        <a:t>= += -= *= /= %=&gt;&gt;= &lt;&lt;= &amp;= ^= |=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dreapta la stânga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899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16 cea mai 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, operatorul virgulă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la stânga la dreapta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988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889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3A05B-C66C-7DA2-F332-07E6E9250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E2FFEE-F32E-E70E-FA05-5172E0D87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009DB3-FEC8-6FDD-500E-8BE0B7027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Precedența operatorilor în C# </a:t>
            </a:r>
            <a:r>
              <a:rPr lang="ro-RO" sz="2800" noProof="0">
                <a:solidFill>
                  <a:srgbClr val="00B0F0"/>
                </a:solidFill>
              </a:rPr>
              <a:t>- exemple 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740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ldThem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ldTheme" id="{E044F4A2-B66D-45C2-96C7-FCDC24F4574A}" vid="{A3C9D0F2-0975-40A9-A9D7-E4850D5DE0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3980</TotalTime>
  <Words>2949</Words>
  <Application>Microsoft Office PowerPoint</Application>
  <PresentationFormat>On-screen Show (4:3)</PresentationFormat>
  <Paragraphs>492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Courier New</vt:lpstr>
      <vt:lpstr>Wingdings</vt:lpstr>
      <vt:lpstr>oldTheme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Licenta A3 - Facultatea de Informatica și Ştiinţe</dc:creator>
  <cp:lastModifiedBy>Licenta A3 - Facultatea de Informatica și Ştiinţe</cp:lastModifiedBy>
  <cp:revision>33</cp:revision>
  <dcterms:created xsi:type="dcterms:W3CDTF">2025-10-05T09:43:55Z</dcterms:created>
  <dcterms:modified xsi:type="dcterms:W3CDTF">2025-10-29T09:56:01Z</dcterms:modified>
</cp:coreProperties>
</file>
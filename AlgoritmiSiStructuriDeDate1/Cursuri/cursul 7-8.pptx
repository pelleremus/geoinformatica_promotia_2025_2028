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2" r:id="rId2"/>
    <p:sldId id="257" r:id="rId3"/>
    <p:sldId id="283" r:id="rId4"/>
    <p:sldId id="284" r:id="rId5"/>
    <p:sldId id="285" r:id="rId6"/>
    <p:sldId id="286"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302" r:id="rId23"/>
    <p:sldId id="303" r:id="rId24"/>
    <p:sldId id="304" r:id="rId25"/>
    <p:sldId id="305" r:id="rId26"/>
    <p:sldId id="306" r:id="rId27"/>
    <p:sldId id="307" r:id="rId28"/>
    <p:sldId id="308" r:id="rId29"/>
    <p:sldId id="309" r:id="rId30"/>
    <p:sldId id="310" r:id="rId31"/>
    <p:sldId id="311" r:id="rId32"/>
    <p:sldId id="312" r:id="rId33"/>
    <p:sldId id="313" r:id="rId34"/>
    <p:sldId id="314" r:id="rId35"/>
    <p:sldId id="315" r:id="rId36"/>
    <p:sldId id="316" r:id="rId37"/>
    <p:sldId id="317" r:id="rId38"/>
    <p:sldId id="318" r:id="rId39"/>
    <p:sldId id="319" r:id="rId40"/>
    <p:sldId id="320" r:id="rId41"/>
    <p:sldId id="321" r:id="rId42"/>
    <p:sldId id="322" r:id="rId43"/>
    <p:sldId id="323" r:id="rId44"/>
    <p:sldId id="324" r:id="rId45"/>
    <p:sldId id="325" r:id="rId46"/>
    <p:sldId id="326" r:id="rId47"/>
    <p:sldId id="327" r:id="rId48"/>
    <p:sldId id="328" r:id="rId49"/>
    <p:sldId id="329" r:id="rId50"/>
    <p:sldId id="330" r:id="rId51"/>
    <p:sldId id="331" r:id="rId52"/>
    <p:sldId id="332" r:id="rId53"/>
    <p:sldId id="337" r:id="rId54"/>
    <p:sldId id="333" r:id="rId55"/>
    <p:sldId id="334" r:id="rId56"/>
    <p:sldId id="335" r:id="rId57"/>
    <p:sldId id="336" r:id="rId58"/>
    <p:sldId id="338" r:id="rId59"/>
    <p:sldId id="339" r:id="rId60"/>
    <p:sldId id="340" r:id="rId61"/>
    <p:sldId id="341" r:id="rId62"/>
    <p:sldId id="342" r:id="rId63"/>
    <p:sldId id="343" r:id="rId64"/>
    <p:sldId id="345" r:id="rId65"/>
    <p:sldId id="344"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E89"/>
    <a:srgbClr val="262F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63" autoAdjust="0"/>
    <p:restoredTop sz="94660"/>
  </p:normalViewPr>
  <p:slideViewPr>
    <p:cSldViewPr snapToGrid="0">
      <p:cViewPr varScale="1">
        <p:scale>
          <a:sx n="107" d="100"/>
          <a:sy n="107" d="100"/>
        </p:scale>
        <p:origin x="176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5"/>
            <a:ext cx="7315200" cy="2595025"/>
          </a:xfrm>
        </p:spPr>
        <p:txBody>
          <a:bodyPr>
            <a:normAutofit/>
          </a:bodyPr>
          <a:lstStyle>
            <a:lvl1pPr>
              <a:defRPr sz="36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165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856C7F-C199-47A3-AF94-EAE81E21E31B}" type="datetimeFigureOut">
              <a:rPr lang="en-US" smtClean="0"/>
              <a:t>12/3/2025</a:t>
            </a:fld>
            <a:endParaRPr lang="en-US"/>
          </a:p>
        </p:txBody>
      </p:sp>
      <p:sp>
        <p:nvSpPr>
          <p:cNvPr id="8" name="Slide Number Placeholder 7"/>
          <p:cNvSpPr>
            <a:spLocks noGrp="1"/>
          </p:cNvSpPr>
          <p:nvPr>
            <p:ph type="sldNum" sz="quarter" idx="11"/>
          </p:nvPr>
        </p:nvSpPr>
        <p:spPr/>
        <p:txBody>
          <a:bodyPr/>
          <a:lstStyle/>
          <a:p>
            <a:fld id="{E13EF8AE-9767-4E5A-802F-66A2B36F74A8}"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71998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56C7F-C199-47A3-AF94-EAE81E21E31B}"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09895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3000" b="0" cap="none"/>
            </a:lvl1pPr>
          </a:lstStyle>
          <a:p>
            <a:r>
              <a:rPr lang="en-US"/>
              <a:t>Click to edit Master title style</a:t>
            </a:r>
          </a:p>
        </p:txBody>
      </p:sp>
      <p:sp>
        <p:nvSpPr>
          <p:cNvPr id="3" name="Text Placeholder 2"/>
          <p:cNvSpPr>
            <a:spLocks noGrp="1"/>
          </p:cNvSpPr>
          <p:nvPr>
            <p:ph type="body" idx="1"/>
          </p:nvPr>
        </p:nvSpPr>
        <p:spPr>
          <a:xfrm>
            <a:off x="914400" y="3865099"/>
            <a:ext cx="7315200" cy="1098439"/>
          </a:xfrm>
        </p:spPr>
        <p:txBody>
          <a:bodyPr anchor="b"/>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56C7F-C199-47A3-AF94-EAE81E21E31B}"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771426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856C7F-C199-47A3-AF94-EAE81E21E31B}"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
        <p:nvSpPr>
          <p:cNvPr id="9" name="Title 8"/>
          <p:cNvSpPr>
            <a:spLocks noGrp="1"/>
          </p:cNvSpPr>
          <p:nvPr>
            <p:ph type="title"/>
          </p:nvPr>
        </p:nvSpPr>
        <p:spPr>
          <a:xfrm>
            <a:off x="914400" y="1544717"/>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2"/>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7313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4"/>
          <p:cNvSpPr>
            <a:spLocks noGrp="1"/>
          </p:cNvSpPr>
          <p:nvPr>
            <p:ph type="body" sz="quarter" idx="3"/>
          </p:nvPr>
        </p:nvSpPr>
        <p:spPr>
          <a:xfrm>
            <a:off x="4885145" y="2743200"/>
            <a:ext cx="336206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C7856C7F-C199-47A3-AF94-EAE81E21E31B}"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3EF8AE-9767-4E5A-802F-66A2B36F74A8}" type="slidenum">
              <a:rPr lang="en-US" smtClean="0"/>
              <a:t>‹#›</a:t>
            </a:fld>
            <a:endParaRPr lang="en-US"/>
          </a:p>
        </p:txBody>
      </p:sp>
      <p:sp>
        <p:nvSpPr>
          <p:cNvPr id="10" name="Title 9"/>
          <p:cNvSpPr>
            <a:spLocks noGrp="1"/>
          </p:cNvSpPr>
          <p:nvPr>
            <p:ph type="title"/>
          </p:nvPr>
        </p:nvSpPr>
        <p:spPr>
          <a:xfrm>
            <a:off x="914400" y="1544717"/>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6342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856C7F-C199-47A3-AF94-EAE81E21E31B}"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74712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56C7F-C199-47A3-AF94-EAE81E21E31B}"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1612098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4"/>
            <a:ext cx="2950936" cy="2173015"/>
          </a:xfrm>
        </p:spPr>
        <p:txBody>
          <a:bodyPr anchor="b">
            <a:normAutofit/>
          </a:bodyPr>
          <a:lstStyle>
            <a:lvl1pPr algn="l">
              <a:defRPr sz="21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7"/>
            <a:ext cx="2950936" cy="224538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42868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1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30526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741162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1"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54162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914400" y="1544717"/>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5"/>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1" y="548797"/>
            <a:ext cx="1189132" cy="297918"/>
          </a:xfrm>
          <a:prstGeom prst="rect">
            <a:avLst/>
          </a:prstGeom>
        </p:spPr>
        <p:txBody>
          <a:bodyPr vert="horz" lIns="91440" tIns="45720" rIns="91440" bIns="45720" rtlCol="0" anchor="ctr"/>
          <a:lstStyle>
            <a:lvl1pPr algn="l">
              <a:defRPr sz="900">
                <a:solidFill>
                  <a:schemeClr val="tx1">
                    <a:alpha val="50000"/>
                  </a:schemeClr>
                </a:solidFill>
              </a:defRPr>
            </a:lvl1pPr>
          </a:lstStyle>
          <a:p>
            <a:fld id="{C7856C7F-C199-47A3-AF94-EAE81E21E31B}" type="datetimeFigureOut">
              <a:rPr lang="en-US" smtClean="0"/>
              <a:t>12/3/2025</a:t>
            </a:fld>
            <a:endParaRPr lang="en-US"/>
          </a:p>
        </p:txBody>
      </p:sp>
      <p:sp>
        <p:nvSpPr>
          <p:cNvPr id="6" name="Slide Number Placeholder 5"/>
          <p:cNvSpPr>
            <a:spLocks noGrp="1"/>
          </p:cNvSpPr>
          <p:nvPr>
            <p:ph type="sldNum" sz="quarter" idx="4"/>
          </p:nvPr>
        </p:nvSpPr>
        <p:spPr>
          <a:xfrm>
            <a:off x="7314416" y="548797"/>
            <a:ext cx="941203" cy="301752"/>
          </a:xfrm>
          <a:prstGeom prst="rect">
            <a:avLst/>
          </a:prstGeom>
        </p:spPr>
        <p:txBody>
          <a:bodyPr vert="horz" lIns="91440" tIns="45720" rIns="91440" bIns="45720" rtlCol="0" anchor="ctr"/>
          <a:lstStyle>
            <a:lvl1pPr algn="r">
              <a:defRPr sz="900">
                <a:solidFill>
                  <a:schemeClr val="tx1"/>
                </a:solidFill>
              </a:defRPr>
            </a:lvl1pPr>
          </a:lstStyle>
          <a:p>
            <a:fld id="{E13EF8AE-9767-4E5A-802F-66A2B36F74A8}" type="slidenum">
              <a:rPr lang="en-US" smtClean="0"/>
              <a:t>‹#›</a:t>
            </a:fld>
            <a:endParaRPr lang="en-US"/>
          </a:p>
        </p:txBody>
      </p:sp>
      <p:sp>
        <p:nvSpPr>
          <p:cNvPr id="5" name="Footer Placeholder 4"/>
          <p:cNvSpPr>
            <a:spLocks noGrp="1"/>
          </p:cNvSpPr>
          <p:nvPr>
            <p:ph type="ftr" sz="quarter" idx="3"/>
          </p:nvPr>
        </p:nvSpPr>
        <p:spPr>
          <a:xfrm>
            <a:off x="6008689" y="855958"/>
            <a:ext cx="2246489" cy="301227"/>
          </a:xfrm>
          <a:prstGeom prst="rect">
            <a:avLst/>
          </a:prstGeom>
        </p:spPr>
        <p:txBody>
          <a:bodyPr vert="horz" lIns="91440" tIns="0" rIns="91440" bIns="45720" rtlCol="0" anchor="t"/>
          <a:lstStyle>
            <a:lvl1pPr algn="l">
              <a:defRPr sz="750">
                <a:solidFill>
                  <a:schemeClr val="tx1"/>
                </a:solidFill>
              </a:defRPr>
            </a:lvl1pPr>
          </a:lstStyle>
          <a:p>
            <a:endParaRPr lang="en-US"/>
          </a:p>
        </p:txBody>
      </p:sp>
    </p:spTree>
    <p:extLst>
      <p:ext uri="{BB962C8B-B14F-4D97-AF65-F5344CB8AC3E}">
        <p14:creationId xmlns:p14="http://schemas.microsoft.com/office/powerpoint/2010/main" val="94179216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spcBef>
          <a:spcPct val="0"/>
        </a:spcBef>
        <a:buNone/>
        <a:defRPr sz="3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37160" algn="l" defTabSz="685800" rtl="0" eaLnBrk="1" latinLnBrk="0" hangingPunct="1">
        <a:spcBef>
          <a:spcPct val="20000"/>
        </a:spcBef>
        <a:buClr>
          <a:schemeClr val="tx2"/>
        </a:buClr>
        <a:buFont typeface="Wingdings" charset="2"/>
        <a:buChar char="§"/>
        <a:defRPr sz="1500" kern="1200">
          <a:solidFill>
            <a:schemeClr val="tx1"/>
          </a:solidFill>
          <a:latin typeface="+mn-lt"/>
          <a:ea typeface="+mn-ea"/>
          <a:cs typeface="+mn-cs"/>
        </a:defRPr>
      </a:lvl1pPr>
      <a:lvl2pPr marL="377190" indent="-137160" algn="l" defTabSz="685800" rtl="0" eaLnBrk="1" latinLnBrk="0" hangingPunct="1">
        <a:spcBef>
          <a:spcPct val="20000"/>
        </a:spcBef>
        <a:buClr>
          <a:schemeClr val="tx2"/>
        </a:buClr>
        <a:buFont typeface="Wingdings" charset="2"/>
        <a:buChar char="§"/>
        <a:defRPr sz="1350" kern="1200">
          <a:solidFill>
            <a:schemeClr val="tx1"/>
          </a:solidFill>
          <a:latin typeface="+mn-lt"/>
          <a:ea typeface="+mn-ea"/>
          <a:cs typeface="+mn-cs"/>
        </a:defRPr>
      </a:lvl2pPr>
      <a:lvl3pPr marL="514350" indent="-137160" algn="l" defTabSz="685800" rtl="0" eaLnBrk="1" latinLnBrk="0" hangingPunct="1">
        <a:spcBef>
          <a:spcPct val="20000"/>
        </a:spcBef>
        <a:buClr>
          <a:schemeClr val="tx2"/>
        </a:buClr>
        <a:buFont typeface="Wingdings" charset="2"/>
        <a:buChar char="§"/>
        <a:defRPr sz="1200" kern="1200">
          <a:solidFill>
            <a:schemeClr val="tx1"/>
          </a:solidFill>
          <a:latin typeface="+mn-lt"/>
          <a:ea typeface="+mn-ea"/>
          <a:cs typeface="+mn-cs"/>
        </a:defRPr>
      </a:lvl3pPr>
      <a:lvl4pPr marL="68580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4pPr>
      <a:lvl5pPr marL="85725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5pPr>
      <a:lvl6pPr marL="10287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6pPr>
      <a:lvl7pPr marL="12001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7pPr>
      <a:lvl8pPr marL="13716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8pPr>
      <a:lvl9pPr marL="15430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440D7-66EA-6FDC-4B6E-8E20C44422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443489E-6B54-D8B2-F575-E84923573F66}"/>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33872B83-ED77-7381-36B9-FFE44AACC14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Instrucțiuni repetitive în C#</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Pot exista situații în care trebuie să executam un bloc de cod de mai multe ori. În general, instrucțiunile sunt executate secvențial: prima instrucțiune dintr-o funcție este executată prima, urmată de a doua și așa mai departe.</a:t>
            </a:r>
          </a:p>
          <a:p>
            <a:pPr marL="34290" indent="0" algn="just">
              <a:buNone/>
            </a:pPr>
            <a:r>
              <a:rPr lang="ro-RO" sz="2800" noProof="0" dirty="0">
                <a:solidFill>
                  <a:srgbClr val="00B0F0"/>
                </a:solidFill>
              </a:rPr>
              <a:t>Limbajele de programare oferă diverse structuri de control care permit căi de execuție mai complicate.</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707809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5DB9B-9E97-997E-00C8-A8E670BC20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12F9F5-5FD0-BE2C-B5A9-F801A5912FEA}"/>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28B90E5B-A06C-297E-FF7E-91138F92D91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Instrucțiuni repetitive în C#</a:t>
            </a:r>
          </a:p>
          <a:p>
            <a:pPr marL="34290" indent="0" algn="just">
              <a:buNone/>
            </a:pPr>
            <a:r>
              <a:rPr lang="ro-RO" sz="2800" noProof="0" dirty="0">
                <a:solidFill>
                  <a:srgbClr val="00B0F0"/>
                </a:solidFill>
              </a:rPr>
              <a:t>O instrucțiune repetitivă(în buclă) ne permite să executăm o instrucțiune sau un grup de instrucțiuni de mai multe ori. </a:t>
            </a:r>
            <a:r>
              <a:rPr lang="ro-RO" sz="2800" noProof="0" dirty="0" err="1">
                <a:solidFill>
                  <a:srgbClr val="00B0F0"/>
                </a:solidFill>
              </a:rPr>
              <a:t>Ma</a:t>
            </a:r>
            <a:r>
              <a:rPr lang="ro-RO" sz="2800" noProof="0" dirty="0">
                <a:solidFill>
                  <a:srgbClr val="00B0F0"/>
                </a:solidFill>
              </a:rPr>
              <a:t> jos este forma generală a unei instrucțiuni repetitive în majoritatea limbajelor de programare:</a:t>
            </a:r>
          </a:p>
          <a:p>
            <a:pPr marL="34290" indent="0" algn="just">
              <a:buNone/>
            </a:pPr>
            <a:endParaRPr lang="ro-RO" sz="2800" noProof="0" dirty="0">
              <a:solidFill>
                <a:srgbClr val="00B0F0"/>
              </a:solidFill>
            </a:endParaRPr>
          </a:p>
        </p:txBody>
      </p:sp>
      <p:pic>
        <p:nvPicPr>
          <p:cNvPr id="1026" name="Picture 2" descr="Loop Architecture">
            <a:extLst>
              <a:ext uri="{FF2B5EF4-FFF2-40B4-BE49-F238E27FC236}">
                <a16:creationId xmlns:a16="http://schemas.microsoft.com/office/drawing/2014/main" id="{3D9C3983-E155-3AE0-4907-6E84BA254E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1761" y="3994459"/>
            <a:ext cx="2431916" cy="2783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284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E6FD-C85E-46F8-5D9A-31E5364D3D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4F33E2-1795-4C67-F35D-7FEFBCF57D86}"/>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9D8A49B5-CC76-B655-75C1-1911B7BCED42}"/>
              </a:ext>
            </a:extLst>
          </p:cNvPr>
          <p:cNvSpPr>
            <a:spLocks noGrp="1"/>
          </p:cNvSpPr>
          <p:nvPr>
            <p:ph idx="1"/>
          </p:nvPr>
        </p:nvSpPr>
        <p:spPr>
          <a:xfrm>
            <a:off x="463925" y="1281952"/>
            <a:ext cx="8249770" cy="5074024"/>
          </a:xfrm>
        </p:spPr>
        <p:txBody>
          <a:bodyPr>
            <a:noAutofit/>
          </a:bodyPr>
          <a:lstStyle/>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Example</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number</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3</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5</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6</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CC99CD"/>
                </a:solidFill>
                <a:effectLst/>
                <a:latin typeface="Courier New" panose="02070309020205020404" pitchFamily="49" charset="0"/>
              </a:rPr>
              <a:t>for</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number.Length</a:t>
            </a:r>
            <a:r>
              <a:rPr lang="ro-RO" sz="2400" b="1" i="0" noProof="0" dirty="0">
                <a:solidFill>
                  <a:srgbClr val="CCCCCC"/>
                </a:solidFill>
                <a:effectLst/>
                <a:latin typeface="Courier New" panose="02070309020205020404" pitchFamily="49" charset="0"/>
              </a:rPr>
              <a:t>; i</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number</a:t>
            </a:r>
            <a:r>
              <a:rPr lang="ro-RO" sz="2400" b="1" i="0" noProof="0" dirty="0">
                <a:solidFill>
                  <a:srgbClr val="CCCCCC"/>
                </a:solidFill>
                <a:effectLst/>
                <a:latin typeface="Courier New" panose="02070309020205020404" pitchFamily="49" charset="0"/>
              </a:rPr>
              <a:t>[i]);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843764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7FD84-7100-DA55-9504-236663E21E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CF4FFD-3BFD-E3F1-C463-2818AE2B954F}"/>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A5B72322-D3A8-6239-4797-EF5E86404FB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Instrucțiuni repetitive în C#</a:t>
            </a:r>
          </a:p>
          <a:p>
            <a:pPr marL="34290" indent="0" algn="just">
              <a:buNone/>
            </a:pPr>
            <a:r>
              <a:rPr lang="ro-RO" sz="2800" noProof="0" dirty="0">
                <a:solidFill>
                  <a:srgbClr val="00B0F0"/>
                </a:solidFill>
              </a:rPr>
              <a:t>C# oferă următoarele tipuri instrucțiuni repetitive pentru a gestiona cerințele de repetare a codului:</a:t>
            </a:r>
          </a:p>
          <a:p>
            <a:pPr marL="34290" indent="0" algn="just">
              <a:buNone/>
            </a:pPr>
            <a:endParaRPr lang="ro-RO" sz="2800" noProof="0" dirty="0">
              <a:solidFill>
                <a:srgbClr val="00B0F0"/>
              </a:solidFill>
            </a:endParaRPr>
          </a:p>
          <a:p>
            <a:pPr algn="just"/>
            <a:r>
              <a:rPr lang="ro-RO" sz="2800" noProof="0" dirty="0">
                <a:solidFill>
                  <a:srgbClr val="00B0F0"/>
                </a:solidFill>
              </a:rPr>
              <a:t> </a:t>
            </a:r>
            <a:r>
              <a:rPr lang="ro-RO" sz="2800" noProof="0" dirty="0" err="1">
                <a:solidFill>
                  <a:schemeClr val="tx2"/>
                </a:solidFill>
              </a:rPr>
              <a:t>while</a:t>
            </a:r>
            <a:r>
              <a:rPr lang="ro-RO" sz="2800" noProof="0" dirty="0">
                <a:solidFill>
                  <a:srgbClr val="00B0F0"/>
                </a:solidFill>
              </a:rPr>
              <a:t> - Repetă o instrucțiune sau un grup de instrucțiuni atât timp cât o anumită condiție este adevărată. Testează condiția înainte de a executa corpul buclei.</a:t>
            </a:r>
          </a:p>
          <a:p>
            <a:pPr algn="just"/>
            <a:r>
              <a:rPr lang="ro-RO" sz="2800" noProof="0" dirty="0">
                <a:solidFill>
                  <a:srgbClr val="00B0F0"/>
                </a:solidFill>
              </a:rPr>
              <a:t> </a:t>
            </a:r>
            <a:r>
              <a:rPr lang="ro-RO" sz="2800" noProof="0" dirty="0">
                <a:solidFill>
                  <a:schemeClr val="tx2"/>
                </a:solidFill>
              </a:rPr>
              <a:t>for</a:t>
            </a:r>
            <a:r>
              <a:rPr lang="ro-RO" sz="2800" noProof="0" dirty="0">
                <a:solidFill>
                  <a:srgbClr val="00B0F0"/>
                </a:solidFill>
              </a:rPr>
              <a:t> - Execută o secvență de instrucțiuni de mai multe ori și abreviază codul care gestionează variabila buclei.</a:t>
            </a:r>
          </a:p>
        </p:txBody>
      </p:sp>
    </p:spTree>
    <p:extLst>
      <p:ext uri="{BB962C8B-B14F-4D97-AF65-F5344CB8AC3E}">
        <p14:creationId xmlns:p14="http://schemas.microsoft.com/office/powerpoint/2010/main" val="2725629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BBAF-07FF-DC59-B493-3CE4E882E1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90E47C-A985-D3D7-FC72-73BE6F5C4025}"/>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D1EA8E4A-C979-CE99-070E-E91C2757CB69}"/>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Instrucțiuni repetitive în C#</a:t>
            </a:r>
          </a:p>
          <a:p>
            <a:pPr marL="34290" indent="0" algn="just">
              <a:buNone/>
            </a:pPr>
            <a:r>
              <a:rPr lang="ro-RO" sz="2800" noProof="0" dirty="0">
                <a:solidFill>
                  <a:srgbClr val="00B0F0"/>
                </a:solidFill>
              </a:rPr>
              <a:t>C# oferă următoarele tipuri instrucțiuni repetitive pentru a gestiona cerințele de repetare a codului:</a:t>
            </a:r>
          </a:p>
          <a:p>
            <a:pPr marL="34290" indent="0" algn="just">
              <a:buNone/>
            </a:pPr>
            <a:endParaRPr lang="ro-RO" sz="2800" noProof="0" dirty="0">
              <a:solidFill>
                <a:srgbClr val="00B0F0"/>
              </a:solidFill>
            </a:endParaRPr>
          </a:p>
          <a:p>
            <a:pPr algn="just"/>
            <a:r>
              <a:rPr lang="ro-RO" sz="2800" noProof="0" dirty="0">
                <a:solidFill>
                  <a:srgbClr val="00B0F0"/>
                </a:solidFill>
              </a:rPr>
              <a:t> </a:t>
            </a:r>
            <a:r>
              <a:rPr lang="ro-RO" sz="2800" noProof="0" dirty="0">
                <a:solidFill>
                  <a:schemeClr val="tx2"/>
                </a:solidFill>
              </a:rPr>
              <a:t>do...</a:t>
            </a:r>
            <a:r>
              <a:rPr lang="ro-RO" sz="2800" noProof="0" dirty="0" err="1">
                <a:solidFill>
                  <a:schemeClr val="tx2"/>
                </a:solidFill>
              </a:rPr>
              <a:t>while</a:t>
            </a:r>
            <a:r>
              <a:rPr lang="ro-RO" sz="2800" noProof="0" dirty="0">
                <a:solidFill>
                  <a:schemeClr val="tx2"/>
                </a:solidFill>
              </a:rPr>
              <a:t> </a:t>
            </a:r>
            <a:r>
              <a:rPr lang="ro-RO" sz="2800" noProof="0" dirty="0">
                <a:solidFill>
                  <a:srgbClr val="00B0F0"/>
                </a:solidFill>
              </a:rPr>
              <a:t>- Este similară cu o instrucțiune </a:t>
            </a:r>
            <a:r>
              <a:rPr lang="ro-RO" sz="2800" noProof="0" dirty="0" err="1">
                <a:solidFill>
                  <a:srgbClr val="00B0F0"/>
                </a:solidFill>
              </a:rPr>
              <a:t>while</a:t>
            </a:r>
            <a:r>
              <a:rPr lang="ro-RO" sz="2800" noProof="0" dirty="0">
                <a:solidFill>
                  <a:srgbClr val="00B0F0"/>
                </a:solidFill>
              </a:rPr>
              <a:t>, cu excepția faptului că testează condiția la sfârșitul corpului buclei.</a:t>
            </a:r>
          </a:p>
          <a:p>
            <a:pPr algn="just"/>
            <a:r>
              <a:rPr lang="ro-RO" sz="2800" noProof="0" dirty="0">
                <a:solidFill>
                  <a:srgbClr val="00B0F0"/>
                </a:solidFill>
              </a:rPr>
              <a:t> </a:t>
            </a:r>
            <a:r>
              <a:rPr lang="ro-RO" sz="2800" noProof="0" dirty="0">
                <a:solidFill>
                  <a:schemeClr val="tx2"/>
                </a:solidFill>
              </a:rPr>
              <a:t>bucle imbricate </a:t>
            </a:r>
            <a:r>
              <a:rPr lang="ro-RO" sz="2800" noProof="0" dirty="0">
                <a:solidFill>
                  <a:srgbClr val="00B0F0"/>
                </a:solidFill>
              </a:rPr>
              <a:t>- Putem utiliza una sau mai multe bucle în interiorul oricărei alte bucle </a:t>
            </a:r>
            <a:r>
              <a:rPr lang="ro-RO" sz="2800" noProof="0" dirty="0" err="1">
                <a:solidFill>
                  <a:srgbClr val="00B0F0"/>
                </a:solidFill>
              </a:rPr>
              <a:t>while</a:t>
            </a:r>
            <a:r>
              <a:rPr lang="ro-RO" sz="2800" noProof="0" dirty="0">
                <a:solidFill>
                  <a:srgbClr val="00B0F0"/>
                </a:solidFill>
              </a:rPr>
              <a:t>, for sau do...</a:t>
            </a:r>
            <a:r>
              <a:rPr lang="ro-RO" sz="2800" noProof="0" dirty="0" err="1">
                <a:solidFill>
                  <a:srgbClr val="00B0F0"/>
                </a:solidFill>
              </a:rPr>
              <a:t>while</a:t>
            </a:r>
            <a:r>
              <a:rPr lang="ro-RO" sz="2800" noProof="0" dirty="0">
                <a:solidFill>
                  <a:srgbClr val="00B0F0"/>
                </a:solidFill>
              </a:rPr>
              <a:t>.</a:t>
            </a: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171617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1F653-0037-8AE5-1C9C-7B04AFFD9F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DAC15B-3A8B-CD11-CF35-3EA07D46944A}"/>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6E25E1E7-69B0-558D-B0A4-5ADA8A04BAE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for în C#</a:t>
            </a:r>
          </a:p>
          <a:p>
            <a:pPr marL="34290" indent="0" algn="just">
              <a:buNone/>
            </a:pPr>
            <a:r>
              <a:rPr lang="ro-RO" sz="2800" noProof="0" dirty="0">
                <a:solidFill>
                  <a:srgbClr val="00B0F0"/>
                </a:solidFill>
              </a:rPr>
              <a:t>Instrucțiunea for din C# este o structură de control a repetiției care execută un bloc de cod de un anumit număr de ori în loc să scrie același cod de mai multe ori. Este utilă în special atunci când numărul de iterații este cunoscut de dinainte.</a:t>
            </a:r>
          </a:p>
          <a:p>
            <a:pPr marL="34290" indent="0" algn="just">
              <a:buNone/>
            </a:pPr>
            <a:r>
              <a:rPr lang="ro-RO" sz="2800" noProof="0" dirty="0">
                <a:solidFill>
                  <a:srgbClr val="00B0F0"/>
                </a:solidFill>
              </a:rPr>
              <a:t>Sintaxa:</a:t>
            </a:r>
          </a:p>
          <a:p>
            <a:pPr marL="34290" indent="0" algn="just">
              <a:buNone/>
            </a:pPr>
            <a:r>
              <a:rPr lang="ro-RO" sz="2400" b="1" i="0" noProof="0" dirty="0">
                <a:solidFill>
                  <a:srgbClr val="CC99CD"/>
                </a:solidFill>
                <a:effectLst/>
                <a:latin typeface="Courier New" panose="02070309020205020404" pitchFamily="49" charset="0"/>
              </a:rPr>
              <a:t>for</a:t>
            </a:r>
            <a:r>
              <a:rPr lang="ro-RO" sz="2400" b="1" i="0" noProof="0" dirty="0">
                <a:solidFill>
                  <a:srgbClr val="CCCCCC"/>
                </a:solidFill>
                <a:effectLst/>
                <a:latin typeface="Courier New" panose="02070309020205020404" pitchFamily="49" charset="0"/>
              </a:rPr>
              <a:t> ( </a:t>
            </a:r>
            <a:r>
              <a:rPr lang="ro-RO" sz="2400" b="1" i="0" noProof="0" dirty="0" err="1">
                <a:solidFill>
                  <a:srgbClr val="CC99CD"/>
                </a:solidFill>
                <a:effectLst/>
                <a:latin typeface="Courier New" panose="02070309020205020404" pitchFamily="49" charset="0"/>
              </a:rPr>
              <a:t>init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condition</a:t>
            </a:r>
            <a:r>
              <a:rPr lang="ro-RO" sz="2400" b="1" i="0" noProof="0" dirty="0">
                <a:solidFill>
                  <a:srgbClr val="CCCCCC"/>
                </a:solidFill>
                <a:effectLst/>
                <a:latin typeface="Courier New" panose="02070309020205020404" pitchFamily="49" charset="0"/>
              </a:rPr>
              <a:t>; increment )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F08D49"/>
                </a:solidFill>
                <a:effectLst/>
                <a:latin typeface="Courier New" panose="02070309020205020404" pitchFamily="49" charset="0"/>
              </a:rPr>
              <a:t>statement</a:t>
            </a:r>
            <a:r>
              <a:rPr lang="ro-RO" sz="2400" b="1" i="0" noProof="0" dirty="0">
                <a:solidFill>
                  <a:srgbClr val="CCCCCC"/>
                </a:solidFill>
                <a:effectLst/>
                <a:latin typeface="Courier New" panose="02070309020205020404" pitchFamily="49" charset="0"/>
              </a:rPr>
              <a:t>(s); </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442165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5225E-E1FA-8833-EE32-037FEE2988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ABAE90-D5FA-F67E-F905-ACD4D95C777C}"/>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D1B0AC22-9162-A252-FD56-2B808D93DBC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Fluxul de control al unei bucle for</a:t>
            </a:r>
          </a:p>
          <a:p>
            <a:pPr algn="just"/>
            <a:r>
              <a:rPr lang="ro-RO" sz="2800" noProof="0" dirty="0">
                <a:solidFill>
                  <a:srgbClr val="00B0F0"/>
                </a:solidFill>
              </a:rPr>
              <a:t> Pasul </a:t>
            </a:r>
            <a:r>
              <a:rPr lang="ro-RO" sz="2800" noProof="0" dirty="0" err="1">
                <a:solidFill>
                  <a:srgbClr val="00B0F0"/>
                </a:solidFill>
              </a:rPr>
              <a:t>init</a:t>
            </a:r>
            <a:r>
              <a:rPr lang="ro-RO" sz="2800" noProof="0" dirty="0">
                <a:solidFill>
                  <a:srgbClr val="00B0F0"/>
                </a:solidFill>
              </a:rPr>
              <a:t> este executat primul și o singură dată. Acest pas vă permite să declarați și să inițializați orice variabile de control ale buclei. Nu este necesar să plasați o instrucțiune aici, atâta timp cât apare punct și virgulă.</a:t>
            </a:r>
          </a:p>
          <a:p>
            <a:pPr algn="just"/>
            <a:r>
              <a:rPr lang="ro-RO" sz="2800" noProof="0" dirty="0">
                <a:solidFill>
                  <a:srgbClr val="00B0F0"/>
                </a:solidFill>
              </a:rPr>
              <a:t> Apoi, condiția este evaluată. Dacă este adevărată, corpul buclei este executat. Dacă este falsă, corpul buclei nu se execută și fluxul de control sare la următoarea instrucțiune imediat după bucla for.</a:t>
            </a:r>
          </a:p>
        </p:txBody>
      </p:sp>
    </p:spTree>
    <p:extLst>
      <p:ext uri="{BB962C8B-B14F-4D97-AF65-F5344CB8AC3E}">
        <p14:creationId xmlns:p14="http://schemas.microsoft.com/office/powerpoint/2010/main" val="1668640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3D50C-5143-5474-9928-9D811A3165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2D7A87E-BFC2-D841-DF53-9CDF34FF03DE}"/>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BC6F2E8C-836A-A4DB-0F53-5936F787CF3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Fluxul de control al unei bucle for</a:t>
            </a:r>
          </a:p>
          <a:p>
            <a:pPr algn="just"/>
            <a:r>
              <a:rPr lang="ro-RO" sz="2800" noProof="0" dirty="0">
                <a:solidFill>
                  <a:srgbClr val="00B0F0"/>
                </a:solidFill>
              </a:rPr>
              <a:t> După executarea corpului buclei for, fluxul de control sare înapoi la instrucțiunea de incrementare care ne permite să actualizam orice variabile de control ale buclei. Această instrucțiune poate fi lăsată necompletată, atâta timp cât apare punct și virgulă după condiție.</a:t>
            </a:r>
          </a:p>
          <a:p>
            <a:pPr algn="just"/>
            <a:r>
              <a:rPr lang="ro-RO" sz="2800" noProof="0" dirty="0">
                <a:solidFill>
                  <a:srgbClr val="00B0F0"/>
                </a:solidFill>
              </a:rPr>
              <a:t> Condiția este acum evaluată din nou. Dacă este adevărată, bucla se execută și procesul se repetă (corpul buclei, apoi pasul de incrementare și apoi din nou testarea unei condiții). După ce condiția devine falsă, bucla for se termină.</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724675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79802-7084-CC5F-4EDA-460A0BF612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572B27-76E2-D975-28C2-98A5C110862C}"/>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D6265FB8-0834-76D8-37C8-26BC66D34AA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Diagrama instrucțiunii for</a:t>
            </a:r>
          </a:p>
          <a:p>
            <a:pPr marL="34290" indent="0" algn="just">
              <a:buNone/>
            </a:pPr>
            <a:endParaRPr lang="ro-RO" sz="2800" noProof="0" dirty="0">
              <a:solidFill>
                <a:srgbClr val="00B0F0"/>
              </a:solidFill>
            </a:endParaRPr>
          </a:p>
        </p:txBody>
      </p:sp>
      <p:pic>
        <p:nvPicPr>
          <p:cNvPr id="2050" name="Picture 2" descr="for loop in C#">
            <a:extLst>
              <a:ext uri="{FF2B5EF4-FFF2-40B4-BE49-F238E27FC236}">
                <a16:creationId xmlns:a16="http://schemas.microsoft.com/office/drawing/2014/main" id="{94FCD05E-0C56-C1FB-620E-D4995651F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9072" y="1835523"/>
            <a:ext cx="3419475"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3969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DD38E-DAAB-5AAB-62AB-E8C8EBA4B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2E4249-B4A2-7F8E-8C43-5EF75E6D79DE}"/>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3E293054-6443-E809-D009-0371E35AC36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for – exemple:</a:t>
            </a:r>
          </a:p>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namespace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Loops</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 </a:t>
            </a:r>
          </a:p>
          <a:p>
            <a:pPr marL="34290" indent="0" algn="just">
              <a:buNone/>
            </a:pPr>
            <a:r>
              <a:rPr lang="ro-RO" sz="2400" b="1" i="0" noProof="0" dirty="0">
                <a:solidFill>
                  <a:srgbClr val="CC99CD"/>
                </a:solidFill>
                <a:effectLst/>
                <a:latin typeface="Courier New" panose="02070309020205020404" pitchFamily="49" charset="0"/>
              </a:rPr>
              <a:t>      for</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20</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value</a:t>
            </a:r>
            <a:r>
              <a:rPr lang="ro-RO" sz="2400" b="1" i="0" noProof="0" dirty="0">
                <a:solidFill>
                  <a:srgbClr val="7EC699"/>
                </a:solidFill>
                <a:effectLst/>
                <a:latin typeface="Courier New" panose="02070309020205020404" pitchFamily="49" charset="0"/>
              </a:rPr>
              <a:t> of a: </a:t>
            </a:r>
          </a:p>
          <a:p>
            <a:pPr marL="34290" indent="0" algn="just">
              <a:buNone/>
            </a:pPr>
            <a:r>
              <a:rPr lang="ro-RO" sz="2400" b="1" noProof="0" dirty="0">
                <a:solidFill>
                  <a:srgbClr val="7EC699"/>
                </a:solidFill>
                <a:latin typeface="Courier New" panose="02070309020205020404" pitchFamily="49" charset="0"/>
              </a:rPr>
              <a:t>         </a:t>
            </a:r>
            <a:r>
              <a:rPr lang="ro-RO" sz="2400" b="1" i="0" noProof="0" dirty="0">
                <a:solidFill>
                  <a:srgbClr val="7EC69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a);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CCCC"/>
                </a:solidFill>
                <a:effectLst/>
                <a:latin typeface="Courier New" panose="02070309020205020404" pitchFamily="49" charset="0"/>
              </a:rPr>
              <a:t>} </a:t>
            </a:r>
            <a:endParaRPr lang="ro-RO" sz="2400" b="1" noProof="0" dirty="0">
              <a:solidFill>
                <a:srgbClr val="00B0F0"/>
              </a:solidFill>
            </a:endParaRPr>
          </a:p>
        </p:txBody>
      </p:sp>
    </p:spTree>
    <p:extLst>
      <p:ext uri="{BB962C8B-B14F-4D97-AF65-F5344CB8AC3E}">
        <p14:creationId xmlns:p14="http://schemas.microsoft.com/office/powerpoint/2010/main" val="1437432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F6B55-C0A1-2DD1-264C-7A9AF72833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598C16-44F9-E249-D35D-234BD4642A30}"/>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4D6F9F38-18F4-47B8-3A87-DDC58134765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for – exemple:</a:t>
            </a:r>
          </a:p>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namespace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Loops</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 </a:t>
            </a:r>
          </a:p>
          <a:p>
            <a:pPr marL="34290" indent="0" algn="just">
              <a:buNone/>
            </a:pPr>
            <a:r>
              <a:rPr lang="ro-RO" sz="2400" b="1" i="0" noProof="0" dirty="0">
                <a:solidFill>
                  <a:srgbClr val="CC99CD"/>
                </a:solidFill>
                <a:effectLst/>
                <a:latin typeface="Courier New" panose="02070309020205020404" pitchFamily="49" charset="0"/>
              </a:rPr>
              <a:t>      for</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20</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if</a:t>
            </a:r>
            <a:r>
              <a:rPr lang="ro-RO" sz="2400" b="1" i="0" noProof="0" dirty="0">
                <a:solidFill>
                  <a:srgbClr val="CCCCCC"/>
                </a:solidFill>
                <a:effectLst/>
                <a:latin typeface="Courier New" panose="02070309020205020404" pitchFamily="49" charset="0"/>
              </a:rPr>
              <a:t>(a</a:t>
            </a:r>
            <a:r>
              <a:rPr lang="ro-RO" sz="2400" b="1" i="0" noProof="0" dirty="0">
                <a:solidFill>
                  <a:srgbClr val="67CDCC"/>
                </a:solidFill>
                <a:effectLst/>
                <a:latin typeface="Courier New" panose="02070309020205020404" pitchFamily="49" charset="0"/>
              </a:rPr>
              <a:t>%</a:t>
            </a:r>
            <a:r>
              <a:rPr lang="ro-RO" sz="2400" b="1" i="0" noProof="0" dirty="0">
                <a:solidFill>
                  <a:srgbClr val="F08D49"/>
                </a:solidFill>
                <a:effectLst/>
                <a:latin typeface="Courier New" panose="02070309020205020404" pitchFamily="49" charset="0"/>
              </a:rPr>
              <a:t>2</a:t>
            </a:r>
            <a:r>
              <a:rPr lang="ro-RO" sz="2400" b="1" i="0" noProof="0" dirty="0">
                <a:solidFill>
                  <a:srgbClr val="67CDCC"/>
                </a:solidFill>
                <a:effectLst/>
                <a:latin typeface="Courier New" panose="02070309020205020404" pitchFamily="49" charset="0"/>
              </a:rPr>
              <a:t>==</a:t>
            </a:r>
            <a:r>
              <a:rPr lang="ro-RO" sz="2400" b="1" i="0" noProof="0" dirty="0">
                <a:solidFill>
                  <a:srgbClr val="F08D4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Even</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Value</a:t>
            </a:r>
            <a:r>
              <a:rPr lang="ro-RO" sz="2400" b="1" i="0" noProof="0" dirty="0">
                <a:solidFill>
                  <a:srgbClr val="7EC699"/>
                </a:solidFill>
                <a:effectLst/>
                <a:latin typeface="Courier New" panose="02070309020205020404" pitchFamily="49" charset="0"/>
              </a:rPr>
              <a:t>: </a:t>
            </a:r>
          </a:p>
          <a:p>
            <a:pPr marL="34290" indent="0" algn="just">
              <a:buNone/>
            </a:pPr>
            <a:r>
              <a:rPr lang="ro-RO" sz="2400" b="1" noProof="0" dirty="0">
                <a:solidFill>
                  <a:srgbClr val="7EC699"/>
                </a:solidFill>
                <a:latin typeface="Courier New" panose="02070309020205020404" pitchFamily="49" charset="0"/>
              </a:rPr>
              <a:t>          </a:t>
            </a:r>
            <a:r>
              <a:rPr lang="ro-RO" sz="2400" b="1" i="0" noProof="0" dirty="0">
                <a:solidFill>
                  <a:srgbClr val="7EC69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a);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3834739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6DC4C-0728-045C-CF19-F56937CC0C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FFAB9C9-B05E-199D-FB56-5A9794A7401A}"/>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6DFF6385-5F7D-C24F-0041-63FDFB29531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Bucle for imbricate</a:t>
            </a:r>
          </a:p>
          <a:p>
            <a:pPr marL="34290" indent="0" algn="just">
              <a:buNone/>
            </a:pPr>
            <a:r>
              <a:rPr lang="ro-RO" sz="2800" noProof="0" dirty="0">
                <a:solidFill>
                  <a:srgbClr val="00B0F0"/>
                </a:solidFill>
              </a:rPr>
              <a:t>În C#, buclele for poate fi imbricată. Bucla for imbricată se referă la utilizarea unei bucle for în interiorul alteia.</a:t>
            </a:r>
          </a:p>
          <a:p>
            <a:pPr marL="34290" indent="0" algn="just">
              <a:buNone/>
            </a:pPr>
            <a:r>
              <a:rPr lang="ro-RO" sz="2800" noProof="0" dirty="0">
                <a:solidFill>
                  <a:srgbClr val="00B0F0"/>
                </a:solidFill>
              </a:rPr>
              <a:t>Sintaxa:</a:t>
            </a:r>
          </a:p>
          <a:p>
            <a:pPr marL="34290" indent="0" algn="just">
              <a:buNone/>
            </a:pPr>
            <a:r>
              <a:rPr lang="ro-RO" sz="2200" b="1" i="0" noProof="0" dirty="0">
                <a:solidFill>
                  <a:srgbClr val="CC99CD"/>
                </a:solidFill>
                <a:effectLst/>
                <a:latin typeface="Courier New" panose="02070309020205020404" pitchFamily="49" charset="0"/>
              </a:rPr>
              <a:t>for</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initialization</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condition</a:t>
            </a:r>
            <a:r>
              <a:rPr lang="ro-RO" sz="2200" b="1" i="0" noProof="0" dirty="0">
                <a:solidFill>
                  <a:srgbClr val="CCCCCC"/>
                </a:solidFill>
                <a:effectLst/>
                <a:latin typeface="Courier New" panose="02070309020205020404" pitchFamily="49" charset="0"/>
              </a:rPr>
              <a:t>; increment) {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for</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initialization</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condition</a:t>
            </a:r>
            <a:r>
              <a:rPr lang="ro-RO" sz="2200" b="1" i="0" noProof="0" dirty="0">
                <a:solidFill>
                  <a:srgbClr val="CCCCCC"/>
                </a:solidFill>
                <a:effectLst/>
                <a:latin typeface="Courier New" panose="02070309020205020404" pitchFamily="49" charset="0"/>
              </a:rPr>
              <a:t>; increment) </a:t>
            </a:r>
          </a:p>
          <a:p>
            <a:pPr marL="34290" indent="0" algn="just">
              <a:buNone/>
            </a:pPr>
            <a:r>
              <a:rPr lang="ro-RO" sz="2200" b="1" i="0" noProof="0" dirty="0">
                <a:solidFill>
                  <a:srgbClr val="CCCCCC"/>
                </a:solidFill>
                <a:effectLst/>
                <a:latin typeface="Courier New" panose="02070309020205020404" pitchFamily="49" charset="0"/>
              </a:rPr>
              <a:t>  {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999999"/>
                </a:solidFill>
                <a:effectLst/>
                <a:latin typeface="Courier New" panose="02070309020205020404" pitchFamily="49" charset="0"/>
              </a:rPr>
              <a:t>// </a:t>
            </a:r>
            <a:r>
              <a:rPr lang="ro-RO" sz="2200" b="1" i="0" noProof="0" dirty="0" err="1">
                <a:solidFill>
                  <a:srgbClr val="999999"/>
                </a:solidFill>
                <a:effectLst/>
                <a:latin typeface="Courier New" panose="02070309020205020404" pitchFamily="49" charset="0"/>
              </a:rPr>
              <a:t>Inner</a:t>
            </a:r>
            <a:r>
              <a:rPr lang="ro-RO" sz="2200" b="1" i="0" noProof="0" dirty="0">
                <a:solidFill>
                  <a:srgbClr val="999999"/>
                </a:solidFill>
                <a:effectLst/>
                <a:latin typeface="Courier New" panose="02070309020205020404" pitchFamily="49" charset="0"/>
              </a:rPr>
              <a:t> </a:t>
            </a:r>
            <a:r>
              <a:rPr lang="ro-RO" sz="2200" b="1" i="0" noProof="0" dirty="0" err="1">
                <a:solidFill>
                  <a:srgbClr val="999999"/>
                </a:solidFill>
                <a:effectLst/>
                <a:latin typeface="Courier New" panose="02070309020205020404" pitchFamily="49" charset="0"/>
              </a:rPr>
              <a:t>loop</a:t>
            </a:r>
            <a:r>
              <a:rPr lang="ro-RO" sz="2200" b="1" i="0" noProof="0" dirty="0">
                <a:solidFill>
                  <a:srgbClr val="999999"/>
                </a:solidFill>
                <a:effectLst/>
                <a:latin typeface="Courier New" panose="02070309020205020404" pitchFamily="49" charset="0"/>
              </a:rPr>
              <a:t> body</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999999"/>
                </a:solidFill>
                <a:effectLst/>
                <a:latin typeface="Courier New" panose="02070309020205020404" pitchFamily="49" charset="0"/>
              </a:rPr>
              <a:t>// </a:t>
            </a:r>
            <a:r>
              <a:rPr lang="ro-RO" sz="2200" b="1" i="0" noProof="0" dirty="0" err="1">
                <a:solidFill>
                  <a:srgbClr val="999999"/>
                </a:solidFill>
                <a:effectLst/>
                <a:latin typeface="Courier New" panose="02070309020205020404" pitchFamily="49" charset="0"/>
              </a:rPr>
              <a:t>Outer</a:t>
            </a:r>
            <a:r>
              <a:rPr lang="ro-RO" sz="2200" b="1" i="0" noProof="0" dirty="0">
                <a:solidFill>
                  <a:srgbClr val="999999"/>
                </a:solidFill>
                <a:effectLst/>
                <a:latin typeface="Courier New" panose="02070309020205020404" pitchFamily="49" charset="0"/>
              </a:rPr>
              <a:t> </a:t>
            </a:r>
            <a:r>
              <a:rPr lang="ro-RO" sz="2200" b="1" i="0" noProof="0" dirty="0" err="1">
                <a:solidFill>
                  <a:srgbClr val="999999"/>
                </a:solidFill>
                <a:effectLst/>
                <a:latin typeface="Courier New" panose="02070309020205020404" pitchFamily="49" charset="0"/>
              </a:rPr>
              <a:t>loop</a:t>
            </a:r>
            <a:r>
              <a:rPr lang="ro-RO" sz="2200" b="1" i="0" noProof="0" dirty="0">
                <a:solidFill>
                  <a:srgbClr val="999999"/>
                </a:solidFill>
                <a:effectLst/>
                <a:latin typeface="Courier New" panose="02070309020205020404" pitchFamily="49" charset="0"/>
              </a:rPr>
              <a:t> body</a:t>
            </a:r>
            <a:endParaRPr lang="ro-RO" sz="2200" b="1" noProof="0" dirty="0">
              <a:solidFill>
                <a:srgbClr val="CCCCCC"/>
              </a:solidFill>
              <a:latin typeface="Courier New" panose="02070309020205020404" pitchFamily="49" charset="0"/>
            </a:endParaRPr>
          </a:p>
          <a:p>
            <a:pPr marL="34290" indent="0" algn="just">
              <a:buNone/>
            </a:pPr>
            <a:r>
              <a:rPr lang="ro-RO" sz="2200" b="1" i="0" noProof="0" dirty="0">
                <a:solidFill>
                  <a:srgbClr val="CCCCCC"/>
                </a:solidFill>
                <a:effectLst/>
                <a:latin typeface="Courier New" panose="02070309020205020404" pitchFamily="49" charset="0"/>
              </a:rPr>
              <a:t>}</a:t>
            </a:r>
            <a:endParaRPr lang="ro-RO" sz="2200" b="1" noProof="0" dirty="0">
              <a:solidFill>
                <a:srgbClr val="00B0F0"/>
              </a:solidFill>
            </a:endParaRPr>
          </a:p>
        </p:txBody>
      </p:sp>
    </p:spTree>
    <p:extLst>
      <p:ext uri="{BB962C8B-B14F-4D97-AF65-F5344CB8AC3E}">
        <p14:creationId xmlns:p14="http://schemas.microsoft.com/office/powerpoint/2010/main" val="3634786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91E0C-DD69-85DA-466F-6AC62BA8F3B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4FBE2F-C5AB-390D-F167-EBB878DBB969}"/>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C61F9740-B0D3-E7F3-675D-87586698B918}"/>
              </a:ext>
            </a:extLst>
          </p:cNvPr>
          <p:cNvSpPr>
            <a:spLocks noGrp="1"/>
          </p:cNvSpPr>
          <p:nvPr>
            <p:ph idx="1"/>
          </p:nvPr>
        </p:nvSpPr>
        <p:spPr>
          <a:xfrm>
            <a:off x="463925" y="1281952"/>
            <a:ext cx="8249770" cy="5074024"/>
          </a:xfrm>
        </p:spPr>
        <p:txBody>
          <a:bodyPr>
            <a:noAutofit/>
          </a:bodyPr>
          <a:lstStyle/>
          <a:p>
            <a:pPr marL="34290" indent="0" algn="just">
              <a:buNone/>
            </a:pPr>
            <a:r>
              <a:rPr lang="ro-RO" sz="2400" noProof="0" dirty="0">
                <a:solidFill>
                  <a:srgbClr val="00B0F0"/>
                </a:solidFill>
              </a:rPr>
              <a:t>Instrucțiuni for imbricate – exemple:</a:t>
            </a:r>
          </a:p>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CC99CD"/>
                </a:solidFill>
                <a:effectLst/>
                <a:latin typeface="Courier New" panose="02070309020205020404" pitchFamily="49" charset="0"/>
              </a:rPr>
              <a:t>for</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5</a:t>
            </a:r>
            <a:r>
              <a:rPr lang="ro-RO" sz="2400" b="1" i="0" noProof="0" dirty="0">
                <a:solidFill>
                  <a:srgbClr val="CCCCCC"/>
                </a:solidFill>
                <a:effectLst/>
                <a:latin typeface="Courier New" panose="02070309020205020404" pitchFamily="49" charset="0"/>
              </a:rPr>
              <a:t>; i</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for</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j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j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5</a:t>
            </a:r>
            <a:r>
              <a:rPr lang="ro-RO" sz="2400" b="1" i="0" noProof="0" dirty="0">
                <a:solidFill>
                  <a:srgbClr val="CCCCCC"/>
                </a:solidFill>
                <a:effectLst/>
                <a:latin typeface="Courier New" panose="02070309020205020404" pitchFamily="49" charset="0"/>
              </a:rPr>
              <a:t>; j</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a:t>
            </a:r>
            <a:r>
              <a:rPr lang="ro-RO" sz="2400" b="1" i="0" noProof="0" dirty="0">
                <a:solidFill>
                  <a:srgbClr val="CCCCCC"/>
                </a:solidFill>
                <a:effectLst/>
                <a:latin typeface="Courier New" panose="02070309020205020404" pitchFamily="49" charset="0"/>
              </a:rPr>
              <a:t>(i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j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"\t"</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1858007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2C142-FCE3-1701-77EA-E787D5C837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EB0836-EA38-2E1A-BE81-265D2C9DF2B9}"/>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85CB631A-F82D-4937-EB87-33B749BB8F4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Cazuri de utilizare ale unei bucle for</a:t>
            </a:r>
          </a:p>
          <a:p>
            <a:pPr marL="34290" indent="0" algn="just">
              <a:buNone/>
            </a:pPr>
            <a:r>
              <a:rPr lang="ro-RO" sz="2800" noProof="0" dirty="0">
                <a:solidFill>
                  <a:srgbClr val="00B0F0"/>
                </a:solidFill>
              </a:rPr>
              <a:t>Parcurgerea tablourilor și listelor</a:t>
            </a:r>
          </a:p>
          <a:p>
            <a:pPr marL="34290" indent="0" algn="just">
              <a:buNone/>
            </a:pPr>
            <a:endParaRPr lang="ro-RO" sz="2800" noProof="0" dirty="0">
              <a:solidFill>
                <a:srgbClr val="00B0F0"/>
              </a:solidFill>
            </a:endParaRP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numbers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3</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4</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5</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99CD"/>
                </a:solidFill>
                <a:effectLst/>
                <a:latin typeface="Courier New" panose="02070309020205020404" pitchFamily="49" charset="0"/>
              </a:rPr>
              <a:t>for</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numbers.Length</a:t>
            </a:r>
            <a:r>
              <a:rPr lang="ro-RO" sz="2400" b="1" i="0" noProof="0" dirty="0">
                <a:solidFill>
                  <a:srgbClr val="CCCCCC"/>
                </a:solidFill>
                <a:effectLst/>
                <a:latin typeface="Courier New" panose="02070309020205020404" pitchFamily="49" charset="0"/>
              </a:rPr>
              <a:t>; i</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numbers</a:t>
            </a:r>
            <a:r>
              <a:rPr lang="ro-RO" sz="2400" b="1" i="0" noProof="0" dirty="0">
                <a:solidFill>
                  <a:srgbClr val="CCCCCC"/>
                </a:solidFill>
                <a:effectLst/>
                <a:latin typeface="Courier New" panose="02070309020205020404" pitchFamily="49" charset="0"/>
              </a:rPr>
              <a:t>[i]); </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851670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008C2-3E5A-04C2-BA7D-6592AE163A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B1176D5-FCF1-B8C8-FF8A-30C46F0DBD7D}"/>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8159B785-2AA5-21AF-E824-1DB26DC647C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Cazuri de utilizare ale unei bucle for</a:t>
            </a:r>
          </a:p>
          <a:p>
            <a:pPr marL="34290" indent="0" algn="just">
              <a:buNone/>
            </a:pPr>
            <a:r>
              <a:rPr lang="ro-RO" sz="2800" noProof="0" dirty="0">
                <a:solidFill>
                  <a:srgbClr val="00B0F0"/>
                </a:solidFill>
              </a:rPr>
              <a:t>Modele de afișare</a:t>
            </a: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n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5</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99CD"/>
                </a:solidFill>
                <a:effectLst/>
                <a:latin typeface="Courier New" panose="02070309020205020404" pitchFamily="49" charset="0"/>
              </a:rPr>
              <a:t>for</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n; i</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for</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j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j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i; j</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620188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7A2C6-3CD0-E7B4-D6B4-12A55AD960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E7E56A-63CD-C9E7-A613-E4E09D261522}"/>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25DF8A03-B86A-06CF-90F0-982A460EB9F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Cazuri de utilizare ale unei bucle for</a:t>
            </a:r>
          </a:p>
          <a:p>
            <a:pPr marL="34290" indent="0" algn="just">
              <a:buNone/>
            </a:pPr>
            <a:r>
              <a:rPr lang="ro-RO" sz="2800" noProof="0" dirty="0">
                <a:solidFill>
                  <a:srgbClr val="00B0F0"/>
                </a:solidFill>
              </a:rPr>
              <a:t>Implementarea contorizărilor</a:t>
            </a:r>
          </a:p>
          <a:p>
            <a:pPr marL="34290" indent="0" algn="just">
              <a:buNone/>
            </a:pP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str</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hello</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world</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char</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target</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'o’</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count</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99CD"/>
                </a:solidFill>
                <a:effectLst/>
                <a:latin typeface="Courier New" panose="02070309020205020404" pitchFamily="49" charset="0"/>
              </a:rPr>
              <a:t>for</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str.Length</a:t>
            </a:r>
            <a:r>
              <a:rPr lang="ro-RO" sz="2400" b="1" i="0" noProof="0" dirty="0">
                <a:solidFill>
                  <a:srgbClr val="CCCCCC"/>
                </a:solidFill>
                <a:effectLst/>
                <a:latin typeface="Courier New" panose="02070309020205020404" pitchFamily="49" charset="0"/>
              </a:rPr>
              <a:t>; i</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if</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str</a:t>
            </a:r>
            <a:r>
              <a:rPr lang="ro-RO" sz="2400" b="1" i="0" noProof="0" dirty="0">
                <a:solidFill>
                  <a:srgbClr val="CCCCCC"/>
                </a:solidFill>
                <a:effectLst/>
                <a:latin typeface="Courier New" panose="02070309020205020404" pitchFamily="49" charset="0"/>
              </a:rPr>
              <a:t>[i]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target</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count</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Character</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target</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appears</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count</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times</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3074684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90701-0E6A-B595-EE97-BF774202E12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CE8105-9D47-99D5-267E-1B5113A23806}"/>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E954C3DE-02EA-A197-04D7-D7D386157E7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Cazuri de utilizare ale unei bucle for</a:t>
            </a:r>
          </a:p>
          <a:p>
            <a:pPr marL="34290" indent="0" algn="just">
              <a:buNone/>
            </a:pPr>
            <a:r>
              <a:rPr lang="ro-RO" sz="2800" noProof="0" dirty="0">
                <a:solidFill>
                  <a:srgbClr val="00B0F0"/>
                </a:solidFill>
              </a:rPr>
              <a:t>Parcurgere si căutare în </a:t>
            </a:r>
            <a:r>
              <a:rPr lang="ro-RO" sz="2800" noProof="0" dirty="0" err="1">
                <a:solidFill>
                  <a:srgbClr val="00B0F0"/>
                </a:solidFill>
              </a:rPr>
              <a:t>matrici</a:t>
            </a:r>
            <a:endParaRPr lang="ro-RO" sz="2800" noProof="0" dirty="0">
              <a:solidFill>
                <a:srgbClr val="00B0F0"/>
              </a:solidFill>
            </a:endParaRP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arr</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20</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30</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40</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50</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target</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30</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bool</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found</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false</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99CD"/>
                </a:solidFill>
                <a:effectLst/>
                <a:latin typeface="Courier New" panose="02070309020205020404" pitchFamily="49" charset="0"/>
              </a:rPr>
              <a:t>for</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arr.Length</a:t>
            </a:r>
            <a:r>
              <a:rPr lang="ro-RO" sz="2400" b="1" i="0" noProof="0" dirty="0">
                <a:solidFill>
                  <a:srgbClr val="CCCCCC"/>
                </a:solidFill>
                <a:effectLst/>
                <a:latin typeface="Courier New" panose="02070309020205020404" pitchFamily="49" charset="0"/>
              </a:rPr>
              <a:t>; i</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if</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arr</a:t>
            </a:r>
            <a:r>
              <a:rPr lang="ro-RO" sz="2400" b="1" i="0" noProof="0" dirty="0">
                <a:solidFill>
                  <a:srgbClr val="CCCCCC"/>
                </a:solidFill>
                <a:effectLst/>
                <a:latin typeface="Courier New" panose="02070309020205020404" pitchFamily="49" charset="0"/>
              </a:rPr>
              <a:t>[i]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target</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found</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F08D49"/>
                </a:solidFill>
                <a:effectLst/>
                <a:latin typeface="Courier New" panose="02070309020205020404" pitchFamily="49" charset="0"/>
              </a:rPr>
              <a:t>true</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$"Element </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target</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  </a:t>
            </a:r>
          </a:p>
          <a:p>
            <a:pPr marL="34290" indent="0" algn="just">
              <a:buNone/>
            </a:pPr>
            <a:r>
              <a:rPr lang="ro-RO" sz="2400" b="1" noProof="0" dirty="0">
                <a:solidFill>
                  <a:srgbClr val="7EC699"/>
                </a:solidFill>
                <a:latin typeface="Courier New" panose="02070309020205020404" pitchFamily="49" charset="0"/>
              </a:rPr>
              <a:t>    </a:t>
            </a:r>
            <a:r>
              <a:rPr lang="ro-RO" sz="2400" b="1" i="0" noProof="0" dirty="0" err="1">
                <a:solidFill>
                  <a:srgbClr val="7EC699"/>
                </a:solidFill>
                <a:effectLst/>
                <a:latin typeface="Courier New" panose="02070309020205020404" pitchFamily="49" charset="0"/>
              </a:rPr>
              <a:t>found</a:t>
            </a:r>
            <a:r>
              <a:rPr lang="ro-RO" sz="2400" b="1" i="0" noProof="0" dirty="0">
                <a:solidFill>
                  <a:srgbClr val="7EC699"/>
                </a:solidFill>
                <a:effectLst/>
                <a:latin typeface="Courier New" panose="02070309020205020404" pitchFamily="49" charset="0"/>
              </a:rPr>
              <a:t> at index </a:t>
            </a:r>
            <a:r>
              <a:rPr lang="ro-RO" sz="2400" b="1" i="0" noProof="0" dirty="0">
                <a:solidFill>
                  <a:srgbClr val="CCCCCC"/>
                </a:solidFill>
                <a:effectLst/>
                <a:latin typeface="Courier New" panose="02070309020205020404" pitchFamily="49" charset="0"/>
              </a:rPr>
              <a:t>{i}</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99CD"/>
                </a:solidFill>
                <a:effectLst/>
                <a:latin typeface="Courier New" panose="02070309020205020404" pitchFamily="49" charset="0"/>
              </a:rPr>
              <a:t>    break</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if</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found</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"Element </a:t>
            </a:r>
            <a:r>
              <a:rPr lang="ro-RO" sz="2400" b="1" i="0" noProof="0" dirty="0" err="1">
                <a:solidFill>
                  <a:srgbClr val="7EC699"/>
                </a:solidFill>
                <a:effectLst/>
                <a:latin typeface="Courier New" panose="02070309020205020404" pitchFamily="49" charset="0"/>
              </a:rPr>
              <a:t>not</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found</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1464782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F158B-C990-DBA9-CEC0-F082116657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A0171A-0E4D-0278-B613-47A51A9291F7}"/>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F4251CDD-A984-8D1C-B784-6D8DA08B2B1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Cazuri de utilizare ale unei bucle for</a:t>
            </a:r>
          </a:p>
          <a:p>
            <a:pPr marL="34290" indent="0" algn="just">
              <a:buNone/>
            </a:pPr>
            <a:r>
              <a:rPr lang="ro-RO" sz="2800" noProof="0" dirty="0">
                <a:solidFill>
                  <a:srgbClr val="00B0F0"/>
                </a:solidFill>
              </a:rPr>
              <a:t>Generarea șirului </a:t>
            </a:r>
            <a:r>
              <a:rPr lang="ro-RO" sz="2800" noProof="0" dirty="0" err="1">
                <a:solidFill>
                  <a:srgbClr val="00B0F0"/>
                </a:solidFill>
              </a:rPr>
              <a:t>Fibbonaci</a:t>
            </a:r>
            <a:endParaRPr lang="ro-RO" sz="2800" noProof="0" dirty="0">
              <a:solidFill>
                <a:srgbClr val="00B0F0"/>
              </a:solidFill>
            </a:endParaRPr>
          </a:p>
          <a:p>
            <a:pPr marL="34290" indent="0" algn="just">
              <a:buNone/>
            </a:pP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b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c, n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{a}</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{b}</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99CD"/>
                </a:solidFill>
                <a:effectLst/>
                <a:latin typeface="Courier New" panose="02070309020205020404" pitchFamily="49" charset="0"/>
              </a:rPr>
              <a:t>for</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n; i</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c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b;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a:t>
            </a:r>
            <a:r>
              <a:rPr lang="ro-RO" sz="2400" b="1" i="0" noProof="0" dirty="0">
                <a:solidFill>
                  <a:srgbClr val="CCCCCC"/>
                </a:solidFill>
                <a:effectLst/>
                <a:latin typeface="Courier New" panose="02070309020205020404" pitchFamily="49" charset="0"/>
              </a:rPr>
              <a:t>(c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b;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b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c;</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917145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7FA82-8ADE-735E-AB06-7612B2CDEF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ECEEEF-57D1-D017-B851-E9793581F4C3}"/>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BA12AB84-032F-056E-0525-6DC9C99D940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a:t>
            </a:r>
            <a:r>
              <a:rPr lang="ro-RO" sz="2800" noProof="0" dirty="0" err="1">
                <a:solidFill>
                  <a:srgbClr val="00B0F0"/>
                </a:solidFill>
              </a:rPr>
              <a:t>while</a:t>
            </a:r>
            <a:r>
              <a:rPr lang="ro-RO" sz="2800" noProof="0" dirty="0">
                <a:solidFill>
                  <a:srgbClr val="00B0F0"/>
                </a:solidFill>
              </a:rPr>
              <a:t> în C#</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Bucla </a:t>
            </a:r>
            <a:r>
              <a:rPr lang="ro-RO" sz="2800" noProof="0" dirty="0" err="1">
                <a:solidFill>
                  <a:srgbClr val="00B0F0"/>
                </a:solidFill>
              </a:rPr>
              <a:t>while</a:t>
            </a:r>
            <a:r>
              <a:rPr lang="ro-RO" sz="2800" noProof="0" dirty="0">
                <a:solidFill>
                  <a:srgbClr val="00B0F0"/>
                </a:solidFill>
              </a:rPr>
              <a:t> în C# este o instrucțiune de control de bază a fluxului de cod care permite execuția repetată a unui bloc de cod atâta timp cât o condiție specificată se evaluează ca adevărată. Această instrucțiune este utilă atunci când numărul de iterații nu este predeterminat.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707153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981AD-6B27-8525-8B28-FFDEC03D60A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EE4B5C-87E6-0038-30F0-3642B7DC3310}"/>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A12FE3D2-D63C-BF83-B0FD-CAED3F2E7ED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a:t>
            </a:r>
            <a:r>
              <a:rPr lang="ro-RO" sz="2800" noProof="0" dirty="0" err="1">
                <a:solidFill>
                  <a:srgbClr val="00B0F0"/>
                </a:solidFill>
              </a:rPr>
              <a:t>while</a:t>
            </a:r>
            <a:r>
              <a:rPr lang="ro-RO" sz="2800" noProof="0" dirty="0">
                <a:solidFill>
                  <a:srgbClr val="00B0F0"/>
                </a:solidFill>
              </a:rPr>
              <a:t> în C#</a:t>
            </a:r>
          </a:p>
          <a:p>
            <a:pPr marL="34290" indent="0" algn="just">
              <a:buNone/>
            </a:pPr>
            <a:r>
              <a:rPr lang="ro-RO" sz="2800" noProof="0" dirty="0">
                <a:solidFill>
                  <a:srgbClr val="00B0F0"/>
                </a:solidFill>
              </a:rPr>
              <a:t>Sintaxa: </a:t>
            </a:r>
          </a:p>
          <a:p>
            <a:pPr marL="34290" indent="0" algn="just">
              <a:buNone/>
            </a:pPr>
            <a:r>
              <a:rPr lang="ro-RO" sz="2400" b="1" i="0" noProof="0" dirty="0" err="1">
                <a:solidFill>
                  <a:srgbClr val="CC99CD"/>
                </a:solidFill>
                <a:effectLst/>
                <a:latin typeface="Courier New" panose="02070309020205020404" pitchFamily="49" charset="0"/>
              </a:rPr>
              <a:t>while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condition</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F08D49"/>
                </a:solidFill>
                <a:effectLst/>
                <a:latin typeface="Courier New" panose="02070309020205020404" pitchFamily="49" charset="0"/>
              </a:rPr>
              <a:t>statement</a:t>
            </a:r>
            <a:r>
              <a:rPr lang="ro-RO" sz="2400" b="1" i="0" noProof="0" dirty="0">
                <a:solidFill>
                  <a:srgbClr val="CCCCCC"/>
                </a:solidFill>
                <a:effectLst/>
                <a:latin typeface="Courier New" panose="02070309020205020404" pitchFamily="49" charset="0"/>
              </a:rPr>
              <a:t>(s); </a:t>
            </a:r>
          </a:p>
          <a:p>
            <a:pPr marL="34290" indent="0" algn="just">
              <a:buNone/>
            </a:pPr>
            <a:r>
              <a:rPr lang="ro-RO" sz="2400" b="1" i="0" noProof="0" dirty="0">
                <a:solidFill>
                  <a:srgbClr val="CCCCCC"/>
                </a:solidFill>
                <a:effectLst/>
                <a:latin typeface="Courier New" panose="02070309020205020404" pitchFamily="49" charset="0"/>
              </a:rPr>
              <a:t>}</a:t>
            </a:r>
          </a:p>
          <a:p>
            <a:pPr marL="34290" indent="0" algn="just">
              <a:buNone/>
            </a:pPr>
            <a:r>
              <a:rPr lang="ro-RO" sz="2400" noProof="0" dirty="0">
                <a:solidFill>
                  <a:srgbClr val="00B0F0"/>
                </a:solidFill>
              </a:rPr>
              <a:t>Instrucțiunile pot fi o singură instrucțiune sau un bloc de instrucțiuni. Condiția poate fi orice expresie, iar „adevărat” este orice valoare diferită de zero. Bucla iterează atât timp cât condiția este adevărată.</a:t>
            </a:r>
          </a:p>
          <a:p>
            <a:pPr marL="34290" indent="0" algn="just">
              <a:buNone/>
            </a:pPr>
            <a:r>
              <a:rPr lang="ro-RO" sz="2400" noProof="0" dirty="0">
                <a:solidFill>
                  <a:srgbClr val="00B0F0"/>
                </a:solidFill>
              </a:rPr>
              <a:t>Când condiția devine falsă, controlul programului trece la linia imediat următoare buclei.</a:t>
            </a:r>
          </a:p>
          <a:p>
            <a:pPr marL="34290" indent="0" algn="just">
              <a:buNone/>
            </a:pPr>
            <a:endParaRPr lang="ro-RO" sz="2400" b="1" i="0" noProof="0" dirty="0">
              <a:solidFill>
                <a:srgbClr val="CCCCCC"/>
              </a:solidFill>
              <a:effectLst/>
              <a:latin typeface="Courier New" panose="02070309020205020404" pitchFamily="49" charset="0"/>
            </a:endParaRPr>
          </a:p>
          <a:p>
            <a:pPr marL="34290" indent="0" algn="just">
              <a:buNone/>
            </a:pPr>
            <a:endParaRPr lang="ro-RO" sz="2400" b="1" noProof="0" dirty="0">
              <a:solidFill>
                <a:srgbClr val="00B0F0"/>
              </a:solidFill>
            </a:endParaRPr>
          </a:p>
        </p:txBody>
      </p:sp>
    </p:spTree>
    <p:extLst>
      <p:ext uri="{BB962C8B-B14F-4D97-AF65-F5344CB8AC3E}">
        <p14:creationId xmlns:p14="http://schemas.microsoft.com/office/powerpoint/2010/main" val="153780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2FB5-15A5-578F-29CA-C635EDAA953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95360FD-ED73-560C-ABA2-B1E01646A607}"/>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BE58255E-E94C-4011-A1AB-0840C87FF81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Diagrama instrucțiunii </a:t>
            </a:r>
            <a:r>
              <a:rPr lang="ro-RO" sz="2800" noProof="0" dirty="0" err="1">
                <a:solidFill>
                  <a:srgbClr val="00B0F0"/>
                </a:solidFill>
              </a:rPr>
              <a:t>while</a:t>
            </a:r>
            <a:endParaRPr lang="ro-RO" sz="2800" noProof="0" dirty="0">
              <a:solidFill>
                <a:srgbClr val="00B0F0"/>
              </a:solidFill>
            </a:endParaRPr>
          </a:p>
        </p:txBody>
      </p:sp>
      <p:pic>
        <p:nvPicPr>
          <p:cNvPr id="1026" name="Picture 2" descr="while loop in C#">
            <a:extLst>
              <a:ext uri="{FF2B5EF4-FFF2-40B4-BE49-F238E27FC236}">
                <a16:creationId xmlns:a16="http://schemas.microsoft.com/office/drawing/2014/main" id="{BA14A1A5-E2F6-5ED5-AE1A-51AABB761A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9462" y="1989044"/>
            <a:ext cx="2505075" cy="384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7476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F7F97-F1BD-9A8E-B96E-41D2B19FEA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FC706B2-B6FC-B3A1-014A-010293ACE66D}"/>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E983D6BB-09CE-6E1D-C1DE-9A872A470FE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Părțile unei instrucțiuni </a:t>
            </a:r>
            <a:r>
              <a:rPr lang="ro-RO" sz="2800" noProof="0" dirty="0" err="1">
                <a:solidFill>
                  <a:srgbClr val="00B0F0"/>
                </a:solidFill>
              </a:rPr>
              <a:t>while</a:t>
            </a:r>
            <a:endParaRPr lang="ro-RO" sz="2800" noProof="0" dirty="0">
              <a:solidFill>
                <a:srgbClr val="00B0F0"/>
              </a:solidFill>
            </a:endParaRPr>
          </a:p>
          <a:p>
            <a:pPr marL="34290" indent="0" algn="just">
              <a:buNone/>
            </a:pPr>
            <a:r>
              <a:rPr lang="ro-RO" sz="2800" noProof="0" dirty="0">
                <a:solidFill>
                  <a:srgbClr val="00B0F0"/>
                </a:solidFill>
              </a:rPr>
              <a:t>O instrucțiune </a:t>
            </a:r>
            <a:r>
              <a:rPr lang="ro-RO" sz="2800" noProof="0" dirty="0" err="1">
                <a:solidFill>
                  <a:srgbClr val="00B0F0"/>
                </a:solidFill>
              </a:rPr>
              <a:t>while</a:t>
            </a:r>
            <a:r>
              <a:rPr lang="ro-RO" sz="2800" noProof="0" dirty="0">
                <a:solidFill>
                  <a:srgbClr val="00B0F0"/>
                </a:solidFill>
              </a:rPr>
              <a:t> are trei părți principale:</a:t>
            </a:r>
          </a:p>
          <a:p>
            <a:pPr algn="just"/>
            <a:r>
              <a:rPr lang="ro-RO" sz="2800" noProof="0" dirty="0">
                <a:solidFill>
                  <a:srgbClr val="00B0F0"/>
                </a:solidFill>
              </a:rPr>
              <a:t>Inițializare: Într-o buclă controlată de contor, unde numărul de iterații este cunoscut, acest pas definește variabila contorului înainte de începerea buclei.</a:t>
            </a:r>
          </a:p>
          <a:p>
            <a:pPr algn="just"/>
            <a:r>
              <a:rPr lang="ro-RO" sz="2800" noProof="0" dirty="0">
                <a:solidFill>
                  <a:srgbClr val="00B0F0"/>
                </a:solidFill>
              </a:rPr>
              <a:t>Condiție: Bucla rulează atâta timp cât această condiție este adevărată.</a:t>
            </a:r>
          </a:p>
          <a:p>
            <a:pPr algn="just"/>
            <a:r>
              <a:rPr lang="ro-RO" sz="2800" noProof="0" dirty="0">
                <a:solidFill>
                  <a:srgbClr val="00B0F0"/>
                </a:solidFill>
              </a:rPr>
              <a:t>Actualizare (Incrementare/Decrementare): Variabila contorului din interiorul condiției ar trebui să se modifice la fiecare iterație pentru a preveni o buclă infinită.</a:t>
            </a:r>
          </a:p>
        </p:txBody>
      </p:sp>
    </p:spTree>
    <p:extLst>
      <p:ext uri="{BB962C8B-B14F-4D97-AF65-F5344CB8AC3E}">
        <p14:creationId xmlns:p14="http://schemas.microsoft.com/office/powerpoint/2010/main" val="2320721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13C6D-A03D-D3A1-8781-BBA4667AFE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A46B33-4305-CFEA-DA36-9B711D946910}"/>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014334CB-948D-4701-A27C-CE12A9E8C31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a:t>
            </a:r>
            <a:r>
              <a:rPr lang="ro-RO" sz="2800" noProof="0" dirty="0" err="1">
                <a:solidFill>
                  <a:srgbClr val="00B0F0"/>
                </a:solidFill>
              </a:rPr>
              <a:t>while</a:t>
            </a:r>
            <a:endParaRPr lang="ro-RO" sz="2800" noProof="0" dirty="0">
              <a:solidFill>
                <a:srgbClr val="00B0F0"/>
              </a:solidFill>
            </a:endParaRPr>
          </a:p>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namespace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Loops</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999999"/>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while</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20</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value</a:t>
            </a:r>
            <a:r>
              <a:rPr lang="ro-RO" sz="2400" b="1" i="0" noProof="0" dirty="0">
                <a:solidFill>
                  <a:srgbClr val="7EC699"/>
                </a:solidFill>
                <a:effectLst/>
                <a:latin typeface="Courier New" panose="02070309020205020404" pitchFamily="49" charset="0"/>
              </a:rPr>
              <a:t> of a: </a:t>
            </a:r>
          </a:p>
          <a:p>
            <a:pPr marL="34290" indent="0" algn="just">
              <a:buNone/>
            </a:pPr>
            <a:r>
              <a:rPr lang="ro-RO" sz="2400" b="1" noProof="0" dirty="0">
                <a:solidFill>
                  <a:srgbClr val="7EC699"/>
                </a:solidFill>
                <a:latin typeface="Courier New" panose="02070309020205020404" pitchFamily="49" charset="0"/>
              </a:rPr>
              <a:t>        </a:t>
            </a:r>
            <a:r>
              <a:rPr lang="ro-RO" sz="2400" b="1" i="0" noProof="0" dirty="0">
                <a:solidFill>
                  <a:srgbClr val="7EC69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a);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3642169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7B770-6D0B-B342-0A4F-5D2BA66ECE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0E906E-07AD-9EFC-9AEC-B96548673042}"/>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2E83AA9C-67B1-5C3B-7362-DCBA0613501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a:t>
            </a:r>
            <a:r>
              <a:rPr lang="ro-RO" sz="2800" noProof="0" dirty="0" err="1">
                <a:solidFill>
                  <a:srgbClr val="00B0F0"/>
                </a:solidFill>
              </a:rPr>
              <a:t>while</a:t>
            </a:r>
            <a:endParaRPr lang="ro-RO" sz="2800" noProof="0" dirty="0">
              <a:solidFill>
                <a:srgbClr val="00B0F0"/>
              </a:solidFill>
            </a:endParaRPr>
          </a:p>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Example</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n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5</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sum</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while</a:t>
            </a:r>
            <a:r>
              <a:rPr lang="ro-RO" sz="2400" b="1" i="0" noProof="0" dirty="0">
                <a:solidFill>
                  <a:srgbClr val="CCCCCC"/>
                </a:solidFill>
                <a:effectLst/>
                <a:latin typeface="Courier New" panose="02070309020205020404" pitchFamily="49" charset="0"/>
              </a:rPr>
              <a:t> (i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n)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sum</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i;</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i</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Sum</a:t>
            </a:r>
            <a:r>
              <a:rPr lang="ro-RO" sz="2400" b="1" i="0" noProof="0" dirty="0">
                <a:solidFill>
                  <a:srgbClr val="7EC699"/>
                </a:solidFill>
                <a:effectLst/>
                <a:latin typeface="Courier New" panose="02070309020205020404" pitchFamily="49" charset="0"/>
              </a:rPr>
              <a:t> of </a:t>
            </a:r>
            <a:r>
              <a:rPr lang="ro-RO" sz="2400" b="1" i="0" noProof="0" dirty="0" err="1">
                <a:solidFill>
                  <a:srgbClr val="7EC699"/>
                </a:solidFill>
                <a:effectLst/>
                <a:latin typeface="Courier New" panose="02070309020205020404" pitchFamily="49" charset="0"/>
              </a:rPr>
              <a:t>first</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n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numbers</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is</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sum</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3776321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2F903-D4BD-8B9F-2B53-13E7EF2AD3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97A8ECD-3301-D4B9-C2E2-7DB2BEF45591}"/>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06B68FF4-6226-5BF5-0366-05FA018B897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a:t>
            </a:r>
            <a:r>
              <a:rPr lang="ro-RO" sz="2800" noProof="0" dirty="0" err="1">
                <a:solidFill>
                  <a:srgbClr val="00B0F0"/>
                </a:solidFill>
              </a:rPr>
              <a:t>while</a:t>
            </a:r>
            <a:endParaRPr lang="ro-RO" sz="2800" noProof="0" dirty="0">
              <a:solidFill>
                <a:srgbClr val="00B0F0"/>
              </a:solidFill>
            </a:endParaRPr>
          </a:p>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Example</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n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12345</a:t>
            </a:r>
            <a:r>
              <a:rPr lang="ro-RO" sz="2400" b="1" i="0" noProof="0" dirty="0">
                <a:solidFill>
                  <a:srgbClr val="CCCCCC"/>
                </a:solidFill>
                <a:effectLst/>
                <a:latin typeface="Courier New" panose="02070309020205020404" pitchFamily="49" charset="0"/>
              </a:rPr>
              <a:t>, reverse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0</a:t>
            </a:r>
            <a:r>
              <a:rPr lang="ro-RO" sz="2400" b="1" noProof="0" dirty="0">
                <a:solidFill>
                  <a:srgbClr val="CCCCCC"/>
                </a:solidFill>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count</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while</a:t>
            </a:r>
            <a:r>
              <a:rPr lang="ro-RO" sz="2400" b="1" i="0" noProof="0" dirty="0">
                <a:solidFill>
                  <a:srgbClr val="CCCCCC"/>
                </a:solidFill>
                <a:effectLst/>
                <a:latin typeface="Courier New" panose="02070309020205020404" pitchFamily="49" charset="0"/>
              </a:rPr>
              <a:t> (n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digit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n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 </a:t>
            </a:r>
            <a:endParaRPr lang="ro-RO" sz="2400" b="1" i="0" noProof="0" dirty="0">
              <a:solidFill>
                <a:srgbClr val="999999"/>
              </a:solidFill>
              <a:effectLst/>
              <a:latin typeface="Courier New" panose="02070309020205020404" pitchFamily="49" charset="0"/>
            </a:endParaRPr>
          </a:p>
          <a:p>
            <a:pPr marL="34290" indent="0" algn="just">
              <a:buNone/>
            </a:pPr>
            <a:r>
              <a:rPr lang="ro-RO" sz="2400" b="1" noProof="0" dirty="0">
                <a:solidFill>
                  <a:srgbClr val="999999"/>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reverse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reverse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digit;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n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noProof="0" dirty="0" err="1">
                <a:solidFill>
                  <a:srgbClr val="CCCCCC"/>
                </a:solidFill>
                <a:latin typeface="Courier New" panose="02070309020205020404" pitchFamily="49" charset="0"/>
              </a:rPr>
              <a:t>count</a:t>
            </a:r>
            <a:r>
              <a:rPr lang="ro-RO" sz="2400" b="1" noProof="0" dirty="0">
                <a:solidFill>
                  <a:srgbClr val="CCCCCC"/>
                </a:solidFill>
                <a:latin typeface="Courier New" panose="02070309020205020404" pitchFamily="49" charset="0"/>
              </a:rPr>
              <a:t>++;</a:t>
            </a:r>
            <a:endParaRPr lang="ro-RO" sz="2400" b="1" i="0" noProof="0" dirty="0">
              <a:solidFill>
                <a:srgbClr val="999999"/>
              </a:solidFill>
              <a:effectLst/>
              <a:latin typeface="Courier New" panose="02070309020205020404" pitchFamily="49" charset="0"/>
            </a:endParaRPr>
          </a:p>
          <a:p>
            <a:pPr marL="34290" indent="0" algn="just">
              <a:buNone/>
            </a:pPr>
            <a:r>
              <a:rPr lang="ro-RO" sz="2400" b="1" noProof="0" dirty="0">
                <a:solidFill>
                  <a:srgbClr val="999999"/>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endParaRPr lang="ro-RO" sz="2400" b="1" noProof="0" dirty="0">
              <a:solidFill>
                <a:srgbClr val="00B0F0"/>
              </a:solidFill>
            </a:endParaRPr>
          </a:p>
        </p:txBody>
      </p:sp>
    </p:spTree>
    <p:extLst>
      <p:ext uri="{BB962C8B-B14F-4D97-AF65-F5344CB8AC3E}">
        <p14:creationId xmlns:p14="http://schemas.microsoft.com/office/powerpoint/2010/main" val="2958945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DB3FD-88AB-B489-4C13-3C70348AAFC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FA3017-919D-3B9F-25B1-A57B592766ED}"/>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097DADCE-327E-61EC-18DB-15B9D1D9FE1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a:t>
            </a:r>
            <a:r>
              <a:rPr lang="ro-RO" sz="2800" noProof="0" dirty="0" err="1">
                <a:solidFill>
                  <a:srgbClr val="00B0F0"/>
                </a:solidFill>
              </a:rPr>
              <a:t>while</a:t>
            </a:r>
            <a:endParaRPr lang="ro-RO" sz="2800" noProof="0" dirty="0">
              <a:solidFill>
                <a:srgbClr val="00B0F0"/>
              </a:solidFill>
            </a:endParaRP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4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ro-RO" sz="24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4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a:t>
            </a:r>
            <a:r>
              <a:rPr kumimoji="0" lang="ro-RO" sz="2400" b="1" i="0" u="none" strike="noStrike" kern="1200" cap="none" spc="0" normalizeH="0" baseline="0" noProof="0" dirty="0" err="1">
                <a:ln>
                  <a:noFill/>
                </a:ln>
                <a:solidFill>
                  <a:srgbClr val="7EC699"/>
                </a:solidFill>
                <a:effectLst/>
                <a:uLnTx/>
                <a:uFillTx/>
                <a:latin typeface="Courier New" panose="02070309020205020404" pitchFamily="49" charset="0"/>
                <a:ea typeface="+mn-ea"/>
                <a:cs typeface="+mn-cs"/>
              </a:rPr>
              <a:t>Reversed</a:t>
            </a:r>
            <a:r>
              <a:rPr kumimoji="0" lang="ro-RO" sz="24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 </a:t>
            </a:r>
            <a:r>
              <a:rPr kumimoji="0" lang="ro-RO" sz="2400" b="1" i="0" u="none" strike="noStrike" kern="1200" cap="none" spc="0" normalizeH="0" baseline="0" noProof="0" dirty="0" err="1">
                <a:ln>
                  <a:noFill/>
                </a:ln>
                <a:solidFill>
                  <a:srgbClr val="7EC699"/>
                </a:solidFill>
                <a:effectLst/>
                <a:uLnTx/>
                <a:uFillTx/>
                <a:latin typeface="Courier New" panose="02070309020205020404" pitchFamily="49" charset="0"/>
                <a:ea typeface="+mn-ea"/>
                <a:cs typeface="+mn-cs"/>
              </a:rPr>
              <a:t>Number</a:t>
            </a:r>
            <a:r>
              <a:rPr kumimoji="0" lang="ro-RO" sz="24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 "</a:t>
            </a: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4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reverse);</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4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ro-RO" sz="24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ro-RO" sz="24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"Total </a:t>
            </a:r>
            <a:r>
              <a:rPr kumimoji="0" lang="ro-RO" sz="2400" b="1" i="0" u="none" strike="noStrike" kern="1200" cap="none" spc="0" normalizeH="0" baseline="0" noProof="0" dirty="0" err="1">
                <a:ln>
                  <a:noFill/>
                </a:ln>
                <a:solidFill>
                  <a:srgbClr val="7EC699"/>
                </a:solidFill>
                <a:effectLst/>
                <a:uLnTx/>
                <a:uFillTx/>
                <a:latin typeface="Courier New" panose="02070309020205020404" pitchFamily="49" charset="0"/>
                <a:ea typeface="+mn-ea"/>
                <a:cs typeface="+mn-cs"/>
              </a:rPr>
              <a:t>Digits</a:t>
            </a:r>
            <a:r>
              <a:rPr kumimoji="0" lang="ro-RO" sz="24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 "</a:t>
            </a: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4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4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count</a:t>
            </a: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endParaRPr kumimoji="0" lang="ro-RO" sz="2400" b="1" i="0" u="none" strike="noStrike" kern="1200" cap="none" spc="0" normalizeH="0" baseline="0" noProof="0" dirty="0">
              <a:ln>
                <a:noFill/>
              </a:ln>
              <a:solidFill>
                <a:srgbClr val="00B0F0"/>
              </a:solidFill>
              <a:effectLst/>
              <a:uLnTx/>
              <a:uFillTx/>
              <a:latin typeface="Arial"/>
              <a:ea typeface="+mn-ea"/>
              <a:cs typeface="+mn-cs"/>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98728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F32C2-A94D-CC2E-DA81-FD764A6ACE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434843-0837-A5FF-C5A2-FD29798382B3}"/>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6D7385B6-3911-3458-3C28-DD3617EA29D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a:t>
            </a:r>
            <a:r>
              <a:rPr lang="ro-RO" sz="2800" noProof="0" dirty="0" err="1">
                <a:solidFill>
                  <a:srgbClr val="00B0F0"/>
                </a:solidFill>
              </a:rPr>
              <a:t>while</a:t>
            </a:r>
            <a:endParaRPr lang="ro-RO" sz="2800" noProof="0" dirty="0">
              <a:solidFill>
                <a:srgbClr val="00B0F0"/>
              </a:solidFill>
            </a:endParaRP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Example</a:t>
            </a:r>
            <a:r>
              <a:rPr lang="ro-RO" sz="2400" b="1" i="0" noProof="0" dirty="0">
                <a:solidFill>
                  <a:srgbClr val="CCCCCC"/>
                </a:solidFill>
                <a:effectLst/>
                <a:latin typeface="Courier New" panose="02070309020205020404" pitchFamily="49" charset="0"/>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a:solidFill>
                  <a:srgbClr val="CC99CD"/>
                </a:solidFill>
                <a:effectLst/>
                <a:latin typeface="Courier New" panose="02070309020205020404" pitchFamily="49" charset="0"/>
              </a:rPr>
              <a:t>  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a:solidFill>
                  <a:srgbClr val="CC99CD"/>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input;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while</a:t>
            </a:r>
            <a:r>
              <a:rPr lang="ro-RO" sz="2400" b="1" i="0" noProof="0" dirty="0">
                <a:solidFill>
                  <a:srgbClr val="CCCCCC"/>
                </a:solidFill>
                <a:effectLst/>
                <a:latin typeface="Courier New" panose="02070309020205020404" pitchFamily="49" charset="0"/>
              </a:rPr>
              <a:t> (</a:t>
            </a:r>
            <a:r>
              <a:rPr lang="ro-RO" sz="2400" b="1" i="0" noProof="0" dirty="0" err="1">
                <a:solidFill>
                  <a:srgbClr val="F08D49"/>
                </a:solidFill>
                <a:effectLst/>
                <a:latin typeface="Courier New" panose="02070309020205020404" pitchFamily="49" charset="0"/>
              </a:rPr>
              <a:t>true</a:t>
            </a:r>
            <a:r>
              <a:rPr lang="ro-RO" sz="2400" b="1" i="0" noProof="0" dirty="0">
                <a:solidFill>
                  <a:srgbClr val="CCCCCC"/>
                </a:solidFill>
                <a:effectLst/>
                <a:latin typeface="Courier New" panose="02070309020205020404" pitchFamily="49" charset="0"/>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Enter</a:t>
            </a:r>
            <a:r>
              <a:rPr lang="ro-RO" sz="2400" b="1" i="0" noProof="0" dirty="0">
                <a:solidFill>
                  <a:srgbClr val="7EC699"/>
                </a:solidFill>
                <a:effectLst/>
                <a:latin typeface="Courier New" panose="02070309020205020404" pitchFamily="49" charset="0"/>
              </a:rPr>
              <a:t> a </a:t>
            </a:r>
            <a:r>
              <a:rPr lang="ro-RO" sz="2400" b="1" i="0" noProof="0" dirty="0" err="1">
                <a:solidFill>
                  <a:srgbClr val="7EC699"/>
                </a:solidFill>
                <a:effectLst/>
                <a:latin typeface="Courier New" panose="02070309020205020404" pitchFamily="49" charset="0"/>
              </a:rPr>
              <a:t>word</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type</a:t>
            </a:r>
            <a:r>
              <a:rPr lang="ro-RO" sz="2400" b="1" i="0" noProof="0" dirty="0">
                <a:solidFill>
                  <a:srgbClr val="7EC699"/>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7EC699"/>
                </a:solidFill>
                <a:latin typeface="Courier New" panose="02070309020205020404" pitchFamily="49" charset="0"/>
              </a:rPr>
              <a:t>      </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exit</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to</a:t>
            </a:r>
            <a:r>
              <a:rPr lang="ro-RO" sz="2400" b="1" i="0" noProof="0" dirty="0">
                <a:solidFill>
                  <a:srgbClr val="7EC699"/>
                </a:solidFill>
                <a:effectLst/>
                <a:latin typeface="Courier New" panose="02070309020205020404" pitchFamily="49" charset="0"/>
              </a:rPr>
              <a:t> stop): "</a:t>
            </a:r>
            <a:r>
              <a:rPr lang="ro-RO" sz="24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input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ReadLine</a:t>
            </a:r>
            <a:r>
              <a:rPr lang="ro-RO" sz="24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a:solidFill>
                  <a:srgbClr val="CC99CD"/>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if</a:t>
            </a:r>
            <a:r>
              <a:rPr lang="ro-RO" sz="2400" b="1" i="0" noProof="0" dirty="0">
                <a:solidFill>
                  <a:srgbClr val="CCCCCC"/>
                </a:solidFill>
                <a:effectLst/>
                <a:latin typeface="Courier New" panose="02070309020205020404" pitchFamily="49" charset="0"/>
              </a:rPr>
              <a:t> (input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exit</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CC99CD"/>
                </a:solidFill>
                <a:effectLst/>
                <a:latin typeface="Courier New" panose="02070309020205020404" pitchFamily="49" charset="0"/>
              </a:rPr>
              <a:t>break</a:t>
            </a:r>
            <a:r>
              <a:rPr lang="ro-RO" sz="24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You</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entered</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input);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a:solidFill>
                  <a:srgbClr val="CCCCCC"/>
                </a:solidFill>
                <a:effectLst/>
                <a:latin typeface="Courier New" panose="02070309020205020404" pitchFamily="49" charset="0"/>
              </a:rPr>
              <a:t>}</a:t>
            </a: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endParaRPr lang="ro-RO" sz="2400" b="1" noProof="0" dirty="0">
              <a:solidFill>
                <a:srgbClr val="00B0F0"/>
              </a:solidFill>
            </a:endParaRPr>
          </a:p>
        </p:txBody>
      </p:sp>
    </p:spTree>
    <p:extLst>
      <p:ext uri="{BB962C8B-B14F-4D97-AF65-F5344CB8AC3E}">
        <p14:creationId xmlns:p14="http://schemas.microsoft.com/office/powerpoint/2010/main" val="985856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9D727-293A-B95F-FA97-8D5368CD59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B70F93-63BF-5318-E2CE-E358D639C9CB}"/>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D1787524-0504-B2BB-7997-1579BAEEDB2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a:t>
            </a:r>
            <a:r>
              <a:rPr lang="ro-RO" sz="2800" noProof="0" dirty="0" err="1">
                <a:solidFill>
                  <a:srgbClr val="00B0F0"/>
                </a:solidFill>
              </a:rPr>
              <a:t>while</a:t>
            </a:r>
            <a:endParaRPr lang="ro-RO" sz="2800" noProof="0" dirty="0">
              <a:solidFill>
                <a:srgbClr val="00B0F0"/>
              </a:solidFill>
            </a:endParaRP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i="0" noProof="0" dirty="0" err="1">
                <a:solidFill>
                  <a:srgbClr val="CC99CD"/>
                </a:solidFill>
                <a:effectLst/>
                <a:latin typeface="Courier New" panose="02070309020205020404" pitchFamily="49" charset="0"/>
              </a:rPr>
              <a:t>using</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System</a:t>
            </a:r>
            <a:r>
              <a:rPr lang="ro-RO" sz="22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i="0" noProof="0" dirty="0" err="1">
                <a:solidFill>
                  <a:srgbClr val="CC99CD"/>
                </a:solidFill>
                <a:effectLst/>
                <a:latin typeface="Courier New" panose="02070309020205020404" pitchFamily="49" charset="0"/>
              </a:rPr>
              <a:t>class</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Example</a:t>
            </a:r>
            <a:r>
              <a:rPr lang="ro-RO" sz="2200" b="1" i="0" noProof="0" dirty="0">
                <a:solidFill>
                  <a:srgbClr val="CCCCCC"/>
                </a:solidFill>
                <a:effectLst/>
                <a:latin typeface="Courier New" panose="02070309020205020404" pitchFamily="49" charset="0"/>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static</a:t>
            </a:r>
            <a:r>
              <a:rPr lang="ro-RO" sz="2200" b="1" i="0" noProof="0" dirty="0">
                <a:solidFill>
                  <a:srgbClr val="CCCCCC"/>
                </a:solidFill>
                <a:effectLst/>
                <a:latin typeface="Courier New" panose="02070309020205020404" pitchFamily="49" charset="0"/>
              </a:rPr>
              <a:t> </a:t>
            </a:r>
            <a:r>
              <a:rPr lang="ro-RO" sz="2200" b="1" i="0" noProof="0" dirty="0" err="1">
                <a:solidFill>
                  <a:srgbClr val="CC99CD"/>
                </a:solidFill>
                <a:effectLst/>
                <a:latin typeface="Courier New" panose="02070309020205020404" pitchFamily="49" charset="0"/>
              </a:rPr>
              <a:t>void</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Main</a:t>
            </a:r>
            <a:r>
              <a:rPr lang="ro-RO" sz="2200" b="1" i="0" noProof="0" dirty="0">
                <a:solidFill>
                  <a:srgbClr val="CCCCCC"/>
                </a:solidFill>
                <a:effectLst/>
                <a:latin typeface="Courier New" panose="02070309020205020404" pitchFamily="49" charset="0"/>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noProof="0" dirty="0">
                <a:solidFill>
                  <a:srgbClr val="CCCCCC"/>
                </a:solidFill>
                <a:latin typeface="Courier New" panose="02070309020205020404" pitchFamily="49" charset="0"/>
              </a:rPr>
              <a:t>    </a:t>
            </a:r>
            <a:r>
              <a:rPr lang="ro-RO" sz="2200" b="1" i="0" noProof="0" dirty="0" err="1">
                <a:solidFill>
                  <a:srgbClr val="CC99CD"/>
                </a:solidFill>
                <a:effectLst/>
                <a:latin typeface="Courier New" panose="02070309020205020404" pitchFamily="49" charset="0"/>
              </a:rPr>
              <a:t>int</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number</a:t>
            </a:r>
            <a:r>
              <a:rPr lang="ro-RO" sz="22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noProof="0" dirty="0">
                <a:solidFill>
                  <a:srgbClr val="CCCCCC"/>
                </a:solidFill>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Console.</a:t>
            </a:r>
            <a:r>
              <a:rPr lang="ro-RO" sz="2200" b="1" i="0" noProof="0" dirty="0" err="1">
                <a:solidFill>
                  <a:srgbClr val="F08D49"/>
                </a:solidFill>
                <a:effectLst/>
                <a:latin typeface="Courier New" panose="02070309020205020404" pitchFamily="49" charset="0"/>
              </a:rPr>
              <a:t>Write</a:t>
            </a:r>
            <a:r>
              <a:rPr lang="ro-RO" sz="2200" b="1" i="0" noProof="0" dirty="0">
                <a:solidFill>
                  <a:srgbClr val="CCCCCC"/>
                </a:solidFill>
                <a:effectLst/>
                <a:latin typeface="Courier New" panose="02070309020205020404" pitchFamily="49" charset="0"/>
              </a:rPr>
              <a:t>(</a:t>
            </a:r>
            <a:r>
              <a:rPr lang="ro-RO" sz="2200" b="1" i="0" noProof="0" dirty="0">
                <a:solidFill>
                  <a:srgbClr val="7EC699"/>
                </a:solidFill>
                <a:effectLst/>
                <a:latin typeface="Courier New" panose="02070309020205020404" pitchFamily="49" charset="0"/>
              </a:rPr>
              <a:t>"</a:t>
            </a:r>
            <a:r>
              <a:rPr lang="ro-RO" sz="2200" b="1" i="0" noProof="0" dirty="0" err="1">
                <a:solidFill>
                  <a:srgbClr val="7EC699"/>
                </a:solidFill>
                <a:effectLst/>
                <a:latin typeface="Courier New" panose="02070309020205020404" pitchFamily="49" charset="0"/>
              </a:rPr>
              <a:t>Enter</a:t>
            </a:r>
            <a:r>
              <a:rPr lang="ro-RO" sz="2200" b="1" i="0" noProof="0" dirty="0">
                <a:solidFill>
                  <a:srgbClr val="7EC699"/>
                </a:solidFill>
                <a:effectLst/>
                <a:latin typeface="Courier New" panose="02070309020205020404" pitchFamily="49" charset="0"/>
              </a:rPr>
              <a:t> a </a:t>
            </a:r>
            <a:r>
              <a:rPr lang="ro-RO" sz="2200" b="1" i="0" noProof="0" dirty="0" err="1">
                <a:solidFill>
                  <a:srgbClr val="7EC699"/>
                </a:solidFill>
                <a:effectLst/>
                <a:latin typeface="Courier New" panose="02070309020205020404" pitchFamily="49" charset="0"/>
              </a:rPr>
              <a:t>positive</a:t>
            </a:r>
            <a:r>
              <a:rPr lang="ro-RO" sz="2200" b="1" i="0" noProof="0" dirty="0">
                <a:solidFill>
                  <a:srgbClr val="7EC699"/>
                </a:solidFill>
                <a:effectLst/>
                <a:latin typeface="Courier New" panose="02070309020205020404" pitchFamily="49" charset="0"/>
              </a:rPr>
              <a:t> </a:t>
            </a:r>
            <a:r>
              <a:rPr lang="ro-RO" sz="2200" b="1" i="0" noProof="0" dirty="0" err="1">
                <a:solidFill>
                  <a:srgbClr val="7EC699"/>
                </a:solidFill>
                <a:effectLst/>
                <a:latin typeface="Courier New" panose="02070309020205020404" pitchFamily="49" charset="0"/>
              </a:rPr>
              <a:t>number</a:t>
            </a:r>
            <a:r>
              <a:rPr lang="ro-RO" sz="2200" b="1" i="0" noProof="0" dirty="0">
                <a:solidFill>
                  <a:srgbClr val="7EC699"/>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noProof="0" dirty="0">
                <a:solidFill>
                  <a:srgbClr val="7EC699"/>
                </a:solidFill>
                <a:latin typeface="Courier New" panose="02070309020205020404" pitchFamily="49" charset="0"/>
              </a:rPr>
              <a:t>    </a:t>
            </a:r>
            <a:r>
              <a:rPr lang="ro-RO" sz="2200" b="1" i="0" noProof="0" dirty="0">
                <a:solidFill>
                  <a:srgbClr val="7EC699"/>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noProof="0" dirty="0">
                <a:solidFill>
                  <a:srgbClr val="CCCCCC"/>
                </a:solidFill>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r>
              <a:rPr lang="ro-RO" sz="2200" b="1" i="0" noProof="0" dirty="0" err="1">
                <a:solidFill>
                  <a:srgbClr val="CC99CD"/>
                </a:solidFill>
                <a:effectLst/>
                <a:latin typeface="Courier New" panose="02070309020205020404" pitchFamily="49" charset="0"/>
              </a:rPr>
              <a:t>while</a:t>
            </a:r>
            <a:r>
              <a:rPr lang="ro-RO" sz="2200" b="1" i="0" noProof="0" dirty="0">
                <a:solidFill>
                  <a:srgbClr val="CCCCCC"/>
                </a:solidFill>
                <a:effectLst/>
                <a:latin typeface="Courier New" panose="02070309020205020404" pitchFamily="49" charset="0"/>
              </a:rPr>
              <a:t> (</a:t>
            </a:r>
            <a:r>
              <a:rPr lang="ro-RO" sz="2200" b="1" i="0" noProof="0" dirty="0">
                <a:solidFill>
                  <a:srgbClr val="67CDCC"/>
                </a:solidFill>
                <a:effectLst/>
                <a:latin typeface="Courier New" panose="02070309020205020404" pitchFamily="49" charset="0"/>
              </a:rPr>
              <a:t>!</a:t>
            </a:r>
            <a:r>
              <a:rPr lang="ro-RO" sz="2200" b="1" i="0" noProof="0" dirty="0" err="1">
                <a:solidFill>
                  <a:srgbClr val="CC99CD"/>
                </a:solidFill>
                <a:effectLst/>
                <a:latin typeface="Courier New" panose="02070309020205020404" pitchFamily="49" charset="0"/>
              </a:rPr>
              <a:t>int</a:t>
            </a:r>
            <a:r>
              <a:rPr lang="ro-RO" sz="2200" b="1" i="0" noProof="0" dirty="0" err="1">
                <a:solidFill>
                  <a:srgbClr val="CCCCCC"/>
                </a:solidFill>
                <a:effectLst/>
                <a:latin typeface="Courier New" panose="02070309020205020404" pitchFamily="49" charset="0"/>
              </a:rPr>
              <a:t>.</a:t>
            </a:r>
            <a:r>
              <a:rPr lang="ro-RO" sz="2200" b="1" i="0" noProof="0" dirty="0" err="1">
                <a:solidFill>
                  <a:srgbClr val="F08D49"/>
                </a:solidFill>
                <a:effectLst/>
                <a:latin typeface="Courier New" panose="02070309020205020404" pitchFamily="49" charset="0"/>
              </a:rPr>
              <a:t>TryParse</a:t>
            </a:r>
            <a:r>
              <a:rPr lang="ro-RO" sz="2200" b="1" i="0" noProof="0" dirty="0">
                <a:solidFill>
                  <a:srgbClr val="CCCCCC"/>
                </a:solidFill>
                <a:effectLst/>
                <a:latin typeface="Courier New" panose="02070309020205020404" pitchFamily="49" charset="0"/>
              </a:rPr>
              <a:t>(</a:t>
            </a:r>
            <a:r>
              <a:rPr lang="ro-RO" sz="2200" b="1" i="0" noProof="0" dirty="0" err="1">
                <a:solidFill>
                  <a:srgbClr val="CCCCCC"/>
                </a:solidFill>
                <a:effectLst/>
                <a:latin typeface="Courier New" panose="02070309020205020404" pitchFamily="49" charset="0"/>
              </a:rPr>
              <a:t>Console.</a:t>
            </a:r>
            <a:r>
              <a:rPr lang="ro-RO" sz="2200" b="1" i="0" noProof="0" dirty="0" err="1">
                <a:solidFill>
                  <a:srgbClr val="F08D49"/>
                </a:solidFill>
                <a:effectLst/>
                <a:latin typeface="Courier New" panose="02070309020205020404" pitchFamily="49" charset="0"/>
              </a:rPr>
              <a:t>ReadLine</a:t>
            </a:r>
            <a:r>
              <a:rPr lang="ro-RO" sz="22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out</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number</a:t>
            </a:r>
            <a:r>
              <a:rPr lang="ro-RO" sz="2200" b="1" i="0" noProof="0" dirty="0">
                <a:solidFill>
                  <a:srgbClr val="CCCCCC"/>
                </a:solidFill>
                <a:effectLst/>
                <a:latin typeface="Courier New" panose="02070309020205020404" pitchFamily="49" charset="0"/>
              </a:rPr>
              <a:t>)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number</a:t>
            </a:r>
            <a:r>
              <a:rPr lang="ro-RO" sz="2200" b="1" i="0" noProof="0" dirty="0">
                <a:solidFill>
                  <a:srgbClr val="CCCCCC"/>
                </a:solidFill>
                <a:effectLst/>
                <a:latin typeface="Courier New" panose="02070309020205020404" pitchFamily="49" charset="0"/>
              </a:rPr>
              <a:t> </a:t>
            </a:r>
            <a:r>
              <a:rPr lang="ro-RO" sz="2200" b="1" i="0" noProof="0" dirty="0">
                <a:solidFill>
                  <a:srgbClr val="67CDCC"/>
                </a:solidFill>
                <a:effectLst/>
                <a:latin typeface="Courier New" panose="02070309020205020404" pitchFamily="49" charset="0"/>
              </a:rPr>
              <a:t>&lt;=</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0</a:t>
            </a:r>
            <a:r>
              <a:rPr lang="ro-RO" sz="22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Console.</a:t>
            </a:r>
            <a:r>
              <a:rPr lang="ro-RO" sz="2200" b="1" i="0" noProof="0" dirty="0" err="1">
                <a:solidFill>
                  <a:srgbClr val="F08D49"/>
                </a:solidFill>
                <a:effectLst/>
                <a:latin typeface="Courier New" panose="02070309020205020404" pitchFamily="49" charset="0"/>
              </a:rPr>
              <a:t>Write</a:t>
            </a:r>
            <a:r>
              <a:rPr lang="ro-RO" sz="2200" b="1" i="0" noProof="0" dirty="0">
                <a:solidFill>
                  <a:srgbClr val="CCCCCC"/>
                </a:solidFill>
                <a:effectLst/>
                <a:latin typeface="Courier New" panose="02070309020205020404" pitchFamily="49" charset="0"/>
              </a:rPr>
              <a:t>(</a:t>
            </a:r>
            <a:r>
              <a:rPr lang="ro-RO" sz="2200" b="1" i="0" noProof="0" dirty="0">
                <a:solidFill>
                  <a:srgbClr val="7EC699"/>
                </a:solidFill>
                <a:effectLst/>
                <a:latin typeface="Courier New" panose="02070309020205020404" pitchFamily="49" charset="0"/>
              </a:rPr>
              <a:t>"Invalid input! </a:t>
            </a:r>
            <a:r>
              <a:rPr lang="ro-RO" sz="2200" b="1" i="0" noProof="0" dirty="0" err="1">
                <a:solidFill>
                  <a:srgbClr val="7EC699"/>
                </a:solidFill>
                <a:effectLst/>
                <a:latin typeface="Courier New" panose="02070309020205020404" pitchFamily="49" charset="0"/>
              </a:rPr>
              <a:t>Please</a:t>
            </a:r>
            <a:r>
              <a:rPr lang="ro-RO" sz="2200" b="1" i="0" noProof="0" dirty="0">
                <a:solidFill>
                  <a:srgbClr val="7EC699"/>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noProof="0" dirty="0">
                <a:solidFill>
                  <a:srgbClr val="7EC699"/>
                </a:solidFill>
                <a:latin typeface="Courier New" panose="02070309020205020404" pitchFamily="49" charset="0"/>
              </a:rPr>
              <a:t>      </a:t>
            </a:r>
            <a:r>
              <a:rPr lang="ro-RO" sz="2200" b="1" i="0" noProof="0" dirty="0" err="1">
                <a:solidFill>
                  <a:srgbClr val="7EC699"/>
                </a:solidFill>
                <a:effectLst/>
                <a:latin typeface="Courier New" panose="02070309020205020404" pitchFamily="49" charset="0"/>
              </a:rPr>
              <a:t>enter</a:t>
            </a:r>
            <a:r>
              <a:rPr lang="ro-RO" sz="2200" b="1" i="0" noProof="0" dirty="0">
                <a:solidFill>
                  <a:srgbClr val="7EC699"/>
                </a:solidFill>
                <a:effectLst/>
                <a:latin typeface="Courier New" panose="02070309020205020404" pitchFamily="49" charset="0"/>
              </a:rPr>
              <a:t> a </a:t>
            </a:r>
            <a:r>
              <a:rPr lang="ro-RO" sz="2200" b="1" i="0" noProof="0" dirty="0" err="1">
                <a:solidFill>
                  <a:srgbClr val="7EC699"/>
                </a:solidFill>
                <a:effectLst/>
                <a:latin typeface="Courier New" panose="02070309020205020404" pitchFamily="49" charset="0"/>
              </a:rPr>
              <a:t>positive</a:t>
            </a:r>
            <a:r>
              <a:rPr lang="ro-RO" sz="2200" b="1" i="0" noProof="0" dirty="0">
                <a:solidFill>
                  <a:srgbClr val="7EC699"/>
                </a:solidFill>
                <a:effectLst/>
                <a:latin typeface="Courier New" panose="02070309020205020404" pitchFamily="49" charset="0"/>
              </a:rPr>
              <a:t> </a:t>
            </a:r>
            <a:r>
              <a:rPr lang="ro-RO" sz="2200" b="1" i="0" noProof="0" dirty="0" err="1">
                <a:solidFill>
                  <a:srgbClr val="7EC699"/>
                </a:solidFill>
                <a:effectLst/>
                <a:latin typeface="Courier New" panose="02070309020205020404" pitchFamily="49" charset="0"/>
              </a:rPr>
              <a:t>number</a:t>
            </a:r>
            <a:r>
              <a:rPr lang="ro-RO" sz="2200" b="1" i="0" noProof="0" dirty="0">
                <a:solidFill>
                  <a:srgbClr val="7EC699"/>
                </a:solidFill>
                <a:effectLst/>
                <a:latin typeface="Courier New" panose="02070309020205020404" pitchFamily="49" charset="0"/>
              </a:rPr>
              <a:t>: "</a:t>
            </a:r>
            <a:r>
              <a:rPr lang="ro-RO" sz="2200" b="1" i="0" noProof="0" dirty="0">
                <a:solidFill>
                  <a:srgbClr val="CCCCCC"/>
                </a:solidFill>
                <a:effectLst/>
                <a:latin typeface="Courier New" panose="02070309020205020404" pitchFamily="49" charset="0"/>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noProof="0" dirty="0">
                <a:solidFill>
                  <a:srgbClr val="CCCCCC"/>
                </a:solidFill>
                <a:latin typeface="Courier New" panose="02070309020205020404" pitchFamily="49" charset="0"/>
              </a:rPr>
              <a:t>   </a:t>
            </a:r>
            <a:r>
              <a:rPr lang="ro-RO" sz="2200" b="1" i="0" noProof="0" dirty="0">
                <a:solidFill>
                  <a:srgbClr val="CCCCCC"/>
                </a:solidFill>
                <a:effectLst/>
                <a:latin typeface="Courier New" panose="02070309020205020404" pitchFamily="49" charset="0"/>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noProof="0" dirty="0">
                <a:solidFill>
                  <a:srgbClr val="CCCCCC"/>
                </a:solidFill>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Console.</a:t>
            </a:r>
            <a:r>
              <a:rPr lang="ro-RO" sz="2200" b="1" i="0" noProof="0" dirty="0" err="1">
                <a:solidFill>
                  <a:srgbClr val="F08D49"/>
                </a:solidFill>
                <a:effectLst/>
                <a:latin typeface="Courier New" panose="02070309020205020404" pitchFamily="49" charset="0"/>
              </a:rPr>
              <a:t>WriteLine</a:t>
            </a:r>
            <a:r>
              <a:rPr lang="ro-RO" sz="2200" b="1" i="0" noProof="0" dirty="0">
                <a:solidFill>
                  <a:srgbClr val="CCCCCC"/>
                </a:solidFill>
                <a:effectLst/>
                <a:latin typeface="Courier New" panose="02070309020205020404" pitchFamily="49" charset="0"/>
              </a:rPr>
              <a:t>(</a:t>
            </a:r>
            <a:r>
              <a:rPr lang="ro-RO" sz="2200" b="1" i="0" noProof="0" dirty="0">
                <a:solidFill>
                  <a:srgbClr val="7EC699"/>
                </a:solidFill>
                <a:effectLst/>
                <a:latin typeface="Courier New" panose="02070309020205020404" pitchFamily="49" charset="0"/>
              </a:rPr>
              <a:t>"</a:t>
            </a:r>
            <a:r>
              <a:rPr lang="ro-RO" sz="2200" b="1" i="0" noProof="0" dirty="0" err="1">
                <a:solidFill>
                  <a:srgbClr val="7EC699"/>
                </a:solidFill>
                <a:effectLst/>
                <a:latin typeface="Courier New" panose="02070309020205020404" pitchFamily="49" charset="0"/>
              </a:rPr>
              <a:t>You</a:t>
            </a:r>
            <a:r>
              <a:rPr lang="ro-RO" sz="2200" b="1" i="0" noProof="0" dirty="0">
                <a:solidFill>
                  <a:srgbClr val="7EC699"/>
                </a:solidFill>
                <a:effectLst/>
                <a:latin typeface="Courier New" panose="02070309020205020404" pitchFamily="49" charset="0"/>
              </a:rPr>
              <a:t> </a:t>
            </a:r>
            <a:r>
              <a:rPr lang="ro-RO" sz="2200" b="1" i="0" noProof="0" dirty="0" err="1">
                <a:solidFill>
                  <a:srgbClr val="7EC699"/>
                </a:solidFill>
                <a:effectLst/>
                <a:latin typeface="Courier New" panose="02070309020205020404" pitchFamily="49" charset="0"/>
              </a:rPr>
              <a:t>entered</a:t>
            </a:r>
            <a:r>
              <a:rPr lang="ro-RO" sz="2200" b="1" i="0" noProof="0" dirty="0">
                <a:solidFill>
                  <a:srgbClr val="7EC699"/>
                </a:solidFill>
                <a:effectLst/>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noProof="0" dirty="0">
                <a:solidFill>
                  <a:srgbClr val="CCCCCC"/>
                </a:solidFill>
                <a:latin typeface="Courier New" panose="02070309020205020404" pitchFamily="49" charset="0"/>
              </a:rPr>
              <a:t>    </a:t>
            </a:r>
            <a:r>
              <a:rPr lang="ro-RO" sz="2200" b="1" i="0" noProof="0" dirty="0" err="1">
                <a:solidFill>
                  <a:srgbClr val="CCCCCC"/>
                </a:solidFill>
                <a:effectLst/>
                <a:latin typeface="Courier New" panose="02070309020205020404" pitchFamily="49" charset="0"/>
              </a:rPr>
              <a:t>number</a:t>
            </a:r>
            <a:r>
              <a:rPr lang="ro-RO" sz="22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noProof="0" dirty="0">
                <a:solidFill>
                  <a:srgbClr val="CCCCCC"/>
                </a:solidFill>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i="0" noProof="0" dirty="0">
                <a:solidFill>
                  <a:srgbClr val="CCCCCC"/>
                </a:solidFill>
                <a:effectLst/>
                <a:latin typeface="Courier New" panose="02070309020205020404" pitchFamily="49" charset="0"/>
              </a:rPr>
              <a:t>}</a:t>
            </a:r>
            <a:r>
              <a:rPr kumimoji="0" lang="ro-RO" sz="22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endParaRPr lang="ro-RO" sz="2200" b="1" noProof="0" dirty="0">
              <a:solidFill>
                <a:srgbClr val="00B0F0"/>
              </a:solidFill>
            </a:endParaRPr>
          </a:p>
        </p:txBody>
      </p:sp>
    </p:spTree>
    <p:extLst>
      <p:ext uri="{BB962C8B-B14F-4D97-AF65-F5344CB8AC3E}">
        <p14:creationId xmlns:p14="http://schemas.microsoft.com/office/powerpoint/2010/main" val="841405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BAC0D-F57A-AB56-6DF7-381AF030DA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2B3BCB-9CD8-79A8-498E-E822B9149214}"/>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DB6FB3AF-870F-7E76-D9A6-06292279E299}"/>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a:t>
            </a:r>
            <a:r>
              <a:rPr lang="ro-RO" sz="2800" noProof="0" dirty="0" err="1">
                <a:solidFill>
                  <a:srgbClr val="00B0F0"/>
                </a:solidFill>
              </a:rPr>
              <a:t>while</a:t>
            </a:r>
            <a:endParaRPr lang="ro-RO" sz="2800" noProof="0" dirty="0">
              <a:solidFill>
                <a:srgbClr val="00B0F0"/>
              </a:solidFill>
            </a:endParaRP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System.IO;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Example</a:t>
            </a:r>
            <a:r>
              <a:rPr lang="ro-RO" sz="2400" b="1" i="0" noProof="0" dirty="0">
                <a:solidFill>
                  <a:srgbClr val="CCCCCC"/>
                </a:solidFill>
                <a:effectLst/>
                <a:latin typeface="Courier New" panose="02070309020205020404" pitchFamily="49" charset="0"/>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 {</a:t>
            </a:r>
          </a:p>
          <a:p>
            <a:pPr marL="34290" lvl="0" indent="0" algn="just">
              <a:buClr>
                <a:srgbClr val="FF8600"/>
              </a:buClr>
              <a:buNone/>
              <a:defRPr/>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filePath</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dirty="0">
                <a:solidFill>
                  <a:srgbClr val="7EC699"/>
                </a:solidFill>
                <a:latin typeface="Courier New" panose="02070309020205020404" pitchFamily="49" charset="0"/>
              </a:rPr>
              <a:t>"</a:t>
            </a:r>
            <a:r>
              <a:rPr lang="ro-RO" sz="2400" b="1" i="0" noProof="0">
                <a:solidFill>
                  <a:srgbClr val="7EC699"/>
                </a:solidFill>
                <a:effectLst/>
                <a:latin typeface="Courier New" panose="02070309020205020404" pitchFamily="49" charset="0"/>
              </a:rPr>
              <a:t>sample</a:t>
            </a:r>
            <a:r>
              <a:rPr lang="ro-RO" sz="2400" b="1" i="0" noProof="0" dirty="0">
                <a:solidFill>
                  <a:srgbClr val="7EC699"/>
                </a:solidFill>
                <a:effectLst/>
                <a:latin typeface="Courier New" panose="02070309020205020404" pitchFamily="49" charset="0"/>
              </a:rPr>
              <a:t>.txt"</a:t>
            </a:r>
            <a:r>
              <a:rPr lang="ro-RO" sz="2400" b="1" i="0" noProof="0" dirty="0">
                <a:solidFill>
                  <a:srgbClr val="CCCCCC"/>
                </a:solidFill>
                <a:effectLst/>
                <a:latin typeface="Courier New" panose="02070309020205020404" pitchFamily="49" charset="0"/>
              </a:rPr>
              <a:t>;</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if</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File.</a:t>
            </a:r>
            <a:r>
              <a:rPr lang="ro-RO" sz="2400" b="1" i="0" noProof="0" dirty="0" err="1">
                <a:solidFill>
                  <a:srgbClr val="F08D49"/>
                </a:solidFill>
                <a:effectLst/>
                <a:latin typeface="Courier New" panose="02070309020205020404" pitchFamily="49" charset="0"/>
              </a:rPr>
              <a:t>Exists</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filePath</a:t>
            </a:r>
            <a:r>
              <a:rPr lang="ro-RO" sz="2400" b="1" i="0" noProof="0" dirty="0">
                <a:solidFill>
                  <a:srgbClr val="CCCCCC"/>
                </a:solidFill>
                <a:effectLst/>
                <a:latin typeface="Courier New" panose="02070309020205020404" pitchFamily="49" charset="0"/>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StreamReader</a:t>
            </a:r>
            <a:r>
              <a:rPr lang="ro-RO" sz="2400" b="1" i="0" noProof="0" dirty="0">
                <a:solidFill>
                  <a:srgbClr val="CCCCCC"/>
                </a:solidFill>
                <a:effectLst/>
                <a:latin typeface="Courier New" panose="02070309020205020404" pitchFamily="49" charset="0"/>
              </a:rPr>
              <a:t> reader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new</a:t>
            </a:r>
            <a:r>
              <a:rPr lang="ro-RO" sz="24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StreamReader</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filePath</a:t>
            </a:r>
            <a:r>
              <a:rPr lang="ro-RO" sz="2400" b="1" i="0" noProof="0" dirty="0">
                <a:solidFill>
                  <a:srgbClr val="CCCCCC"/>
                </a:solidFill>
                <a:effectLst/>
                <a:latin typeface="Courier New" panose="02070309020205020404" pitchFamily="49" charset="0"/>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line;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while</a:t>
            </a:r>
            <a:r>
              <a:rPr lang="ro-RO" sz="2400" b="1" i="0" noProof="0" dirty="0">
                <a:solidFill>
                  <a:srgbClr val="CCCCCC"/>
                </a:solidFill>
                <a:effectLst/>
                <a:latin typeface="Courier New" panose="02070309020205020404" pitchFamily="49" charset="0"/>
              </a:rPr>
              <a:t> ((line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reader.</a:t>
            </a:r>
            <a:r>
              <a:rPr lang="ro-RO" sz="2400" b="1" i="0" noProof="0" dirty="0" err="1">
                <a:solidFill>
                  <a:srgbClr val="F08D49"/>
                </a:solidFill>
                <a:effectLst/>
                <a:latin typeface="Courier New" panose="02070309020205020404" pitchFamily="49" charset="0"/>
              </a:rPr>
              <a:t>ReadLine</a:t>
            </a:r>
            <a:r>
              <a:rPr lang="ro-RO" sz="24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a:solidFill>
                  <a:srgbClr val="67CD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null</a:t>
            </a:r>
            <a:r>
              <a:rPr lang="ro-RO" sz="2400" b="1" i="0" noProof="0" dirty="0">
                <a:solidFill>
                  <a:srgbClr val="CCCCCC"/>
                </a:solidFill>
                <a:effectLst/>
                <a:latin typeface="Courier New" panose="02070309020205020404" pitchFamily="49" charset="0"/>
              </a:rPr>
              <a:t>) {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(line);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marR="0" lvl="0" indent="0" algn="just"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i="0" noProof="0" dirty="0">
                <a:solidFill>
                  <a:srgbClr val="CCCCCC"/>
                </a:solidFill>
                <a:effectLst/>
                <a:latin typeface="Courier New" panose="02070309020205020404" pitchFamily="49" charset="0"/>
              </a:rPr>
              <a:t>}</a:t>
            </a: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endParaRPr lang="ro-RO" sz="2400" b="1" noProof="0" dirty="0">
              <a:solidFill>
                <a:srgbClr val="00B0F0"/>
              </a:solidFill>
            </a:endParaRPr>
          </a:p>
        </p:txBody>
      </p:sp>
    </p:spTree>
    <p:extLst>
      <p:ext uri="{BB962C8B-B14F-4D97-AF65-F5344CB8AC3E}">
        <p14:creationId xmlns:p14="http://schemas.microsoft.com/office/powerpoint/2010/main" val="14404073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97C0C-45D4-6926-09CD-47E9076BE9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8D04FD-F9C4-9030-465D-9026671B4986}"/>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037214E1-365A-DFAA-AB8A-C20901F87A0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do..</a:t>
            </a:r>
            <a:r>
              <a:rPr lang="ro-RO" sz="2800" noProof="0" dirty="0" err="1">
                <a:solidFill>
                  <a:srgbClr val="00B0F0"/>
                </a:solidFill>
              </a:rPr>
              <a:t>while</a:t>
            </a:r>
            <a:r>
              <a:rPr lang="ro-RO" sz="2800" noProof="0" dirty="0">
                <a:solidFill>
                  <a:srgbClr val="00B0F0"/>
                </a:solidFill>
              </a:rPr>
              <a:t> în C#</a:t>
            </a:r>
          </a:p>
          <a:p>
            <a:pPr marL="34290" indent="0" algn="just">
              <a:buNone/>
            </a:pPr>
            <a:r>
              <a:rPr lang="ro-RO" sz="2800" noProof="0" dirty="0">
                <a:solidFill>
                  <a:srgbClr val="00B0F0"/>
                </a:solidFill>
              </a:rPr>
              <a:t>Spre deosebire de instrucțiunile for și </a:t>
            </a:r>
            <a:r>
              <a:rPr lang="ro-RO" sz="2800" noProof="0" dirty="0" err="1">
                <a:solidFill>
                  <a:srgbClr val="00B0F0"/>
                </a:solidFill>
              </a:rPr>
              <a:t>while</a:t>
            </a:r>
            <a:r>
              <a:rPr lang="ro-RO" sz="2800" noProof="0" dirty="0">
                <a:solidFill>
                  <a:srgbClr val="00B0F0"/>
                </a:solidFill>
              </a:rPr>
              <a:t>, care testează condiția buclei la începutul acesteia, instrucțiunea do...</a:t>
            </a:r>
            <a:r>
              <a:rPr lang="ro-RO" sz="2800" noProof="0" dirty="0" err="1">
                <a:solidFill>
                  <a:srgbClr val="00B0F0"/>
                </a:solidFill>
              </a:rPr>
              <a:t>while</a:t>
            </a:r>
            <a:r>
              <a:rPr lang="ro-RO" sz="2800" noProof="0" dirty="0">
                <a:solidFill>
                  <a:srgbClr val="00B0F0"/>
                </a:solidFill>
              </a:rPr>
              <a:t> își verifică condiția la sfârșitul buclei.</a:t>
            </a:r>
          </a:p>
          <a:p>
            <a:pPr marL="34290" indent="0" algn="just">
              <a:buNone/>
            </a:pPr>
            <a:r>
              <a:rPr lang="ro-RO" sz="2800" noProof="0" dirty="0">
                <a:solidFill>
                  <a:srgbClr val="00B0F0"/>
                </a:solidFill>
              </a:rPr>
              <a:t>O instrucțiune do-</a:t>
            </a:r>
            <a:r>
              <a:rPr lang="ro-RO" sz="2800" noProof="0" dirty="0" err="1">
                <a:solidFill>
                  <a:srgbClr val="00B0F0"/>
                </a:solidFill>
              </a:rPr>
              <a:t>while</a:t>
            </a:r>
            <a:r>
              <a:rPr lang="ro-RO" sz="2800" noProof="0" dirty="0">
                <a:solidFill>
                  <a:srgbClr val="00B0F0"/>
                </a:solidFill>
              </a:rPr>
              <a:t> în C# este similară cu o instrucțiune </a:t>
            </a:r>
            <a:r>
              <a:rPr lang="ro-RO" sz="2800" noProof="0" dirty="0" err="1">
                <a:solidFill>
                  <a:srgbClr val="00B0F0"/>
                </a:solidFill>
              </a:rPr>
              <a:t>while</a:t>
            </a:r>
            <a:r>
              <a:rPr lang="ro-RO" sz="2800" noProof="0" dirty="0">
                <a:solidFill>
                  <a:srgbClr val="00B0F0"/>
                </a:solidFill>
              </a:rPr>
              <a:t>, dar garantează cel puțin o execuție a corpului buclei, chiar dacă condiția este falsă. Acest lucru o face utilă pentru scenariile în care corpul buclei trebuie să ruleze cel puțin o dată înainte de a evalua condiția.</a:t>
            </a:r>
          </a:p>
        </p:txBody>
      </p:sp>
    </p:spTree>
    <p:extLst>
      <p:ext uri="{BB962C8B-B14F-4D97-AF65-F5344CB8AC3E}">
        <p14:creationId xmlns:p14="http://schemas.microsoft.com/office/powerpoint/2010/main" val="7221971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C0A4A-EEEF-1E3D-9A3B-401C86AC23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1EC4F3-3B45-9526-2D4A-0146CCB1893B}"/>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45C09EDD-09B2-E205-D7B2-BD76C841CF19}"/>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do..</a:t>
            </a:r>
            <a:r>
              <a:rPr lang="ro-RO" sz="2800" noProof="0" dirty="0" err="1">
                <a:solidFill>
                  <a:srgbClr val="00B0F0"/>
                </a:solidFill>
              </a:rPr>
              <a:t>while</a:t>
            </a:r>
            <a:r>
              <a:rPr lang="ro-RO" sz="2800" noProof="0" dirty="0">
                <a:solidFill>
                  <a:srgbClr val="00B0F0"/>
                </a:solidFill>
              </a:rPr>
              <a:t> în C#</a:t>
            </a:r>
          </a:p>
          <a:p>
            <a:pPr marL="34290" indent="0" algn="just">
              <a:buNone/>
            </a:pPr>
            <a:r>
              <a:rPr lang="ro-RO" sz="2800" noProof="0" dirty="0">
                <a:solidFill>
                  <a:srgbClr val="00B0F0"/>
                </a:solidFill>
              </a:rPr>
              <a:t>Sintaxa:</a:t>
            </a:r>
          </a:p>
          <a:p>
            <a:pPr marL="34290" indent="0" algn="just">
              <a:buNone/>
            </a:pPr>
            <a:r>
              <a:rPr lang="ro-RO" sz="2400" b="1" i="0" noProof="0" dirty="0">
                <a:solidFill>
                  <a:srgbClr val="CC99CD"/>
                </a:solidFill>
                <a:effectLst/>
                <a:latin typeface="Courier New" panose="02070309020205020404" pitchFamily="49" charset="0"/>
              </a:rPr>
              <a:t>do</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F08D49"/>
                </a:solidFill>
                <a:effectLst/>
                <a:latin typeface="Courier New" panose="02070309020205020404" pitchFamily="49" charset="0"/>
              </a:rPr>
              <a:t>statement</a:t>
            </a:r>
            <a:r>
              <a:rPr lang="ro-RO" sz="2400" b="1" i="0" noProof="0" dirty="0">
                <a:solidFill>
                  <a:srgbClr val="CCCCCC"/>
                </a:solidFill>
                <a:effectLst/>
                <a:latin typeface="Courier New" panose="02070309020205020404" pitchFamily="49" charset="0"/>
              </a:rPr>
              <a:t>(s); </a:t>
            </a:r>
          </a:p>
          <a:p>
            <a:pPr marL="34290" indent="0" algn="just">
              <a:buNone/>
            </a:pP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while</a:t>
            </a:r>
            <a:r>
              <a:rPr lang="ro-RO" sz="2400" b="1" i="0" noProof="0" dirty="0">
                <a:solidFill>
                  <a:srgbClr val="CC99CD"/>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condition</a:t>
            </a:r>
            <a:r>
              <a:rPr lang="ro-RO" sz="2400" b="1" i="0" noProof="0" dirty="0">
                <a:solidFill>
                  <a:srgbClr val="CCCCCC"/>
                </a:solidFill>
                <a:effectLst/>
                <a:latin typeface="Courier New" panose="02070309020205020404" pitchFamily="49" charset="0"/>
              </a:rPr>
              <a:t> );</a:t>
            </a:r>
          </a:p>
          <a:p>
            <a:pPr marL="34290" indent="0" algn="just">
              <a:buNone/>
            </a:pPr>
            <a:r>
              <a:rPr lang="ro-RO" sz="2800" noProof="0" dirty="0">
                <a:solidFill>
                  <a:srgbClr val="00B0F0"/>
                </a:solidFill>
              </a:rPr>
              <a:t>Expresia condițională apare la sfârșitul buclei, deci instrucțiunile din buclă se execută o dată înainte ca condiția să fie testată.</a:t>
            </a:r>
          </a:p>
          <a:p>
            <a:pPr marL="34290" indent="0" algn="just">
              <a:buNone/>
            </a:pPr>
            <a:r>
              <a:rPr lang="ro-RO" sz="2800" noProof="0" dirty="0">
                <a:solidFill>
                  <a:srgbClr val="00B0F0"/>
                </a:solidFill>
              </a:rPr>
              <a:t>Dacă condiția este adevărată, fluxul de control revine la instrucțiuni, iar instrucțiunile din buclă se execută din nou. Acest proces se repetă până când condiția dată devine falsă.</a:t>
            </a:r>
          </a:p>
        </p:txBody>
      </p:sp>
    </p:spTree>
    <p:extLst>
      <p:ext uri="{BB962C8B-B14F-4D97-AF65-F5344CB8AC3E}">
        <p14:creationId xmlns:p14="http://schemas.microsoft.com/office/powerpoint/2010/main" val="534695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43D95-ADF1-0D65-A1B2-39B37AD510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33A0EC-B444-0F81-DD98-8BFB372EFD13}"/>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98EA7C12-0249-63DE-EDBF-5322B1FFA55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Diagrama instrucțiunii do..</a:t>
            </a:r>
            <a:r>
              <a:rPr lang="ro-RO" sz="2800" noProof="0" dirty="0" err="1">
                <a:solidFill>
                  <a:srgbClr val="00B0F0"/>
                </a:solidFill>
              </a:rPr>
              <a:t>while</a:t>
            </a:r>
            <a:r>
              <a:rPr lang="ro-RO" sz="2800" noProof="0" dirty="0">
                <a:solidFill>
                  <a:srgbClr val="00B0F0"/>
                </a:solidFill>
              </a:rPr>
              <a:t> în C#</a:t>
            </a:r>
          </a:p>
          <a:p>
            <a:pPr marL="34290" indent="0" algn="just">
              <a:buNone/>
            </a:pPr>
            <a:endParaRPr lang="ro-RO" sz="2800" noProof="0" dirty="0">
              <a:solidFill>
                <a:srgbClr val="00B0F0"/>
              </a:solidFill>
            </a:endParaRPr>
          </a:p>
          <a:p>
            <a:pPr marL="34290" indent="0" algn="just">
              <a:buNone/>
            </a:pPr>
            <a:endParaRPr lang="ro-RO" sz="2800" noProof="0" dirty="0">
              <a:solidFill>
                <a:srgbClr val="00B0F0"/>
              </a:solidFill>
            </a:endParaRPr>
          </a:p>
        </p:txBody>
      </p:sp>
      <p:pic>
        <p:nvPicPr>
          <p:cNvPr id="2050" name="Picture 2" descr="do...while loop in C#">
            <a:extLst>
              <a:ext uri="{FF2B5EF4-FFF2-40B4-BE49-F238E27FC236}">
                <a16:creationId xmlns:a16="http://schemas.microsoft.com/office/drawing/2014/main" id="{A44BC4DA-0D6C-78C5-9C8E-7502872A57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7330" y="1978119"/>
            <a:ext cx="3524530" cy="4211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5721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2E60C-9DBD-CAF3-761E-7DFC1686F7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7CD3D1-3523-B5DA-D818-7647BFC40C7A}"/>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38EA72A5-3FCE-C780-8050-0A4BF0C626E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do .. </a:t>
            </a:r>
            <a:r>
              <a:rPr lang="ro-RO" sz="2800" noProof="0" dirty="0" err="1">
                <a:solidFill>
                  <a:srgbClr val="00B0F0"/>
                </a:solidFill>
              </a:rPr>
              <a:t>while</a:t>
            </a:r>
            <a:r>
              <a:rPr lang="ro-RO" sz="2800" noProof="0" dirty="0">
                <a:solidFill>
                  <a:srgbClr val="00B0F0"/>
                </a:solidFill>
              </a:rPr>
              <a:t> în C#</a:t>
            </a:r>
          </a:p>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namespace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Loops</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args</a:t>
            </a:r>
            <a:r>
              <a:rPr lang="ro-RO" sz="2400" b="1" i="0" noProof="0" dirty="0">
                <a:solidFill>
                  <a:srgbClr val="CCCCCC"/>
                </a:solidFill>
                <a:effectLst/>
                <a:latin typeface="Courier New" panose="02070309020205020404" pitchFamily="49" charset="0"/>
              </a:rPr>
              <a:t>) { </a:t>
            </a:r>
          </a:p>
          <a:p>
            <a:pPr marL="34290" indent="0" algn="just">
              <a:buNone/>
            </a:pPr>
            <a:r>
              <a:rPr lang="ro-RO" sz="2400" b="1" i="0" noProof="0" dirty="0">
                <a:solidFill>
                  <a:srgbClr val="CC99CD"/>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 </a:t>
            </a:r>
            <a:endParaRPr lang="ro-RO" sz="2400" b="1" i="0" noProof="0" dirty="0">
              <a:solidFill>
                <a:srgbClr val="999999"/>
              </a:solidFill>
              <a:effectLst/>
              <a:latin typeface="Courier New" panose="02070309020205020404" pitchFamily="49" charset="0"/>
            </a:endParaRPr>
          </a:p>
          <a:p>
            <a:pPr marL="34290" indent="0" algn="just">
              <a:buNone/>
            </a:pPr>
            <a:r>
              <a:rPr lang="ro-RO" sz="2400" b="1" noProof="0" dirty="0">
                <a:solidFill>
                  <a:srgbClr val="999999"/>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do</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value</a:t>
            </a:r>
            <a:r>
              <a:rPr lang="ro-RO" sz="2400" b="1" i="0" noProof="0" dirty="0">
                <a:solidFill>
                  <a:srgbClr val="7EC699"/>
                </a:solidFill>
                <a:effectLst/>
                <a:latin typeface="Courier New" panose="02070309020205020404" pitchFamily="49" charset="0"/>
              </a:rPr>
              <a:t> of a: </a:t>
            </a:r>
          </a:p>
          <a:p>
            <a:pPr marL="34290" indent="0" algn="just">
              <a:buNone/>
            </a:pPr>
            <a:r>
              <a:rPr lang="ro-RO" sz="2400" b="1" noProof="0" dirty="0">
                <a:solidFill>
                  <a:srgbClr val="7EC699"/>
                </a:solidFill>
                <a:latin typeface="Courier New" panose="02070309020205020404" pitchFamily="49" charset="0"/>
              </a:rPr>
              <a:t>        </a:t>
            </a:r>
            <a:r>
              <a:rPr lang="ro-RO" sz="2400" b="1" i="0" noProof="0" dirty="0">
                <a:solidFill>
                  <a:srgbClr val="7EC699"/>
                </a:solidFill>
                <a:effectLst/>
                <a:latin typeface="Courier New" panose="02070309020205020404" pitchFamily="49" charset="0"/>
              </a:rPr>
              <a:t>{0}"</a:t>
            </a:r>
            <a:r>
              <a:rPr lang="ro-RO" sz="2400" b="1" i="0" noProof="0" dirty="0">
                <a:solidFill>
                  <a:srgbClr val="CCCCCC"/>
                </a:solidFill>
                <a:effectLst/>
                <a:latin typeface="Courier New" panose="02070309020205020404" pitchFamily="49" charset="0"/>
              </a:rPr>
              <a:t>, a);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1</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while</a:t>
            </a:r>
            <a:r>
              <a:rPr lang="ro-RO" sz="2400" b="1" i="0" noProof="0" dirty="0">
                <a:solidFill>
                  <a:srgbClr val="CCCCCC"/>
                </a:solidFill>
                <a:effectLst/>
                <a:latin typeface="Courier New" panose="02070309020205020404" pitchFamily="49" charset="0"/>
              </a:rPr>
              <a:t> (a </a:t>
            </a:r>
            <a:r>
              <a:rPr lang="ro-RO" sz="2400" b="1" i="0" noProof="0" dirty="0">
                <a:solidFill>
                  <a:srgbClr val="67CDCC"/>
                </a:solidFill>
                <a:effectLst/>
                <a:latin typeface="Courier New" panose="02070309020205020404" pitchFamily="49" charset="0"/>
              </a:rPr>
              <a:t>&lt;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20</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 </a:t>
            </a:r>
          </a:p>
          <a:p>
            <a:pPr marL="34290" indent="0" algn="just">
              <a:buNone/>
            </a:pPr>
            <a:r>
              <a:rPr lang="ro-RO" sz="2400" b="1" i="0" noProof="0" dirty="0">
                <a:solidFill>
                  <a:srgbClr val="CCCCCC"/>
                </a:solidFill>
                <a:effectLst/>
                <a:latin typeface="Courier New" panose="02070309020205020404" pitchFamily="49" charset="0"/>
              </a:rPr>
              <a:t>} </a:t>
            </a:r>
            <a:endParaRPr lang="ro-RO" sz="2400" b="1" noProof="0" dirty="0">
              <a:solidFill>
                <a:srgbClr val="00B0F0"/>
              </a:solidFill>
            </a:endParaRPr>
          </a:p>
        </p:txBody>
      </p:sp>
    </p:spTree>
    <p:extLst>
      <p:ext uri="{BB962C8B-B14F-4D97-AF65-F5344CB8AC3E}">
        <p14:creationId xmlns:p14="http://schemas.microsoft.com/office/powerpoint/2010/main" val="2856678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ED1CD-B887-20A9-B03D-1D3DD23F50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874ADE-6EC4-3238-0C13-E1D32F06CA68}"/>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C54E6574-C1D2-D39D-FB4F-6CC65335D1D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do .. </a:t>
            </a:r>
            <a:r>
              <a:rPr lang="ro-RO" sz="2800" noProof="0" dirty="0" err="1">
                <a:solidFill>
                  <a:srgbClr val="00B0F0"/>
                </a:solidFill>
              </a:rPr>
              <a:t>while</a:t>
            </a:r>
            <a:r>
              <a:rPr lang="ro-RO" sz="2800" noProof="0" dirty="0">
                <a:solidFill>
                  <a:srgbClr val="00B0F0"/>
                </a:solidFill>
              </a:rPr>
              <a:t> în C#</a:t>
            </a:r>
          </a:p>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GuessingGame</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secretNumber</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7</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guess</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Guess</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the</a:t>
            </a:r>
            <a:r>
              <a:rPr lang="ro-RO" sz="2400" b="1" i="0" noProof="0" dirty="0">
                <a:solidFill>
                  <a:srgbClr val="7EC699"/>
                </a:solidFill>
                <a:effectLst/>
                <a:latin typeface="Courier New" panose="02070309020205020404" pitchFamily="49" charset="0"/>
              </a:rPr>
              <a:t> secret </a:t>
            </a:r>
          </a:p>
          <a:p>
            <a:pPr marL="34290" indent="0" algn="just">
              <a:buNone/>
            </a:pPr>
            <a:r>
              <a:rPr lang="ro-RO" sz="2400" b="1" noProof="0" dirty="0">
                <a:solidFill>
                  <a:srgbClr val="7EC699"/>
                </a:solidFill>
                <a:latin typeface="Courier New" panose="02070309020205020404" pitchFamily="49" charset="0"/>
              </a:rPr>
              <a:t>  </a:t>
            </a:r>
            <a:r>
              <a:rPr lang="ro-RO" sz="2400" b="1" i="0" noProof="0" dirty="0" err="1">
                <a:solidFill>
                  <a:srgbClr val="7EC699"/>
                </a:solidFill>
                <a:effectLst/>
                <a:latin typeface="Courier New" panose="02070309020205020404" pitchFamily="49" charset="0"/>
              </a:rPr>
              <a:t>number</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between</a:t>
            </a:r>
            <a:r>
              <a:rPr lang="ro-RO" sz="2400" b="1" i="0" noProof="0" dirty="0">
                <a:solidFill>
                  <a:srgbClr val="7EC699"/>
                </a:solidFill>
                <a:effectLst/>
                <a:latin typeface="Courier New" panose="02070309020205020404" pitchFamily="49" charset="0"/>
              </a:rPr>
              <a:t> 1 </a:t>
            </a:r>
            <a:r>
              <a:rPr lang="ro-RO" sz="2400" b="1" i="0" noProof="0" dirty="0" err="1">
                <a:solidFill>
                  <a:srgbClr val="7EC699"/>
                </a:solidFill>
                <a:effectLst/>
                <a:latin typeface="Courier New" panose="02070309020205020404" pitchFamily="49" charset="0"/>
              </a:rPr>
              <a:t>and</a:t>
            </a:r>
            <a:r>
              <a:rPr lang="ro-RO" sz="2400" b="1" i="0" noProof="0" dirty="0">
                <a:solidFill>
                  <a:srgbClr val="7EC699"/>
                </a:solidFill>
                <a:effectLst/>
                <a:latin typeface="Courier New" panose="02070309020205020404" pitchFamily="49" charset="0"/>
              </a:rPr>
              <a:t> 10!"</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do</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guess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7</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Number</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to</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be</a:t>
            </a:r>
            <a:r>
              <a:rPr lang="ro-RO" sz="2400" b="1" i="0" noProof="0" dirty="0">
                <a:solidFill>
                  <a:srgbClr val="7EC699"/>
                </a:solidFill>
                <a:effectLst/>
                <a:latin typeface="Courier New" panose="02070309020205020404" pitchFamily="49" charset="0"/>
              </a:rPr>
              <a:t> </a:t>
            </a:r>
            <a:r>
              <a:rPr lang="ro-RO" sz="2400" b="1" i="0" noProof="0" dirty="0" err="1">
                <a:solidFill>
                  <a:srgbClr val="7EC699"/>
                </a:solidFill>
                <a:effectLst/>
                <a:latin typeface="Courier New" panose="02070309020205020404" pitchFamily="49" charset="0"/>
              </a:rPr>
              <a:t>guess</a:t>
            </a:r>
            <a:r>
              <a:rPr lang="ro-RO" sz="2400" b="1" i="0" noProof="0" dirty="0">
                <a:solidFill>
                  <a:srgbClr val="7EC699"/>
                </a:solidFill>
                <a:effectLst/>
                <a:latin typeface="Courier New" panose="02070309020205020404" pitchFamily="49" charset="0"/>
              </a:rPr>
              <a:t> </a:t>
            </a:r>
          </a:p>
          <a:p>
            <a:pPr marL="34290" indent="0" algn="just">
              <a:buNone/>
            </a:pPr>
            <a:r>
              <a:rPr lang="ro-RO" sz="2400" b="1" noProof="0" dirty="0">
                <a:solidFill>
                  <a:srgbClr val="7EC699"/>
                </a:solidFill>
                <a:latin typeface="Courier New" panose="02070309020205020404" pitchFamily="49" charset="0"/>
              </a:rPr>
              <a:t>    </a:t>
            </a:r>
            <a:r>
              <a:rPr lang="ro-RO" sz="2400" b="1" i="0" noProof="0" dirty="0" err="1">
                <a:solidFill>
                  <a:srgbClr val="7EC699"/>
                </a:solidFill>
                <a:effectLst/>
                <a:latin typeface="Courier New" panose="02070309020205020404" pitchFamily="49" charset="0"/>
              </a:rPr>
              <a:t>is</a:t>
            </a:r>
            <a:r>
              <a:rPr lang="ro-RO" sz="2400" b="1" i="0" noProof="0" dirty="0">
                <a:solidFill>
                  <a:srgbClr val="7EC699"/>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guess</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endParaRPr lang="ro-RO" sz="2400" b="1" noProof="0" dirty="0">
              <a:solidFill>
                <a:srgbClr val="00B0F0"/>
              </a:solidFill>
            </a:endParaRPr>
          </a:p>
        </p:txBody>
      </p:sp>
    </p:spTree>
    <p:extLst>
      <p:ext uri="{BB962C8B-B14F-4D97-AF65-F5344CB8AC3E}">
        <p14:creationId xmlns:p14="http://schemas.microsoft.com/office/powerpoint/2010/main" val="1514911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80141-5CBE-AE95-1FCA-648FADA1B1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569FDF-7DB7-95B0-6845-A51D433B9BDA}"/>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36DC6EA1-A00E-677C-86A0-A5A2D558745C}"/>
              </a:ext>
            </a:extLst>
          </p:cNvPr>
          <p:cNvSpPr>
            <a:spLocks noGrp="1"/>
          </p:cNvSpPr>
          <p:nvPr>
            <p:ph idx="1"/>
          </p:nvPr>
        </p:nvSpPr>
        <p:spPr>
          <a:xfrm>
            <a:off x="463925" y="1281952"/>
            <a:ext cx="8249770" cy="5074024"/>
          </a:xfrm>
        </p:spPr>
        <p:txBody>
          <a:bodyPr>
            <a:noAutofit/>
          </a:bodyPr>
          <a:lstStyle/>
          <a:p>
            <a:pPr marL="34290" indent="0" algn="just">
              <a:buNone/>
            </a:pPr>
            <a:r>
              <a:rPr lang="ro-RO" sz="2400" b="1" noProof="0" dirty="0">
                <a:solidFill>
                  <a:srgbClr val="CC99CD"/>
                </a:solidFill>
                <a:latin typeface="Courier New" panose="02070309020205020404" pitchFamily="49" charset="0"/>
              </a:rPr>
              <a:t>    </a:t>
            </a:r>
            <a:r>
              <a:rPr lang="ro-RO" sz="2400" b="1" noProof="0" dirty="0" err="1">
                <a:solidFill>
                  <a:srgbClr val="CC99CD"/>
                </a:solidFill>
                <a:latin typeface="Courier New" panose="02070309020205020404" pitchFamily="49" charset="0"/>
              </a:rPr>
              <a:t>if</a:t>
            </a:r>
            <a:r>
              <a:rPr lang="ro-RO" sz="2400" b="1" noProof="0" dirty="0">
                <a:solidFill>
                  <a:srgbClr val="CCCCCC"/>
                </a:solidFill>
                <a:latin typeface="Courier New" panose="02070309020205020404" pitchFamily="49" charset="0"/>
              </a:rPr>
              <a:t> (</a:t>
            </a:r>
            <a:r>
              <a:rPr lang="ro-RO" sz="2400" b="1" noProof="0" dirty="0" err="1">
                <a:solidFill>
                  <a:srgbClr val="CCCCCC"/>
                </a:solidFill>
                <a:latin typeface="Courier New" panose="02070309020205020404" pitchFamily="49" charset="0"/>
              </a:rPr>
              <a:t>guess</a:t>
            </a:r>
            <a:r>
              <a:rPr lang="ro-RO" sz="2400" b="1" noProof="0" dirty="0">
                <a:solidFill>
                  <a:srgbClr val="CCCCCC"/>
                </a:solidFill>
                <a:latin typeface="Courier New" panose="02070309020205020404" pitchFamily="49" charset="0"/>
              </a:rPr>
              <a:t> </a:t>
            </a:r>
            <a:r>
              <a:rPr lang="ro-RO" sz="2400" b="1" noProof="0" dirty="0">
                <a:solidFill>
                  <a:srgbClr val="67CDCC"/>
                </a:solidFill>
                <a:latin typeface="Courier New" panose="02070309020205020404" pitchFamily="49" charset="0"/>
              </a:rPr>
              <a:t>&lt;</a:t>
            </a:r>
            <a:r>
              <a:rPr lang="ro-RO" sz="2400" b="1" noProof="0" dirty="0">
                <a:solidFill>
                  <a:srgbClr val="CCCCCC"/>
                </a:solidFill>
                <a:latin typeface="Courier New" panose="02070309020205020404" pitchFamily="49" charset="0"/>
              </a:rPr>
              <a:t> </a:t>
            </a:r>
            <a:r>
              <a:rPr lang="ro-RO" sz="2400" b="1" noProof="0" dirty="0" err="1">
                <a:solidFill>
                  <a:srgbClr val="CCCCCC"/>
                </a:solidFill>
                <a:latin typeface="Courier New" panose="02070309020205020404" pitchFamily="49" charset="0"/>
              </a:rPr>
              <a:t>secretNumber</a:t>
            </a:r>
            <a:r>
              <a:rPr lang="ro-RO" sz="2400" b="1" noProof="0" dirty="0">
                <a:solidFill>
                  <a:srgbClr val="CCCCCC"/>
                </a:solidFill>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noProof="0" dirty="0" err="1">
                <a:solidFill>
                  <a:srgbClr val="CCCCCC"/>
                </a:solidFill>
                <a:latin typeface="Courier New" panose="02070309020205020404" pitchFamily="49" charset="0"/>
              </a:rPr>
              <a:t>Console.</a:t>
            </a:r>
            <a:r>
              <a:rPr lang="ro-RO" sz="2400" b="1" noProof="0" dirty="0" err="1">
                <a:solidFill>
                  <a:srgbClr val="F08D49"/>
                </a:solidFill>
                <a:latin typeface="Courier New" panose="02070309020205020404" pitchFamily="49" charset="0"/>
              </a:rPr>
              <a:t>WriteLine</a:t>
            </a:r>
            <a:r>
              <a:rPr lang="ro-RO" sz="2400" b="1" noProof="0" dirty="0">
                <a:solidFill>
                  <a:srgbClr val="CCCCCC"/>
                </a:solidFill>
                <a:latin typeface="Courier New" panose="02070309020205020404" pitchFamily="49" charset="0"/>
              </a:rPr>
              <a:t>(</a:t>
            </a:r>
            <a:r>
              <a:rPr lang="ro-RO" sz="2400" b="1" noProof="0" dirty="0">
                <a:solidFill>
                  <a:srgbClr val="7EC699"/>
                </a:solidFill>
                <a:latin typeface="Courier New" panose="02070309020205020404" pitchFamily="49" charset="0"/>
              </a:rPr>
              <a:t>"</a:t>
            </a:r>
            <a:r>
              <a:rPr lang="ro-RO" sz="2400" b="1" noProof="0" dirty="0" err="1">
                <a:solidFill>
                  <a:srgbClr val="7EC699"/>
                </a:solidFill>
                <a:latin typeface="Courier New" panose="02070309020205020404" pitchFamily="49" charset="0"/>
              </a:rPr>
              <a:t>Too</a:t>
            </a:r>
            <a:r>
              <a:rPr lang="ro-RO" sz="2400" b="1" noProof="0" dirty="0">
                <a:solidFill>
                  <a:srgbClr val="7EC699"/>
                </a:solidFill>
                <a:latin typeface="Courier New" panose="02070309020205020404" pitchFamily="49" charset="0"/>
              </a:rPr>
              <a:t> </a:t>
            </a:r>
            <a:r>
              <a:rPr lang="ro-RO" sz="2400" b="1" noProof="0" dirty="0" err="1">
                <a:solidFill>
                  <a:srgbClr val="7EC699"/>
                </a:solidFill>
                <a:latin typeface="Courier New" panose="02070309020205020404" pitchFamily="49" charset="0"/>
              </a:rPr>
              <a:t>low</a:t>
            </a:r>
            <a:r>
              <a:rPr lang="ro-RO" sz="2400" b="1" noProof="0" dirty="0">
                <a:solidFill>
                  <a:srgbClr val="7EC699"/>
                </a:solidFill>
                <a:latin typeface="Courier New" panose="02070309020205020404" pitchFamily="49" charset="0"/>
              </a:rPr>
              <a:t>! </a:t>
            </a:r>
            <a:r>
              <a:rPr lang="ro-RO" sz="2400" b="1" noProof="0" dirty="0" err="1">
                <a:solidFill>
                  <a:srgbClr val="7EC699"/>
                </a:solidFill>
                <a:latin typeface="Courier New" panose="02070309020205020404" pitchFamily="49" charset="0"/>
              </a:rPr>
              <a:t>Try</a:t>
            </a:r>
            <a:r>
              <a:rPr lang="ro-RO" sz="2400" b="1" noProof="0" dirty="0">
                <a:solidFill>
                  <a:srgbClr val="7EC699"/>
                </a:solidFill>
                <a:latin typeface="Courier New" panose="02070309020205020404" pitchFamily="49" charset="0"/>
              </a:rPr>
              <a:t>  </a:t>
            </a:r>
          </a:p>
          <a:p>
            <a:pPr marL="34290" indent="0" algn="just">
              <a:buNone/>
            </a:pPr>
            <a:r>
              <a:rPr lang="ro-RO" sz="2400" b="1" noProof="0" dirty="0">
                <a:solidFill>
                  <a:srgbClr val="7EC699"/>
                </a:solidFill>
                <a:latin typeface="Courier New" panose="02070309020205020404" pitchFamily="49" charset="0"/>
              </a:rPr>
              <a:t>      </a:t>
            </a:r>
            <a:r>
              <a:rPr lang="ro-RO" sz="2400" b="1" noProof="0" dirty="0" err="1">
                <a:solidFill>
                  <a:srgbClr val="7EC699"/>
                </a:solidFill>
                <a:latin typeface="Courier New" panose="02070309020205020404" pitchFamily="49" charset="0"/>
              </a:rPr>
              <a:t>again</a:t>
            </a:r>
            <a:r>
              <a:rPr lang="ro-RO" sz="2400" b="1" noProof="0" dirty="0">
                <a:solidFill>
                  <a:srgbClr val="7EC699"/>
                </a:solidFill>
                <a:latin typeface="Courier New" panose="02070309020205020404" pitchFamily="49" charset="0"/>
              </a:rPr>
              <a:t>."</a:t>
            </a:r>
            <a:r>
              <a:rPr lang="ro-RO" sz="2400" b="1" noProof="0" dirty="0">
                <a:solidFill>
                  <a:srgbClr val="CCCCCC"/>
                </a:solidFill>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 </a:t>
            </a:r>
            <a:r>
              <a:rPr lang="ro-RO" sz="2400" b="1" noProof="0" dirty="0" err="1">
                <a:solidFill>
                  <a:srgbClr val="CC99CD"/>
                </a:solidFill>
                <a:latin typeface="Courier New" panose="02070309020205020404" pitchFamily="49" charset="0"/>
              </a:rPr>
              <a:t>else</a:t>
            </a:r>
            <a:r>
              <a:rPr lang="ro-RO" sz="2400" b="1" noProof="0" dirty="0">
                <a:solidFill>
                  <a:srgbClr val="CCCCCC"/>
                </a:solidFill>
                <a:latin typeface="Courier New" panose="02070309020205020404" pitchFamily="49" charset="0"/>
              </a:rPr>
              <a:t> </a:t>
            </a:r>
            <a:r>
              <a:rPr lang="ro-RO" sz="2400" b="1" noProof="0" dirty="0" err="1">
                <a:solidFill>
                  <a:srgbClr val="CC99CD"/>
                </a:solidFill>
                <a:latin typeface="Courier New" panose="02070309020205020404" pitchFamily="49" charset="0"/>
              </a:rPr>
              <a:t>if</a:t>
            </a:r>
            <a:r>
              <a:rPr lang="ro-RO" sz="2400" b="1" noProof="0" dirty="0">
                <a:solidFill>
                  <a:srgbClr val="CCCCCC"/>
                </a:solidFill>
                <a:latin typeface="Courier New" panose="02070309020205020404" pitchFamily="49" charset="0"/>
              </a:rPr>
              <a:t> (</a:t>
            </a:r>
            <a:r>
              <a:rPr lang="ro-RO" sz="2400" b="1" noProof="0" dirty="0" err="1">
                <a:solidFill>
                  <a:srgbClr val="CCCCCC"/>
                </a:solidFill>
                <a:latin typeface="Courier New" panose="02070309020205020404" pitchFamily="49" charset="0"/>
              </a:rPr>
              <a:t>guess</a:t>
            </a:r>
            <a:r>
              <a:rPr lang="ro-RO" sz="2400" b="1" noProof="0" dirty="0">
                <a:solidFill>
                  <a:srgbClr val="CCCCCC"/>
                </a:solidFill>
                <a:latin typeface="Courier New" panose="02070309020205020404" pitchFamily="49" charset="0"/>
              </a:rPr>
              <a:t> </a:t>
            </a:r>
            <a:r>
              <a:rPr lang="ro-RO" sz="2400" b="1" noProof="0" dirty="0">
                <a:solidFill>
                  <a:srgbClr val="67CDCC"/>
                </a:solidFill>
                <a:latin typeface="Courier New" panose="02070309020205020404" pitchFamily="49" charset="0"/>
              </a:rPr>
              <a:t>&gt;</a:t>
            </a:r>
            <a:r>
              <a:rPr lang="ro-RO" sz="2400" b="1" noProof="0" dirty="0">
                <a:solidFill>
                  <a:srgbClr val="CCCCCC"/>
                </a:solidFill>
                <a:latin typeface="Courier New" panose="02070309020205020404" pitchFamily="49" charset="0"/>
              </a:rPr>
              <a:t> </a:t>
            </a:r>
            <a:r>
              <a:rPr lang="ro-RO" sz="2400" b="1" noProof="0" dirty="0" err="1">
                <a:solidFill>
                  <a:srgbClr val="CCCCCC"/>
                </a:solidFill>
                <a:latin typeface="Courier New" panose="02070309020205020404" pitchFamily="49" charset="0"/>
              </a:rPr>
              <a:t>secretNumber</a:t>
            </a:r>
            <a:r>
              <a:rPr lang="ro-RO" sz="2400" b="1" noProof="0" dirty="0">
                <a:solidFill>
                  <a:srgbClr val="CCCCCC"/>
                </a:solidFill>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noProof="0" dirty="0" err="1">
                <a:solidFill>
                  <a:srgbClr val="CCCCCC"/>
                </a:solidFill>
                <a:latin typeface="Courier New" panose="02070309020205020404" pitchFamily="49" charset="0"/>
              </a:rPr>
              <a:t>Console.</a:t>
            </a:r>
            <a:r>
              <a:rPr lang="ro-RO" sz="2400" b="1" noProof="0" dirty="0" err="1">
                <a:solidFill>
                  <a:srgbClr val="F08D49"/>
                </a:solidFill>
                <a:latin typeface="Courier New" panose="02070309020205020404" pitchFamily="49" charset="0"/>
              </a:rPr>
              <a:t>WriteLine</a:t>
            </a:r>
            <a:r>
              <a:rPr lang="ro-RO" sz="2400" b="1" noProof="0" dirty="0">
                <a:solidFill>
                  <a:srgbClr val="CCCCCC"/>
                </a:solidFill>
                <a:latin typeface="Courier New" panose="02070309020205020404" pitchFamily="49" charset="0"/>
              </a:rPr>
              <a:t>(</a:t>
            </a:r>
            <a:r>
              <a:rPr lang="ro-RO" sz="2400" b="1" noProof="0" dirty="0">
                <a:solidFill>
                  <a:srgbClr val="7EC699"/>
                </a:solidFill>
                <a:latin typeface="Courier New" panose="02070309020205020404" pitchFamily="49" charset="0"/>
              </a:rPr>
              <a:t>"</a:t>
            </a:r>
            <a:r>
              <a:rPr lang="ro-RO" sz="2400" b="1" noProof="0" dirty="0" err="1">
                <a:solidFill>
                  <a:srgbClr val="7EC699"/>
                </a:solidFill>
                <a:latin typeface="Courier New" panose="02070309020205020404" pitchFamily="49" charset="0"/>
              </a:rPr>
              <a:t>Too</a:t>
            </a:r>
            <a:r>
              <a:rPr lang="ro-RO" sz="2400" b="1" noProof="0" dirty="0">
                <a:solidFill>
                  <a:srgbClr val="7EC699"/>
                </a:solidFill>
                <a:latin typeface="Courier New" panose="02070309020205020404" pitchFamily="49" charset="0"/>
              </a:rPr>
              <a:t> </a:t>
            </a:r>
            <a:r>
              <a:rPr lang="ro-RO" sz="2400" b="1" noProof="0" dirty="0" err="1">
                <a:solidFill>
                  <a:srgbClr val="7EC699"/>
                </a:solidFill>
                <a:latin typeface="Courier New" panose="02070309020205020404" pitchFamily="49" charset="0"/>
              </a:rPr>
              <a:t>high</a:t>
            </a:r>
            <a:r>
              <a:rPr lang="ro-RO" sz="2400" b="1" noProof="0" dirty="0">
                <a:solidFill>
                  <a:srgbClr val="7EC699"/>
                </a:solidFill>
                <a:latin typeface="Courier New" panose="02070309020205020404" pitchFamily="49" charset="0"/>
              </a:rPr>
              <a:t>! </a:t>
            </a:r>
            <a:r>
              <a:rPr lang="ro-RO" sz="2400" b="1" noProof="0" dirty="0" err="1">
                <a:solidFill>
                  <a:srgbClr val="7EC699"/>
                </a:solidFill>
                <a:latin typeface="Courier New" panose="02070309020205020404" pitchFamily="49" charset="0"/>
              </a:rPr>
              <a:t>Try</a:t>
            </a:r>
            <a:r>
              <a:rPr lang="ro-RO" sz="2400" b="1" noProof="0" dirty="0">
                <a:solidFill>
                  <a:srgbClr val="7EC699"/>
                </a:solidFill>
                <a:latin typeface="Courier New" panose="02070309020205020404" pitchFamily="49" charset="0"/>
              </a:rPr>
              <a:t> </a:t>
            </a:r>
          </a:p>
          <a:p>
            <a:pPr marL="34290" indent="0" algn="just">
              <a:buNone/>
            </a:pPr>
            <a:r>
              <a:rPr lang="ro-RO" sz="2400" b="1" noProof="0" dirty="0">
                <a:solidFill>
                  <a:srgbClr val="7EC699"/>
                </a:solidFill>
                <a:latin typeface="Courier New" panose="02070309020205020404" pitchFamily="49" charset="0"/>
              </a:rPr>
              <a:t>       </a:t>
            </a:r>
            <a:r>
              <a:rPr lang="ro-RO" sz="2400" b="1" noProof="0" dirty="0" err="1">
                <a:solidFill>
                  <a:srgbClr val="7EC699"/>
                </a:solidFill>
                <a:latin typeface="Courier New" panose="02070309020205020404" pitchFamily="49" charset="0"/>
              </a:rPr>
              <a:t>again</a:t>
            </a:r>
            <a:r>
              <a:rPr lang="ro-RO" sz="2400" b="1" noProof="0" dirty="0">
                <a:solidFill>
                  <a:srgbClr val="7EC699"/>
                </a:solidFill>
                <a:latin typeface="Courier New" panose="02070309020205020404" pitchFamily="49" charset="0"/>
              </a:rPr>
              <a:t>."</a:t>
            </a:r>
            <a:r>
              <a:rPr lang="ro-RO" sz="2400" b="1" noProof="0" dirty="0">
                <a:solidFill>
                  <a:srgbClr val="CCCCCC"/>
                </a:solidFill>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 </a:t>
            </a:r>
            <a:r>
              <a:rPr lang="ro-RO" sz="2400" b="1" noProof="0" dirty="0" err="1">
                <a:solidFill>
                  <a:srgbClr val="CC99CD"/>
                </a:solidFill>
                <a:latin typeface="Courier New" panose="02070309020205020404" pitchFamily="49" charset="0"/>
              </a:rPr>
              <a:t>while</a:t>
            </a:r>
            <a:r>
              <a:rPr lang="ro-RO" sz="2400" b="1" noProof="0" dirty="0">
                <a:solidFill>
                  <a:srgbClr val="CCCCCC"/>
                </a:solidFill>
                <a:latin typeface="Courier New" panose="02070309020205020404" pitchFamily="49" charset="0"/>
              </a:rPr>
              <a:t> (</a:t>
            </a:r>
            <a:r>
              <a:rPr lang="ro-RO" sz="2400" b="1" noProof="0" dirty="0" err="1">
                <a:solidFill>
                  <a:srgbClr val="CCCCCC"/>
                </a:solidFill>
                <a:latin typeface="Courier New" panose="02070309020205020404" pitchFamily="49" charset="0"/>
              </a:rPr>
              <a:t>guess</a:t>
            </a:r>
            <a:r>
              <a:rPr lang="ro-RO" sz="2400" b="1" noProof="0" dirty="0">
                <a:solidFill>
                  <a:srgbClr val="CCCCCC"/>
                </a:solidFill>
                <a:latin typeface="Courier New" panose="02070309020205020404" pitchFamily="49" charset="0"/>
              </a:rPr>
              <a:t> </a:t>
            </a:r>
            <a:r>
              <a:rPr lang="ro-RO" sz="2400" b="1" noProof="0" dirty="0">
                <a:solidFill>
                  <a:srgbClr val="67CDCC"/>
                </a:solidFill>
                <a:latin typeface="Courier New" panose="02070309020205020404" pitchFamily="49" charset="0"/>
              </a:rPr>
              <a:t>!=</a:t>
            </a:r>
            <a:r>
              <a:rPr lang="ro-RO" sz="2400" b="1" noProof="0" dirty="0">
                <a:solidFill>
                  <a:srgbClr val="CCCCCC"/>
                </a:solidFill>
                <a:latin typeface="Courier New" panose="02070309020205020404" pitchFamily="49" charset="0"/>
              </a:rPr>
              <a:t> </a:t>
            </a:r>
            <a:r>
              <a:rPr lang="ro-RO" sz="2400" b="1" noProof="0" dirty="0" err="1">
                <a:solidFill>
                  <a:srgbClr val="CCCCCC"/>
                </a:solidFill>
                <a:latin typeface="Courier New" panose="02070309020205020404" pitchFamily="49" charset="0"/>
              </a:rPr>
              <a:t>secretNumber</a:t>
            </a:r>
            <a:r>
              <a:rPr lang="ro-RO" sz="2400" b="1" noProof="0" dirty="0">
                <a:solidFill>
                  <a:srgbClr val="CCCCCC"/>
                </a:solidFill>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noProof="0" dirty="0" err="1">
                <a:solidFill>
                  <a:srgbClr val="CCCCCC"/>
                </a:solidFill>
                <a:latin typeface="Courier New" panose="02070309020205020404" pitchFamily="49" charset="0"/>
              </a:rPr>
              <a:t>Console.</a:t>
            </a:r>
            <a:r>
              <a:rPr lang="ro-RO" sz="2400" b="1" noProof="0" dirty="0" err="1">
                <a:solidFill>
                  <a:srgbClr val="F08D49"/>
                </a:solidFill>
                <a:latin typeface="Courier New" panose="02070309020205020404" pitchFamily="49" charset="0"/>
              </a:rPr>
              <a:t>WriteLine</a:t>
            </a:r>
            <a:r>
              <a:rPr lang="ro-RO" sz="2400" b="1" noProof="0" dirty="0">
                <a:solidFill>
                  <a:srgbClr val="CCCCCC"/>
                </a:solidFill>
                <a:latin typeface="Courier New" panose="02070309020205020404" pitchFamily="49" charset="0"/>
              </a:rPr>
              <a:t>(</a:t>
            </a:r>
            <a:r>
              <a:rPr lang="ro-RO" sz="2400" b="1" noProof="0" dirty="0">
                <a:solidFill>
                  <a:srgbClr val="7EC699"/>
                </a:solidFill>
                <a:latin typeface="Courier New" panose="02070309020205020404" pitchFamily="49" charset="0"/>
              </a:rPr>
              <a:t>"</a:t>
            </a:r>
            <a:r>
              <a:rPr lang="ro-RO" sz="2400" b="1" noProof="0" dirty="0" err="1">
                <a:solidFill>
                  <a:srgbClr val="7EC699"/>
                </a:solidFill>
                <a:latin typeface="Courier New" panose="02070309020205020404" pitchFamily="49" charset="0"/>
              </a:rPr>
              <a:t>Congratulations</a:t>
            </a:r>
            <a:r>
              <a:rPr lang="ro-RO" sz="2400" b="1" noProof="0" dirty="0">
                <a:solidFill>
                  <a:srgbClr val="7EC699"/>
                </a:solidFill>
                <a:latin typeface="Courier New" panose="02070309020205020404" pitchFamily="49" charset="0"/>
              </a:rPr>
              <a:t>! </a:t>
            </a:r>
            <a:r>
              <a:rPr lang="ro-RO" sz="2400" b="1" noProof="0" dirty="0" err="1">
                <a:solidFill>
                  <a:srgbClr val="7EC699"/>
                </a:solidFill>
                <a:latin typeface="Courier New" panose="02070309020205020404" pitchFamily="49" charset="0"/>
              </a:rPr>
              <a:t>You</a:t>
            </a:r>
            <a:r>
              <a:rPr lang="ro-RO" sz="2400" b="1" noProof="0" dirty="0">
                <a:solidFill>
                  <a:srgbClr val="7EC699"/>
                </a:solidFill>
                <a:latin typeface="Courier New" panose="02070309020205020404" pitchFamily="49" charset="0"/>
              </a:rPr>
              <a:t> </a:t>
            </a:r>
          </a:p>
          <a:p>
            <a:pPr marL="34290" indent="0" algn="just">
              <a:buNone/>
            </a:pPr>
            <a:r>
              <a:rPr lang="ro-RO" sz="2400" b="1" noProof="0" dirty="0">
                <a:solidFill>
                  <a:srgbClr val="7EC699"/>
                </a:solidFill>
                <a:latin typeface="Courier New" panose="02070309020205020404" pitchFamily="49" charset="0"/>
              </a:rPr>
              <a:t>  </a:t>
            </a:r>
            <a:r>
              <a:rPr lang="ro-RO" sz="2400" b="1" noProof="0" dirty="0" err="1">
                <a:solidFill>
                  <a:srgbClr val="7EC699"/>
                </a:solidFill>
                <a:latin typeface="Courier New" panose="02070309020205020404" pitchFamily="49" charset="0"/>
              </a:rPr>
              <a:t>guessed</a:t>
            </a:r>
            <a:r>
              <a:rPr lang="ro-RO" sz="2400" b="1" noProof="0" dirty="0">
                <a:solidFill>
                  <a:srgbClr val="7EC699"/>
                </a:solidFill>
                <a:latin typeface="Courier New" panose="02070309020205020404" pitchFamily="49" charset="0"/>
              </a:rPr>
              <a:t> </a:t>
            </a:r>
            <a:r>
              <a:rPr lang="ro-RO" sz="2400" b="1" noProof="0" dirty="0" err="1">
                <a:solidFill>
                  <a:srgbClr val="7EC699"/>
                </a:solidFill>
                <a:latin typeface="Courier New" panose="02070309020205020404" pitchFamily="49" charset="0"/>
              </a:rPr>
              <a:t>the</a:t>
            </a:r>
            <a:r>
              <a:rPr lang="ro-RO" sz="2400" b="1" noProof="0" dirty="0">
                <a:solidFill>
                  <a:srgbClr val="7EC699"/>
                </a:solidFill>
                <a:latin typeface="Courier New" panose="02070309020205020404" pitchFamily="49" charset="0"/>
              </a:rPr>
              <a:t> </a:t>
            </a:r>
            <a:r>
              <a:rPr lang="ro-RO" sz="2400" b="1" noProof="0" dirty="0" err="1">
                <a:solidFill>
                  <a:srgbClr val="7EC699"/>
                </a:solidFill>
                <a:latin typeface="Courier New" panose="02070309020205020404" pitchFamily="49" charset="0"/>
              </a:rPr>
              <a:t>correct</a:t>
            </a:r>
            <a:r>
              <a:rPr lang="ro-RO" sz="2400" b="1" noProof="0" dirty="0">
                <a:solidFill>
                  <a:srgbClr val="7EC699"/>
                </a:solidFill>
                <a:latin typeface="Courier New" panose="02070309020205020404" pitchFamily="49" charset="0"/>
              </a:rPr>
              <a:t> </a:t>
            </a:r>
            <a:r>
              <a:rPr lang="ro-RO" sz="2400" b="1" noProof="0" dirty="0" err="1">
                <a:solidFill>
                  <a:srgbClr val="7EC699"/>
                </a:solidFill>
                <a:latin typeface="Courier New" panose="02070309020205020404" pitchFamily="49" charset="0"/>
              </a:rPr>
              <a:t>number</a:t>
            </a:r>
            <a:r>
              <a:rPr lang="ro-RO" sz="2400" b="1" noProof="0" dirty="0">
                <a:solidFill>
                  <a:srgbClr val="7EC699"/>
                </a:solidFill>
                <a:latin typeface="Courier New" panose="02070309020205020404" pitchFamily="49" charset="0"/>
              </a:rPr>
              <a:t>."</a:t>
            </a:r>
            <a:r>
              <a:rPr lang="ro-RO" sz="2400" b="1" noProof="0" dirty="0">
                <a:solidFill>
                  <a:srgbClr val="CCCCCC"/>
                </a:solidFill>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a:t>
            </a:r>
            <a:endParaRPr lang="ro-RO" sz="2400" noProof="0" dirty="0">
              <a:solidFill>
                <a:srgbClr val="00B0F0"/>
              </a:solidFill>
            </a:endParaRPr>
          </a:p>
        </p:txBody>
      </p:sp>
    </p:spTree>
    <p:extLst>
      <p:ext uri="{BB962C8B-B14F-4D97-AF65-F5344CB8AC3E}">
        <p14:creationId xmlns:p14="http://schemas.microsoft.com/office/powerpoint/2010/main" val="1697882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5B656-9C8B-EB49-4769-3957DCE7C1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702CEC-C5BB-8475-271E-3C990CE1C9BD}"/>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75461751-A565-69AE-A4C6-2144A7CE70E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do .. </a:t>
            </a:r>
            <a:r>
              <a:rPr lang="ro-RO" sz="2800" noProof="0" dirty="0" err="1">
                <a:solidFill>
                  <a:srgbClr val="00B0F0"/>
                </a:solidFill>
              </a:rPr>
              <a:t>while</a:t>
            </a:r>
            <a:r>
              <a:rPr lang="ro-RO" sz="2800" noProof="0" dirty="0">
                <a:solidFill>
                  <a:srgbClr val="00B0F0"/>
                </a:solidFill>
              </a:rPr>
              <a:t> în C#</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Program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i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do</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j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a:solidFill>
                  <a:srgbClr val="CC99CD"/>
                </a:solidFill>
                <a:effectLst/>
                <a:latin typeface="Courier New" panose="02070309020205020404" pitchFamily="49" charset="0"/>
              </a:rPr>
              <a:t>do</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{i}</a:t>
            </a:r>
            <a:r>
              <a:rPr lang="ro-RO" sz="2000" b="1" i="0" noProof="0" dirty="0">
                <a:solidFill>
                  <a:srgbClr val="7EC699"/>
                </a:solidFill>
                <a:effectLst/>
                <a:latin typeface="Courier New" panose="02070309020205020404" pitchFamily="49" charset="0"/>
              </a:rPr>
              <a:t>x</a:t>
            </a:r>
            <a:r>
              <a:rPr lang="ro-RO" sz="2000" b="1" i="0" noProof="0" dirty="0">
                <a:solidFill>
                  <a:srgbClr val="CCCCCC"/>
                </a:solidFill>
                <a:effectLst/>
                <a:latin typeface="Courier New" panose="02070309020205020404" pitchFamily="49" charset="0"/>
              </a:rPr>
              <a:t>{j}</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{i</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j}</a:t>
            </a:r>
            <a:r>
              <a:rPr lang="ro-RO" sz="2000" b="1" i="0" noProof="0" dirty="0">
                <a:solidFill>
                  <a:srgbClr val="7EC699"/>
                </a:solidFill>
                <a:effectLst/>
                <a:latin typeface="Courier New" panose="02070309020205020404" pitchFamily="49" charset="0"/>
              </a:rPr>
              <a:t>\t"</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CCCC"/>
                </a:solidFill>
                <a:effectLst/>
                <a:latin typeface="Courier New" panose="02070309020205020404" pitchFamily="49" charset="0"/>
              </a:rPr>
              <a:t>        j</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while</a:t>
            </a:r>
            <a:r>
              <a:rPr lang="ro-RO" sz="2000" b="1" i="0" noProof="0" dirty="0">
                <a:solidFill>
                  <a:srgbClr val="CCCCCC"/>
                </a:solidFill>
                <a:effectLst/>
                <a:latin typeface="Courier New" panose="02070309020205020404" pitchFamily="49" charset="0"/>
              </a:rPr>
              <a:t> (j </a:t>
            </a:r>
            <a:r>
              <a:rPr lang="ro-RO" sz="2000" b="1" i="0" noProof="0" dirty="0">
                <a:solidFill>
                  <a:srgbClr val="67CDCC"/>
                </a:solidFill>
                <a:effectLst/>
                <a:latin typeface="Courier New" panose="02070309020205020404" pitchFamily="49" charset="0"/>
              </a:rPr>
              <a:t>&lt;=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3</a:t>
            </a:r>
            <a:r>
              <a:rPr lang="ro-RO" sz="2000" b="1" i="0" noProof="0" dirty="0">
                <a:solidFill>
                  <a:srgbClr val="CCCCCC"/>
                </a:solidFill>
                <a:effectLst/>
                <a:latin typeface="Courier New" panose="02070309020205020404" pitchFamily="49" charset="0"/>
              </a:rPr>
              <a:t>);</a:t>
            </a:r>
          </a:p>
          <a:p>
            <a:pPr marL="34290" indent="0" algn="just">
              <a:buNone/>
            </a:pP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i</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while</a:t>
            </a:r>
            <a:r>
              <a:rPr lang="ro-RO" sz="2000" b="1" i="0" noProof="0" dirty="0">
                <a:solidFill>
                  <a:srgbClr val="CCCCCC"/>
                </a:solidFill>
                <a:effectLst/>
                <a:latin typeface="Courier New" panose="02070309020205020404" pitchFamily="49" charset="0"/>
              </a:rPr>
              <a:t> (i </a:t>
            </a:r>
            <a:r>
              <a:rPr lang="ro-RO" sz="2000" b="1" i="0" noProof="0" dirty="0">
                <a:solidFill>
                  <a:srgbClr val="67CDCC"/>
                </a:solidFill>
                <a:effectLst/>
                <a:latin typeface="Courier New" panose="02070309020205020404" pitchFamily="49" charset="0"/>
              </a:rPr>
              <a:t>&lt;=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3</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p:txBody>
      </p:sp>
    </p:spTree>
    <p:extLst>
      <p:ext uri="{BB962C8B-B14F-4D97-AF65-F5344CB8AC3E}">
        <p14:creationId xmlns:p14="http://schemas.microsoft.com/office/powerpoint/2010/main" val="36491025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F1869-603C-FA8C-0DAC-E21F8B5E6DD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70B919-5E01-9476-EFC7-329976ED4510}"/>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AB123777-D203-A826-7147-FE8A950D63D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do .. </a:t>
            </a:r>
            <a:r>
              <a:rPr lang="ro-RO" sz="2800" noProof="0" dirty="0" err="1">
                <a:solidFill>
                  <a:srgbClr val="00B0F0"/>
                </a:solidFill>
              </a:rPr>
              <a:t>while</a:t>
            </a:r>
            <a:r>
              <a:rPr lang="ro-RO" sz="2800" noProof="0" dirty="0">
                <a:solidFill>
                  <a:srgbClr val="00B0F0"/>
                </a:solidFill>
              </a:rPr>
              <a:t> în C#</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Program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number</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a:solidFill>
                  <a:srgbClr val="CC99CD"/>
                </a:solidFill>
                <a:effectLst/>
                <a:latin typeface="Courier New" panose="02070309020205020404" pitchFamily="49" charset="0"/>
              </a:rPr>
              <a:t>do</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Enter</a:t>
            </a:r>
            <a:r>
              <a:rPr lang="ro-RO" sz="2000" b="1" i="0" noProof="0" dirty="0">
                <a:solidFill>
                  <a:srgbClr val="7EC699"/>
                </a:solidFill>
                <a:effectLst/>
                <a:latin typeface="Courier New" panose="02070309020205020404" pitchFamily="49" charset="0"/>
              </a:rPr>
              <a:t> a </a:t>
            </a:r>
            <a:r>
              <a:rPr lang="ro-RO" sz="2000" b="1" i="0" noProof="0" dirty="0" err="1">
                <a:solidFill>
                  <a:srgbClr val="7EC699"/>
                </a:solidFill>
                <a:effectLst/>
                <a:latin typeface="Courier New" panose="02070309020205020404" pitchFamily="49" charset="0"/>
              </a:rPr>
              <a:t>positive</a:t>
            </a:r>
            <a:r>
              <a:rPr lang="ro-RO" sz="2000" b="1" i="0" noProof="0" dirty="0">
                <a:solidFill>
                  <a:srgbClr val="7EC699"/>
                </a:solidFill>
                <a:effectLst/>
                <a:latin typeface="Courier New" panose="02070309020205020404" pitchFamily="49" charset="0"/>
              </a:rPr>
              <a:t> </a:t>
            </a:r>
          </a:p>
          <a:p>
            <a:pPr marL="34290" indent="0" algn="just">
              <a:buNone/>
            </a:pPr>
            <a:r>
              <a:rPr lang="ro-RO" sz="2000" b="1" noProof="0" dirty="0">
                <a:solidFill>
                  <a:srgbClr val="7EC699"/>
                </a:solidFill>
                <a:latin typeface="Courier New" panose="02070309020205020404" pitchFamily="49" charset="0"/>
              </a:rPr>
              <a:t>      </a:t>
            </a:r>
            <a:r>
              <a:rPr lang="ro-RO" sz="2000" b="1" i="0" noProof="0" dirty="0" err="1">
                <a:solidFill>
                  <a:srgbClr val="7EC699"/>
                </a:solidFill>
                <a:effectLst/>
                <a:latin typeface="Courier New" panose="02070309020205020404" pitchFamily="49" charset="0"/>
              </a:rPr>
              <a:t>number</a:t>
            </a:r>
            <a:r>
              <a:rPr lang="ro-RO" sz="2000" b="1" i="0" noProof="0" dirty="0">
                <a:solidFill>
                  <a:srgbClr val="7EC699"/>
                </a:solidFill>
                <a:effectLst/>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p>
          <a:p>
            <a:pPr marL="34290" indent="0">
              <a:buNone/>
            </a:pP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number</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Convert.</a:t>
            </a:r>
            <a:r>
              <a:rPr lang="ro-RO" sz="2000" b="1" i="0" noProof="0" dirty="0">
                <a:solidFill>
                  <a:srgbClr val="F08D49"/>
                </a:solidFill>
                <a:effectLst/>
                <a:latin typeface="Courier New" panose="02070309020205020404" pitchFamily="49" charset="0"/>
              </a:rPr>
              <a:t>ToInt32</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ReadLine</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 </a:t>
            </a:r>
            <a:r>
              <a:rPr lang="ro-RO" sz="2000" b="1" i="0" noProof="0" dirty="0" err="1">
                <a:solidFill>
                  <a:srgbClr val="CC99CD"/>
                </a:solidFill>
                <a:effectLst/>
                <a:latin typeface="Courier New" panose="02070309020205020404" pitchFamily="49" charset="0"/>
              </a:rPr>
              <a:t>while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number</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&lt;=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0</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You</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entered</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number</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p:txBody>
      </p:sp>
    </p:spTree>
    <p:extLst>
      <p:ext uri="{BB962C8B-B14F-4D97-AF65-F5344CB8AC3E}">
        <p14:creationId xmlns:p14="http://schemas.microsoft.com/office/powerpoint/2010/main" val="28028109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1BB2F-000D-C1CC-0A01-D4E913E554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609A09-70A7-DB4B-5D60-05D6A666C4AD}"/>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62D93A1B-AD3C-DE6C-9F8F-ED25B8E118F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do .. </a:t>
            </a:r>
            <a:r>
              <a:rPr lang="ro-RO" sz="2800" noProof="0" dirty="0" err="1">
                <a:solidFill>
                  <a:srgbClr val="00B0F0"/>
                </a:solidFill>
              </a:rPr>
              <a:t>while</a:t>
            </a:r>
            <a:r>
              <a:rPr lang="ro-RO" sz="2800" noProof="0" dirty="0">
                <a:solidFill>
                  <a:srgbClr val="00B0F0"/>
                </a:solidFill>
              </a:rPr>
              <a:t> în C#</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Program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choice</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do</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nMenu</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"1. </a:t>
            </a:r>
            <a:r>
              <a:rPr lang="ro-RO" sz="2000" b="1" i="0" noProof="0" dirty="0" err="1">
                <a:solidFill>
                  <a:srgbClr val="7EC699"/>
                </a:solidFill>
                <a:effectLst/>
                <a:latin typeface="Courier New" panose="02070309020205020404" pitchFamily="49" charset="0"/>
              </a:rPr>
              <a:t>Option</a:t>
            </a:r>
            <a:r>
              <a:rPr lang="ro-RO" sz="2000" b="1" i="0" noProof="0" dirty="0">
                <a:solidFill>
                  <a:srgbClr val="7EC699"/>
                </a:solidFill>
                <a:effectLst/>
                <a:latin typeface="Courier New" panose="02070309020205020404" pitchFamily="49" charset="0"/>
              </a:rPr>
              <a:t> 1"</a:t>
            </a: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"2. </a:t>
            </a:r>
            <a:r>
              <a:rPr lang="ro-RO" sz="2000" b="1" i="0" noProof="0" dirty="0" err="1">
                <a:solidFill>
                  <a:srgbClr val="7EC699"/>
                </a:solidFill>
                <a:effectLst/>
                <a:latin typeface="Courier New" panose="02070309020205020404" pitchFamily="49" charset="0"/>
              </a:rPr>
              <a:t>Option</a:t>
            </a:r>
            <a:r>
              <a:rPr lang="ro-RO" sz="2000" b="1" i="0" noProof="0" dirty="0">
                <a:solidFill>
                  <a:srgbClr val="7EC699"/>
                </a:solidFill>
                <a:effectLst/>
                <a:latin typeface="Courier New" panose="02070309020205020404" pitchFamily="49" charset="0"/>
              </a:rPr>
              <a:t> 2"</a:t>
            </a: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"3. </a:t>
            </a:r>
            <a:r>
              <a:rPr lang="ro-RO" sz="2000" b="1" i="0" noProof="0" dirty="0" err="1">
                <a:solidFill>
                  <a:srgbClr val="7EC699"/>
                </a:solidFill>
                <a:effectLst/>
                <a:latin typeface="Courier New" panose="02070309020205020404" pitchFamily="49" charset="0"/>
              </a:rPr>
              <a:t>Exit</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Enter</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your</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choice</a:t>
            </a:r>
            <a:r>
              <a:rPr lang="ro-RO" sz="2000" b="1" i="0" noProof="0" dirty="0">
                <a:solidFill>
                  <a:srgbClr val="7EC699"/>
                </a:solidFill>
                <a:effectLst/>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choice</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Convert.</a:t>
            </a:r>
            <a:r>
              <a:rPr lang="ro-RO" sz="2000" b="1" i="0" noProof="0" dirty="0">
                <a:solidFill>
                  <a:srgbClr val="F08D49"/>
                </a:solidFill>
                <a:effectLst/>
                <a:latin typeface="Courier New" panose="02070309020205020404" pitchFamily="49" charset="0"/>
              </a:rPr>
              <a:t>ToInt32</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ReadLine</a:t>
            </a: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while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choice</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3</a:t>
            </a: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"Program </a:t>
            </a:r>
            <a:r>
              <a:rPr lang="ro-RO" sz="2000" b="1" i="0" noProof="0" dirty="0" err="1">
                <a:solidFill>
                  <a:srgbClr val="7EC699"/>
                </a:solidFill>
                <a:effectLst/>
                <a:latin typeface="Courier New" panose="02070309020205020404" pitchFamily="49" charset="0"/>
              </a:rPr>
              <a:t>exited</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a:t>
            </a:r>
          </a:p>
          <a:p>
            <a:pPr marL="34290" indent="0">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 </a:t>
            </a:r>
          </a:p>
          <a:p>
            <a:pPr marL="34290" indent="0">
              <a:buNone/>
            </a:pP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p:txBody>
      </p:sp>
    </p:spTree>
    <p:extLst>
      <p:ext uri="{BB962C8B-B14F-4D97-AF65-F5344CB8AC3E}">
        <p14:creationId xmlns:p14="http://schemas.microsoft.com/office/powerpoint/2010/main" val="1904199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DD00E-F651-71C9-D48D-A233692A2E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401A59-0C90-7AF1-94FF-3AEDF6070909}"/>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67AFD879-DFF7-A21F-7711-A9E70204F5C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do .. </a:t>
            </a:r>
            <a:r>
              <a:rPr lang="ro-RO" sz="2800" noProof="0" dirty="0" err="1">
                <a:solidFill>
                  <a:srgbClr val="00B0F0"/>
                </a:solidFill>
              </a:rPr>
              <a:t>while</a:t>
            </a:r>
            <a:r>
              <a:rPr lang="ro-RO" sz="2800" noProof="0" dirty="0">
                <a:solidFill>
                  <a:srgbClr val="00B0F0"/>
                </a:solidFill>
              </a:rPr>
              <a:t> în C#</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Program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a:solidFill>
                  <a:srgbClr val="CC99CD"/>
                </a:solidFill>
                <a:effectLst/>
                <a:latin typeface="Courier New" panose="02070309020205020404" pitchFamily="49" charset="0"/>
              </a:rPr>
              <a:t>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bool</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success</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attempts</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0</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do</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attempts</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Attempt</a:t>
            </a:r>
            <a:r>
              <a:rPr lang="ro-RO" sz="2000" b="1" i="0" noProof="0" dirty="0">
                <a:solidFill>
                  <a:srgbClr val="7EC699"/>
                </a:solidFill>
                <a:effectLst/>
                <a:latin typeface="Courier New" panose="02070309020205020404" pitchFamily="49" charset="0"/>
              </a:rPr>
              <a:t> </a:t>
            </a:r>
          </a:p>
          <a:p>
            <a:pPr marL="34290" indent="0" algn="just">
              <a:buNone/>
            </a:pPr>
            <a:r>
              <a:rPr lang="ro-RO" sz="2000" b="1" noProof="0" dirty="0">
                <a:solidFill>
                  <a:srgbClr val="7EC699"/>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attempts</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Trying</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to</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connect</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success</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new</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Random</a:t>
            </a:r>
            <a:r>
              <a:rPr lang="ro-RO" sz="2000" b="1" i="0" noProof="0" dirty="0">
                <a:solidFill>
                  <a:srgbClr val="CCCCCC"/>
                </a:solidFill>
                <a:effectLst/>
                <a:latin typeface="Courier New" panose="02070309020205020404" pitchFamily="49" charset="0"/>
              </a:rPr>
              <a:t>().</a:t>
            </a:r>
            <a:r>
              <a:rPr lang="ro-RO" sz="2000" b="1" i="0" noProof="0" dirty="0" err="1">
                <a:solidFill>
                  <a:srgbClr val="F08D49"/>
                </a:solidFill>
                <a:effectLst/>
                <a:latin typeface="Courier New" panose="02070309020205020404" pitchFamily="49" charset="0"/>
              </a:rPr>
              <a:t>Next</a:t>
            </a:r>
            <a:r>
              <a:rPr lang="ro-RO" sz="2000" b="1" i="0" noProof="0" dirty="0">
                <a:solidFill>
                  <a:srgbClr val="CCCCCC"/>
                </a:solidFill>
                <a:effectLst/>
                <a:latin typeface="Courier New" panose="02070309020205020404" pitchFamily="49" charset="0"/>
              </a:rPr>
              <a:t>(</a:t>
            </a:r>
            <a:r>
              <a:rPr lang="ro-RO" sz="2000" b="1" i="0" noProof="0" dirty="0">
                <a:solidFill>
                  <a:srgbClr val="F08D49"/>
                </a:solidFill>
                <a:effectLst/>
                <a:latin typeface="Courier New" panose="02070309020205020404" pitchFamily="49" charset="0"/>
              </a:rPr>
              <a:t>1</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4</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2</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while</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success</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&amp;&amp;</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attempts</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&lt;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5</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success</a:t>
            </a:r>
            <a:r>
              <a:rPr lang="ro-RO" sz="2000" b="1" i="0" noProof="0" dirty="0">
                <a:solidFill>
                  <a:srgbClr val="CCCCCC"/>
                </a:solidFill>
                <a:effectLst/>
                <a:latin typeface="Courier New" panose="02070309020205020404" pitchFamily="49" charset="0"/>
              </a:rPr>
              <a:t> ? </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Connection</a:t>
            </a:r>
            <a:r>
              <a:rPr lang="ro-RO" sz="2000" b="1" i="0" noProof="0" dirty="0">
                <a:solidFill>
                  <a:srgbClr val="7EC699"/>
                </a:solidFill>
                <a:effectLst/>
                <a:latin typeface="Courier New" panose="02070309020205020404" pitchFamily="49" charset="0"/>
              </a:rPr>
              <a:t> </a:t>
            </a:r>
          </a:p>
          <a:p>
            <a:pPr marL="34290" indent="0" algn="just">
              <a:buNone/>
            </a:pPr>
            <a:r>
              <a:rPr lang="ro-RO" sz="2000" b="1" noProof="0" dirty="0">
                <a:solidFill>
                  <a:srgbClr val="7EC699"/>
                </a:solidFill>
                <a:latin typeface="Courier New" panose="02070309020205020404" pitchFamily="49" charset="0"/>
              </a:rPr>
              <a:t>    </a:t>
            </a:r>
            <a:r>
              <a:rPr lang="ro-RO" sz="2000" b="1" i="0" noProof="0" dirty="0" err="1">
                <a:solidFill>
                  <a:srgbClr val="7EC699"/>
                </a:solidFill>
                <a:effectLst/>
                <a:latin typeface="Courier New" panose="02070309020205020404" pitchFamily="49" charset="0"/>
              </a:rPr>
              <a:t>successful</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 </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Failed</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after</a:t>
            </a:r>
            <a:r>
              <a:rPr lang="ro-RO" sz="2000" b="1" i="0" noProof="0" dirty="0">
                <a:solidFill>
                  <a:srgbClr val="7EC699"/>
                </a:solidFill>
                <a:effectLst/>
                <a:latin typeface="Courier New" panose="02070309020205020404" pitchFamily="49" charset="0"/>
              </a:rPr>
              <a:t> 5 </a:t>
            </a:r>
            <a:r>
              <a:rPr lang="ro-RO" sz="2000" b="1" i="0" noProof="0" dirty="0" err="1">
                <a:solidFill>
                  <a:srgbClr val="7EC699"/>
                </a:solidFill>
                <a:effectLst/>
                <a:latin typeface="Courier New" panose="02070309020205020404" pitchFamily="49" charset="0"/>
              </a:rPr>
              <a:t>attempts</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p:txBody>
      </p:sp>
    </p:spTree>
    <p:extLst>
      <p:ext uri="{BB962C8B-B14F-4D97-AF65-F5344CB8AC3E}">
        <p14:creationId xmlns:p14="http://schemas.microsoft.com/office/powerpoint/2010/main" val="33960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FAA54-63EE-1614-17F8-EA64FCF975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483CD4-5C3D-C7E9-857A-50C426EB4D73}"/>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6C45FD13-2A81-9A31-7855-A444B594B3D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Exemple cu instrucțiunea do .. </a:t>
            </a:r>
            <a:r>
              <a:rPr lang="ro-RO" sz="2800" noProof="0" dirty="0" err="1">
                <a:solidFill>
                  <a:srgbClr val="00B0F0"/>
                </a:solidFill>
              </a:rPr>
              <a:t>while</a:t>
            </a:r>
            <a:r>
              <a:rPr lang="ro-RO" sz="2800" noProof="0" dirty="0">
                <a:solidFill>
                  <a:srgbClr val="00B0F0"/>
                </a:solidFill>
              </a:rPr>
              <a:t> în C#</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System.Threading</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Program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countdown</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5</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do</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Countdown</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countdown</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countdown</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Thread.</a:t>
            </a:r>
            <a:r>
              <a:rPr lang="ro-RO" sz="2000" b="1" i="0" noProof="0" dirty="0" err="1">
                <a:solidFill>
                  <a:srgbClr val="F08D49"/>
                </a:solidFill>
                <a:effectLst/>
                <a:latin typeface="Courier New" panose="02070309020205020404" pitchFamily="49" charset="0"/>
              </a:rPr>
              <a:t>Sleep</a:t>
            </a:r>
            <a:r>
              <a:rPr lang="ro-RO" sz="2000" b="1" i="0" noProof="0" dirty="0">
                <a:solidFill>
                  <a:srgbClr val="CCCCCC"/>
                </a:solidFill>
                <a:effectLst/>
                <a:latin typeface="Courier New" panose="02070309020205020404" pitchFamily="49" charset="0"/>
              </a:rPr>
              <a:t>(</a:t>
            </a:r>
            <a:r>
              <a:rPr lang="ro-RO" sz="2000" b="1" i="0" noProof="0" dirty="0">
                <a:solidFill>
                  <a:srgbClr val="F08D49"/>
                </a:solidFill>
                <a:effectLst/>
                <a:latin typeface="Courier New" panose="02070309020205020404" pitchFamily="49" charset="0"/>
              </a:rPr>
              <a:t>1000</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while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countdown</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&gt;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0</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Time's</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up</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p:txBody>
      </p:sp>
    </p:spTree>
    <p:extLst>
      <p:ext uri="{BB962C8B-B14F-4D97-AF65-F5344CB8AC3E}">
        <p14:creationId xmlns:p14="http://schemas.microsoft.com/office/powerpoint/2010/main" val="13904121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DCCCB-E882-90C5-789A-17E6470DE5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C3ED81E-D471-3183-0137-3891E91AA69E}"/>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0326925F-0106-4A0E-B254-98732F650A8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Instrucțiuni repetitive imbricate</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O buclă imbricată în C# definește o buclă în interiorul unei alte bucle, unde bucla interioară se execută complet pentru fiecare iterație a buclei exterioare. </a:t>
            </a:r>
          </a:p>
        </p:txBody>
      </p:sp>
    </p:spTree>
    <p:extLst>
      <p:ext uri="{BB962C8B-B14F-4D97-AF65-F5344CB8AC3E}">
        <p14:creationId xmlns:p14="http://schemas.microsoft.com/office/powerpoint/2010/main" val="2146065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1AFB7-6BFA-37CF-0D5B-E40BFCE23BA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4FE73AE-F401-F759-FBC0-4EF18874B716}"/>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BC1BFD1F-21F7-348C-3A98-10EE468EC2F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Instrucțiuni repetitive imbricate</a:t>
            </a:r>
          </a:p>
          <a:p>
            <a:pPr marL="34290" indent="0" algn="just">
              <a:buNone/>
            </a:pPr>
            <a:r>
              <a:rPr lang="ro-RO" sz="2200" b="1" i="0" noProof="0" dirty="0" err="1">
                <a:solidFill>
                  <a:srgbClr val="CC99CD"/>
                </a:solidFill>
                <a:effectLst/>
                <a:latin typeface="Courier New" panose="02070309020205020404" pitchFamily="49" charset="0"/>
              </a:rPr>
              <a:t>using</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System</a:t>
            </a:r>
            <a:r>
              <a:rPr lang="ro-RO" sz="2200" b="1" i="0" noProof="0" dirty="0">
                <a:solidFill>
                  <a:srgbClr val="CCCCCC"/>
                </a:solidFill>
                <a:effectLst/>
                <a:latin typeface="Courier New" panose="02070309020205020404" pitchFamily="49" charset="0"/>
              </a:rPr>
              <a:t>; </a:t>
            </a:r>
          </a:p>
          <a:p>
            <a:pPr marL="34290" indent="0" algn="just">
              <a:buNone/>
            </a:pPr>
            <a:r>
              <a:rPr lang="ro-RO" sz="2200" b="1" i="0" noProof="0" dirty="0" err="1">
                <a:solidFill>
                  <a:srgbClr val="CC99CD"/>
                </a:solidFill>
                <a:effectLst/>
                <a:latin typeface="Courier New" panose="02070309020205020404" pitchFamily="49" charset="0"/>
              </a:rPr>
              <a:t>namespace</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Loops</a:t>
            </a:r>
            <a:r>
              <a:rPr lang="ro-RO" sz="2200" b="1" i="0" noProof="0" dirty="0">
                <a:solidFill>
                  <a:srgbClr val="CCCCCC"/>
                </a:solidFill>
                <a:effectLst/>
                <a:latin typeface="Courier New" panose="02070309020205020404" pitchFamily="49" charset="0"/>
              </a:rPr>
              <a:t> { </a:t>
            </a:r>
          </a:p>
          <a:p>
            <a:pPr marL="34290" indent="0" algn="just">
              <a:buNone/>
            </a:pPr>
            <a:r>
              <a:rPr lang="ro-RO" sz="2200" b="1" i="0" noProof="0" dirty="0" err="1">
                <a:solidFill>
                  <a:srgbClr val="CC99CD"/>
                </a:solidFill>
                <a:effectLst/>
                <a:latin typeface="Courier New" panose="02070309020205020404" pitchFamily="49" charset="0"/>
              </a:rPr>
              <a:t>class</a:t>
            </a:r>
            <a:r>
              <a:rPr lang="ro-RO" sz="2200" b="1" i="0" noProof="0" dirty="0">
                <a:solidFill>
                  <a:srgbClr val="CCCCCC"/>
                </a:solidFill>
                <a:effectLst/>
                <a:latin typeface="Courier New" panose="02070309020205020404" pitchFamily="49" charset="0"/>
              </a:rPr>
              <a:t> Program {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static</a:t>
            </a:r>
            <a:r>
              <a:rPr lang="ro-RO" sz="2200" b="1" i="0" noProof="0" dirty="0">
                <a:solidFill>
                  <a:srgbClr val="CCCCCC"/>
                </a:solidFill>
                <a:effectLst/>
                <a:latin typeface="Courier New" panose="02070309020205020404" pitchFamily="49" charset="0"/>
              </a:rPr>
              <a:t> </a:t>
            </a:r>
            <a:r>
              <a:rPr lang="ro-RO" sz="2200" b="1" i="0" noProof="0" dirty="0" err="1">
                <a:solidFill>
                  <a:srgbClr val="CC99CD"/>
                </a:solidFill>
                <a:effectLst/>
                <a:latin typeface="Courier New" panose="02070309020205020404" pitchFamily="49" charset="0"/>
              </a:rPr>
              <a:t>void</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Main</a:t>
            </a:r>
            <a:r>
              <a:rPr lang="ro-RO" sz="2200" b="1" i="0" noProof="0" dirty="0">
                <a:solidFill>
                  <a:srgbClr val="CCCCCC"/>
                </a:solidFill>
                <a:effectLst/>
                <a:latin typeface="Courier New" panose="02070309020205020404" pitchFamily="49" charset="0"/>
              </a:rPr>
              <a:t>(</a:t>
            </a:r>
            <a:r>
              <a:rPr lang="ro-RO" sz="2200" b="1" i="0" noProof="0" dirty="0" err="1">
                <a:solidFill>
                  <a:srgbClr val="CC99CD"/>
                </a:solidFill>
                <a:effectLst/>
                <a:latin typeface="Courier New" panose="02070309020205020404" pitchFamily="49" charset="0"/>
              </a:rPr>
              <a:t>string</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args</a:t>
            </a:r>
            <a:r>
              <a:rPr lang="ro-RO" sz="2200" b="1" i="0" noProof="0" dirty="0">
                <a:solidFill>
                  <a:srgbClr val="CCCCCC"/>
                </a:solidFill>
                <a:effectLst/>
                <a:latin typeface="Courier New" panose="02070309020205020404" pitchFamily="49" charset="0"/>
              </a:rPr>
              <a:t>) { </a:t>
            </a:r>
          </a:p>
          <a:p>
            <a:pPr marL="34290" indent="0" algn="just">
              <a:buNone/>
            </a:pPr>
            <a:r>
              <a:rPr lang="ro-RO" sz="2200" b="1" noProof="0" dirty="0">
                <a:solidFill>
                  <a:srgbClr val="999999"/>
                </a:solidFill>
                <a:latin typeface="Courier New" panose="02070309020205020404" pitchFamily="49" charset="0"/>
              </a:rPr>
              <a:t>    </a:t>
            </a:r>
            <a:r>
              <a:rPr lang="ro-RO" sz="2200" b="1" i="0" noProof="0" dirty="0" err="1">
                <a:solidFill>
                  <a:srgbClr val="CC99CD"/>
                </a:solidFill>
                <a:effectLst/>
                <a:latin typeface="Courier New" panose="02070309020205020404" pitchFamily="49" charset="0"/>
              </a:rPr>
              <a:t>int</a:t>
            </a:r>
            <a:r>
              <a:rPr lang="ro-RO" sz="2200" b="1" i="0" noProof="0" dirty="0">
                <a:solidFill>
                  <a:srgbClr val="CCCCCC"/>
                </a:solidFill>
                <a:effectLst/>
                <a:latin typeface="Courier New" panose="02070309020205020404" pitchFamily="49" charset="0"/>
              </a:rPr>
              <a:t> i, j;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for</a:t>
            </a:r>
            <a:r>
              <a:rPr lang="ro-RO" sz="2200" b="1" i="0" noProof="0" dirty="0">
                <a:solidFill>
                  <a:srgbClr val="CCCCCC"/>
                </a:solidFill>
                <a:effectLst/>
                <a:latin typeface="Courier New" panose="02070309020205020404" pitchFamily="49" charset="0"/>
              </a:rPr>
              <a:t> (i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2</a:t>
            </a:r>
            <a:r>
              <a:rPr lang="ro-RO" sz="2200" b="1" i="0" noProof="0" dirty="0">
                <a:solidFill>
                  <a:srgbClr val="CCCCCC"/>
                </a:solidFill>
                <a:effectLst/>
                <a:latin typeface="Courier New" panose="02070309020205020404" pitchFamily="49" charset="0"/>
              </a:rPr>
              <a:t>; i </a:t>
            </a:r>
            <a:r>
              <a:rPr lang="ro-RO" sz="2200" b="1" i="0" noProof="0" dirty="0">
                <a:solidFill>
                  <a:srgbClr val="67CDCC"/>
                </a:solidFill>
                <a:effectLst/>
                <a:latin typeface="Courier New" panose="02070309020205020404" pitchFamily="49" charset="0"/>
              </a:rPr>
              <a:t>&lt;</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100</a:t>
            </a:r>
            <a:r>
              <a:rPr lang="ro-RO" sz="2200" b="1" i="0" noProof="0" dirty="0">
                <a:solidFill>
                  <a:srgbClr val="CCCCCC"/>
                </a:solidFill>
                <a:effectLst/>
                <a:latin typeface="Courier New" panose="02070309020205020404" pitchFamily="49" charset="0"/>
              </a:rPr>
              <a:t>; i</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for</a:t>
            </a:r>
            <a:r>
              <a:rPr lang="ro-RO" sz="2200" b="1" i="0" noProof="0" dirty="0">
                <a:solidFill>
                  <a:srgbClr val="CCCCCC"/>
                </a:solidFill>
                <a:effectLst/>
                <a:latin typeface="Courier New" panose="02070309020205020404" pitchFamily="49" charset="0"/>
              </a:rPr>
              <a:t> (j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2</a:t>
            </a:r>
            <a:r>
              <a:rPr lang="ro-RO" sz="2200" b="1" i="0" noProof="0" dirty="0">
                <a:solidFill>
                  <a:srgbClr val="CCCCCC"/>
                </a:solidFill>
                <a:effectLst/>
                <a:latin typeface="Courier New" panose="02070309020205020404" pitchFamily="49" charset="0"/>
              </a:rPr>
              <a:t>; j </a:t>
            </a:r>
            <a:r>
              <a:rPr lang="ro-RO" sz="2200" b="1" i="0" noProof="0" dirty="0">
                <a:solidFill>
                  <a:srgbClr val="67CDCC"/>
                </a:solidFill>
                <a:effectLst/>
                <a:latin typeface="Courier New" panose="02070309020205020404" pitchFamily="49" charset="0"/>
              </a:rPr>
              <a:t>&lt;=</a:t>
            </a:r>
            <a:r>
              <a:rPr lang="ro-RO" sz="2200" b="1" i="0" noProof="0" dirty="0">
                <a:solidFill>
                  <a:srgbClr val="CCCCCC"/>
                </a:solidFill>
                <a:effectLst/>
                <a:latin typeface="Courier New" panose="02070309020205020404" pitchFamily="49" charset="0"/>
              </a:rPr>
              <a:t> (i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j); j</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err="1">
                <a:solidFill>
                  <a:srgbClr val="CC99CD"/>
                </a:solidFill>
                <a:effectLst/>
                <a:latin typeface="Courier New" panose="02070309020205020404" pitchFamily="49" charset="0"/>
              </a:rPr>
              <a:t>if</a:t>
            </a:r>
            <a:r>
              <a:rPr lang="ro-RO" sz="2200" b="1" i="0" noProof="0" dirty="0">
                <a:solidFill>
                  <a:srgbClr val="CCCCCC"/>
                </a:solidFill>
                <a:effectLst/>
                <a:latin typeface="Courier New" panose="02070309020205020404" pitchFamily="49" charset="0"/>
              </a:rPr>
              <a:t> ((i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j)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0</a:t>
            </a:r>
            <a:r>
              <a:rPr lang="ro-RO" sz="2200" b="1" i="0" noProof="0" dirty="0">
                <a:solidFill>
                  <a:srgbClr val="CCCCCC"/>
                </a:solidFill>
                <a:effectLst/>
                <a:latin typeface="Courier New" panose="02070309020205020404" pitchFamily="49" charset="0"/>
              </a:rPr>
              <a:t>) </a:t>
            </a:r>
            <a:r>
              <a:rPr lang="ro-RO" sz="2200" b="1" i="0" noProof="0" dirty="0">
                <a:solidFill>
                  <a:srgbClr val="CC99CD"/>
                </a:solidFill>
                <a:effectLst/>
                <a:latin typeface="Courier New" panose="02070309020205020404" pitchFamily="49" charset="0"/>
              </a:rPr>
              <a:t>break</a:t>
            </a:r>
            <a:r>
              <a:rPr lang="ro-RO" sz="2200" b="1" i="0" noProof="0" dirty="0">
                <a:solidFill>
                  <a:srgbClr val="CCCCCC"/>
                </a:solidFill>
                <a:effectLst/>
                <a:latin typeface="Courier New" panose="02070309020205020404" pitchFamily="49" charset="0"/>
              </a:rPr>
              <a:t>; </a:t>
            </a:r>
            <a:endParaRPr lang="ro-RO" sz="2200" b="1" i="0" noProof="0" dirty="0">
              <a:solidFill>
                <a:srgbClr val="999999"/>
              </a:solidFill>
              <a:effectLst/>
              <a:latin typeface="Courier New" panose="02070309020205020404" pitchFamily="49" charset="0"/>
            </a:endParaRPr>
          </a:p>
          <a:p>
            <a:pPr marL="34290" indent="0" algn="just">
              <a:buNone/>
            </a:pPr>
            <a:r>
              <a:rPr lang="ro-RO" sz="2200" b="1" noProof="0" dirty="0">
                <a:solidFill>
                  <a:srgbClr val="999999"/>
                </a:solidFill>
                <a:latin typeface="Courier New" panose="02070309020205020404" pitchFamily="49" charset="0"/>
              </a:rPr>
              <a:t>        </a:t>
            </a:r>
            <a:r>
              <a:rPr lang="ro-RO" sz="2200" b="1" i="0" noProof="0" dirty="0" err="1">
                <a:solidFill>
                  <a:srgbClr val="CC99CD"/>
                </a:solidFill>
                <a:effectLst/>
                <a:latin typeface="Courier New" panose="02070309020205020404" pitchFamily="49" charset="0"/>
              </a:rPr>
              <a:t>if</a:t>
            </a:r>
            <a:r>
              <a:rPr lang="ro-RO" sz="2200" b="1" i="0" noProof="0" dirty="0">
                <a:solidFill>
                  <a:srgbClr val="CCCCCC"/>
                </a:solidFill>
                <a:effectLst/>
                <a:latin typeface="Courier New" panose="02070309020205020404" pitchFamily="49" charset="0"/>
              </a:rPr>
              <a:t> (j </a:t>
            </a:r>
            <a:r>
              <a:rPr lang="ro-RO" sz="2200" b="1" i="0" noProof="0" dirty="0">
                <a:solidFill>
                  <a:srgbClr val="67CDCC"/>
                </a:solidFill>
                <a:effectLst/>
                <a:latin typeface="Courier New" panose="02070309020205020404" pitchFamily="49" charset="0"/>
              </a:rPr>
              <a:t>&gt;</a:t>
            </a:r>
            <a:r>
              <a:rPr lang="ro-RO" sz="2200" b="1" i="0" noProof="0" dirty="0">
                <a:solidFill>
                  <a:srgbClr val="CCCCCC"/>
                </a:solidFill>
                <a:effectLst/>
                <a:latin typeface="Courier New" panose="02070309020205020404" pitchFamily="49" charset="0"/>
              </a:rPr>
              <a:t> (i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j))   </a:t>
            </a:r>
          </a:p>
          <a:p>
            <a:pPr marL="34290" indent="0" algn="just">
              <a:buNone/>
            </a:pPr>
            <a:r>
              <a:rPr lang="ro-RO" sz="2200" b="1" noProof="0" dirty="0">
                <a:solidFill>
                  <a:srgbClr val="CCCCCC"/>
                </a:solidFill>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Console.</a:t>
            </a:r>
            <a:r>
              <a:rPr lang="ro-RO" sz="2200" b="1" i="0" noProof="0" dirty="0" err="1">
                <a:solidFill>
                  <a:srgbClr val="F08D49"/>
                </a:solidFill>
                <a:effectLst/>
                <a:latin typeface="Courier New" panose="02070309020205020404" pitchFamily="49" charset="0"/>
              </a:rPr>
              <a:t>WriteLine</a:t>
            </a:r>
            <a:r>
              <a:rPr lang="ro-RO" sz="2200" b="1" i="0" noProof="0" dirty="0">
                <a:solidFill>
                  <a:srgbClr val="CCCCCC"/>
                </a:solidFill>
                <a:effectLst/>
                <a:latin typeface="Courier New" panose="02070309020205020404" pitchFamily="49" charset="0"/>
              </a:rPr>
              <a:t>(</a:t>
            </a:r>
            <a:r>
              <a:rPr lang="ro-RO" sz="2200" b="1" i="0" noProof="0" dirty="0">
                <a:solidFill>
                  <a:srgbClr val="7EC699"/>
                </a:solidFill>
                <a:effectLst/>
                <a:latin typeface="Courier New" panose="02070309020205020404" pitchFamily="49" charset="0"/>
              </a:rPr>
              <a:t>"{0} </a:t>
            </a:r>
            <a:r>
              <a:rPr lang="ro-RO" sz="2200" b="1" i="0" noProof="0" dirty="0" err="1">
                <a:solidFill>
                  <a:srgbClr val="7EC699"/>
                </a:solidFill>
                <a:effectLst/>
                <a:latin typeface="Courier New" panose="02070309020205020404" pitchFamily="49" charset="0"/>
              </a:rPr>
              <a:t>is</a:t>
            </a:r>
            <a:r>
              <a:rPr lang="ro-RO" sz="2200" b="1" i="0" noProof="0" dirty="0">
                <a:solidFill>
                  <a:srgbClr val="7EC699"/>
                </a:solidFill>
                <a:effectLst/>
                <a:latin typeface="Courier New" panose="02070309020205020404" pitchFamily="49" charset="0"/>
              </a:rPr>
              <a:t> prime"</a:t>
            </a:r>
            <a:r>
              <a:rPr lang="ro-RO" sz="2200" b="1" i="0" noProof="0" dirty="0">
                <a:solidFill>
                  <a:srgbClr val="CCCCCC"/>
                </a:solidFill>
                <a:effectLst/>
                <a:latin typeface="Courier New" panose="02070309020205020404" pitchFamily="49" charset="0"/>
              </a:rPr>
              <a:t>, i);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p>
          <a:p>
            <a:pPr marL="34290" indent="0" algn="just">
              <a:buNone/>
            </a:pPr>
            <a:r>
              <a:rPr lang="ro-RO" sz="2200" b="1" i="0" noProof="0" dirty="0">
                <a:solidFill>
                  <a:srgbClr val="CCCCCC"/>
                </a:solidFill>
                <a:effectLst/>
                <a:latin typeface="Courier New" panose="02070309020205020404" pitchFamily="49" charset="0"/>
              </a:rPr>
              <a:t>  } </a:t>
            </a:r>
          </a:p>
          <a:p>
            <a:pPr marL="34290" indent="0" algn="just">
              <a:buNone/>
            </a:pPr>
            <a:r>
              <a:rPr lang="ro-RO" sz="2200" b="1" i="0" noProof="0" dirty="0">
                <a:solidFill>
                  <a:srgbClr val="CCCCCC"/>
                </a:solidFill>
                <a:effectLst/>
                <a:latin typeface="Courier New" panose="02070309020205020404" pitchFamily="49" charset="0"/>
              </a:rPr>
              <a:t>} </a:t>
            </a:r>
          </a:p>
          <a:p>
            <a:pPr marL="34290" indent="0" algn="just">
              <a:buNone/>
            </a:pPr>
            <a:r>
              <a:rPr lang="ro-RO" sz="2200" b="1" i="0" noProof="0" dirty="0">
                <a:solidFill>
                  <a:srgbClr val="CCCCCC"/>
                </a:solidFill>
                <a:effectLst/>
                <a:latin typeface="Courier New" panose="02070309020205020404" pitchFamily="49" charset="0"/>
              </a:rPr>
              <a:t>} </a:t>
            </a:r>
            <a:endParaRPr lang="ro-RO" sz="2200" b="1" noProof="0" dirty="0">
              <a:solidFill>
                <a:srgbClr val="00B0F0"/>
              </a:solidFill>
            </a:endParaRPr>
          </a:p>
        </p:txBody>
      </p:sp>
    </p:spTree>
    <p:extLst>
      <p:ext uri="{BB962C8B-B14F-4D97-AF65-F5344CB8AC3E}">
        <p14:creationId xmlns:p14="http://schemas.microsoft.com/office/powerpoint/2010/main" val="9875518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60859-060F-020A-1DE8-806B0CC4C46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0F9227-42F5-A3A5-5C52-482C98FA4426}"/>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C9F1E31D-F51C-8B08-0E47-BDF21B0B931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Instrucțiuni repetitive imbricate</a:t>
            </a:r>
          </a:p>
          <a:p>
            <a:pPr marL="34290" indent="0" algn="just">
              <a:buNone/>
            </a:pPr>
            <a:r>
              <a:rPr lang="ro-RO" sz="1800" b="1" i="0" noProof="0" dirty="0" err="1">
                <a:solidFill>
                  <a:srgbClr val="CC99CD"/>
                </a:solidFill>
                <a:effectLst/>
                <a:latin typeface="Courier New" panose="02070309020205020404" pitchFamily="49" charset="0"/>
              </a:rPr>
              <a:t>using</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System</a:t>
            </a:r>
            <a:r>
              <a:rPr lang="ro-RO" sz="1800" b="1" i="0" noProof="0" dirty="0">
                <a:solidFill>
                  <a:srgbClr val="CCCCCC"/>
                </a:solidFill>
                <a:effectLst/>
                <a:latin typeface="Courier New" panose="02070309020205020404" pitchFamily="49" charset="0"/>
              </a:rPr>
              <a:t>; </a:t>
            </a:r>
          </a:p>
          <a:p>
            <a:pPr marL="34290" indent="0" algn="just">
              <a:buNone/>
            </a:pPr>
            <a:r>
              <a:rPr lang="ro-RO" sz="1800" b="1" i="0" noProof="0" dirty="0" err="1">
                <a:solidFill>
                  <a:srgbClr val="CC99CD"/>
                </a:solidFill>
                <a:effectLst/>
                <a:latin typeface="Courier New" panose="02070309020205020404" pitchFamily="49" charset="0"/>
              </a:rPr>
              <a:t>namespace</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Loops</a:t>
            </a:r>
            <a:r>
              <a:rPr lang="ro-RO" sz="1800" b="1" i="0" noProof="0" dirty="0">
                <a:solidFill>
                  <a:srgbClr val="CCCCCC"/>
                </a:solidFill>
                <a:effectLst/>
                <a:latin typeface="Courier New" panose="02070309020205020404" pitchFamily="49" charset="0"/>
              </a:rPr>
              <a:t> { </a:t>
            </a:r>
          </a:p>
          <a:p>
            <a:pPr marL="34290" indent="0" algn="just">
              <a:buNone/>
            </a:pPr>
            <a:r>
              <a:rPr lang="ro-RO" sz="1800" b="1" i="0" noProof="0" dirty="0" err="1">
                <a:solidFill>
                  <a:srgbClr val="CC99CD"/>
                </a:solidFill>
                <a:effectLst/>
                <a:latin typeface="Courier New" panose="02070309020205020404" pitchFamily="49" charset="0"/>
              </a:rPr>
              <a:t>class</a:t>
            </a:r>
            <a:r>
              <a:rPr lang="ro-RO" sz="1800" b="1" i="0" noProof="0" dirty="0">
                <a:solidFill>
                  <a:srgbClr val="CCCCCC"/>
                </a:solidFill>
                <a:effectLst/>
                <a:latin typeface="Courier New" panose="02070309020205020404" pitchFamily="49" charset="0"/>
              </a:rPr>
              <a:t> Program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 </a:t>
            </a:r>
            <a:r>
              <a:rPr lang="ro-RO" sz="1800" b="1" i="0" noProof="0" dirty="0">
                <a:solidFill>
                  <a:srgbClr val="CC99CD"/>
                </a:solidFill>
                <a:effectLst/>
                <a:latin typeface="Courier New" panose="02070309020205020404" pitchFamily="49" charset="0"/>
              </a:rPr>
              <a:t>static</a:t>
            </a:r>
            <a:r>
              <a:rPr lang="ro-RO" sz="1800" b="1" i="0" noProof="0" dirty="0">
                <a:solidFill>
                  <a:srgbClr val="CCCCCC"/>
                </a:solidFill>
                <a:effectLst/>
                <a:latin typeface="Courier New" panose="02070309020205020404" pitchFamily="49" charset="0"/>
              </a:rPr>
              <a:t> </a:t>
            </a:r>
            <a:r>
              <a:rPr lang="ro-RO" sz="1800" b="1" i="0" noProof="0" dirty="0" err="1">
                <a:solidFill>
                  <a:srgbClr val="CC99CD"/>
                </a:solidFill>
                <a:effectLst/>
                <a:latin typeface="Courier New" panose="02070309020205020404" pitchFamily="49" charset="0"/>
              </a:rPr>
              <a:t>void</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Main</a:t>
            </a:r>
            <a:r>
              <a:rPr lang="ro-RO" sz="1800" b="1" i="0" noProof="0" dirty="0">
                <a:solidFill>
                  <a:srgbClr val="CCCCCC"/>
                </a:solidFill>
                <a:effectLst/>
                <a:latin typeface="Courier New" panose="02070309020205020404" pitchFamily="49" charset="0"/>
              </a:rPr>
              <a:t>(</a:t>
            </a:r>
            <a:r>
              <a:rPr lang="ro-RO" sz="1800" b="1" i="0" noProof="0" dirty="0" err="1">
                <a:solidFill>
                  <a:srgbClr val="CC99CD"/>
                </a:solidFill>
                <a:effectLst/>
                <a:latin typeface="Courier New" panose="02070309020205020404" pitchFamily="49" charset="0"/>
              </a:rPr>
              <a:t>string</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args</a:t>
            </a:r>
            <a:r>
              <a:rPr lang="ro-RO" sz="1800" b="1" i="0" noProof="0" dirty="0">
                <a:solidFill>
                  <a:srgbClr val="CCCCCC"/>
                </a:solidFill>
                <a:effectLst/>
                <a:latin typeface="Courier New" panose="02070309020205020404" pitchFamily="49" charset="0"/>
              </a:rPr>
              <a:t>) { </a:t>
            </a:r>
          </a:p>
          <a:p>
            <a:pPr marL="34290" indent="0" algn="just">
              <a:buNone/>
            </a:pPr>
            <a:r>
              <a:rPr lang="ro-RO" sz="1800" b="1" noProof="0" dirty="0">
                <a:solidFill>
                  <a:srgbClr val="CCCCCC"/>
                </a:solidFill>
                <a:latin typeface="Courier New" panose="02070309020205020404" pitchFamily="49" charset="0"/>
              </a:rPr>
              <a:t>    </a:t>
            </a:r>
            <a:r>
              <a:rPr lang="ro-RO" sz="1800" b="1" i="0" noProof="0" dirty="0" err="1">
                <a:solidFill>
                  <a:srgbClr val="CC99CD"/>
                </a:solidFill>
                <a:effectLst/>
                <a:latin typeface="Courier New" panose="02070309020205020404" pitchFamily="49" charset="0"/>
              </a:rPr>
              <a:t>int</a:t>
            </a:r>
            <a:r>
              <a:rPr lang="ro-RO" sz="1800" b="1" i="0" noProof="0" dirty="0">
                <a:solidFill>
                  <a:srgbClr val="CCCCCC"/>
                </a:solidFill>
                <a:effectLst/>
                <a:latin typeface="Courier New" panose="02070309020205020404" pitchFamily="49" charset="0"/>
              </a:rPr>
              <a:t> i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2</a:t>
            </a:r>
            <a:r>
              <a:rPr lang="ro-RO" sz="1800" b="1" i="0" noProof="0" dirty="0">
                <a:solidFill>
                  <a:srgbClr val="CCCCCC"/>
                </a:solidFill>
                <a:effectLst/>
                <a:latin typeface="Courier New" panose="02070309020205020404" pitchFamily="49" charset="0"/>
              </a:rPr>
              <a:t>, j; </a:t>
            </a:r>
          </a:p>
          <a:p>
            <a:pPr marL="34290" indent="0" algn="just">
              <a:buNone/>
            </a:pPr>
            <a:r>
              <a:rPr lang="ro-RO" sz="1800" b="1" noProof="0" dirty="0">
                <a:solidFill>
                  <a:srgbClr val="999999"/>
                </a:solidFill>
                <a:latin typeface="Courier New" panose="02070309020205020404" pitchFamily="49" charset="0"/>
              </a:rPr>
              <a:t>    </a:t>
            </a:r>
            <a:r>
              <a:rPr lang="ro-RO" sz="1800" b="1" i="0" noProof="0" dirty="0" err="1">
                <a:solidFill>
                  <a:srgbClr val="CC99CD"/>
                </a:solidFill>
                <a:effectLst/>
                <a:latin typeface="Courier New" panose="02070309020205020404" pitchFamily="49" charset="0"/>
              </a:rPr>
              <a:t>while</a:t>
            </a:r>
            <a:r>
              <a:rPr lang="ro-RO" sz="1800" b="1" i="0" noProof="0" dirty="0">
                <a:solidFill>
                  <a:srgbClr val="CCCCCC"/>
                </a:solidFill>
                <a:effectLst/>
                <a:latin typeface="Courier New" panose="02070309020205020404" pitchFamily="49" charset="0"/>
              </a:rPr>
              <a:t> (i </a:t>
            </a:r>
            <a:r>
              <a:rPr lang="ro-RO" sz="1800" b="1" i="0" noProof="0" dirty="0">
                <a:solidFill>
                  <a:srgbClr val="67CDCC"/>
                </a:solidFill>
                <a:effectLst/>
                <a:latin typeface="Courier New" panose="02070309020205020404" pitchFamily="49" charset="0"/>
              </a:rPr>
              <a:t>&lt;</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100</a:t>
            </a:r>
            <a:r>
              <a:rPr lang="ro-RO" sz="1800" b="1" i="0" noProof="0" dirty="0">
                <a:solidFill>
                  <a:srgbClr val="CCCCCC"/>
                </a:solidFill>
                <a:effectLst/>
                <a:latin typeface="Courier New" panose="02070309020205020404" pitchFamily="49" charset="0"/>
              </a:rPr>
              <a:t>) {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j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2</a:t>
            </a:r>
            <a:r>
              <a:rPr lang="ro-RO" sz="1800" b="1" i="0" noProof="0" dirty="0">
                <a:solidFill>
                  <a:srgbClr val="CCCCCC"/>
                </a:solidFill>
                <a:effectLst/>
                <a:latin typeface="Courier New" panose="02070309020205020404" pitchFamily="49" charset="0"/>
              </a:rPr>
              <a:t>; </a:t>
            </a:r>
            <a:endParaRPr lang="ro-RO" sz="1800" b="1" i="0" noProof="0" dirty="0">
              <a:solidFill>
                <a:srgbClr val="999999"/>
              </a:solidFill>
              <a:effectLst/>
              <a:latin typeface="Courier New" panose="02070309020205020404" pitchFamily="49" charset="0"/>
            </a:endParaRPr>
          </a:p>
          <a:p>
            <a:pPr marL="34290" indent="0" algn="just">
              <a:buNone/>
            </a:pPr>
            <a:r>
              <a:rPr lang="ro-RO" sz="1800" b="1" noProof="0" dirty="0">
                <a:solidFill>
                  <a:srgbClr val="999999"/>
                </a:solidFill>
                <a:latin typeface="Courier New" panose="02070309020205020404" pitchFamily="49" charset="0"/>
              </a:rPr>
              <a:t>      </a:t>
            </a:r>
            <a:r>
              <a:rPr lang="ro-RO" sz="1800" b="1" i="0" noProof="0" dirty="0" err="1">
                <a:solidFill>
                  <a:srgbClr val="CC99CD"/>
                </a:solidFill>
                <a:effectLst/>
                <a:latin typeface="Courier New" panose="02070309020205020404" pitchFamily="49" charset="0"/>
              </a:rPr>
              <a:t>while</a:t>
            </a:r>
            <a:r>
              <a:rPr lang="ro-RO" sz="1800" b="1" i="0" noProof="0" dirty="0">
                <a:solidFill>
                  <a:srgbClr val="CCCCCC"/>
                </a:solidFill>
                <a:effectLst/>
                <a:latin typeface="Courier New" panose="02070309020205020404" pitchFamily="49" charset="0"/>
              </a:rPr>
              <a:t> (j </a:t>
            </a:r>
            <a:r>
              <a:rPr lang="ro-RO" sz="1800" b="1" i="0" noProof="0" dirty="0">
                <a:solidFill>
                  <a:srgbClr val="67CDCC"/>
                </a:solidFill>
                <a:effectLst/>
                <a:latin typeface="Courier New" panose="02070309020205020404" pitchFamily="49" charset="0"/>
              </a:rPr>
              <a:t>&lt;=</a:t>
            </a:r>
            <a:r>
              <a:rPr lang="ro-RO" sz="1800" b="1" i="0" noProof="0" dirty="0">
                <a:solidFill>
                  <a:srgbClr val="CCCCCC"/>
                </a:solidFill>
                <a:effectLst/>
                <a:latin typeface="Courier New" panose="02070309020205020404" pitchFamily="49" charset="0"/>
              </a:rPr>
              <a:t> (i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j)) { </a:t>
            </a:r>
          </a:p>
          <a:p>
            <a:pPr marL="34290" indent="0" algn="just">
              <a:buNone/>
            </a:pPr>
            <a:r>
              <a:rPr lang="ro-RO" sz="1800" b="1" noProof="0" dirty="0">
                <a:solidFill>
                  <a:srgbClr val="CCCCCC"/>
                </a:solidFill>
                <a:latin typeface="Courier New" panose="02070309020205020404" pitchFamily="49" charset="0"/>
              </a:rPr>
              <a:t>        </a:t>
            </a:r>
            <a:r>
              <a:rPr lang="ro-RO" sz="1800" b="1" i="0" noProof="0" dirty="0" err="1">
                <a:solidFill>
                  <a:srgbClr val="CC99CD"/>
                </a:solidFill>
                <a:effectLst/>
                <a:latin typeface="Courier New" panose="02070309020205020404" pitchFamily="49" charset="0"/>
              </a:rPr>
              <a:t>if</a:t>
            </a:r>
            <a:r>
              <a:rPr lang="ro-RO" sz="1800" b="1" i="0" noProof="0" dirty="0">
                <a:solidFill>
                  <a:srgbClr val="CCCCCC"/>
                </a:solidFill>
                <a:effectLst/>
                <a:latin typeface="Courier New" panose="02070309020205020404" pitchFamily="49" charset="0"/>
              </a:rPr>
              <a:t> ((i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j)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0</a:t>
            </a:r>
            <a:r>
              <a:rPr lang="ro-RO" sz="1800" b="1" i="0" noProof="0" dirty="0">
                <a:solidFill>
                  <a:srgbClr val="CCCCCC"/>
                </a:solidFill>
                <a:effectLst/>
                <a:latin typeface="Courier New" panose="02070309020205020404" pitchFamily="49" charset="0"/>
              </a:rPr>
              <a:t>) </a:t>
            </a:r>
            <a:r>
              <a:rPr lang="ro-RO" sz="1800" b="1" i="0" noProof="0" dirty="0">
                <a:solidFill>
                  <a:srgbClr val="CC99CD"/>
                </a:solidFill>
                <a:effectLst/>
                <a:latin typeface="Courier New" panose="02070309020205020404" pitchFamily="49" charset="0"/>
              </a:rPr>
              <a:t>break</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j</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err="1">
                <a:solidFill>
                  <a:srgbClr val="CC99CD"/>
                </a:solidFill>
                <a:effectLst/>
                <a:latin typeface="Courier New" panose="02070309020205020404" pitchFamily="49" charset="0"/>
              </a:rPr>
              <a:t>if</a:t>
            </a:r>
            <a:r>
              <a:rPr lang="ro-RO" sz="1800" b="1" i="0" noProof="0" dirty="0">
                <a:solidFill>
                  <a:srgbClr val="CCCCCC"/>
                </a:solidFill>
                <a:effectLst/>
                <a:latin typeface="Courier New" panose="02070309020205020404" pitchFamily="49" charset="0"/>
              </a:rPr>
              <a:t>(j</a:t>
            </a:r>
            <a:r>
              <a:rPr lang="ro-RO" sz="1800" b="1" i="0" noProof="0" dirty="0">
                <a:solidFill>
                  <a:srgbClr val="67CDCC"/>
                </a:solidFill>
                <a:effectLst/>
                <a:latin typeface="Courier New" panose="02070309020205020404" pitchFamily="49" charset="0"/>
              </a:rPr>
              <a:t>&gt;</a:t>
            </a:r>
            <a:r>
              <a:rPr lang="ro-RO" sz="1800" b="1" i="0" noProof="0" dirty="0">
                <a:solidFill>
                  <a:srgbClr val="CCCCCC"/>
                </a:solidFill>
                <a:effectLst/>
                <a:latin typeface="Courier New" panose="02070309020205020404" pitchFamily="49" charset="0"/>
              </a:rPr>
              <a:t>(i</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j)) </a:t>
            </a:r>
            <a:r>
              <a:rPr lang="ro-RO" sz="1800" b="1" i="0" noProof="0" dirty="0" err="1">
                <a:solidFill>
                  <a:srgbClr val="CCCCCC"/>
                </a:solidFill>
                <a:effectLst/>
                <a:latin typeface="Courier New" panose="02070309020205020404" pitchFamily="49" charset="0"/>
              </a:rPr>
              <a:t>Console.</a:t>
            </a:r>
            <a:r>
              <a:rPr lang="ro-RO" sz="1800" b="1" i="0" noProof="0" dirty="0" err="1">
                <a:solidFill>
                  <a:srgbClr val="F08D49"/>
                </a:solidFill>
                <a:effectLst/>
                <a:latin typeface="Courier New" panose="02070309020205020404" pitchFamily="49" charset="0"/>
              </a:rPr>
              <a:t>WriteLine</a:t>
            </a:r>
            <a:r>
              <a:rPr lang="ro-RO" sz="1800" b="1" i="0" noProof="0" dirty="0">
                <a:solidFill>
                  <a:srgbClr val="CCCCCC"/>
                </a:solidFill>
                <a:effectLst/>
                <a:latin typeface="Courier New" panose="02070309020205020404" pitchFamily="49" charset="0"/>
              </a:rPr>
              <a:t>(</a:t>
            </a:r>
            <a:r>
              <a:rPr lang="ro-RO" sz="1800" b="1" i="0" noProof="0" dirty="0">
                <a:solidFill>
                  <a:srgbClr val="7EC699"/>
                </a:solidFill>
                <a:effectLst/>
                <a:latin typeface="Courier New" panose="02070309020205020404" pitchFamily="49" charset="0"/>
              </a:rPr>
              <a:t>"{0} </a:t>
            </a:r>
            <a:r>
              <a:rPr lang="ro-RO" sz="1800" b="1" i="0" noProof="0" dirty="0" err="1">
                <a:solidFill>
                  <a:srgbClr val="7EC699"/>
                </a:solidFill>
                <a:effectLst/>
                <a:latin typeface="Courier New" panose="02070309020205020404" pitchFamily="49" charset="0"/>
              </a:rPr>
              <a:t>is</a:t>
            </a:r>
            <a:r>
              <a:rPr lang="ro-RO" sz="1800" b="1" i="0" noProof="0" dirty="0">
                <a:solidFill>
                  <a:srgbClr val="7EC699"/>
                </a:solidFill>
                <a:effectLst/>
                <a:latin typeface="Courier New" panose="02070309020205020404" pitchFamily="49" charset="0"/>
              </a:rPr>
              <a:t> </a:t>
            </a:r>
            <a:r>
              <a:rPr lang="ro-RO" sz="1800" b="1" i="0" noProof="0" dirty="0" err="1">
                <a:solidFill>
                  <a:srgbClr val="7EC699"/>
                </a:solidFill>
                <a:effectLst/>
                <a:latin typeface="Courier New" panose="02070309020205020404" pitchFamily="49" charset="0"/>
              </a:rPr>
              <a:t>prime"</a:t>
            </a:r>
            <a:r>
              <a:rPr lang="ro-RO" sz="1800" b="1" i="0" noProof="0" dirty="0" err="1">
                <a:solidFill>
                  <a:srgbClr val="CCCCCC"/>
                </a:solidFill>
                <a:effectLst/>
                <a:latin typeface="Courier New" panose="02070309020205020404" pitchFamily="49" charset="0"/>
              </a:rPr>
              <a:t>,i</a:t>
            </a:r>
            <a:r>
              <a:rPr lang="ro-RO" sz="1800" b="1" i="0" noProof="0" dirty="0">
                <a:solidFill>
                  <a:srgbClr val="CCCCCC"/>
                </a:solidFill>
                <a:effectLst/>
                <a:latin typeface="Courier New" panose="02070309020205020404" pitchFamily="49" charset="0"/>
              </a:rPr>
              <a:t>);</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i</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 </a:t>
            </a:r>
          </a:p>
          <a:p>
            <a:pPr marL="34290" indent="0" algn="just">
              <a:buNone/>
            </a:pPr>
            <a:r>
              <a:rPr lang="ro-RO" sz="1800" b="1" i="0" noProof="0" dirty="0">
                <a:solidFill>
                  <a:srgbClr val="CCCCCC"/>
                </a:solidFill>
                <a:effectLst/>
                <a:latin typeface="Courier New" panose="02070309020205020404" pitchFamily="49" charset="0"/>
              </a:rPr>
              <a:t>  } </a:t>
            </a:r>
          </a:p>
          <a:p>
            <a:pPr marL="34290" indent="0" algn="just">
              <a:buNone/>
            </a:pPr>
            <a:r>
              <a:rPr lang="ro-RO" sz="1800" b="1" i="0" noProof="0" dirty="0">
                <a:solidFill>
                  <a:srgbClr val="CCCCCC"/>
                </a:solidFill>
                <a:effectLst/>
                <a:latin typeface="Courier New" panose="02070309020205020404" pitchFamily="49" charset="0"/>
              </a:rPr>
              <a:t>} </a:t>
            </a:r>
          </a:p>
          <a:p>
            <a:pPr marL="34290" indent="0" algn="just">
              <a:buNone/>
            </a:pPr>
            <a:r>
              <a:rPr lang="ro-RO" sz="1800" b="1" i="0" noProof="0" dirty="0">
                <a:solidFill>
                  <a:srgbClr val="CCCCCC"/>
                </a:solidFill>
                <a:effectLst/>
                <a:latin typeface="Courier New" panose="02070309020205020404" pitchFamily="49" charset="0"/>
              </a:rPr>
              <a:t>} </a:t>
            </a:r>
            <a:endParaRPr lang="ro-RO" sz="1800" b="1" noProof="0" dirty="0">
              <a:solidFill>
                <a:srgbClr val="00B0F0"/>
              </a:solidFill>
            </a:endParaRPr>
          </a:p>
        </p:txBody>
      </p:sp>
    </p:spTree>
    <p:extLst>
      <p:ext uri="{BB962C8B-B14F-4D97-AF65-F5344CB8AC3E}">
        <p14:creationId xmlns:p14="http://schemas.microsoft.com/office/powerpoint/2010/main" val="35413335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4CC7D-B35D-388A-18AF-979076E9B9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D8E513-80F4-DDBA-E24D-73494105B2C0}"/>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A21852C5-A777-E248-E31D-48A552CF186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Instrucțiuni repetitive imbricate</a:t>
            </a:r>
          </a:p>
          <a:p>
            <a:pPr marL="34290" indent="0" algn="just">
              <a:buNone/>
            </a:pPr>
            <a:r>
              <a:rPr lang="ro-RO" sz="1800" b="1" i="0" noProof="0" dirty="0" err="1">
                <a:solidFill>
                  <a:srgbClr val="CC99CD"/>
                </a:solidFill>
                <a:effectLst/>
                <a:latin typeface="Courier New" panose="02070309020205020404" pitchFamily="49" charset="0"/>
              </a:rPr>
              <a:t>using</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System</a:t>
            </a:r>
            <a:r>
              <a:rPr lang="ro-RO" sz="1800" b="1" i="0" noProof="0" dirty="0">
                <a:solidFill>
                  <a:srgbClr val="CCCCCC"/>
                </a:solidFill>
                <a:effectLst/>
                <a:latin typeface="Courier New" panose="02070309020205020404" pitchFamily="49" charset="0"/>
              </a:rPr>
              <a:t>; </a:t>
            </a:r>
          </a:p>
          <a:p>
            <a:pPr marL="34290" indent="0" algn="just">
              <a:buNone/>
            </a:pPr>
            <a:r>
              <a:rPr lang="ro-RO" sz="1800" b="1" i="0" noProof="0" dirty="0" err="1">
                <a:solidFill>
                  <a:srgbClr val="CC99CD"/>
                </a:solidFill>
                <a:effectLst/>
                <a:latin typeface="Courier New" panose="02070309020205020404" pitchFamily="49" charset="0"/>
              </a:rPr>
              <a:t>namespace</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Loops</a:t>
            </a:r>
            <a:r>
              <a:rPr lang="ro-RO" sz="1800" b="1" i="0" noProof="0" dirty="0">
                <a:solidFill>
                  <a:srgbClr val="CCCCCC"/>
                </a:solidFill>
                <a:effectLst/>
                <a:latin typeface="Courier New" panose="02070309020205020404" pitchFamily="49" charset="0"/>
              </a:rPr>
              <a:t> { </a:t>
            </a:r>
          </a:p>
          <a:p>
            <a:pPr marL="34290" indent="0" algn="just">
              <a:buNone/>
            </a:pPr>
            <a:r>
              <a:rPr lang="ro-RO" sz="1800" b="1" i="0" noProof="0" dirty="0" err="1">
                <a:solidFill>
                  <a:srgbClr val="CC99CD"/>
                </a:solidFill>
                <a:effectLst/>
                <a:latin typeface="Courier New" panose="02070309020205020404" pitchFamily="49" charset="0"/>
              </a:rPr>
              <a:t>class</a:t>
            </a:r>
            <a:r>
              <a:rPr lang="ro-RO" sz="1800" b="1" i="0" noProof="0" dirty="0">
                <a:solidFill>
                  <a:srgbClr val="CCCCCC"/>
                </a:solidFill>
                <a:effectLst/>
                <a:latin typeface="Courier New" panose="02070309020205020404" pitchFamily="49" charset="0"/>
              </a:rPr>
              <a:t> Program {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99CD"/>
                </a:solidFill>
                <a:effectLst/>
                <a:latin typeface="Courier New" panose="02070309020205020404" pitchFamily="49" charset="0"/>
              </a:rPr>
              <a:t>static</a:t>
            </a:r>
            <a:r>
              <a:rPr lang="ro-RO" sz="1800" b="1" i="0" noProof="0" dirty="0">
                <a:solidFill>
                  <a:srgbClr val="CCCCCC"/>
                </a:solidFill>
                <a:effectLst/>
                <a:latin typeface="Courier New" panose="02070309020205020404" pitchFamily="49" charset="0"/>
              </a:rPr>
              <a:t> </a:t>
            </a:r>
            <a:r>
              <a:rPr lang="ro-RO" sz="1800" b="1" i="0" noProof="0" dirty="0" err="1">
                <a:solidFill>
                  <a:srgbClr val="CC99CD"/>
                </a:solidFill>
                <a:effectLst/>
                <a:latin typeface="Courier New" panose="02070309020205020404" pitchFamily="49" charset="0"/>
              </a:rPr>
              <a:t>void</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Main</a:t>
            </a:r>
            <a:r>
              <a:rPr lang="ro-RO" sz="1800" b="1" i="0" noProof="0" dirty="0">
                <a:solidFill>
                  <a:srgbClr val="CCCCCC"/>
                </a:solidFill>
                <a:effectLst/>
                <a:latin typeface="Courier New" panose="02070309020205020404" pitchFamily="49" charset="0"/>
              </a:rPr>
              <a:t>(</a:t>
            </a:r>
            <a:r>
              <a:rPr lang="ro-RO" sz="1800" b="1" i="0" noProof="0" dirty="0" err="1">
                <a:solidFill>
                  <a:srgbClr val="CC99CD"/>
                </a:solidFill>
                <a:effectLst/>
                <a:latin typeface="Courier New" panose="02070309020205020404" pitchFamily="49" charset="0"/>
              </a:rPr>
              <a:t>string</a:t>
            </a:r>
            <a:r>
              <a:rPr lang="ro-RO" sz="1800" b="1" i="0" noProof="0" dirty="0">
                <a:solidFill>
                  <a:srgbClr val="CCCCCC"/>
                </a:solidFill>
                <a:effectLst/>
                <a:latin typeface="Courier New" panose="02070309020205020404" pitchFamily="49" charset="0"/>
              </a:rPr>
              <a:t>[] </a:t>
            </a:r>
            <a:r>
              <a:rPr lang="ro-RO" sz="1800" b="1" i="0" noProof="0" dirty="0" err="1">
                <a:solidFill>
                  <a:srgbClr val="CCCCCC"/>
                </a:solidFill>
                <a:effectLst/>
                <a:latin typeface="Courier New" panose="02070309020205020404" pitchFamily="49" charset="0"/>
              </a:rPr>
              <a:t>args</a:t>
            </a:r>
            <a:r>
              <a:rPr lang="ro-RO" sz="1800" b="1" i="0" noProof="0" dirty="0">
                <a:solidFill>
                  <a:srgbClr val="CCCCCC"/>
                </a:solidFill>
                <a:effectLst/>
                <a:latin typeface="Courier New" panose="02070309020205020404" pitchFamily="49" charset="0"/>
              </a:rPr>
              <a:t>) { </a:t>
            </a:r>
          </a:p>
          <a:p>
            <a:pPr marL="34290" indent="0" algn="just">
              <a:buNone/>
            </a:pPr>
            <a:r>
              <a:rPr lang="ro-RO" sz="1800" b="1" noProof="0" dirty="0">
                <a:solidFill>
                  <a:srgbClr val="CCCCCC"/>
                </a:solidFill>
                <a:latin typeface="Courier New" panose="02070309020205020404" pitchFamily="49" charset="0"/>
              </a:rPr>
              <a:t>    </a:t>
            </a:r>
            <a:r>
              <a:rPr lang="ro-RO" sz="1800" b="1" i="0" noProof="0" dirty="0" err="1">
                <a:solidFill>
                  <a:srgbClr val="CC99CD"/>
                </a:solidFill>
                <a:effectLst/>
                <a:latin typeface="Courier New" panose="02070309020205020404" pitchFamily="49" charset="0"/>
              </a:rPr>
              <a:t>int</a:t>
            </a:r>
            <a:r>
              <a:rPr lang="ro-RO" sz="1800" b="1" i="0" noProof="0" dirty="0">
                <a:solidFill>
                  <a:srgbClr val="CCCCCC"/>
                </a:solidFill>
                <a:effectLst/>
                <a:latin typeface="Courier New" panose="02070309020205020404" pitchFamily="49" charset="0"/>
              </a:rPr>
              <a:t> i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2</a:t>
            </a:r>
            <a:r>
              <a:rPr lang="ro-RO" sz="1800" b="1" i="0" noProof="0" dirty="0">
                <a:solidFill>
                  <a:srgbClr val="CCCCCC"/>
                </a:solidFill>
                <a:effectLst/>
                <a:latin typeface="Courier New" panose="02070309020205020404" pitchFamily="49" charset="0"/>
              </a:rPr>
              <a:t>, j; </a:t>
            </a:r>
            <a:endParaRPr lang="ro-RO" sz="1800" b="1" i="0" noProof="0" dirty="0">
              <a:solidFill>
                <a:srgbClr val="999999"/>
              </a:solidFill>
              <a:effectLst/>
              <a:latin typeface="Courier New" panose="02070309020205020404" pitchFamily="49" charset="0"/>
            </a:endParaRPr>
          </a:p>
          <a:p>
            <a:pPr marL="34290" indent="0" algn="just">
              <a:buNone/>
            </a:pPr>
            <a:r>
              <a:rPr lang="ro-RO" sz="1800" b="1" noProof="0" dirty="0">
                <a:solidFill>
                  <a:srgbClr val="999999"/>
                </a:solidFill>
                <a:latin typeface="Courier New" panose="02070309020205020404" pitchFamily="49" charset="0"/>
              </a:rPr>
              <a:t>    </a:t>
            </a:r>
            <a:r>
              <a:rPr lang="ro-RO" sz="1800" b="1" i="0" noProof="0" dirty="0">
                <a:solidFill>
                  <a:srgbClr val="CC99CD"/>
                </a:solidFill>
                <a:effectLst/>
                <a:latin typeface="Courier New" panose="02070309020205020404" pitchFamily="49" charset="0"/>
              </a:rPr>
              <a:t>do</a:t>
            </a:r>
            <a:r>
              <a:rPr lang="ro-RO" sz="1800" b="1" i="0" noProof="0" dirty="0">
                <a:solidFill>
                  <a:srgbClr val="CCCCCC"/>
                </a:solidFill>
                <a:effectLst/>
                <a:latin typeface="Courier New" panose="02070309020205020404" pitchFamily="49" charset="0"/>
              </a:rPr>
              <a:t> {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j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2</a:t>
            </a:r>
            <a:r>
              <a:rPr lang="ro-RO" sz="1800" b="1" i="0" noProof="0" dirty="0">
                <a:solidFill>
                  <a:srgbClr val="CCCCCC"/>
                </a:solidFill>
                <a:effectLst/>
                <a:latin typeface="Courier New" panose="02070309020205020404" pitchFamily="49" charset="0"/>
              </a:rPr>
              <a:t>; </a:t>
            </a:r>
            <a:endParaRPr lang="ro-RO" sz="1800" b="1" i="0" noProof="0" dirty="0">
              <a:solidFill>
                <a:srgbClr val="999999"/>
              </a:solidFill>
              <a:effectLst/>
              <a:latin typeface="Courier New" panose="02070309020205020404" pitchFamily="49" charset="0"/>
            </a:endParaRPr>
          </a:p>
          <a:p>
            <a:pPr marL="34290" indent="0" algn="just">
              <a:buNone/>
            </a:pPr>
            <a:r>
              <a:rPr lang="ro-RO" sz="1800" b="1" noProof="0" dirty="0">
                <a:solidFill>
                  <a:srgbClr val="999999"/>
                </a:solidFill>
                <a:latin typeface="Courier New" panose="02070309020205020404" pitchFamily="49" charset="0"/>
              </a:rPr>
              <a:t>      </a:t>
            </a:r>
            <a:r>
              <a:rPr lang="ro-RO" sz="1800" b="1" i="0" noProof="0" dirty="0">
                <a:solidFill>
                  <a:srgbClr val="CC99CD"/>
                </a:solidFill>
                <a:effectLst/>
                <a:latin typeface="Courier New" panose="02070309020205020404" pitchFamily="49" charset="0"/>
              </a:rPr>
              <a:t>do</a:t>
            </a:r>
            <a:r>
              <a:rPr lang="ro-RO" sz="1800" b="1" i="0" noProof="0" dirty="0">
                <a:solidFill>
                  <a:srgbClr val="CCCCCC"/>
                </a:solidFill>
                <a:effectLst/>
                <a:latin typeface="Courier New" panose="02070309020205020404" pitchFamily="49" charset="0"/>
              </a:rPr>
              <a:t> { </a:t>
            </a:r>
          </a:p>
          <a:p>
            <a:pPr marL="34290" indent="0" algn="just">
              <a:buNone/>
            </a:pPr>
            <a:r>
              <a:rPr lang="ro-RO" sz="1800" b="1" noProof="0" dirty="0">
                <a:solidFill>
                  <a:srgbClr val="CCCCCC"/>
                </a:solidFill>
                <a:latin typeface="Courier New" panose="02070309020205020404" pitchFamily="49" charset="0"/>
              </a:rPr>
              <a:t>        </a:t>
            </a:r>
            <a:r>
              <a:rPr lang="ro-RO" sz="1800" b="1" i="0" noProof="0" dirty="0" err="1">
                <a:solidFill>
                  <a:srgbClr val="CC99CD"/>
                </a:solidFill>
                <a:effectLst/>
                <a:latin typeface="Courier New" panose="02070309020205020404" pitchFamily="49" charset="0"/>
              </a:rPr>
              <a:t>if</a:t>
            </a:r>
            <a:r>
              <a:rPr lang="ro-RO" sz="1800" b="1" i="0" noProof="0" dirty="0">
                <a:solidFill>
                  <a:srgbClr val="CCCCCC"/>
                </a:solidFill>
                <a:effectLst/>
                <a:latin typeface="Courier New" panose="02070309020205020404" pitchFamily="49" charset="0"/>
              </a:rPr>
              <a:t> ((i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j)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0</a:t>
            </a:r>
            <a:r>
              <a:rPr lang="ro-RO" sz="1800" b="1" i="0" noProof="0" dirty="0">
                <a:solidFill>
                  <a:srgbClr val="CCCCCC"/>
                </a:solidFill>
                <a:effectLst/>
                <a:latin typeface="Courier New" panose="02070309020205020404" pitchFamily="49" charset="0"/>
              </a:rPr>
              <a:t>) </a:t>
            </a:r>
            <a:r>
              <a:rPr lang="ro-RO" sz="1800" b="1" i="0" noProof="0" dirty="0">
                <a:solidFill>
                  <a:srgbClr val="CC99CD"/>
                </a:solidFill>
                <a:effectLst/>
                <a:latin typeface="Courier New" panose="02070309020205020404" pitchFamily="49" charset="0"/>
              </a:rPr>
              <a:t>break</a:t>
            </a:r>
            <a:r>
              <a:rPr lang="ro-RO" sz="1800" b="1" i="0" noProof="0" dirty="0">
                <a:solidFill>
                  <a:srgbClr val="CCCCCC"/>
                </a:solidFill>
                <a:effectLst/>
                <a:latin typeface="Courier New" panose="02070309020205020404" pitchFamily="49" charset="0"/>
              </a:rPr>
              <a:t>; </a:t>
            </a:r>
          </a:p>
          <a:p>
            <a:pPr marL="34290" indent="0" algn="just">
              <a:buNone/>
            </a:pPr>
            <a:r>
              <a:rPr lang="ro-RO" sz="1800" b="1" i="0" noProof="0" dirty="0">
                <a:solidFill>
                  <a:srgbClr val="CCCCCC"/>
                </a:solidFill>
                <a:effectLst/>
                <a:latin typeface="Courier New" panose="02070309020205020404" pitchFamily="49" charset="0"/>
              </a:rPr>
              <a:t>        j</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 </a:t>
            </a:r>
            <a:r>
              <a:rPr lang="ro-RO" sz="1800" b="1" i="0" noProof="0" dirty="0" err="1">
                <a:solidFill>
                  <a:srgbClr val="CC99CD"/>
                </a:solidFill>
                <a:effectLst/>
                <a:latin typeface="Courier New" panose="02070309020205020404" pitchFamily="49" charset="0"/>
              </a:rPr>
              <a:t>while</a:t>
            </a:r>
            <a:r>
              <a:rPr lang="ro-RO" sz="1800" b="1" i="0" noProof="0" dirty="0">
                <a:solidFill>
                  <a:srgbClr val="CCCCCC"/>
                </a:solidFill>
                <a:effectLst/>
                <a:latin typeface="Courier New" panose="02070309020205020404" pitchFamily="49" charset="0"/>
              </a:rPr>
              <a:t> (j </a:t>
            </a:r>
            <a:r>
              <a:rPr lang="ro-RO" sz="1800" b="1" i="0" noProof="0" dirty="0">
                <a:solidFill>
                  <a:srgbClr val="67CDCC"/>
                </a:solidFill>
                <a:effectLst/>
                <a:latin typeface="Courier New" panose="02070309020205020404" pitchFamily="49" charset="0"/>
              </a:rPr>
              <a:t>&lt;=</a:t>
            </a:r>
            <a:r>
              <a:rPr lang="ro-RO" sz="1800" b="1" i="0" noProof="0" dirty="0">
                <a:solidFill>
                  <a:srgbClr val="CCCCCC"/>
                </a:solidFill>
                <a:effectLst/>
                <a:latin typeface="Courier New" panose="02070309020205020404" pitchFamily="49" charset="0"/>
              </a:rPr>
              <a:t> (i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j)); </a:t>
            </a:r>
          </a:p>
          <a:p>
            <a:pPr marL="34290" indent="0" algn="just">
              <a:buNone/>
            </a:pPr>
            <a:r>
              <a:rPr lang="ro-RO" sz="1800" b="1" noProof="0" dirty="0">
                <a:solidFill>
                  <a:srgbClr val="CCCCCC"/>
                </a:solidFill>
                <a:latin typeface="Courier New" panose="02070309020205020404" pitchFamily="49" charset="0"/>
              </a:rPr>
              <a:t>      </a:t>
            </a:r>
            <a:r>
              <a:rPr lang="ro-RO" sz="1800" b="1" i="0" noProof="0" dirty="0" err="1">
                <a:solidFill>
                  <a:srgbClr val="CC99CD"/>
                </a:solidFill>
                <a:effectLst/>
                <a:latin typeface="Courier New" panose="02070309020205020404" pitchFamily="49" charset="0"/>
              </a:rPr>
              <a:t>if</a:t>
            </a:r>
            <a:r>
              <a:rPr lang="ro-RO" sz="1800" b="1" i="0" noProof="0" dirty="0">
                <a:solidFill>
                  <a:srgbClr val="CCCCCC"/>
                </a:solidFill>
                <a:effectLst/>
                <a:latin typeface="Courier New" panose="02070309020205020404" pitchFamily="49" charset="0"/>
              </a:rPr>
              <a:t> (j </a:t>
            </a:r>
            <a:r>
              <a:rPr lang="ro-RO" sz="1800" b="1" i="0" noProof="0" dirty="0">
                <a:solidFill>
                  <a:srgbClr val="67CDCC"/>
                </a:solidFill>
                <a:effectLst/>
                <a:latin typeface="Courier New" panose="02070309020205020404" pitchFamily="49" charset="0"/>
              </a:rPr>
              <a:t>&gt;</a:t>
            </a:r>
            <a:r>
              <a:rPr lang="ro-RO" sz="1800" b="1" i="0" noProof="0" dirty="0">
                <a:solidFill>
                  <a:srgbClr val="CCCCCC"/>
                </a:solidFill>
                <a:effectLst/>
                <a:latin typeface="Courier New" panose="02070309020205020404" pitchFamily="49" charset="0"/>
              </a:rPr>
              <a:t> (i </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j)) </a:t>
            </a:r>
          </a:p>
          <a:p>
            <a:pPr marL="34290" indent="0" algn="just">
              <a:buNone/>
            </a:pPr>
            <a:r>
              <a:rPr lang="ro-RO" sz="1800" b="1" noProof="0" dirty="0">
                <a:solidFill>
                  <a:srgbClr val="CCCCCC"/>
                </a:solidFill>
                <a:latin typeface="Courier New" panose="02070309020205020404" pitchFamily="49" charset="0"/>
              </a:rPr>
              <a:t>        </a:t>
            </a:r>
            <a:r>
              <a:rPr lang="ro-RO" sz="1800" b="1" i="0" noProof="0" dirty="0" err="1">
                <a:solidFill>
                  <a:srgbClr val="CCCCCC"/>
                </a:solidFill>
                <a:effectLst/>
                <a:latin typeface="Courier New" panose="02070309020205020404" pitchFamily="49" charset="0"/>
              </a:rPr>
              <a:t>Console.</a:t>
            </a:r>
            <a:r>
              <a:rPr lang="ro-RO" sz="1800" b="1" i="0" noProof="0" dirty="0" err="1">
                <a:solidFill>
                  <a:srgbClr val="F08D49"/>
                </a:solidFill>
                <a:effectLst/>
                <a:latin typeface="Courier New" panose="02070309020205020404" pitchFamily="49" charset="0"/>
              </a:rPr>
              <a:t>WriteLine</a:t>
            </a:r>
            <a:r>
              <a:rPr lang="ro-RO" sz="1800" b="1" i="0" noProof="0" dirty="0">
                <a:solidFill>
                  <a:srgbClr val="CCCCCC"/>
                </a:solidFill>
                <a:effectLst/>
                <a:latin typeface="Courier New" panose="02070309020205020404" pitchFamily="49" charset="0"/>
              </a:rPr>
              <a:t>(</a:t>
            </a:r>
            <a:r>
              <a:rPr lang="ro-RO" sz="1800" b="1" i="0" noProof="0" dirty="0">
                <a:solidFill>
                  <a:srgbClr val="7EC699"/>
                </a:solidFill>
                <a:effectLst/>
                <a:latin typeface="Courier New" panose="02070309020205020404" pitchFamily="49" charset="0"/>
              </a:rPr>
              <a:t>"{0} </a:t>
            </a:r>
            <a:r>
              <a:rPr lang="ro-RO" sz="1800" b="1" i="0" noProof="0" dirty="0" err="1">
                <a:solidFill>
                  <a:srgbClr val="7EC699"/>
                </a:solidFill>
                <a:effectLst/>
                <a:latin typeface="Courier New" panose="02070309020205020404" pitchFamily="49" charset="0"/>
              </a:rPr>
              <a:t>is</a:t>
            </a:r>
            <a:r>
              <a:rPr lang="ro-RO" sz="1800" b="1" i="0" noProof="0" dirty="0">
                <a:solidFill>
                  <a:srgbClr val="7EC699"/>
                </a:solidFill>
                <a:effectLst/>
                <a:latin typeface="Courier New" panose="02070309020205020404" pitchFamily="49" charset="0"/>
              </a:rPr>
              <a:t> prime"</a:t>
            </a:r>
            <a:r>
              <a:rPr lang="ro-RO" sz="1800" b="1" i="0" noProof="0" dirty="0">
                <a:solidFill>
                  <a:srgbClr val="CCCCCC"/>
                </a:solidFill>
                <a:effectLst/>
                <a:latin typeface="Courier New" panose="02070309020205020404" pitchFamily="49" charset="0"/>
              </a:rPr>
              <a:t>, i);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i</a:t>
            </a:r>
            <a:r>
              <a:rPr lang="ro-RO" sz="1800" b="1" i="0" noProof="0" dirty="0">
                <a:solidFill>
                  <a:srgbClr val="67CDCC"/>
                </a:solidFill>
                <a:effectLst/>
                <a:latin typeface="Courier New" panose="02070309020205020404" pitchFamily="49" charset="0"/>
              </a:rPr>
              <a:t>++</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 </a:t>
            </a:r>
            <a:r>
              <a:rPr lang="ro-RO" sz="1800" b="1" i="0" noProof="0" dirty="0" err="1">
                <a:solidFill>
                  <a:srgbClr val="CC99CD"/>
                </a:solidFill>
                <a:effectLst/>
                <a:latin typeface="Courier New" panose="02070309020205020404" pitchFamily="49" charset="0"/>
              </a:rPr>
              <a:t>while</a:t>
            </a:r>
            <a:r>
              <a:rPr lang="ro-RO" sz="1800" b="1" i="0" noProof="0" dirty="0">
                <a:solidFill>
                  <a:srgbClr val="CCCCCC"/>
                </a:solidFill>
                <a:effectLst/>
                <a:latin typeface="Courier New" panose="02070309020205020404" pitchFamily="49" charset="0"/>
              </a:rPr>
              <a:t> (i </a:t>
            </a:r>
            <a:r>
              <a:rPr lang="ro-RO" sz="1800" b="1" i="0" noProof="0" dirty="0">
                <a:solidFill>
                  <a:srgbClr val="67CDCC"/>
                </a:solidFill>
                <a:effectLst/>
                <a:latin typeface="Courier New" panose="02070309020205020404" pitchFamily="49" charset="0"/>
              </a:rPr>
              <a:t>&lt;</a:t>
            </a:r>
            <a:r>
              <a:rPr lang="ro-RO" sz="1800" b="1" i="0" noProof="0" dirty="0">
                <a:solidFill>
                  <a:srgbClr val="CCCCCC"/>
                </a:solidFill>
                <a:effectLst/>
                <a:latin typeface="Courier New" panose="02070309020205020404" pitchFamily="49" charset="0"/>
              </a:rPr>
              <a:t> </a:t>
            </a:r>
            <a:r>
              <a:rPr lang="ro-RO" sz="1800" b="1" i="0" noProof="0" dirty="0">
                <a:solidFill>
                  <a:srgbClr val="F08D49"/>
                </a:solidFill>
                <a:effectLst/>
                <a:latin typeface="Courier New" panose="02070309020205020404" pitchFamily="49" charset="0"/>
              </a:rPr>
              <a:t>100</a:t>
            </a:r>
            <a:r>
              <a:rPr lang="ro-RO" sz="1800" b="1" i="0" noProof="0" dirty="0">
                <a:solidFill>
                  <a:srgbClr val="CCCCCC"/>
                </a:solidFill>
                <a:effectLst/>
                <a:latin typeface="Courier New" panose="02070309020205020404" pitchFamily="49" charset="0"/>
              </a:rPr>
              <a:t>); </a:t>
            </a:r>
          </a:p>
          <a:p>
            <a:pPr marL="34290" indent="0" algn="just">
              <a:buNone/>
            </a:pPr>
            <a:r>
              <a:rPr lang="ro-RO" sz="1800" b="1" noProof="0" dirty="0">
                <a:solidFill>
                  <a:srgbClr val="CCCCCC"/>
                </a:solidFill>
                <a:latin typeface="Courier New" panose="02070309020205020404" pitchFamily="49" charset="0"/>
              </a:rPr>
              <a:t>  </a:t>
            </a:r>
            <a:r>
              <a:rPr lang="ro-RO" sz="1800" b="1" i="0" noProof="0" dirty="0">
                <a:solidFill>
                  <a:srgbClr val="CCCCCC"/>
                </a:solidFill>
                <a:effectLst/>
                <a:latin typeface="Courier New" panose="02070309020205020404" pitchFamily="49" charset="0"/>
              </a:rPr>
              <a:t>} </a:t>
            </a:r>
          </a:p>
          <a:p>
            <a:pPr marL="34290" indent="0" algn="just">
              <a:buNone/>
            </a:pPr>
            <a:r>
              <a:rPr lang="ro-RO" sz="1800" b="1" i="0" noProof="0" dirty="0">
                <a:solidFill>
                  <a:srgbClr val="CCCCCC"/>
                </a:solidFill>
                <a:effectLst/>
                <a:latin typeface="Courier New" panose="02070309020205020404" pitchFamily="49" charset="0"/>
              </a:rPr>
              <a:t>} </a:t>
            </a:r>
          </a:p>
          <a:p>
            <a:pPr marL="34290" indent="0" algn="just">
              <a:buNone/>
            </a:pPr>
            <a:r>
              <a:rPr lang="ro-RO" sz="1800" b="1" i="0" noProof="0" dirty="0">
                <a:solidFill>
                  <a:srgbClr val="CCCCCC"/>
                </a:solidFill>
                <a:effectLst/>
                <a:latin typeface="Courier New" panose="02070309020205020404" pitchFamily="49" charset="0"/>
              </a:rPr>
              <a:t>}</a:t>
            </a:r>
            <a:endParaRPr lang="ro-RO" sz="1800" b="1" noProof="0" dirty="0">
              <a:solidFill>
                <a:srgbClr val="00B0F0"/>
              </a:solidFill>
            </a:endParaRPr>
          </a:p>
        </p:txBody>
      </p:sp>
    </p:spTree>
    <p:extLst>
      <p:ext uri="{BB962C8B-B14F-4D97-AF65-F5344CB8AC3E}">
        <p14:creationId xmlns:p14="http://schemas.microsoft.com/office/powerpoint/2010/main" val="2135251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2170-642F-5E14-A871-8FFD658FE8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14F526-6188-46E1-A37D-0045D41D9729}"/>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17B8270E-2C0B-1820-6D2E-85950CC12E1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break în C#</a:t>
            </a:r>
          </a:p>
          <a:p>
            <a:pPr marL="34290" indent="0" algn="just">
              <a:buNone/>
            </a:pPr>
            <a:r>
              <a:rPr lang="ro-RO" sz="2800" noProof="0" dirty="0">
                <a:solidFill>
                  <a:srgbClr val="00B0F0"/>
                </a:solidFill>
              </a:rPr>
              <a:t>Instrucțiunea break în C# are următoarele două utilizări:</a:t>
            </a:r>
          </a:p>
          <a:p>
            <a:pPr algn="just"/>
            <a:r>
              <a:rPr lang="ro-RO" sz="2800" noProof="0" dirty="0">
                <a:solidFill>
                  <a:srgbClr val="00B0F0"/>
                </a:solidFill>
              </a:rPr>
              <a:t>Când instrucțiunea break este întâlnită în interiorul unei bucle, bucla este terminată imediat, iar controlul programului este reluat la următoarea instrucțiune după buclă.</a:t>
            </a:r>
          </a:p>
          <a:p>
            <a:pPr algn="just"/>
            <a:r>
              <a:rPr lang="ro-RO" sz="2800" noProof="0" dirty="0">
                <a:solidFill>
                  <a:srgbClr val="00B0F0"/>
                </a:solidFill>
              </a:rPr>
              <a:t>Poate fi utilizată pentru a termina un caz în instrucțiunea </a:t>
            </a:r>
            <a:r>
              <a:rPr lang="ro-RO" sz="2800" noProof="0" dirty="0" err="1">
                <a:solidFill>
                  <a:srgbClr val="00B0F0"/>
                </a:solidFill>
              </a:rPr>
              <a:t>switch</a:t>
            </a:r>
            <a:r>
              <a:rPr lang="ro-RO" sz="2800" noProof="0" dirty="0">
                <a:solidFill>
                  <a:srgbClr val="00B0F0"/>
                </a:solidFill>
              </a:rPr>
              <a:t>.</a:t>
            </a:r>
          </a:p>
          <a:p>
            <a:pPr marL="34290" indent="0" algn="just">
              <a:buNone/>
            </a:pPr>
            <a:r>
              <a:rPr lang="ro-RO" sz="2800" noProof="0" dirty="0">
                <a:solidFill>
                  <a:srgbClr val="00B0F0"/>
                </a:solidFill>
              </a:rPr>
              <a:t>În cazul buclelor imbricate instrucțiunea break va opri execuția buclei celei mai interioare și va începe execuția următoarei linii de cod după bloc.</a:t>
            </a:r>
          </a:p>
        </p:txBody>
      </p:sp>
    </p:spTree>
    <p:extLst>
      <p:ext uri="{BB962C8B-B14F-4D97-AF65-F5344CB8AC3E}">
        <p14:creationId xmlns:p14="http://schemas.microsoft.com/office/powerpoint/2010/main" val="25695869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28E22-FF1B-9891-38F3-FC6217B9AF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8652E1-9B00-BF49-1587-30192044BEA3}"/>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B2DB3A7E-69AF-905A-F8C6-E00B692BB84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break în C#</a:t>
            </a:r>
          </a:p>
          <a:p>
            <a:pPr marL="34290" indent="0" algn="just">
              <a:buNone/>
            </a:pPr>
            <a:r>
              <a:rPr lang="ro-RO" sz="2800" noProof="0" dirty="0">
                <a:solidFill>
                  <a:srgbClr val="00B0F0"/>
                </a:solidFill>
              </a:rPr>
              <a:t>Instrucțiunea break în C# are următoarele două utilizări:</a:t>
            </a:r>
          </a:p>
          <a:p>
            <a:pPr algn="just"/>
            <a:r>
              <a:rPr lang="ro-RO" sz="2800" noProof="0" dirty="0">
                <a:solidFill>
                  <a:srgbClr val="00B0F0"/>
                </a:solidFill>
              </a:rPr>
              <a:t>Când instrucțiunea break este întâlnită în interiorul unei bucle, bucla este terminată imediat, iar controlul programului este reluat la următoarea instrucțiune după buclă.</a:t>
            </a:r>
          </a:p>
          <a:p>
            <a:pPr algn="just"/>
            <a:r>
              <a:rPr lang="ro-RO" sz="2800" noProof="0" dirty="0">
                <a:solidFill>
                  <a:srgbClr val="00B0F0"/>
                </a:solidFill>
              </a:rPr>
              <a:t>Poate fi utilizată pentru a termina un caz în instrucțiunea </a:t>
            </a:r>
            <a:r>
              <a:rPr lang="ro-RO" sz="2800" noProof="0" dirty="0" err="1">
                <a:solidFill>
                  <a:srgbClr val="00B0F0"/>
                </a:solidFill>
              </a:rPr>
              <a:t>switch</a:t>
            </a:r>
            <a:r>
              <a:rPr lang="ro-RO" sz="2800" noProof="0" dirty="0">
                <a:solidFill>
                  <a:srgbClr val="00B0F0"/>
                </a:solidFill>
              </a:rPr>
              <a:t>.</a:t>
            </a:r>
          </a:p>
          <a:p>
            <a:pPr marL="34290" indent="0" algn="just">
              <a:buNone/>
            </a:pPr>
            <a:r>
              <a:rPr lang="ro-RO" sz="2800" noProof="0" dirty="0">
                <a:solidFill>
                  <a:srgbClr val="00B0F0"/>
                </a:solidFill>
              </a:rPr>
              <a:t>În cazul buclelor imbricate instrucțiunea break va opri execuția buclei celei mai interioare și va începe execuția următoarei linii de cod după bloc.</a:t>
            </a:r>
          </a:p>
        </p:txBody>
      </p:sp>
    </p:spTree>
    <p:extLst>
      <p:ext uri="{BB962C8B-B14F-4D97-AF65-F5344CB8AC3E}">
        <p14:creationId xmlns:p14="http://schemas.microsoft.com/office/powerpoint/2010/main" val="4437419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128AC-70A8-0AEE-A19A-1E844C47E6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B24D4E-FBE2-2FE1-601E-404F8A9EC782}"/>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E08B15BA-30D5-FA92-408E-EF7448F60920}"/>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continue în C#</a:t>
            </a:r>
          </a:p>
          <a:p>
            <a:pPr marL="34290" indent="0" algn="just">
              <a:buNone/>
            </a:pPr>
            <a:r>
              <a:rPr lang="ro-RO" sz="2800" noProof="0" dirty="0">
                <a:solidFill>
                  <a:srgbClr val="00B0F0"/>
                </a:solidFill>
              </a:rPr>
              <a:t>Instrucțiunea continue în C# funcționează oarecum similar cu instrucțiunea break. În loc să forțeze terminarea, instrucțiunea continue forțează următoarea iterație a buclei, sărind peste orice cod între ele.</a:t>
            </a:r>
          </a:p>
          <a:p>
            <a:pPr marL="34290" indent="0" algn="just">
              <a:buNone/>
            </a:pPr>
            <a:r>
              <a:rPr lang="ro-RO" sz="2800" noProof="0" dirty="0">
                <a:solidFill>
                  <a:srgbClr val="00B0F0"/>
                </a:solidFill>
              </a:rPr>
              <a:t>Pentru bucla for, instrucțiunea continue determină executarea porțiunilor de test condiționat și increment ale buclei. Pentru buclele </a:t>
            </a:r>
            <a:r>
              <a:rPr lang="ro-RO" sz="2800" noProof="0" dirty="0" err="1">
                <a:solidFill>
                  <a:srgbClr val="00B0F0"/>
                </a:solidFill>
              </a:rPr>
              <a:t>while</a:t>
            </a:r>
            <a:r>
              <a:rPr lang="ro-RO" sz="2800" noProof="0" dirty="0">
                <a:solidFill>
                  <a:srgbClr val="00B0F0"/>
                </a:solidFill>
              </a:rPr>
              <a:t> și do...</a:t>
            </a:r>
            <a:r>
              <a:rPr lang="ro-RO" sz="2800" noProof="0" dirty="0" err="1">
                <a:solidFill>
                  <a:srgbClr val="00B0F0"/>
                </a:solidFill>
              </a:rPr>
              <a:t>while</a:t>
            </a:r>
            <a:r>
              <a:rPr lang="ro-RO" sz="2800" noProof="0" dirty="0">
                <a:solidFill>
                  <a:srgbClr val="00B0F0"/>
                </a:solidFill>
              </a:rPr>
              <a:t>, instrucțiunea continue determină trecerea controlului programului la testele condiționate.</a:t>
            </a:r>
          </a:p>
        </p:txBody>
      </p:sp>
    </p:spTree>
    <p:extLst>
      <p:ext uri="{BB962C8B-B14F-4D97-AF65-F5344CB8AC3E}">
        <p14:creationId xmlns:p14="http://schemas.microsoft.com/office/powerpoint/2010/main" val="14010927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D3DD-E443-65BD-05CD-739F3A1790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918DA6-D9C7-03E8-8DE3-FD680421EFE1}"/>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A4640E10-954A-6273-41D9-F6202487F25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continue în C# - exemple</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namespace</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Loops</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Program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a:t>
            </a:r>
            <a:r>
              <a:rPr lang="ro-RO" sz="2000" b="1" i="0" noProof="0" dirty="0" err="1">
                <a:solidFill>
                  <a:srgbClr val="CC99CD"/>
                </a:solidFill>
                <a:effectLst/>
                <a:latin typeface="Courier New" panose="02070309020205020404" pitchFamily="49" charset="0"/>
              </a:rPr>
              <a:t>string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args</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noProof="0" dirty="0">
                <a:solidFill>
                  <a:srgbClr val="999999"/>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10</a:t>
            </a:r>
            <a:r>
              <a:rPr lang="ro-RO" sz="2000" b="1" i="0" noProof="0" dirty="0">
                <a:solidFill>
                  <a:srgbClr val="CCCCCC"/>
                </a:solidFill>
                <a:effectLst/>
                <a:latin typeface="Courier New" panose="02070309020205020404" pitchFamily="49" charset="0"/>
              </a:rPr>
              <a:t>; </a:t>
            </a:r>
            <a:endParaRPr lang="ro-RO" sz="2000" b="1" i="0" noProof="0" dirty="0">
              <a:solidFill>
                <a:srgbClr val="999999"/>
              </a:solidFill>
              <a:effectLst/>
              <a:latin typeface="Courier New" panose="02070309020205020404" pitchFamily="49" charset="0"/>
            </a:endParaRPr>
          </a:p>
          <a:p>
            <a:pPr marL="34290" indent="0" algn="just">
              <a:buNone/>
            </a:pPr>
            <a:r>
              <a:rPr lang="ro-RO" sz="2000" b="1" noProof="0" dirty="0">
                <a:solidFill>
                  <a:srgbClr val="999999"/>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do</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if</a:t>
            </a:r>
            <a:r>
              <a:rPr lang="ro-RO" sz="2000" b="1" i="0" noProof="0" dirty="0">
                <a:solidFill>
                  <a:srgbClr val="CCCCCC"/>
                </a:solidFill>
                <a:effectLst/>
                <a:latin typeface="Courier New" panose="02070309020205020404" pitchFamily="49" charset="0"/>
              </a:rPr>
              <a:t> (a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15</a:t>
            </a:r>
            <a:r>
              <a:rPr lang="ro-RO" sz="2000" b="1" i="0" noProof="0" dirty="0">
                <a:solidFill>
                  <a:srgbClr val="CCCCCC"/>
                </a:solidFill>
                <a:effectLst/>
                <a:latin typeface="Courier New" panose="02070309020205020404" pitchFamily="49" charset="0"/>
              </a:rPr>
              <a:t>) { </a:t>
            </a:r>
          </a:p>
          <a:p>
            <a:pPr marL="34290" indent="0" algn="just">
              <a:buNone/>
            </a:pPr>
            <a:r>
              <a:rPr lang="ro-RO" sz="2000" b="1" i="0" noProof="0" dirty="0">
                <a:solidFill>
                  <a:srgbClr val="CCCCCC"/>
                </a:solidFill>
                <a:effectLst/>
                <a:latin typeface="Courier New" panose="02070309020205020404" pitchFamily="49" charset="0"/>
              </a:rPr>
              <a:t>        a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continue</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err="1">
                <a:solidFill>
                  <a:srgbClr val="7EC699"/>
                </a:solidFill>
                <a:effectLst/>
                <a:latin typeface="Courier New" panose="02070309020205020404" pitchFamily="49" charset="0"/>
              </a:rPr>
              <a:t>value</a:t>
            </a:r>
            <a:r>
              <a:rPr lang="ro-RO" sz="2000" b="1" i="0" noProof="0" dirty="0">
                <a:solidFill>
                  <a:srgbClr val="7EC699"/>
                </a:solidFill>
                <a:effectLst/>
                <a:latin typeface="Courier New" panose="02070309020205020404" pitchFamily="49" charset="0"/>
              </a:rPr>
              <a:t> of a: {0}"</a:t>
            </a:r>
            <a:r>
              <a:rPr lang="ro-RO" sz="2000" b="1" i="0" noProof="0" dirty="0">
                <a:solidFill>
                  <a:srgbClr val="CCCCCC"/>
                </a:solidFill>
                <a:effectLst/>
                <a:latin typeface="Courier New" panose="02070309020205020404" pitchFamily="49" charset="0"/>
              </a:rPr>
              <a:t>, a);</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while</a:t>
            </a:r>
            <a:r>
              <a:rPr lang="ro-RO" sz="2000" b="1" i="0" noProof="0" dirty="0">
                <a:solidFill>
                  <a:srgbClr val="CCCCCC"/>
                </a:solidFill>
                <a:effectLst/>
                <a:latin typeface="Courier New" panose="02070309020205020404" pitchFamily="49" charset="0"/>
              </a:rPr>
              <a:t> (a </a:t>
            </a:r>
            <a:r>
              <a:rPr lang="ro-RO" sz="2000" b="1" i="0" noProof="0" dirty="0">
                <a:solidFill>
                  <a:srgbClr val="67CDCC"/>
                </a:solidFill>
                <a:effectLst/>
                <a:latin typeface="Courier New" panose="02070309020205020404" pitchFamily="49" charset="0"/>
              </a:rPr>
              <a:t>&lt;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20</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CCCC"/>
                </a:solidFill>
                <a:effectLst/>
                <a:latin typeface="Courier New" panose="02070309020205020404" pitchFamily="49" charset="0"/>
              </a:rPr>
              <a:t>} </a:t>
            </a:r>
            <a:endParaRPr lang="ro-RO" sz="2000" b="1" noProof="0" dirty="0">
              <a:solidFill>
                <a:srgbClr val="00B0F0"/>
              </a:solidFill>
            </a:endParaRPr>
          </a:p>
        </p:txBody>
      </p:sp>
    </p:spTree>
    <p:extLst>
      <p:ext uri="{BB962C8B-B14F-4D97-AF65-F5344CB8AC3E}">
        <p14:creationId xmlns:p14="http://schemas.microsoft.com/office/powerpoint/2010/main" val="28923449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17EA0-56B4-D50A-2B14-8C632C68C65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89F02C-C969-9584-3C6B-12F5C87BE54F}"/>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A5E6F0B8-CDD5-9237-E2F4-06A86DA19D0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continue în C# - exemple</a:t>
            </a:r>
          </a:p>
          <a:p>
            <a:pPr marL="34290" indent="0" algn="just">
              <a:buNone/>
            </a:pPr>
            <a:r>
              <a:rPr lang="ro-RO" sz="2200" b="1" i="0" noProof="0" dirty="0" err="1">
                <a:solidFill>
                  <a:srgbClr val="CC99CD"/>
                </a:solidFill>
                <a:effectLst/>
                <a:latin typeface="Courier New" panose="02070309020205020404" pitchFamily="49" charset="0"/>
              </a:rPr>
              <a:t>using</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System</a:t>
            </a:r>
            <a:r>
              <a:rPr lang="ro-RO" sz="2200" b="1" i="0" noProof="0" dirty="0">
                <a:solidFill>
                  <a:srgbClr val="CCCCCC"/>
                </a:solidFill>
                <a:effectLst/>
                <a:latin typeface="Courier New" panose="02070309020205020404" pitchFamily="49" charset="0"/>
              </a:rPr>
              <a:t>; </a:t>
            </a:r>
          </a:p>
          <a:p>
            <a:pPr marL="34290" indent="0" algn="just">
              <a:buNone/>
            </a:pPr>
            <a:r>
              <a:rPr lang="ro-RO" sz="2200" b="1" i="0" noProof="0" dirty="0" err="1">
                <a:solidFill>
                  <a:srgbClr val="CC99CD"/>
                </a:solidFill>
                <a:effectLst/>
                <a:latin typeface="Courier New" panose="02070309020205020404" pitchFamily="49" charset="0"/>
              </a:rPr>
              <a:t>class</a:t>
            </a: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ContinueExample</a:t>
            </a:r>
            <a:r>
              <a:rPr lang="ro-RO" sz="2200" b="1" i="0" noProof="0" dirty="0">
                <a:solidFill>
                  <a:srgbClr val="CCCCCC"/>
                </a:solidFill>
                <a:effectLst/>
                <a:latin typeface="Courier New" panose="02070309020205020404" pitchFamily="49" charset="0"/>
              </a:rPr>
              <a:t> {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static</a:t>
            </a:r>
            <a:r>
              <a:rPr lang="ro-RO" sz="2200" b="1" i="0" noProof="0" dirty="0">
                <a:solidFill>
                  <a:srgbClr val="CCCCCC"/>
                </a:solidFill>
                <a:effectLst/>
                <a:latin typeface="Courier New" panose="02070309020205020404" pitchFamily="49" charset="0"/>
              </a:rPr>
              <a:t> </a:t>
            </a:r>
            <a:r>
              <a:rPr lang="ro-RO" sz="2200" b="1" i="0" noProof="0" dirty="0" err="1">
                <a:solidFill>
                  <a:srgbClr val="CC99CD"/>
                </a:solidFill>
                <a:effectLst/>
                <a:latin typeface="Courier New" panose="02070309020205020404" pitchFamily="49" charset="0"/>
              </a:rPr>
              <a:t>void</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Main</a:t>
            </a:r>
            <a:r>
              <a:rPr lang="ro-RO" sz="2200" b="1" i="0" noProof="0" dirty="0">
                <a:solidFill>
                  <a:srgbClr val="CCCCCC"/>
                </a:solidFill>
                <a:effectLst/>
                <a:latin typeface="Courier New" panose="02070309020205020404" pitchFamily="49" charset="0"/>
              </a:rPr>
              <a:t>() {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for</a:t>
            </a:r>
            <a:r>
              <a:rPr lang="ro-RO" sz="2200" b="1" i="0" noProof="0" dirty="0">
                <a:solidFill>
                  <a:srgbClr val="CCCCCC"/>
                </a:solidFill>
                <a:effectLst/>
                <a:latin typeface="Courier New" panose="02070309020205020404" pitchFamily="49" charset="0"/>
              </a:rPr>
              <a:t> (</a:t>
            </a:r>
            <a:r>
              <a:rPr lang="ro-RO" sz="2200" b="1" i="0" noProof="0" dirty="0" err="1">
                <a:solidFill>
                  <a:srgbClr val="CC99CD"/>
                </a:solidFill>
                <a:effectLst/>
                <a:latin typeface="Courier New" panose="02070309020205020404" pitchFamily="49" charset="0"/>
              </a:rPr>
              <a:t>int</a:t>
            </a:r>
            <a:r>
              <a:rPr lang="ro-RO" sz="2200" b="1" i="0" noProof="0" dirty="0">
                <a:solidFill>
                  <a:srgbClr val="CCCCCC"/>
                </a:solidFill>
                <a:effectLst/>
                <a:latin typeface="Courier New" panose="02070309020205020404" pitchFamily="49" charset="0"/>
              </a:rPr>
              <a:t> i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1</a:t>
            </a:r>
            <a:r>
              <a:rPr lang="ro-RO" sz="2200" b="1" i="0" noProof="0" dirty="0">
                <a:solidFill>
                  <a:srgbClr val="CCCCCC"/>
                </a:solidFill>
                <a:effectLst/>
                <a:latin typeface="Courier New" panose="02070309020205020404" pitchFamily="49" charset="0"/>
              </a:rPr>
              <a:t>; i </a:t>
            </a:r>
            <a:r>
              <a:rPr lang="ro-RO" sz="2200" b="1" i="0" noProof="0" dirty="0">
                <a:solidFill>
                  <a:srgbClr val="67CDCC"/>
                </a:solidFill>
                <a:effectLst/>
                <a:latin typeface="Courier New" panose="02070309020205020404" pitchFamily="49" charset="0"/>
              </a:rPr>
              <a:t>&lt;=</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10</a:t>
            </a:r>
            <a:r>
              <a:rPr lang="ro-RO" sz="2200" b="1" i="0" noProof="0" dirty="0">
                <a:solidFill>
                  <a:srgbClr val="CCCCCC"/>
                </a:solidFill>
                <a:effectLst/>
                <a:latin typeface="Courier New" panose="02070309020205020404" pitchFamily="49" charset="0"/>
              </a:rPr>
              <a:t>; i</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 </a:t>
            </a:r>
          </a:p>
          <a:p>
            <a:pPr marL="34290" indent="0" algn="just">
              <a:buNone/>
            </a:pPr>
            <a:r>
              <a:rPr lang="ro-RO" sz="2200" b="1" i="0" noProof="0" dirty="0">
                <a:solidFill>
                  <a:srgbClr val="CC99CD"/>
                </a:solidFill>
                <a:effectLst/>
                <a:latin typeface="Courier New" panose="02070309020205020404" pitchFamily="49" charset="0"/>
              </a:rPr>
              <a:t>      </a:t>
            </a:r>
            <a:r>
              <a:rPr lang="ro-RO" sz="2200" b="1" i="0" noProof="0" dirty="0" err="1">
                <a:solidFill>
                  <a:srgbClr val="CC99CD"/>
                </a:solidFill>
                <a:effectLst/>
                <a:latin typeface="Courier New" panose="02070309020205020404" pitchFamily="49" charset="0"/>
              </a:rPr>
              <a:t>if</a:t>
            </a:r>
            <a:r>
              <a:rPr lang="ro-RO" sz="2200" b="1" i="0" noProof="0" dirty="0">
                <a:solidFill>
                  <a:srgbClr val="CCCCCC"/>
                </a:solidFill>
                <a:effectLst/>
                <a:latin typeface="Courier New" panose="02070309020205020404" pitchFamily="49" charset="0"/>
              </a:rPr>
              <a:t> (i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2</a:t>
            </a:r>
            <a:r>
              <a:rPr lang="ro-RO" sz="2200" b="1" i="0" noProof="0" dirty="0">
                <a:solidFill>
                  <a:srgbClr val="CCCCCC"/>
                </a:solidFill>
                <a:effectLst/>
                <a:latin typeface="Courier New" panose="02070309020205020404" pitchFamily="49" charset="0"/>
              </a:rPr>
              <a:t>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r>
              <a:rPr lang="ro-RO" sz="2200" b="1" i="0" noProof="0" dirty="0">
                <a:solidFill>
                  <a:srgbClr val="F08D49"/>
                </a:solidFill>
                <a:effectLst/>
                <a:latin typeface="Courier New" panose="02070309020205020404" pitchFamily="49" charset="0"/>
              </a:rPr>
              <a:t>0</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99CD"/>
                </a:solidFill>
                <a:effectLst/>
                <a:latin typeface="Courier New" panose="02070309020205020404" pitchFamily="49" charset="0"/>
              </a:rPr>
              <a:t>continue</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Console.</a:t>
            </a:r>
            <a:r>
              <a:rPr lang="ro-RO" sz="2200" b="1" i="0" noProof="0" dirty="0" err="1">
                <a:solidFill>
                  <a:srgbClr val="F08D49"/>
                </a:solidFill>
                <a:effectLst/>
                <a:latin typeface="Courier New" panose="02070309020205020404" pitchFamily="49" charset="0"/>
              </a:rPr>
              <a:t>WriteLine</a:t>
            </a:r>
            <a:r>
              <a:rPr lang="ro-RO" sz="2200" b="1" i="0" noProof="0" dirty="0">
                <a:solidFill>
                  <a:srgbClr val="CCCCCC"/>
                </a:solidFill>
                <a:effectLst/>
                <a:latin typeface="Courier New" panose="02070309020205020404" pitchFamily="49" charset="0"/>
              </a:rPr>
              <a:t>(</a:t>
            </a:r>
            <a:r>
              <a:rPr lang="ro-RO" sz="2200" b="1" i="0" noProof="0" dirty="0">
                <a:solidFill>
                  <a:srgbClr val="7EC699"/>
                </a:solidFill>
                <a:effectLst/>
                <a:latin typeface="Courier New" panose="02070309020205020404" pitchFamily="49" charset="0"/>
              </a:rPr>
              <a:t>"</a:t>
            </a:r>
            <a:r>
              <a:rPr lang="ro-RO" sz="2200" b="1" i="0" noProof="0" dirty="0" err="1">
                <a:solidFill>
                  <a:srgbClr val="7EC699"/>
                </a:solidFill>
                <a:effectLst/>
                <a:latin typeface="Courier New" panose="02070309020205020404" pitchFamily="49" charset="0"/>
              </a:rPr>
              <a:t>Odd</a:t>
            </a:r>
            <a:r>
              <a:rPr lang="ro-RO" sz="2200" b="1" i="0" noProof="0" dirty="0">
                <a:solidFill>
                  <a:srgbClr val="7EC699"/>
                </a:solidFill>
                <a:effectLst/>
                <a:latin typeface="Courier New" panose="02070309020205020404" pitchFamily="49" charset="0"/>
              </a:rPr>
              <a:t> </a:t>
            </a:r>
            <a:r>
              <a:rPr lang="ro-RO" sz="2200" b="1" i="0" noProof="0" dirty="0" err="1">
                <a:solidFill>
                  <a:srgbClr val="7EC699"/>
                </a:solidFill>
                <a:effectLst/>
                <a:latin typeface="Courier New" panose="02070309020205020404" pitchFamily="49" charset="0"/>
              </a:rPr>
              <a:t>number</a:t>
            </a:r>
            <a:r>
              <a:rPr lang="ro-RO" sz="2200" b="1" i="0" noProof="0" dirty="0">
                <a:solidFill>
                  <a:srgbClr val="7EC699"/>
                </a:solidFill>
                <a:effectLst/>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r>
              <a:rPr lang="ro-RO" sz="2200" b="1" i="0" noProof="0" dirty="0">
                <a:solidFill>
                  <a:srgbClr val="67CDCC"/>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i); </a:t>
            </a:r>
          </a:p>
          <a:p>
            <a:pPr marL="34290" indent="0" algn="just">
              <a:buNone/>
            </a:pPr>
            <a:r>
              <a:rPr lang="ro-RO" sz="2200" b="1" i="0" noProof="0" dirty="0">
                <a:solidFill>
                  <a:srgbClr val="CCCCCC"/>
                </a:solidFill>
                <a:effectLst/>
                <a:latin typeface="Courier New" panose="02070309020205020404" pitchFamily="49" charset="0"/>
              </a:rPr>
              <a:t>    } </a:t>
            </a:r>
          </a:p>
          <a:p>
            <a:pPr marL="34290" indent="0" algn="just">
              <a:buNone/>
            </a:pPr>
            <a:r>
              <a:rPr lang="ro-RO" sz="2200" b="1" i="0" noProof="0" dirty="0">
                <a:solidFill>
                  <a:srgbClr val="CCCCCC"/>
                </a:solidFill>
                <a:effectLst/>
                <a:latin typeface="Courier New" panose="02070309020205020404" pitchFamily="49" charset="0"/>
              </a:rPr>
              <a:t>    </a:t>
            </a:r>
            <a:r>
              <a:rPr lang="ro-RO" sz="2200" b="1" i="0" noProof="0" dirty="0" err="1">
                <a:solidFill>
                  <a:srgbClr val="CCCCCC"/>
                </a:solidFill>
                <a:effectLst/>
                <a:latin typeface="Courier New" panose="02070309020205020404" pitchFamily="49" charset="0"/>
              </a:rPr>
              <a:t>Console.</a:t>
            </a:r>
            <a:r>
              <a:rPr lang="ro-RO" sz="2200" b="1" i="0" noProof="0" dirty="0" err="1">
                <a:solidFill>
                  <a:srgbClr val="F08D49"/>
                </a:solidFill>
                <a:effectLst/>
                <a:latin typeface="Courier New" panose="02070309020205020404" pitchFamily="49" charset="0"/>
              </a:rPr>
              <a:t>WriteLine</a:t>
            </a:r>
            <a:r>
              <a:rPr lang="ro-RO" sz="2200" b="1" i="0" noProof="0" dirty="0">
                <a:solidFill>
                  <a:srgbClr val="CCCCCC"/>
                </a:solidFill>
                <a:effectLst/>
                <a:latin typeface="Courier New" panose="02070309020205020404" pitchFamily="49" charset="0"/>
              </a:rPr>
              <a:t>(</a:t>
            </a:r>
            <a:r>
              <a:rPr lang="ro-RO" sz="2200" b="1" i="0" noProof="0" dirty="0">
                <a:solidFill>
                  <a:srgbClr val="7EC699"/>
                </a:solidFill>
                <a:effectLst/>
                <a:latin typeface="Courier New" panose="02070309020205020404" pitchFamily="49" charset="0"/>
              </a:rPr>
              <a:t>"</a:t>
            </a:r>
            <a:r>
              <a:rPr lang="ro-RO" sz="2200" b="1" i="0" noProof="0" dirty="0" err="1">
                <a:solidFill>
                  <a:srgbClr val="7EC699"/>
                </a:solidFill>
                <a:effectLst/>
                <a:latin typeface="Courier New" panose="02070309020205020404" pitchFamily="49" charset="0"/>
              </a:rPr>
              <a:t>Loop</a:t>
            </a:r>
            <a:r>
              <a:rPr lang="ro-RO" sz="2200" b="1" i="0" noProof="0" dirty="0">
                <a:solidFill>
                  <a:srgbClr val="7EC699"/>
                </a:solidFill>
                <a:effectLst/>
                <a:latin typeface="Courier New" panose="02070309020205020404" pitchFamily="49" charset="0"/>
              </a:rPr>
              <a:t> </a:t>
            </a:r>
            <a:r>
              <a:rPr lang="ro-RO" sz="2200" b="1" i="0" noProof="0" dirty="0" err="1">
                <a:solidFill>
                  <a:srgbClr val="7EC699"/>
                </a:solidFill>
                <a:effectLst/>
                <a:latin typeface="Courier New" panose="02070309020205020404" pitchFamily="49" charset="0"/>
              </a:rPr>
              <a:t>completed</a:t>
            </a:r>
            <a:r>
              <a:rPr lang="ro-RO" sz="2200" b="1" i="0" noProof="0" dirty="0">
                <a:solidFill>
                  <a:srgbClr val="7EC699"/>
                </a:solidFill>
                <a:effectLst/>
                <a:latin typeface="Courier New" panose="02070309020205020404" pitchFamily="49" charset="0"/>
              </a:rPr>
              <a:t>."</a:t>
            </a:r>
            <a:r>
              <a:rPr lang="ro-RO" sz="2200" b="1" i="0" noProof="0" dirty="0">
                <a:solidFill>
                  <a:srgbClr val="CCCCCC"/>
                </a:solidFill>
                <a:effectLst/>
                <a:latin typeface="Courier New" panose="02070309020205020404" pitchFamily="49" charset="0"/>
              </a:rPr>
              <a:t>); </a:t>
            </a:r>
          </a:p>
          <a:p>
            <a:pPr marL="34290" indent="0" algn="just">
              <a:buNone/>
            </a:pPr>
            <a:r>
              <a:rPr lang="ro-RO" sz="2200" b="1" noProof="0" dirty="0">
                <a:solidFill>
                  <a:srgbClr val="CCCCCC"/>
                </a:solidFill>
                <a:latin typeface="Courier New" panose="02070309020205020404" pitchFamily="49" charset="0"/>
              </a:rPr>
              <a:t>  </a:t>
            </a:r>
            <a:r>
              <a:rPr lang="ro-RO" sz="2200" b="1" i="0" noProof="0" dirty="0">
                <a:solidFill>
                  <a:srgbClr val="CCCCCC"/>
                </a:solidFill>
                <a:effectLst/>
                <a:latin typeface="Courier New" panose="02070309020205020404" pitchFamily="49" charset="0"/>
              </a:rPr>
              <a:t>} </a:t>
            </a:r>
          </a:p>
          <a:p>
            <a:pPr marL="34290" indent="0" algn="just">
              <a:buNone/>
            </a:pPr>
            <a:r>
              <a:rPr lang="ro-RO" sz="2200" b="1" i="0" noProof="0" dirty="0">
                <a:solidFill>
                  <a:srgbClr val="CCCCCC"/>
                </a:solidFill>
                <a:effectLst/>
                <a:latin typeface="Courier New" panose="02070309020205020404" pitchFamily="49" charset="0"/>
              </a:rPr>
              <a:t>}</a:t>
            </a:r>
            <a:endParaRPr lang="ro-RO" sz="2200" b="1" noProof="0" dirty="0">
              <a:solidFill>
                <a:srgbClr val="00B0F0"/>
              </a:solidFill>
            </a:endParaRPr>
          </a:p>
        </p:txBody>
      </p:sp>
    </p:spTree>
    <p:extLst>
      <p:ext uri="{BB962C8B-B14F-4D97-AF65-F5344CB8AC3E}">
        <p14:creationId xmlns:p14="http://schemas.microsoft.com/office/powerpoint/2010/main" val="8530743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0DCDE-9561-6223-D25A-C337F2EDBE6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3FEF8E-7EC7-CB07-770A-B2638CA73104}"/>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4E6A689B-9858-059B-B650-09560F69303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a:t>
            </a:r>
          </a:p>
          <a:p>
            <a:pPr marL="34290" indent="0" algn="just">
              <a:buNone/>
            </a:pPr>
            <a:r>
              <a:rPr lang="ro-RO" sz="2800" noProof="0" dirty="0">
                <a:solidFill>
                  <a:srgbClr val="00B0F0"/>
                </a:solidFill>
              </a:rPr>
              <a:t>C# oferă instrucțiunea </a:t>
            </a:r>
            <a:r>
              <a:rPr lang="ro-RO" sz="2800" noProof="0" dirty="0" err="1">
                <a:solidFill>
                  <a:srgbClr val="00B0F0"/>
                </a:solidFill>
              </a:rPr>
              <a:t>foreach</a:t>
            </a:r>
            <a:r>
              <a:rPr lang="ro-RO" sz="2800" noProof="0" dirty="0">
                <a:solidFill>
                  <a:srgbClr val="00B0F0"/>
                </a:solidFill>
              </a:rPr>
              <a:t> pentru a parcurge cu ușurință toate elementele dintr-o colecție, cum ar fi un </a:t>
            </a:r>
            <a:r>
              <a:rPr lang="ro-RO" sz="2800" noProof="0" dirty="0" err="1">
                <a:solidFill>
                  <a:srgbClr val="00B0F0"/>
                </a:solidFill>
              </a:rPr>
              <a:t>array</a:t>
            </a:r>
            <a:r>
              <a:rPr lang="ro-RO" sz="2800" noProof="0" dirty="0">
                <a:solidFill>
                  <a:srgbClr val="00B0F0"/>
                </a:solidFill>
              </a:rPr>
              <a:t> sau o listă. Ne ajută să citim fiecare element unul câte unul, fără a utiliza contoare sau indexuri. Instrucțiunea </a:t>
            </a:r>
            <a:r>
              <a:rPr lang="ro-RO" sz="2800" noProof="0" dirty="0" err="1">
                <a:solidFill>
                  <a:srgbClr val="00B0F0"/>
                </a:solidFill>
              </a:rPr>
              <a:t>foreach</a:t>
            </a:r>
            <a:r>
              <a:rPr lang="ro-RO" sz="2800" noProof="0" dirty="0">
                <a:solidFill>
                  <a:srgbClr val="00B0F0"/>
                </a:solidFill>
              </a:rPr>
              <a:t> se mută automat de la un element la următorul până când toate elementele au fost procesate.</a:t>
            </a:r>
          </a:p>
        </p:txBody>
      </p:sp>
    </p:spTree>
    <p:extLst>
      <p:ext uri="{BB962C8B-B14F-4D97-AF65-F5344CB8AC3E}">
        <p14:creationId xmlns:p14="http://schemas.microsoft.com/office/powerpoint/2010/main" val="32453344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CE86D-CC34-D0D2-65AD-DD27E1267F7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66846F-EBE8-7D68-0EB6-F8EA5FBE270B}"/>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6430BC45-2697-8A6E-41F6-444CCAEC40C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diagrama</a:t>
            </a:r>
          </a:p>
          <a:p>
            <a:pPr marL="34290" indent="0" algn="just">
              <a:buNone/>
            </a:pPr>
            <a:endParaRPr lang="ro-RO" sz="2800" noProof="0" dirty="0">
              <a:solidFill>
                <a:srgbClr val="00B0F0"/>
              </a:solidFill>
            </a:endParaRPr>
          </a:p>
        </p:txBody>
      </p:sp>
      <p:pic>
        <p:nvPicPr>
          <p:cNvPr id="3" name="Picture 2">
            <a:extLst>
              <a:ext uri="{FF2B5EF4-FFF2-40B4-BE49-F238E27FC236}">
                <a16:creationId xmlns:a16="http://schemas.microsoft.com/office/drawing/2014/main" id="{013172F8-EFED-FD7F-C16D-E141E3FE09FA}"/>
              </a:ext>
            </a:extLst>
          </p:cNvPr>
          <p:cNvPicPr>
            <a:picLocks noChangeAspect="1"/>
          </p:cNvPicPr>
          <p:nvPr/>
        </p:nvPicPr>
        <p:blipFill>
          <a:blip r:embed="rId2"/>
          <a:stretch>
            <a:fillRect/>
          </a:stretch>
        </p:blipFill>
        <p:spPr>
          <a:xfrm>
            <a:off x="2547725" y="1956202"/>
            <a:ext cx="4048549" cy="4498388"/>
          </a:xfrm>
          <a:prstGeom prst="rect">
            <a:avLst/>
          </a:prstGeom>
        </p:spPr>
      </p:pic>
    </p:spTree>
    <p:extLst>
      <p:ext uri="{BB962C8B-B14F-4D97-AF65-F5344CB8AC3E}">
        <p14:creationId xmlns:p14="http://schemas.microsoft.com/office/powerpoint/2010/main" val="16557838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08102-4474-F26B-DC9E-3701E02C00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D625D8-A22D-51F5-8E0F-B323E334DC45}"/>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B61AB904-AD9A-5C4E-2AD8-B1CF8820434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sintaxa</a:t>
            </a:r>
          </a:p>
          <a:p>
            <a:pPr marL="34290" indent="0">
              <a:buNone/>
            </a:pPr>
            <a:r>
              <a:rPr lang="ro-RO" sz="2400" b="1" i="0" noProof="0" dirty="0" err="1">
                <a:solidFill>
                  <a:srgbClr val="CC99CD"/>
                </a:solidFill>
                <a:effectLst/>
                <a:latin typeface="Courier New" panose="02070309020205020404" pitchFamily="49" charset="0"/>
              </a:rPr>
              <a:t>foreach</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dataType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variableName</a:t>
            </a:r>
            <a:r>
              <a:rPr lang="ro-RO" sz="2400" b="1" i="0" noProof="0" dirty="0">
                <a:solidFill>
                  <a:srgbClr val="CCCCCC"/>
                </a:solidFill>
                <a:effectLst/>
                <a:latin typeface="Courier New" panose="02070309020205020404" pitchFamily="49" charset="0"/>
              </a:rPr>
              <a:t> </a:t>
            </a:r>
            <a:r>
              <a:rPr lang="ro-RO" sz="2400" b="1" i="0" noProof="0" dirty="0">
                <a:solidFill>
                  <a:srgbClr val="CC99CD"/>
                </a:solidFill>
                <a:effectLst/>
                <a:latin typeface="Courier New" panose="02070309020205020404" pitchFamily="49" charset="0"/>
              </a:rPr>
              <a:t>in</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collection_name</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999999"/>
                </a:solidFill>
                <a:effectLst/>
                <a:latin typeface="Courier New" panose="02070309020205020404" pitchFamily="49" charset="0"/>
              </a:rPr>
              <a:t>// body </a:t>
            </a:r>
            <a:r>
              <a:rPr lang="ro-RO" sz="2400" b="1" i="0" noProof="0" dirty="0" err="1">
                <a:solidFill>
                  <a:srgbClr val="999999"/>
                </a:solidFill>
                <a:effectLst/>
                <a:latin typeface="Courier New" panose="02070309020205020404" pitchFamily="49" charset="0"/>
              </a:rPr>
              <a:t>statements</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to</a:t>
            </a:r>
            <a:r>
              <a:rPr lang="ro-RO" sz="2400" b="1" i="0" noProof="0" dirty="0">
                <a:solidFill>
                  <a:srgbClr val="999999"/>
                </a:solidFill>
                <a:effectLst/>
                <a:latin typeface="Courier New" panose="02070309020205020404" pitchFamily="49" charset="0"/>
              </a:rPr>
              <a:t> execute</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CCCC"/>
                </a:solidFill>
                <a:effectLst/>
                <a:latin typeface="Courier New" panose="02070309020205020404" pitchFamily="49" charset="0"/>
              </a:rPr>
              <a:t>}</a:t>
            </a:r>
          </a:p>
          <a:p>
            <a:r>
              <a:rPr lang="ro-RO" sz="2800" noProof="0" dirty="0">
                <a:solidFill>
                  <a:srgbClr val="00B0F0"/>
                </a:solidFill>
              </a:rPr>
              <a:t> </a:t>
            </a:r>
            <a:r>
              <a:rPr lang="ro-RO" sz="2800" noProof="0" dirty="0" err="1">
                <a:solidFill>
                  <a:srgbClr val="00B0F0"/>
                </a:solidFill>
              </a:rPr>
              <a:t>dataType</a:t>
            </a:r>
            <a:r>
              <a:rPr lang="ro-RO" sz="2800" noProof="0" dirty="0">
                <a:solidFill>
                  <a:srgbClr val="00B0F0"/>
                </a:solidFill>
              </a:rPr>
              <a:t> - tipul elementelor din colecție, </a:t>
            </a:r>
          </a:p>
          <a:p>
            <a:r>
              <a:rPr lang="ro-RO" sz="2800" noProof="0" dirty="0">
                <a:solidFill>
                  <a:srgbClr val="00B0F0"/>
                </a:solidFill>
              </a:rPr>
              <a:t> </a:t>
            </a:r>
            <a:r>
              <a:rPr lang="ro-RO" sz="2800" noProof="0" dirty="0" err="1">
                <a:solidFill>
                  <a:srgbClr val="00B0F0"/>
                </a:solidFill>
              </a:rPr>
              <a:t>variableName</a:t>
            </a:r>
            <a:r>
              <a:rPr lang="ro-RO" sz="2800" noProof="0" dirty="0">
                <a:solidFill>
                  <a:srgbClr val="00B0F0"/>
                </a:solidFill>
              </a:rPr>
              <a:t> - variabilă temporară pentru elementul curent.</a:t>
            </a:r>
          </a:p>
          <a:p>
            <a:r>
              <a:rPr lang="ro-RO" sz="2800" noProof="0" dirty="0">
                <a:solidFill>
                  <a:srgbClr val="00B0F0"/>
                </a:solidFill>
              </a:rPr>
              <a:t> in - cuvântul cheie care conectează variabila la colecție.</a:t>
            </a:r>
          </a:p>
        </p:txBody>
      </p:sp>
    </p:spTree>
    <p:extLst>
      <p:ext uri="{BB962C8B-B14F-4D97-AF65-F5344CB8AC3E}">
        <p14:creationId xmlns:p14="http://schemas.microsoft.com/office/powerpoint/2010/main" val="41938528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B944F-CD5B-E5CE-04EF-95285AF758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D38AC3-AB1F-18BF-9D7F-654421C9FC8B}"/>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2C65722F-FA54-B86F-2890-CEC6080A847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sintaxa</a:t>
            </a:r>
          </a:p>
          <a:p>
            <a:pPr marL="34290" indent="0">
              <a:buNone/>
            </a:pPr>
            <a:r>
              <a:rPr lang="ro-RO" sz="2400" b="1" i="0" noProof="0" dirty="0" err="1">
                <a:solidFill>
                  <a:srgbClr val="CC99CD"/>
                </a:solidFill>
                <a:effectLst/>
                <a:latin typeface="Courier New" panose="02070309020205020404" pitchFamily="49" charset="0"/>
              </a:rPr>
              <a:t>foreach</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dataType</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variableName</a:t>
            </a:r>
            <a:r>
              <a:rPr lang="ro-RO" sz="2400" b="1" i="0" noProof="0" dirty="0">
                <a:solidFill>
                  <a:srgbClr val="CCCCCC"/>
                </a:solidFill>
                <a:effectLst/>
                <a:latin typeface="Courier New" panose="02070309020205020404" pitchFamily="49" charset="0"/>
              </a:rPr>
              <a:t> </a:t>
            </a:r>
            <a:r>
              <a:rPr lang="ro-RO" sz="2400" b="1" i="0" noProof="0" dirty="0">
                <a:solidFill>
                  <a:srgbClr val="CC99CD"/>
                </a:solidFill>
                <a:effectLst/>
                <a:latin typeface="Courier New" panose="02070309020205020404" pitchFamily="49" charset="0"/>
              </a:rPr>
              <a:t>in</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collection_name</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999999"/>
                </a:solidFill>
                <a:effectLst/>
                <a:latin typeface="Courier New" panose="02070309020205020404" pitchFamily="49" charset="0"/>
              </a:rPr>
              <a:t>// body </a:t>
            </a:r>
            <a:r>
              <a:rPr lang="ro-RO" sz="2400" b="1" i="0" noProof="0" dirty="0" err="1">
                <a:solidFill>
                  <a:srgbClr val="999999"/>
                </a:solidFill>
                <a:effectLst/>
                <a:latin typeface="Courier New" panose="02070309020205020404" pitchFamily="49" charset="0"/>
              </a:rPr>
              <a:t>statements</a:t>
            </a:r>
            <a:r>
              <a:rPr lang="ro-RO" sz="2400" b="1" i="0" noProof="0" dirty="0">
                <a:solidFill>
                  <a:srgbClr val="999999"/>
                </a:solidFill>
                <a:effectLst/>
                <a:latin typeface="Courier New" panose="02070309020205020404" pitchFamily="49" charset="0"/>
              </a:rPr>
              <a:t> </a:t>
            </a:r>
            <a:r>
              <a:rPr lang="ro-RO" sz="2400" b="1" i="0" noProof="0" dirty="0" err="1">
                <a:solidFill>
                  <a:srgbClr val="999999"/>
                </a:solidFill>
                <a:effectLst/>
                <a:latin typeface="Courier New" panose="02070309020205020404" pitchFamily="49" charset="0"/>
              </a:rPr>
              <a:t>to</a:t>
            </a:r>
            <a:r>
              <a:rPr lang="ro-RO" sz="2400" b="1" i="0" noProof="0" dirty="0">
                <a:solidFill>
                  <a:srgbClr val="999999"/>
                </a:solidFill>
                <a:effectLst/>
                <a:latin typeface="Courier New" panose="02070309020205020404" pitchFamily="49" charset="0"/>
              </a:rPr>
              <a:t> execute</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CCCC"/>
                </a:solidFill>
                <a:effectLst/>
                <a:latin typeface="Courier New" panose="02070309020205020404" pitchFamily="49" charset="0"/>
              </a:rPr>
              <a:t>}</a:t>
            </a:r>
          </a:p>
          <a:p>
            <a:r>
              <a:rPr lang="ro-RO" sz="2800" noProof="0" dirty="0" err="1">
                <a:solidFill>
                  <a:srgbClr val="00B0F0"/>
                </a:solidFill>
              </a:rPr>
              <a:t>collection</a:t>
            </a:r>
            <a:r>
              <a:rPr lang="ro-RO" sz="2800" noProof="0" dirty="0">
                <a:solidFill>
                  <a:srgbClr val="00B0F0"/>
                </a:solidFill>
              </a:rPr>
              <a:t> este matricea, lista sau colecția prin care se parcurge iterarea.</a:t>
            </a:r>
          </a:p>
          <a:p>
            <a:pPr algn="just"/>
            <a:r>
              <a:rPr lang="ro-RO" sz="2800" noProof="0" dirty="0">
                <a:solidFill>
                  <a:srgbClr val="00B0F0"/>
                </a:solidFill>
              </a:rPr>
              <a:t> body - codul din interiorul `{}` care rulează pentru fiecare element.</a:t>
            </a:r>
          </a:p>
        </p:txBody>
      </p:sp>
    </p:spTree>
    <p:extLst>
      <p:ext uri="{BB962C8B-B14F-4D97-AF65-F5344CB8AC3E}">
        <p14:creationId xmlns:p14="http://schemas.microsoft.com/office/powerpoint/2010/main" val="41000858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12C10-1A11-5DEA-2B46-E45C9AD0E0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E2F0162-1DB8-062A-68BC-9DC04716CE8E}"/>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1C68AC5C-7EF7-F240-926E-B812DF88606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exemple</a:t>
            </a:r>
          </a:p>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 </a:t>
            </a:r>
          </a:p>
          <a:p>
            <a:pPr marL="34290" indent="0">
              <a:buNone/>
            </a:pPr>
            <a:r>
              <a:rPr lang="ro-RO" sz="2400" b="1" noProof="0" dirty="0">
                <a:solidFill>
                  <a:srgbClr val="CCCCCC"/>
                </a:solidFill>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numbers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r>
              <a:rPr lang="ro-RO" sz="2400" b="1" i="0" noProof="0" dirty="0">
                <a:solidFill>
                  <a:srgbClr val="F08D49"/>
                </a:solidFill>
                <a:effectLst/>
                <a:latin typeface="Courier New" panose="02070309020205020404" pitchFamily="49" charset="0"/>
              </a:rPr>
              <a:t>10</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20</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30</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40</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50</a:t>
            </a:r>
            <a:r>
              <a:rPr lang="ro-RO" sz="2400" b="1" i="0" noProof="0" dirty="0">
                <a:solidFill>
                  <a:srgbClr val="CCCCCC"/>
                </a:solidFill>
                <a:effectLst/>
                <a:latin typeface="Courier New" panose="02070309020205020404" pitchFamily="49" charset="0"/>
              </a:rPr>
              <a:t> };</a:t>
            </a:r>
          </a:p>
          <a:p>
            <a:pPr marL="34290" indent="0">
              <a:buNone/>
            </a:pP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foreach</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int</a:t>
            </a:r>
            <a:r>
              <a:rPr lang="ro-RO" sz="2400" b="1" i="0" noProof="0" dirty="0">
                <a:solidFill>
                  <a:srgbClr val="CCCCCC"/>
                </a:solidFill>
                <a:effectLst/>
                <a:latin typeface="Courier New" panose="02070309020205020404" pitchFamily="49" charset="0"/>
              </a:rPr>
              <a:t> num </a:t>
            </a:r>
            <a:r>
              <a:rPr lang="ro-RO" sz="2400" b="1" i="0" noProof="0" dirty="0">
                <a:solidFill>
                  <a:srgbClr val="CC99CD"/>
                </a:solidFill>
                <a:effectLst/>
                <a:latin typeface="Courier New" panose="02070309020205020404" pitchFamily="49" charset="0"/>
              </a:rPr>
              <a:t>in</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numbers</a:t>
            </a:r>
            <a:r>
              <a:rPr lang="ro-RO" sz="2400" b="1" i="0" noProof="0" dirty="0">
                <a:solidFill>
                  <a:srgbClr val="CCCCCC"/>
                </a:solidFill>
                <a:effectLst/>
                <a:latin typeface="Courier New" panose="02070309020205020404" pitchFamily="49" charset="0"/>
              </a:rPr>
              <a:t>){</a:t>
            </a:r>
          </a:p>
          <a:p>
            <a:pPr marL="34290" indent="0">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a:solidFill>
                  <a:srgbClr val="7EC699"/>
                </a:solidFill>
                <a:effectLst/>
                <a:latin typeface="Courier New" panose="02070309020205020404" pitchFamily="49" charset="0"/>
              </a:rPr>
              <a:t>$"</a:t>
            </a:r>
            <a:r>
              <a:rPr lang="ro-RO" sz="2400" b="1" i="0" noProof="0" dirty="0" err="1">
                <a:solidFill>
                  <a:srgbClr val="7EC699"/>
                </a:solidFill>
                <a:effectLst/>
                <a:latin typeface="Courier New" panose="02070309020205020404" pitchFamily="49" charset="0"/>
              </a:rPr>
              <a:t>Number</a:t>
            </a:r>
            <a:r>
              <a:rPr lang="ro-RO" sz="2400" b="1" i="0" noProof="0" dirty="0">
                <a:solidFill>
                  <a:srgbClr val="7EC699"/>
                </a:solidFill>
                <a:effectLst/>
                <a:latin typeface="Courier New" panose="02070309020205020404" pitchFamily="49" charset="0"/>
              </a:rPr>
              <a:t>: </a:t>
            </a:r>
            <a:r>
              <a:rPr lang="ro-RO" sz="2400" b="1" i="0" noProof="0" dirty="0">
                <a:solidFill>
                  <a:srgbClr val="CCCCCC"/>
                </a:solidFill>
                <a:effectLst/>
                <a:latin typeface="Courier New" panose="02070309020205020404" pitchFamily="49" charset="0"/>
              </a:rPr>
              <a:t>{num}</a:t>
            </a:r>
            <a:r>
              <a:rPr lang="ro-RO" sz="2400" b="1" i="0" noProof="0" dirty="0">
                <a:solidFill>
                  <a:srgbClr val="7EC699"/>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p>
          <a:p>
            <a:pPr marL="34290" indent="0">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38444682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63F37-1511-AD77-579B-C01F5711CA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44663E-5CB4-8CAE-E104-4DBA3D2E11E6}"/>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C942106D-13FD-18D7-E417-E09AB20AE08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exemple</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Program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matrix</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new</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new</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1</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2</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new</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3</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4</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new</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5</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6</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foreach</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row</a:t>
            </a:r>
            <a:r>
              <a:rPr lang="ro-RO" sz="2000" b="1" i="0" noProof="0" dirty="0">
                <a:solidFill>
                  <a:srgbClr val="CCCCCC"/>
                </a:solidFill>
                <a:effectLst/>
                <a:latin typeface="Courier New" panose="02070309020205020404" pitchFamily="49" charset="0"/>
              </a:rPr>
              <a:t> </a:t>
            </a:r>
            <a:r>
              <a:rPr lang="ro-RO" sz="2000" b="1" i="0" noProof="0" dirty="0">
                <a:solidFill>
                  <a:srgbClr val="CC99CD"/>
                </a:solidFill>
                <a:effectLst/>
                <a:latin typeface="Courier New" panose="02070309020205020404" pitchFamily="49" charset="0"/>
              </a:rPr>
              <a:t>in</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matrix</a:t>
            </a: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foreach</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item </a:t>
            </a:r>
            <a:r>
              <a:rPr lang="ro-RO" sz="2000" b="1" i="0" noProof="0" dirty="0">
                <a:solidFill>
                  <a:srgbClr val="CC99CD"/>
                </a:solidFill>
                <a:effectLst/>
                <a:latin typeface="Courier New" panose="02070309020205020404" pitchFamily="49" charset="0"/>
              </a:rPr>
              <a:t>in</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row</a:t>
            </a: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a:t>
            </a:r>
            <a:r>
              <a:rPr lang="ro-RO" sz="2000" b="1" i="0" noProof="0" dirty="0">
                <a:solidFill>
                  <a:srgbClr val="CCCCCC"/>
                </a:solidFill>
                <a:effectLst/>
                <a:latin typeface="Courier New" panose="02070309020205020404" pitchFamily="49" charset="0"/>
              </a:rPr>
              <a:t>(item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a:solidFill>
                  <a:srgbClr val="7EC699"/>
                </a:solidFill>
                <a:effectLst/>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p>
          <a:p>
            <a:pPr marL="34290" indent="0">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 </a:t>
            </a:r>
          </a:p>
          <a:p>
            <a:pPr marL="34290" indent="0">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 </a:t>
            </a:r>
          </a:p>
          <a:p>
            <a:pPr marL="34290" indent="0">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p>
          <a:p>
            <a:pPr marL="34290" indent="0">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p>
          <a:p>
            <a:pPr marL="34290" indent="0">
              <a:buNone/>
            </a:pPr>
            <a:r>
              <a:rPr lang="ro-RO" sz="2000" b="1" i="0" noProof="0" dirty="0">
                <a:solidFill>
                  <a:srgbClr val="CCCCCC"/>
                </a:solidFill>
                <a:effectLst/>
                <a:latin typeface="Courier New" panose="02070309020205020404" pitchFamily="49" charset="0"/>
              </a:rPr>
              <a:t>}  </a:t>
            </a:r>
            <a:endParaRPr lang="ro-RO" sz="2000" b="1" noProof="0" dirty="0">
              <a:solidFill>
                <a:srgbClr val="00B0F0"/>
              </a:solidFill>
            </a:endParaRPr>
          </a:p>
        </p:txBody>
      </p:sp>
    </p:spTree>
    <p:extLst>
      <p:ext uri="{BB962C8B-B14F-4D97-AF65-F5344CB8AC3E}">
        <p14:creationId xmlns:p14="http://schemas.microsoft.com/office/powerpoint/2010/main" val="32699022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892DB-4D1F-BCE9-091E-1252EB71B8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44E9CC-2AB7-8FFA-981E-727C44EA574D}"/>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98EF69E2-9BB3-582A-77B5-47F5E006B8C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exemple </a:t>
            </a:r>
          </a:p>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using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System.Collections.Generic</a:t>
            </a:r>
            <a:r>
              <a:rPr lang="ro-RO" sz="2400" b="1" i="0" noProof="0" dirty="0">
                <a:solidFill>
                  <a:srgbClr val="CCCCCC"/>
                </a:solidFill>
                <a:effectLst/>
                <a:latin typeface="Courier New" panose="02070309020205020404" pitchFamily="49" charset="0"/>
              </a:rPr>
              <a:t>;</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Program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99CD"/>
                </a:solidFill>
                <a:effectLst/>
                <a:latin typeface="Courier New" panose="02070309020205020404" pitchFamily="49" charset="0"/>
              </a:rPr>
              <a:t>static</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void</a:t>
            </a:r>
            <a:r>
              <a:rPr lang="ro-RO" sz="2400" b="1" i="0" noProof="0" dirty="0">
                <a:solidFill>
                  <a:srgbClr val="CCCCCC"/>
                </a:solidFill>
                <a:effectLst/>
                <a:latin typeface="Courier New" panose="02070309020205020404" pitchFamily="49" charset="0"/>
              </a:rPr>
              <a:t> </a:t>
            </a:r>
            <a:r>
              <a:rPr lang="ro-RO" sz="2400" b="1" i="0" noProof="0" dirty="0">
                <a:solidFill>
                  <a:srgbClr val="F08D49"/>
                </a:solidFill>
                <a:effectLst/>
                <a:latin typeface="Courier New" panose="02070309020205020404" pitchFamily="49" charset="0"/>
              </a:rPr>
              <a:t>Main</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List</a:t>
            </a:r>
            <a:r>
              <a:rPr lang="ro-RO" sz="2400" b="1" i="0" noProof="0" dirty="0">
                <a:solidFill>
                  <a:srgbClr val="CCCCCC"/>
                </a:solidFill>
                <a:effectLst/>
                <a:latin typeface="Courier New" panose="02070309020205020404" pitchFamily="49" charset="0"/>
              </a:rPr>
              <a:t>&lt;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&gt; </a:t>
            </a:r>
            <a:r>
              <a:rPr lang="ro-RO" sz="2400" b="1" i="0" noProof="0" dirty="0" err="1">
                <a:solidFill>
                  <a:srgbClr val="CCCCCC"/>
                </a:solidFill>
                <a:effectLst/>
                <a:latin typeface="Courier New" panose="02070309020205020404" pitchFamily="49" charset="0"/>
              </a:rPr>
              <a:t>fruits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new</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List</a:t>
            </a:r>
            <a:r>
              <a:rPr lang="ro-RO" sz="2400" b="1" i="0" noProof="0" dirty="0">
                <a:solidFill>
                  <a:srgbClr val="CCCCCC"/>
                </a:solidFill>
                <a:effectLst/>
                <a:latin typeface="Courier New" panose="02070309020205020404" pitchFamily="49" charset="0"/>
              </a:rPr>
              <a:t>&lt;</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&gt;{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7EC699"/>
                </a:solidFill>
                <a:effectLst/>
                <a:latin typeface="Courier New" panose="02070309020205020404" pitchFamily="49" charset="0"/>
              </a:rPr>
              <a:t>"Apple"</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"Banana"</a:t>
            </a:r>
            <a:r>
              <a:rPr lang="ro-RO" sz="2400" b="1" i="0" noProof="0" dirty="0">
                <a:solidFill>
                  <a:srgbClr val="CCCCCC"/>
                </a:solidFill>
                <a:effectLst/>
                <a:latin typeface="Courier New" panose="02070309020205020404" pitchFamily="49" charset="0"/>
              </a:rPr>
              <a:t>, </a:t>
            </a:r>
            <a:r>
              <a:rPr lang="ro-RO" sz="2400" b="1" i="0" noProof="0" dirty="0">
                <a:solidFill>
                  <a:srgbClr val="7EC699"/>
                </a:solidFill>
                <a:effectLst/>
                <a:latin typeface="Courier New" panose="02070309020205020404" pitchFamily="49" charset="0"/>
              </a:rPr>
              <a:t>"Orange"</a:t>
            </a:r>
            <a:r>
              <a:rPr lang="ro-RO" sz="2400" b="1" i="0" noProof="0" dirty="0">
                <a:solidFill>
                  <a:srgbClr val="CCCCCC"/>
                </a:solidFill>
                <a:effectLst/>
                <a:latin typeface="Courier New" panose="02070309020205020404" pitchFamily="49" charset="0"/>
              </a:rPr>
              <a:t> };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foreach</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string</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fruit</a:t>
            </a:r>
            <a:r>
              <a:rPr lang="ro-RO" sz="2400" b="1" i="0" noProof="0" dirty="0">
                <a:solidFill>
                  <a:srgbClr val="CCCCCC"/>
                </a:solidFill>
                <a:effectLst/>
                <a:latin typeface="Courier New" panose="02070309020205020404" pitchFamily="49" charset="0"/>
              </a:rPr>
              <a:t> </a:t>
            </a:r>
            <a:r>
              <a:rPr lang="ro-RO" sz="2400" b="1" i="0" noProof="0" dirty="0">
                <a:solidFill>
                  <a:srgbClr val="CC99CD"/>
                </a:solidFill>
                <a:effectLst/>
                <a:latin typeface="Courier New" panose="02070309020205020404" pitchFamily="49" charset="0"/>
              </a:rPr>
              <a:t>in</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fruits</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r>
              <a:rPr lang="ro-RO" sz="2400" b="1" i="0" noProof="0" dirty="0" err="1">
                <a:solidFill>
                  <a:srgbClr val="CCCCCC"/>
                </a:solidFill>
                <a:effectLst/>
                <a:latin typeface="Courier New" panose="02070309020205020404" pitchFamily="49" charset="0"/>
              </a:rPr>
              <a:t>Console.</a:t>
            </a:r>
            <a:r>
              <a:rPr lang="ro-RO" sz="2400" b="1" i="0" noProof="0" dirty="0" err="1">
                <a:solidFill>
                  <a:srgbClr val="F08D49"/>
                </a:solidFill>
                <a:effectLst/>
                <a:latin typeface="Courier New" panose="02070309020205020404" pitchFamily="49" charset="0"/>
              </a:rPr>
              <a:t>WriteLine</a:t>
            </a:r>
            <a:r>
              <a:rPr lang="ro-RO" sz="2400" b="1" i="0" noProof="0" dirty="0">
                <a:solidFill>
                  <a:srgbClr val="CCCC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fruit</a:t>
            </a:r>
            <a:r>
              <a:rPr lang="ro-RO" sz="2400" b="1" i="0" noProof="0" dirty="0">
                <a:solidFill>
                  <a:srgbClr val="CCCCCC"/>
                </a:solidFill>
                <a:effectLst/>
                <a:latin typeface="Courier New" panose="02070309020205020404" pitchFamily="49" charset="0"/>
              </a:rPr>
              <a:t>); </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a:t>
            </a:r>
          </a:p>
          <a:p>
            <a:pPr marL="34290" indent="0" algn="just">
              <a:buNone/>
            </a:pPr>
            <a:r>
              <a:rPr lang="ro-RO" sz="2400" b="1" noProof="0" dirty="0">
                <a:solidFill>
                  <a:srgbClr val="CCCCCC"/>
                </a:solidFill>
                <a:latin typeface="Courier New" panose="02070309020205020404" pitchFamily="49" charset="0"/>
              </a:rPr>
              <a:t> </a:t>
            </a:r>
            <a:r>
              <a:rPr lang="ro-RO" sz="2400" b="1" i="0" noProof="0" dirty="0">
                <a:solidFill>
                  <a:srgbClr val="CCCCCC"/>
                </a:solidFill>
                <a:effectLst/>
                <a:latin typeface="Courier New" panose="02070309020205020404" pitchFamily="49" charset="0"/>
              </a:rPr>
              <a:t> }</a:t>
            </a:r>
          </a:p>
          <a:p>
            <a:pPr marL="34290" indent="0" algn="just">
              <a:buNone/>
            </a:pPr>
            <a:r>
              <a:rPr lang="ro-RO" sz="2400" b="1" i="0" noProof="0" dirty="0">
                <a:solidFill>
                  <a:srgbClr val="CCCCCC"/>
                </a:solidFill>
                <a:effectLst/>
                <a:latin typeface="Courier New" panose="02070309020205020404" pitchFamily="49" charset="0"/>
              </a:rPr>
              <a:t>}</a:t>
            </a:r>
            <a:endParaRPr lang="ro-RO" sz="2400" b="1" noProof="0" dirty="0">
              <a:solidFill>
                <a:srgbClr val="00B0F0"/>
              </a:solidFill>
            </a:endParaRPr>
          </a:p>
        </p:txBody>
      </p:sp>
    </p:spTree>
    <p:extLst>
      <p:ext uri="{BB962C8B-B14F-4D97-AF65-F5344CB8AC3E}">
        <p14:creationId xmlns:p14="http://schemas.microsoft.com/office/powerpoint/2010/main" val="1329572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5DDD4-3EDD-41CE-23A5-6CD5C46D46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69D77C-0D94-D801-A438-8B3C13F3FEE8}"/>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92E3A883-70B2-803E-764C-54D871F624C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exemple</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a:t>
            </a:r>
            <a:r>
              <a:rPr lang="ro-RO" sz="2000" b="1" i="0" noProof="0" dirty="0">
                <a:solidFill>
                  <a:srgbClr val="CCCCCC"/>
                </a:solidFill>
                <a:effectLst/>
                <a:latin typeface="Courier New" panose="02070309020205020404" pitchFamily="49" charset="0"/>
              </a:rPr>
              <a:t>;</a:t>
            </a:r>
          </a:p>
          <a:p>
            <a:pPr marL="34290" indent="0" algn="just">
              <a:buNone/>
            </a:pPr>
            <a:r>
              <a:rPr lang="ro-RO" sz="2000" b="1" i="0" noProof="0" dirty="0" err="1">
                <a:solidFill>
                  <a:srgbClr val="CC99CD"/>
                </a:solidFill>
                <a:effectLst/>
                <a:latin typeface="Courier New" panose="02070309020205020404" pitchFamily="49" charset="0"/>
              </a:rPr>
              <a:t>using</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System.Collections.Generic</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err="1">
                <a:solidFill>
                  <a:srgbClr val="CC99CD"/>
                </a:solidFill>
                <a:effectLst/>
                <a:latin typeface="Courier New" panose="02070309020205020404" pitchFamily="49" charset="0"/>
              </a:rPr>
              <a:t>class</a:t>
            </a:r>
            <a:r>
              <a:rPr lang="ro-RO" sz="2000" b="1" i="0" noProof="0" dirty="0">
                <a:solidFill>
                  <a:srgbClr val="CCCCCC"/>
                </a:solidFill>
                <a:effectLst/>
                <a:latin typeface="Courier New" panose="02070309020205020404" pitchFamily="49" charset="0"/>
              </a:rPr>
              <a:t> Program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99CD"/>
                </a:solidFill>
                <a:effectLst/>
                <a:latin typeface="Courier New" panose="02070309020205020404" pitchFamily="49" charset="0"/>
              </a:rPr>
              <a:t>static</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void</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Main</a:t>
            </a:r>
            <a:r>
              <a:rPr lang="ro-RO" sz="2000" b="1" i="0" noProof="0" dirty="0">
                <a:solidFill>
                  <a:srgbClr val="CCCCCC"/>
                </a:solidFill>
                <a:effectLst/>
                <a:latin typeface="Courier New" panose="02070309020205020404" pitchFamily="49" charset="0"/>
              </a:rPr>
              <a:t>(){ </a:t>
            </a:r>
          </a:p>
          <a:p>
            <a:pPr marL="34290" indent="0" algn="just">
              <a:buNone/>
            </a:pPr>
            <a:r>
              <a:rPr lang="ro-RO" sz="2000" b="1" i="0" noProof="0" dirty="0">
                <a:solidFill>
                  <a:srgbClr val="CCCCCC"/>
                </a:solidFill>
                <a:effectLst/>
                <a:latin typeface="Courier New" panose="02070309020205020404" pitchFamily="49" charset="0"/>
              </a:rPr>
              <a:t>    Dictionary&lt;</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string</a:t>
            </a:r>
            <a:r>
              <a:rPr lang="ro-RO" sz="2000" b="1" i="0" noProof="0" dirty="0">
                <a:solidFill>
                  <a:srgbClr val="CCCCCC"/>
                </a:solidFill>
                <a:effectLst/>
                <a:latin typeface="Courier New" panose="02070309020205020404" pitchFamily="49" charset="0"/>
              </a:rPr>
              <a:t>&gt; </a:t>
            </a:r>
            <a:r>
              <a:rPr lang="ro-RO" sz="2000" b="1" i="0" noProof="0" dirty="0" err="1">
                <a:solidFill>
                  <a:srgbClr val="CCCCCC"/>
                </a:solidFill>
                <a:effectLst/>
                <a:latin typeface="Courier New" panose="02070309020205020404" pitchFamily="49" charset="0"/>
              </a:rPr>
              <a:t>students</a:t>
            </a:r>
            <a:r>
              <a:rPr lang="ro-RO" sz="2000" b="1" i="0" noProof="0" dirty="0">
                <a:solidFill>
                  <a:srgbClr val="CCCCCC"/>
                </a:solidFill>
                <a:effectLst/>
                <a:latin typeface="Courier New" panose="02070309020205020404" pitchFamily="49" charset="0"/>
              </a:rPr>
              <a:t> </a:t>
            </a:r>
            <a:r>
              <a:rPr lang="ro-RO" sz="2000" b="1" i="0" noProof="0" dirty="0">
                <a:solidFill>
                  <a:srgbClr val="67CDCC"/>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new</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Dictionary&lt;</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string</a:t>
            </a:r>
            <a:r>
              <a:rPr lang="ro-RO" sz="2000" b="1" i="0" noProof="0" dirty="0">
                <a:solidFill>
                  <a:srgbClr val="CCCCCC"/>
                </a:solidFill>
                <a:effectLst/>
                <a:latin typeface="Courier New" panose="02070309020205020404" pitchFamily="49" charset="0"/>
              </a:rPr>
              <a:t>&gt;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r>
              <a:rPr lang="ro-RO" sz="2000" b="1" i="0" noProof="0" dirty="0">
                <a:solidFill>
                  <a:srgbClr val="F08D49"/>
                </a:solidFill>
                <a:effectLst/>
                <a:latin typeface="Courier New" panose="02070309020205020404" pitchFamily="49" charset="0"/>
              </a:rPr>
              <a:t>1</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"John"</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2</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"Sarah"</a:t>
            </a:r>
            <a:r>
              <a:rPr lang="ro-RO" sz="2000" b="1" i="0" noProof="0" dirty="0">
                <a:solidFill>
                  <a:srgbClr val="CCCCCC"/>
                </a:solidFill>
                <a:effectLst/>
                <a:latin typeface="Courier New" panose="02070309020205020404" pitchFamily="49" charset="0"/>
              </a:rPr>
              <a:t>}, {</a:t>
            </a:r>
            <a:r>
              <a:rPr lang="ro-RO" sz="2000" b="1" i="0" noProof="0" dirty="0">
                <a:solidFill>
                  <a:srgbClr val="F08D49"/>
                </a:solidFill>
                <a:effectLst/>
                <a:latin typeface="Courier New" panose="02070309020205020404" pitchFamily="49" charset="0"/>
              </a:rPr>
              <a:t>3</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"Mike"</a:t>
            </a:r>
            <a:r>
              <a:rPr lang="ro-RO" sz="2000" b="1" i="0" noProof="0" dirty="0">
                <a:solidFill>
                  <a:srgbClr val="CCCCCC"/>
                </a:solidFill>
                <a:effectLst/>
                <a:latin typeface="Courier New" panose="02070309020205020404" pitchFamily="49" charset="0"/>
              </a:rPr>
              <a:t>} };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99CD"/>
                </a:solidFill>
                <a:effectLst/>
                <a:latin typeface="Courier New" panose="02070309020205020404" pitchFamily="49" charset="0"/>
              </a:rPr>
              <a:t>foreach</a:t>
            </a:r>
            <a:r>
              <a:rPr lang="ro-RO" sz="2000" b="1" i="0" noProof="0" dirty="0">
                <a:solidFill>
                  <a:srgbClr val="CCCCCC"/>
                </a:solidFill>
                <a:effectLst/>
                <a:latin typeface="Courier New" panose="02070309020205020404" pitchFamily="49" charset="0"/>
              </a:rPr>
              <a:t> (</a:t>
            </a:r>
            <a:r>
              <a:rPr lang="ro-RO" sz="2000" b="1" i="0" noProof="0" dirty="0" err="1">
                <a:solidFill>
                  <a:srgbClr val="CCCCCC"/>
                </a:solidFill>
                <a:effectLst/>
                <a:latin typeface="Courier New" panose="02070309020205020404" pitchFamily="49" charset="0"/>
              </a:rPr>
              <a:t>KeyValuePair</a:t>
            </a:r>
            <a:r>
              <a:rPr lang="ro-RO" sz="2000" b="1" i="0" noProof="0" dirty="0">
                <a:solidFill>
                  <a:srgbClr val="CCCCCC"/>
                </a:solidFill>
                <a:effectLst/>
                <a:latin typeface="Courier New" panose="02070309020205020404" pitchFamily="49" charset="0"/>
              </a:rPr>
              <a:t>&lt;</a:t>
            </a:r>
            <a:r>
              <a:rPr lang="ro-RO" sz="2000" b="1" i="0" noProof="0" dirty="0" err="1">
                <a:solidFill>
                  <a:srgbClr val="CC99CD"/>
                </a:solidFill>
                <a:effectLst/>
                <a:latin typeface="Courier New" panose="02070309020205020404" pitchFamily="49" charset="0"/>
              </a:rPr>
              <a:t>int</a:t>
            </a:r>
            <a:r>
              <a:rPr lang="ro-RO" sz="2000" b="1" i="0" noProof="0" dirty="0">
                <a:solidFill>
                  <a:srgbClr val="CCCCCC"/>
                </a:solidFill>
                <a:effectLst/>
                <a:latin typeface="Courier New" panose="02070309020205020404" pitchFamily="49" charset="0"/>
              </a:rPr>
              <a:t>, </a:t>
            </a:r>
            <a:r>
              <a:rPr lang="ro-RO" sz="2000" b="1" i="0" noProof="0" dirty="0" err="1">
                <a:solidFill>
                  <a:srgbClr val="CC99CD"/>
                </a:solidFill>
                <a:effectLst/>
                <a:latin typeface="Courier New" panose="02070309020205020404" pitchFamily="49" charset="0"/>
              </a:rPr>
              <a:t>string</a:t>
            </a:r>
            <a:r>
              <a:rPr lang="ro-RO" sz="2000" b="1" i="0" noProof="0" dirty="0">
                <a:solidFill>
                  <a:srgbClr val="CCCCCC"/>
                </a:solidFill>
                <a:effectLst/>
                <a:latin typeface="Courier New" panose="02070309020205020404" pitchFamily="49" charset="0"/>
              </a:rPr>
              <a:t>&gt; student </a:t>
            </a:r>
            <a:r>
              <a:rPr lang="ro-RO" sz="2000" b="1" i="0" noProof="0" dirty="0">
                <a:solidFill>
                  <a:srgbClr val="CC99CD"/>
                </a:solidFill>
                <a:effectLst/>
                <a:latin typeface="Courier New" panose="02070309020205020404" pitchFamily="49" charset="0"/>
              </a:rPr>
              <a:t>in</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students</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err="1">
                <a:solidFill>
                  <a:srgbClr val="CCCCCC"/>
                </a:solidFill>
                <a:effectLst/>
                <a:latin typeface="Courier New" panose="02070309020205020404" pitchFamily="49" charset="0"/>
              </a:rPr>
              <a:t>Console.</a:t>
            </a:r>
            <a:r>
              <a:rPr lang="ro-RO" sz="2000" b="1" i="0" noProof="0" dirty="0" err="1">
                <a:solidFill>
                  <a:srgbClr val="F08D49"/>
                </a:solidFill>
                <a:effectLst/>
                <a:latin typeface="Courier New" panose="02070309020205020404" pitchFamily="49" charset="0"/>
              </a:rPr>
              <a:t>WriteLine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$"ID: </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student.Key</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 </a:t>
            </a:r>
            <a:r>
              <a:rPr lang="ro-RO" sz="2000" b="1" i="0" noProof="0" dirty="0" err="1">
                <a:solidFill>
                  <a:srgbClr val="7EC699"/>
                </a:solidFill>
                <a:effectLst/>
                <a:latin typeface="Courier New" panose="02070309020205020404" pitchFamily="49" charset="0"/>
              </a:rPr>
              <a:t>Name</a:t>
            </a:r>
            <a:r>
              <a:rPr lang="ro-RO" sz="2000" b="1" i="0" noProof="0" dirty="0">
                <a:solidFill>
                  <a:srgbClr val="7EC699"/>
                </a:solidFill>
                <a:effectLst/>
                <a:latin typeface="Courier New" panose="02070309020205020404" pitchFamily="49" charset="0"/>
              </a:rPr>
              <a:t>: </a:t>
            </a:r>
          </a:p>
          <a:p>
            <a:pPr marL="34290" indent="0" algn="just">
              <a:buNone/>
            </a:pPr>
            <a:r>
              <a:rPr lang="ro-RO" sz="2000" b="1" noProof="0" dirty="0">
                <a:solidFill>
                  <a:srgbClr val="7EC699"/>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r>
              <a:rPr lang="ro-RO" sz="2000" b="1" i="0" noProof="0" dirty="0" err="1">
                <a:solidFill>
                  <a:srgbClr val="CCCCCC"/>
                </a:solidFill>
                <a:effectLst/>
                <a:latin typeface="Courier New" panose="02070309020205020404" pitchFamily="49" charset="0"/>
              </a:rPr>
              <a:t>student.Value</a:t>
            </a:r>
            <a:r>
              <a:rPr lang="ro-RO" sz="2000" b="1" i="0" noProof="0" dirty="0">
                <a:solidFill>
                  <a:srgbClr val="CCCCCC"/>
                </a:solidFill>
                <a:effectLst/>
                <a:latin typeface="Courier New" panose="02070309020205020404" pitchFamily="49" charset="0"/>
              </a:rPr>
              <a:t>}</a:t>
            </a:r>
            <a:r>
              <a:rPr lang="ro-RO" sz="2000" b="1" i="0" noProof="0" dirty="0">
                <a:solidFill>
                  <a:srgbClr val="7EC699"/>
                </a:solidFill>
                <a:effectLst/>
                <a:latin typeface="Courier New" panose="02070309020205020404" pitchFamily="49" charset="0"/>
              </a:rPr>
              <a:t>"</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 </a:t>
            </a:r>
          </a:p>
          <a:p>
            <a:pPr marL="34290" indent="0" algn="just">
              <a:buNone/>
            </a:pPr>
            <a:r>
              <a:rPr lang="ro-RO" sz="2000" b="1" noProof="0" dirty="0">
                <a:solidFill>
                  <a:srgbClr val="CCCCCC"/>
                </a:solidFill>
                <a:latin typeface="Courier New" panose="02070309020205020404" pitchFamily="49" charset="0"/>
              </a:rPr>
              <a:t>  </a:t>
            </a:r>
            <a:r>
              <a:rPr lang="ro-RO" sz="2000" b="1" i="0" noProof="0" dirty="0">
                <a:solidFill>
                  <a:srgbClr val="CCCCCC"/>
                </a:solidFill>
                <a:effectLst/>
                <a:latin typeface="Courier New" panose="02070309020205020404" pitchFamily="49" charset="0"/>
              </a:rPr>
              <a:t>}</a:t>
            </a:r>
          </a:p>
          <a:p>
            <a:pPr marL="34290" indent="0" algn="just">
              <a:buNone/>
            </a:pPr>
            <a:r>
              <a:rPr lang="ro-RO" sz="2000" b="1" i="0" noProof="0" dirty="0">
                <a:solidFill>
                  <a:srgbClr val="CCCCCC"/>
                </a:solidFill>
                <a:effectLst/>
                <a:latin typeface="Courier New" panose="02070309020205020404" pitchFamily="49" charset="0"/>
              </a:rPr>
              <a:t>}</a:t>
            </a:r>
            <a:endParaRPr lang="ro-RO" sz="2000" b="1" noProof="0" dirty="0">
              <a:solidFill>
                <a:srgbClr val="00B0F0"/>
              </a:solidFill>
            </a:endParaRPr>
          </a:p>
        </p:txBody>
      </p:sp>
    </p:spTree>
    <p:extLst>
      <p:ext uri="{BB962C8B-B14F-4D97-AF65-F5344CB8AC3E}">
        <p14:creationId xmlns:p14="http://schemas.microsoft.com/office/powerpoint/2010/main" val="37886335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DDEF-146E-3F5E-8507-C831EDCFCF8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393FC3-62F9-77C5-7B57-C5AC2DEC9A93}"/>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E3732F9B-C52C-4432-971B-08CBE4A9BAD5}"/>
              </a:ext>
            </a:extLst>
          </p:cNvPr>
          <p:cNvSpPr>
            <a:spLocks noGrp="1"/>
          </p:cNvSpPr>
          <p:nvPr>
            <p:ph idx="1"/>
          </p:nvPr>
        </p:nvSpPr>
        <p:spPr>
          <a:xfrm>
            <a:off x="463925" y="1281952"/>
            <a:ext cx="8249770" cy="5074024"/>
          </a:xfrm>
        </p:spPr>
        <p:txBody>
          <a:bodyPr>
            <a:noAutofit/>
          </a:bodyPr>
          <a:lstStyle/>
          <a:p>
            <a:pPr marL="34290" indent="0">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limitări și erori</a:t>
            </a:r>
          </a:p>
          <a:p>
            <a:pPr marL="34290" indent="0">
              <a:buNone/>
            </a:pPr>
            <a:r>
              <a:rPr lang="ro-RO" sz="2800" noProof="0" dirty="0">
                <a:solidFill>
                  <a:srgbClr val="00B0F0"/>
                </a:solidFill>
              </a:rPr>
              <a:t>Variabila de iterare a buclei este </a:t>
            </a:r>
            <a:r>
              <a:rPr lang="ro-RO" sz="2800" noProof="0" dirty="0" err="1">
                <a:solidFill>
                  <a:srgbClr val="00B0F0"/>
                </a:solidFill>
              </a:rPr>
              <a:t>read-only</a:t>
            </a:r>
            <a:r>
              <a:rPr lang="ro-RO" sz="2800" noProof="0" dirty="0">
                <a:solidFill>
                  <a:srgbClr val="00B0F0"/>
                </a:solidFill>
              </a:rPr>
              <a:t>.</a:t>
            </a:r>
          </a:p>
          <a:p>
            <a:pPr marL="34290" indent="0">
              <a:buNone/>
            </a:pP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numbers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 </a:t>
            </a:r>
            <a:r>
              <a:rPr lang="en-US" sz="2400" b="1" i="0" dirty="0">
                <a:solidFill>
                  <a:srgbClr val="F08D49"/>
                </a:solidFill>
                <a:effectLst/>
                <a:latin typeface="Courier New" panose="02070309020205020404" pitchFamily="49" charset="0"/>
              </a:rPr>
              <a:t>1</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2</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3</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4</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5</a:t>
            </a:r>
            <a:r>
              <a:rPr lang="en-US" sz="2400" b="1" i="0" dirty="0">
                <a:solidFill>
                  <a:srgbClr val="CCCCCC"/>
                </a:solidFill>
                <a:effectLst/>
                <a:latin typeface="Courier New" panose="02070309020205020404" pitchFamily="49" charset="0"/>
              </a:rPr>
              <a:t> }; </a:t>
            </a:r>
            <a:endParaRPr lang="ro-RO" sz="2400" b="1" i="0" dirty="0">
              <a:solidFill>
                <a:srgbClr val="CCCCCC"/>
              </a:solidFill>
              <a:effectLst/>
              <a:latin typeface="Courier New" panose="02070309020205020404" pitchFamily="49" charset="0"/>
            </a:endParaRPr>
          </a:p>
          <a:p>
            <a:pPr marL="34290" indent="0">
              <a:buNone/>
            </a:pPr>
            <a:r>
              <a:rPr lang="en-US" sz="2400" b="1" i="0" dirty="0">
                <a:solidFill>
                  <a:srgbClr val="CC99CD"/>
                </a:solidFill>
                <a:effectLst/>
                <a:latin typeface="Courier New" panose="02070309020205020404" pitchFamily="49" charset="0"/>
              </a:rPr>
              <a:t>foreach</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num </a:t>
            </a:r>
            <a:r>
              <a:rPr lang="en-US" sz="2400" b="1" i="0" dirty="0">
                <a:solidFill>
                  <a:srgbClr val="CC99CD"/>
                </a:solidFill>
                <a:effectLst/>
                <a:latin typeface="Courier New" panose="02070309020205020404" pitchFamily="49" charset="0"/>
              </a:rPr>
              <a:t>in</a:t>
            </a:r>
            <a:r>
              <a:rPr lang="en-US" sz="2400" b="1" i="0" dirty="0">
                <a:solidFill>
                  <a:srgbClr val="CCCCCC"/>
                </a:solidFill>
                <a:effectLst/>
                <a:latin typeface="Courier New" panose="02070309020205020404" pitchFamily="49" charset="0"/>
              </a:rPr>
              <a:t> numbers){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CCCC"/>
                </a:solidFill>
                <a:effectLst/>
                <a:latin typeface="Courier New" panose="02070309020205020404" pitchFamily="49" charset="0"/>
              </a:rPr>
              <a:t>num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num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2</a:t>
            </a:r>
            <a:r>
              <a:rPr lang="en-US" sz="2400" b="1" i="0" dirty="0">
                <a:solidFill>
                  <a:srgbClr val="CCCCCC"/>
                </a:solidFill>
                <a:effectLst/>
                <a:latin typeface="Courier New" panose="02070309020205020404" pitchFamily="49" charset="0"/>
              </a:rPr>
              <a:t>; </a:t>
            </a:r>
            <a:r>
              <a:rPr lang="en-US" sz="2400" b="1" i="0" dirty="0">
                <a:solidFill>
                  <a:srgbClr val="999999"/>
                </a:solidFill>
                <a:effectLst/>
                <a:latin typeface="Courier New" panose="02070309020205020404" pitchFamily="49" charset="0"/>
              </a:rPr>
              <a:t>// Error: cannot reassign </a:t>
            </a:r>
            <a:r>
              <a:rPr lang="ro-RO" sz="2400" b="1" i="0" dirty="0">
                <a:solidFill>
                  <a:srgbClr val="999999"/>
                </a:solidFill>
                <a:effectLst/>
                <a:latin typeface="Courier New" panose="02070309020205020404" pitchFamily="49" charset="0"/>
              </a:rPr>
              <a:t> </a:t>
            </a:r>
          </a:p>
          <a:p>
            <a:pPr marL="34290" indent="0">
              <a:buNone/>
            </a:pPr>
            <a:r>
              <a:rPr lang="ro-RO" sz="2400" b="1" dirty="0">
                <a:solidFill>
                  <a:srgbClr val="999999"/>
                </a:solidFill>
                <a:latin typeface="Courier New" panose="02070309020205020404" pitchFamily="49" charset="0"/>
              </a:rPr>
              <a:t>  </a:t>
            </a:r>
            <a:r>
              <a:rPr lang="en-US" sz="2400" b="1" i="0" dirty="0">
                <a:solidFill>
                  <a:srgbClr val="999999"/>
                </a:solidFill>
                <a:effectLst/>
                <a:latin typeface="Courier New" panose="02070309020205020404" pitchFamily="49" charset="0"/>
              </a:rPr>
              <a:t>loop variable</a:t>
            </a:r>
            <a:r>
              <a:rPr lang="en-US" sz="2400" b="1" i="0" dirty="0">
                <a:solidFill>
                  <a:srgbClr val="CCCCCC"/>
                </a:solidFill>
                <a:effectLst/>
                <a:latin typeface="Courier New" panose="02070309020205020404" pitchFamily="49" charset="0"/>
              </a:rPr>
              <a:t>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(num); </a:t>
            </a:r>
            <a:r>
              <a:rPr lang="en-US" sz="2400" b="1" i="0" dirty="0">
                <a:solidFill>
                  <a:srgbClr val="999999"/>
                </a:solidFill>
                <a:effectLst/>
                <a:latin typeface="Courier New" panose="02070309020205020404" pitchFamily="49" charset="0"/>
              </a:rPr>
              <a:t>// Allowed: </a:t>
            </a:r>
            <a:endParaRPr lang="ro-RO" sz="2400" b="1" i="0" dirty="0">
              <a:solidFill>
                <a:srgbClr val="999999"/>
              </a:solidFill>
              <a:effectLst/>
              <a:latin typeface="Courier New" panose="02070309020205020404" pitchFamily="49" charset="0"/>
            </a:endParaRPr>
          </a:p>
          <a:p>
            <a:pPr marL="34290" indent="0">
              <a:buNone/>
            </a:pPr>
            <a:r>
              <a:rPr lang="ro-RO" sz="2400" b="1" dirty="0">
                <a:solidFill>
                  <a:srgbClr val="999999"/>
                </a:solidFill>
                <a:latin typeface="Courier New" panose="02070309020205020404" pitchFamily="49" charset="0"/>
              </a:rPr>
              <a:t>  </a:t>
            </a:r>
            <a:r>
              <a:rPr lang="en-US" sz="2400" b="1" i="0" dirty="0">
                <a:solidFill>
                  <a:srgbClr val="999999"/>
                </a:solidFill>
                <a:effectLst/>
                <a:latin typeface="Courier New" panose="02070309020205020404" pitchFamily="49" charset="0"/>
              </a:rPr>
              <a:t>reading value</a:t>
            </a:r>
            <a:r>
              <a:rPr lang="en-US" sz="2400" b="1" i="0" dirty="0">
                <a:solidFill>
                  <a:srgbClr val="CCCCCC"/>
                </a:solidFill>
                <a:effectLst/>
                <a:latin typeface="Courier New" panose="02070309020205020404" pitchFamily="49" charset="0"/>
              </a:rPr>
              <a:t> </a:t>
            </a:r>
            <a:endParaRPr lang="ro-RO" sz="2400" b="1" i="0" dirty="0">
              <a:solidFill>
                <a:srgbClr val="CCCCCC"/>
              </a:solidFill>
              <a:effectLst/>
              <a:latin typeface="Courier New" panose="02070309020205020404" pitchFamily="49" charset="0"/>
            </a:endParaRPr>
          </a:p>
          <a:p>
            <a:pPr marL="34290" indent="0">
              <a:buNone/>
            </a:pPr>
            <a:r>
              <a:rPr lang="en-US" sz="2400" b="1" i="0" dirty="0">
                <a:solidFill>
                  <a:srgbClr val="CCCCCC"/>
                </a:solidFill>
                <a:effectLst/>
                <a:latin typeface="Courier New" panose="02070309020205020404" pitchFamily="49" charset="0"/>
              </a:rPr>
              <a:t>}</a:t>
            </a:r>
            <a:endParaRPr lang="en-US" sz="2400" b="1" noProof="0" dirty="0">
              <a:solidFill>
                <a:srgbClr val="00B0F0"/>
              </a:solidFill>
            </a:endParaRPr>
          </a:p>
          <a:p>
            <a:pPr marL="34290" indent="0" algn="just">
              <a:buNone/>
            </a:pPr>
            <a:r>
              <a:rPr lang="en-US" sz="2800" dirty="0">
                <a:solidFill>
                  <a:srgbClr val="00B0F0"/>
                </a:solidFill>
              </a:rPr>
              <a:t>Compilation error (line 11, col 13): Cannot assign to 'num' because it is a 'foreach iteration variable'</a:t>
            </a:r>
          </a:p>
        </p:txBody>
      </p:sp>
    </p:spTree>
    <p:extLst>
      <p:ext uri="{BB962C8B-B14F-4D97-AF65-F5344CB8AC3E}">
        <p14:creationId xmlns:p14="http://schemas.microsoft.com/office/powerpoint/2010/main" val="33346841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9C198-CFCA-40AD-D6CF-574F3BBD86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CAC8587-9E7C-E0EC-8675-7B50C0BD4286}"/>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19E5AACF-5382-E024-3213-0337049C6338}"/>
              </a:ext>
            </a:extLst>
          </p:cNvPr>
          <p:cNvSpPr>
            <a:spLocks noGrp="1"/>
          </p:cNvSpPr>
          <p:nvPr>
            <p:ph idx="1"/>
          </p:nvPr>
        </p:nvSpPr>
        <p:spPr>
          <a:xfrm>
            <a:off x="463925" y="1281952"/>
            <a:ext cx="8249770" cy="5074024"/>
          </a:xfrm>
        </p:spPr>
        <p:txBody>
          <a:bodyPr>
            <a:noAutofit/>
          </a:bodyPr>
          <a:lstStyle/>
          <a:p>
            <a:pPr marL="34290" indent="0">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limitări și erori</a:t>
            </a:r>
          </a:p>
          <a:p>
            <a:pPr marL="34290" indent="0">
              <a:buNone/>
            </a:pPr>
            <a:r>
              <a:rPr lang="ro-RO" sz="2800" dirty="0">
                <a:solidFill>
                  <a:srgbClr val="00B0F0"/>
                </a:solidFill>
              </a:rPr>
              <a:t>O</a:t>
            </a:r>
            <a:r>
              <a:rPr lang="ro-RO" sz="2800" noProof="0" dirty="0">
                <a:solidFill>
                  <a:srgbClr val="00B0F0"/>
                </a:solidFill>
              </a:rPr>
              <a:t> colecție nu poate fi modificată in timpul parcurgerii </a:t>
            </a:r>
            <a:r>
              <a:rPr lang="ro-RO" sz="2800" noProof="0" dirty="0" err="1">
                <a:solidFill>
                  <a:srgbClr val="00B0F0"/>
                </a:solidFill>
              </a:rPr>
              <a:t>foreach</a:t>
            </a:r>
            <a:endParaRPr lang="ro-RO" sz="2800" noProof="0" dirty="0">
              <a:solidFill>
                <a:srgbClr val="00B0F0"/>
              </a:solidFill>
            </a:endParaRPr>
          </a:p>
          <a:p>
            <a:pPr marL="34290" indent="0">
              <a:buNone/>
            </a:pPr>
            <a:endParaRPr lang="ro-RO" sz="2200" b="1" i="0" dirty="0">
              <a:solidFill>
                <a:srgbClr val="CCCCCC"/>
              </a:solidFill>
              <a:effectLst/>
              <a:latin typeface="Courier New" panose="02070309020205020404" pitchFamily="49" charset="0"/>
            </a:endParaRPr>
          </a:p>
          <a:p>
            <a:pPr marL="34290" indent="0">
              <a:buNone/>
            </a:pPr>
            <a:r>
              <a:rPr lang="en-US" sz="2200" b="1" i="0" dirty="0">
                <a:solidFill>
                  <a:srgbClr val="CCCCCC"/>
                </a:solidFill>
                <a:effectLst/>
                <a:latin typeface="Courier New" panose="02070309020205020404" pitchFamily="49" charset="0"/>
              </a:rPr>
              <a:t>List&lt;</a:t>
            </a:r>
            <a:r>
              <a:rPr lang="en-US" sz="2200" b="1" i="0" dirty="0">
                <a:solidFill>
                  <a:srgbClr val="CC99CD"/>
                </a:solidFill>
                <a:effectLst/>
                <a:latin typeface="Courier New" panose="02070309020205020404" pitchFamily="49" charset="0"/>
              </a:rPr>
              <a:t>int</a:t>
            </a:r>
            <a:r>
              <a:rPr lang="en-US" sz="2200" b="1" i="0" dirty="0">
                <a:solidFill>
                  <a:srgbClr val="CCCCCC"/>
                </a:solidFill>
                <a:effectLst/>
                <a:latin typeface="Courier New" panose="02070309020205020404" pitchFamily="49" charset="0"/>
              </a:rPr>
              <a:t>&gt; numbers </a:t>
            </a:r>
            <a:r>
              <a:rPr lang="en-US" sz="2200" b="1" i="0" dirty="0">
                <a:solidFill>
                  <a:srgbClr val="67CDCC"/>
                </a:solidFill>
                <a:effectLst/>
                <a:latin typeface="Courier New" panose="02070309020205020404" pitchFamily="49" charset="0"/>
              </a:rPr>
              <a:t>=</a:t>
            </a:r>
            <a:r>
              <a:rPr lang="en-US" sz="2200" b="1" i="0" dirty="0">
                <a:solidFill>
                  <a:srgbClr val="CCCCCC"/>
                </a:solidFill>
                <a:effectLst/>
                <a:latin typeface="Courier New" panose="02070309020205020404" pitchFamily="49" charset="0"/>
              </a:rPr>
              <a:t> </a:t>
            </a:r>
            <a:r>
              <a:rPr lang="en-US" sz="2200" b="1" i="0" dirty="0">
                <a:solidFill>
                  <a:srgbClr val="CC99CD"/>
                </a:solidFill>
                <a:effectLst/>
                <a:latin typeface="Courier New" panose="02070309020205020404" pitchFamily="49" charset="0"/>
              </a:rPr>
              <a:t>new</a:t>
            </a:r>
            <a:r>
              <a:rPr lang="en-US" sz="2200" b="1" i="0" dirty="0">
                <a:solidFill>
                  <a:srgbClr val="CCCCCC"/>
                </a:solidFill>
                <a:effectLst/>
                <a:latin typeface="Courier New" panose="02070309020205020404" pitchFamily="49" charset="0"/>
              </a:rPr>
              <a:t> List&lt;</a:t>
            </a:r>
            <a:r>
              <a:rPr lang="en-US" sz="2200" b="1" i="0" dirty="0">
                <a:solidFill>
                  <a:srgbClr val="CC99CD"/>
                </a:solidFill>
                <a:effectLst/>
                <a:latin typeface="Courier New" panose="02070309020205020404" pitchFamily="49" charset="0"/>
              </a:rPr>
              <a:t>int</a:t>
            </a:r>
            <a:r>
              <a:rPr lang="en-US" sz="2200" b="1" i="0" dirty="0">
                <a:solidFill>
                  <a:srgbClr val="CCCCCC"/>
                </a:solidFill>
                <a:effectLst/>
                <a:latin typeface="Courier New" panose="02070309020205020404" pitchFamily="49" charset="0"/>
              </a:rPr>
              <a:t>&gt;{</a:t>
            </a:r>
            <a:r>
              <a:rPr lang="en-US" sz="2200" b="1" i="0" dirty="0">
                <a:solidFill>
                  <a:srgbClr val="F08D49"/>
                </a:solidFill>
                <a:effectLst/>
                <a:latin typeface="Courier New" panose="02070309020205020404" pitchFamily="49" charset="0"/>
              </a:rPr>
              <a:t>1</a:t>
            </a:r>
            <a:r>
              <a:rPr lang="en-US" sz="2200" b="1" i="0" dirty="0">
                <a:solidFill>
                  <a:srgbClr val="CCCCCC"/>
                </a:solidFill>
                <a:effectLst/>
                <a:latin typeface="Courier New" panose="02070309020205020404" pitchFamily="49" charset="0"/>
              </a:rPr>
              <a:t>,</a:t>
            </a:r>
            <a:r>
              <a:rPr lang="en-US" sz="2200" b="1" i="0" dirty="0">
                <a:solidFill>
                  <a:srgbClr val="F08D49"/>
                </a:solidFill>
                <a:effectLst/>
                <a:latin typeface="Courier New" panose="02070309020205020404" pitchFamily="49" charset="0"/>
              </a:rPr>
              <a:t>2</a:t>
            </a:r>
            <a:r>
              <a:rPr lang="en-US" sz="2200" b="1" i="0" dirty="0">
                <a:solidFill>
                  <a:srgbClr val="CCCCCC"/>
                </a:solidFill>
                <a:effectLst/>
                <a:latin typeface="Courier New" panose="02070309020205020404" pitchFamily="49" charset="0"/>
              </a:rPr>
              <a:t>,</a:t>
            </a:r>
            <a:r>
              <a:rPr lang="en-US" sz="2200" b="1" i="0" dirty="0">
                <a:solidFill>
                  <a:srgbClr val="F08D49"/>
                </a:solidFill>
                <a:effectLst/>
                <a:latin typeface="Courier New" panose="02070309020205020404" pitchFamily="49" charset="0"/>
              </a:rPr>
              <a:t>3</a:t>
            </a:r>
            <a:r>
              <a:rPr lang="en-US" sz="2200" b="1" i="0" dirty="0">
                <a:solidFill>
                  <a:srgbClr val="CCCCCC"/>
                </a:solidFill>
                <a:effectLst/>
                <a:latin typeface="Courier New" panose="02070309020205020404" pitchFamily="49" charset="0"/>
              </a:rPr>
              <a:t>,</a:t>
            </a:r>
            <a:r>
              <a:rPr lang="en-US" sz="2200" b="1" i="0" dirty="0">
                <a:solidFill>
                  <a:srgbClr val="F08D49"/>
                </a:solidFill>
                <a:effectLst/>
                <a:latin typeface="Courier New" panose="02070309020205020404" pitchFamily="49" charset="0"/>
              </a:rPr>
              <a:t>4</a:t>
            </a:r>
            <a:r>
              <a:rPr lang="en-US" sz="2200" b="1" i="0" dirty="0">
                <a:solidFill>
                  <a:srgbClr val="CCCCCC"/>
                </a:solidFill>
                <a:effectLst/>
                <a:latin typeface="Courier New" panose="02070309020205020404" pitchFamily="49" charset="0"/>
              </a:rPr>
              <a:t>,</a:t>
            </a:r>
            <a:r>
              <a:rPr lang="en-US" sz="2200" b="1" i="0" dirty="0">
                <a:solidFill>
                  <a:srgbClr val="F08D49"/>
                </a:solidFill>
                <a:effectLst/>
                <a:latin typeface="Courier New" panose="02070309020205020404" pitchFamily="49" charset="0"/>
              </a:rPr>
              <a:t>5</a:t>
            </a:r>
            <a:r>
              <a:rPr lang="en-US" sz="2200" b="1" i="0" dirty="0">
                <a:solidFill>
                  <a:srgbClr val="CCCCCC"/>
                </a:solidFill>
                <a:effectLst/>
                <a:latin typeface="Courier New" panose="02070309020205020404" pitchFamily="49" charset="0"/>
              </a:rPr>
              <a:t> }; </a:t>
            </a:r>
            <a:endParaRPr lang="ro-RO" sz="2200" b="1" i="0" dirty="0">
              <a:solidFill>
                <a:srgbClr val="CCCCCC"/>
              </a:solidFill>
              <a:effectLst/>
              <a:latin typeface="Courier New" panose="02070309020205020404" pitchFamily="49" charset="0"/>
            </a:endParaRPr>
          </a:p>
          <a:p>
            <a:pPr marL="34290" indent="0">
              <a:buNone/>
            </a:pPr>
            <a:r>
              <a:rPr lang="en-US" sz="2200" b="1" i="0" dirty="0">
                <a:solidFill>
                  <a:srgbClr val="CC99CD"/>
                </a:solidFill>
                <a:effectLst/>
                <a:latin typeface="Courier New" panose="02070309020205020404" pitchFamily="49" charset="0"/>
              </a:rPr>
              <a:t>foreach</a:t>
            </a:r>
            <a:r>
              <a:rPr lang="en-US" sz="2200" b="1" i="0" dirty="0">
                <a:solidFill>
                  <a:srgbClr val="CCCCCC"/>
                </a:solidFill>
                <a:effectLst/>
                <a:latin typeface="Courier New" panose="02070309020205020404" pitchFamily="49" charset="0"/>
              </a:rPr>
              <a:t> (</a:t>
            </a:r>
            <a:r>
              <a:rPr lang="en-US" sz="2200" b="1" i="0" dirty="0">
                <a:solidFill>
                  <a:srgbClr val="CC99CD"/>
                </a:solidFill>
                <a:effectLst/>
                <a:latin typeface="Courier New" panose="02070309020205020404" pitchFamily="49" charset="0"/>
              </a:rPr>
              <a:t>int</a:t>
            </a:r>
            <a:r>
              <a:rPr lang="en-US" sz="2200" b="1" i="0" dirty="0">
                <a:solidFill>
                  <a:srgbClr val="CCCCCC"/>
                </a:solidFill>
                <a:effectLst/>
                <a:latin typeface="Courier New" panose="02070309020205020404" pitchFamily="49" charset="0"/>
              </a:rPr>
              <a:t> num </a:t>
            </a:r>
            <a:r>
              <a:rPr lang="en-US" sz="2200" b="1" i="0" dirty="0">
                <a:solidFill>
                  <a:srgbClr val="CC99CD"/>
                </a:solidFill>
                <a:effectLst/>
                <a:latin typeface="Courier New" panose="02070309020205020404" pitchFamily="49" charset="0"/>
              </a:rPr>
              <a:t>in</a:t>
            </a:r>
            <a:r>
              <a:rPr lang="en-US" sz="2200" b="1" i="0" dirty="0">
                <a:solidFill>
                  <a:srgbClr val="CCCCCC"/>
                </a:solidFill>
                <a:effectLst/>
                <a:latin typeface="Courier New" panose="02070309020205020404" pitchFamily="49" charset="0"/>
              </a:rPr>
              <a:t> numbers){ </a:t>
            </a:r>
            <a:endParaRPr lang="ro-RO" sz="2200" b="1" i="0" dirty="0">
              <a:solidFill>
                <a:srgbClr val="CCCCCC"/>
              </a:solidFill>
              <a:effectLst/>
              <a:latin typeface="Courier New" panose="02070309020205020404" pitchFamily="49" charset="0"/>
            </a:endParaRPr>
          </a:p>
          <a:p>
            <a:pPr marL="34290" indent="0">
              <a:buNone/>
            </a:pPr>
            <a:r>
              <a:rPr lang="ro-RO" sz="2200" b="1" dirty="0">
                <a:solidFill>
                  <a:srgbClr val="CCCCCC"/>
                </a:solidFill>
                <a:latin typeface="Courier New" panose="02070309020205020404" pitchFamily="49" charset="0"/>
              </a:rPr>
              <a:t>  </a:t>
            </a:r>
            <a:r>
              <a:rPr lang="en-US" sz="2200" b="1" i="0" dirty="0">
                <a:solidFill>
                  <a:srgbClr val="CC99CD"/>
                </a:solidFill>
                <a:effectLst/>
                <a:latin typeface="Courier New" panose="02070309020205020404" pitchFamily="49" charset="0"/>
              </a:rPr>
              <a:t>if</a:t>
            </a:r>
            <a:r>
              <a:rPr lang="en-US" sz="2200" b="1" i="0" dirty="0">
                <a:solidFill>
                  <a:srgbClr val="CCCCCC"/>
                </a:solidFill>
                <a:effectLst/>
                <a:latin typeface="Courier New" panose="02070309020205020404" pitchFamily="49" charset="0"/>
              </a:rPr>
              <a:t> (num </a:t>
            </a:r>
            <a:r>
              <a:rPr lang="en-US" sz="2200" b="1" i="0" dirty="0">
                <a:solidFill>
                  <a:srgbClr val="67CDCC"/>
                </a:solidFill>
                <a:effectLst/>
                <a:latin typeface="Courier New" panose="02070309020205020404" pitchFamily="49" charset="0"/>
              </a:rPr>
              <a:t>==</a:t>
            </a:r>
            <a:r>
              <a:rPr lang="en-US" sz="2200" b="1" i="0" dirty="0">
                <a:solidFill>
                  <a:srgbClr val="CCCCCC"/>
                </a:solidFill>
                <a:effectLst/>
                <a:latin typeface="Courier New" panose="02070309020205020404" pitchFamily="49" charset="0"/>
              </a:rPr>
              <a:t> </a:t>
            </a:r>
            <a:r>
              <a:rPr lang="en-US" sz="2200" b="1" i="0" dirty="0">
                <a:solidFill>
                  <a:srgbClr val="F08D49"/>
                </a:solidFill>
                <a:effectLst/>
                <a:latin typeface="Courier New" panose="02070309020205020404" pitchFamily="49" charset="0"/>
              </a:rPr>
              <a:t>3</a:t>
            </a:r>
            <a:r>
              <a:rPr lang="en-US" sz="2200" b="1" i="0" dirty="0">
                <a:solidFill>
                  <a:srgbClr val="CCCCCC"/>
                </a:solidFill>
                <a:effectLst/>
                <a:latin typeface="Courier New" panose="02070309020205020404" pitchFamily="49" charset="0"/>
              </a:rPr>
              <a:t>) </a:t>
            </a:r>
            <a:r>
              <a:rPr lang="en-US" sz="2200" b="1" i="0" dirty="0" err="1">
                <a:solidFill>
                  <a:srgbClr val="CCCCCC"/>
                </a:solidFill>
                <a:effectLst/>
                <a:latin typeface="Courier New" panose="02070309020205020404" pitchFamily="49" charset="0"/>
              </a:rPr>
              <a:t>numbers.</a:t>
            </a:r>
            <a:r>
              <a:rPr lang="en-US" sz="2200" b="1" i="0" dirty="0" err="1">
                <a:solidFill>
                  <a:srgbClr val="F08D49"/>
                </a:solidFill>
                <a:effectLst/>
                <a:latin typeface="Courier New" panose="02070309020205020404" pitchFamily="49" charset="0"/>
              </a:rPr>
              <a:t>Remove</a:t>
            </a:r>
            <a:r>
              <a:rPr lang="en-US" sz="2200" b="1" i="0" dirty="0">
                <a:solidFill>
                  <a:srgbClr val="CCCCCC"/>
                </a:solidFill>
                <a:effectLst/>
                <a:latin typeface="Courier New" panose="02070309020205020404" pitchFamily="49" charset="0"/>
              </a:rPr>
              <a:t>(num); </a:t>
            </a:r>
            <a:endParaRPr lang="ro-RO" sz="2200" b="1" i="0" dirty="0">
              <a:solidFill>
                <a:srgbClr val="CCCCCC"/>
              </a:solidFill>
              <a:effectLst/>
              <a:latin typeface="Courier New" panose="02070309020205020404" pitchFamily="49" charset="0"/>
            </a:endParaRPr>
          </a:p>
          <a:p>
            <a:pPr marL="34290" indent="0">
              <a:buNone/>
            </a:pPr>
            <a:r>
              <a:rPr lang="ro-RO" sz="2200" b="1" dirty="0">
                <a:solidFill>
                  <a:srgbClr val="CCCCCC"/>
                </a:solidFill>
                <a:latin typeface="Courier New" panose="02070309020205020404" pitchFamily="49" charset="0"/>
              </a:rPr>
              <a:t>  </a:t>
            </a:r>
            <a:r>
              <a:rPr lang="en-US" sz="2200" b="1" i="0" dirty="0">
                <a:solidFill>
                  <a:srgbClr val="999999"/>
                </a:solidFill>
                <a:effectLst/>
                <a:latin typeface="Courier New" panose="02070309020205020404" pitchFamily="49" charset="0"/>
              </a:rPr>
              <a:t>// </a:t>
            </a:r>
            <a:r>
              <a:rPr lang="en-US" sz="2200" b="1" i="0" dirty="0" err="1">
                <a:solidFill>
                  <a:srgbClr val="999999"/>
                </a:solidFill>
                <a:effectLst/>
                <a:latin typeface="Courier New" panose="02070309020205020404" pitchFamily="49" charset="0"/>
              </a:rPr>
              <a:t>InvalidOperationException</a:t>
            </a:r>
            <a:r>
              <a:rPr lang="en-US" sz="2200" b="1" i="0" dirty="0">
                <a:solidFill>
                  <a:srgbClr val="CCCCCC"/>
                </a:solidFill>
                <a:effectLst/>
                <a:latin typeface="Courier New" panose="02070309020205020404" pitchFamily="49" charset="0"/>
              </a:rPr>
              <a:t> </a:t>
            </a:r>
            <a:endParaRPr lang="ro-RO" sz="2200" b="1" i="0" dirty="0">
              <a:solidFill>
                <a:srgbClr val="CCCCCC"/>
              </a:solidFill>
              <a:effectLst/>
              <a:latin typeface="Courier New" panose="02070309020205020404" pitchFamily="49" charset="0"/>
            </a:endParaRPr>
          </a:p>
          <a:p>
            <a:pPr marL="34290" indent="0">
              <a:buNone/>
            </a:pPr>
            <a:r>
              <a:rPr lang="en-US" sz="2200" b="1" i="0" dirty="0">
                <a:solidFill>
                  <a:srgbClr val="CCCCCC"/>
                </a:solidFill>
                <a:effectLst/>
                <a:latin typeface="Courier New" panose="02070309020205020404" pitchFamily="49" charset="0"/>
              </a:rPr>
              <a:t>}</a:t>
            </a:r>
            <a:endParaRPr lang="ro-RO" sz="2200" b="1" noProof="0" dirty="0">
              <a:solidFill>
                <a:srgbClr val="00B0F0"/>
              </a:solidFill>
            </a:endParaRPr>
          </a:p>
          <a:p>
            <a:pPr marL="34290" indent="0">
              <a:buNone/>
            </a:pPr>
            <a:endParaRPr lang="ro-RO" sz="2800" b="1" noProof="0" dirty="0">
              <a:solidFill>
                <a:srgbClr val="CCCCCC"/>
              </a:solidFill>
            </a:endParaRPr>
          </a:p>
          <a:p>
            <a:pPr marL="34290" indent="0">
              <a:buNone/>
            </a:pPr>
            <a:endParaRPr lang="en-US" sz="2400" b="1"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0446737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9E999-4859-19E9-A1A8-2124B21A94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F4DFCE-3CC2-7092-3BA4-1121CC981EAA}"/>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77766A68-06D0-21E1-9047-3303C7678BCA}"/>
              </a:ext>
            </a:extLst>
          </p:cNvPr>
          <p:cNvSpPr>
            <a:spLocks noGrp="1"/>
          </p:cNvSpPr>
          <p:nvPr>
            <p:ph idx="1"/>
          </p:nvPr>
        </p:nvSpPr>
        <p:spPr>
          <a:xfrm>
            <a:off x="463925" y="1281952"/>
            <a:ext cx="8249770" cy="5074024"/>
          </a:xfrm>
        </p:spPr>
        <p:txBody>
          <a:bodyPr>
            <a:noAutofit/>
          </a:bodyPr>
          <a:lstStyle/>
          <a:p>
            <a:pPr marL="34290" indent="0">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limitări și erori</a:t>
            </a:r>
          </a:p>
          <a:p>
            <a:pPr marL="34290" indent="0">
              <a:buNone/>
            </a:pPr>
            <a:r>
              <a:rPr lang="ro-RO" sz="2800" noProof="0" dirty="0">
                <a:solidFill>
                  <a:srgbClr val="00B0F0"/>
                </a:solidFill>
              </a:rPr>
              <a:t>Chiar dacă variabila din </a:t>
            </a:r>
            <a:r>
              <a:rPr lang="ro-RO" sz="2800" noProof="0" dirty="0" err="1">
                <a:solidFill>
                  <a:srgbClr val="00B0F0"/>
                </a:solidFill>
              </a:rPr>
              <a:t>foreach</a:t>
            </a:r>
            <a:r>
              <a:rPr lang="ro-RO" sz="2800" noProof="0" dirty="0">
                <a:solidFill>
                  <a:srgbClr val="00B0F0"/>
                </a:solidFill>
              </a:rPr>
              <a:t> este </a:t>
            </a:r>
            <a:r>
              <a:rPr lang="ro-RO" sz="2800" noProof="0" dirty="0" err="1">
                <a:solidFill>
                  <a:srgbClr val="00B0F0"/>
                </a:solidFill>
              </a:rPr>
              <a:t>read-only</a:t>
            </a:r>
            <a:r>
              <a:rPr lang="ro-RO" sz="2800" noProof="0" dirty="0">
                <a:solidFill>
                  <a:srgbClr val="00B0F0"/>
                </a:solidFill>
              </a:rPr>
              <a:t>, putem modifica proprietățile obiectelor de tip referință (cum ar fi obiectele unei clase) dintr-o colecție. Acest lucru este util atunci când se lucrează cu liste de obiecte.</a:t>
            </a:r>
          </a:p>
          <a:p>
            <a:pPr marL="34290" indent="0">
              <a:buNone/>
            </a:pPr>
            <a:endParaRPr lang="ro-RO" sz="2200" b="1" i="0" dirty="0">
              <a:solidFill>
                <a:srgbClr val="CCCCCC"/>
              </a:solidFill>
              <a:effectLst/>
              <a:latin typeface="Courier New" panose="02070309020205020404" pitchFamily="49" charset="0"/>
            </a:endParaRPr>
          </a:p>
          <a:p>
            <a:pPr marL="34290" indent="0">
              <a:buNone/>
            </a:pPr>
            <a:endParaRPr lang="ro-RO" sz="2800" b="1" noProof="0" dirty="0">
              <a:solidFill>
                <a:srgbClr val="CCCCCC"/>
              </a:solidFill>
            </a:endParaRPr>
          </a:p>
          <a:p>
            <a:pPr marL="34290" indent="0">
              <a:buNone/>
            </a:pPr>
            <a:endParaRPr lang="en-US" sz="2400" b="1"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3383297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F2016-35A2-7188-157B-7C3BF86CA5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D86F93-1C89-AC1E-134F-225BE0843F79}"/>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C9114C76-C556-0141-2BD0-0F11F304A285}"/>
              </a:ext>
            </a:extLst>
          </p:cNvPr>
          <p:cNvSpPr>
            <a:spLocks noGrp="1"/>
          </p:cNvSpPr>
          <p:nvPr>
            <p:ph idx="1"/>
          </p:nvPr>
        </p:nvSpPr>
        <p:spPr>
          <a:xfrm>
            <a:off x="463925" y="1281952"/>
            <a:ext cx="8249770" cy="5074024"/>
          </a:xfrm>
        </p:spPr>
        <p:txBody>
          <a:bodyPr>
            <a:noAutofit/>
          </a:bodyPr>
          <a:lstStyle/>
          <a:p>
            <a:pPr marL="34290" indent="0">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limitări și erori</a:t>
            </a:r>
          </a:p>
          <a:p>
            <a:pPr marL="34290" indent="0">
              <a:buNone/>
            </a:pPr>
            <a:r>
              <a:rPr lang="en-US" sz="2400" b="1" i="0" dirty="0">
                <a:solidFill>
                  <a:srgbClr val="CC99CD"/>
                </a:solidFill>
                <a:effectLst/>
                <a:latin typeface="Courier New" panose="02070309020205020404" pitchFamily="49" charset="0"/>
              </a:rPr>
              <a:t>using</a:t>
            </a:r>
            <a:r>
              <a:rPr lang="en-US" sz="2400" b="1" i="0" dirty="0">
                <a:solidFill>
                  <a:srgbClr val="CCCCCC"/>
                </a:solidFill>
                <a:effectLst/>
                <a:latin typeface="Courier New" panose="02070309020205020404" pitchFamily="49" charset="0"/>
              </a:rPr>
              <a:t> System;</a:t>
            </a:r>
            <a:endParaRPr lang="ro-RO" sz="2400" b="1" i="0" dirty="0">
              <a:solidFill>
                <a:srgbClr val="CCCCCC"/>
              </a:solidFill>
              <a:effectLst/>
              <a:latin typeface="Courier New" panose="02070309020205020404" pitchFamily="49" charset="0"/>
            </a:endParaRPr>
          </a:p>
          <a:p>
            <a:pPr marL="34290" indent="0">
              <a:buNone/>
            </a:pPr>
            <a:r>
              <a:rPr lang="en-US" sz="2400" b="1" i="0" dirty="0">
                <a:solidFill>
                  <a:srgbClr val="CC99CD"/>
                </a:solidFill>
                <a:effectLst/>
                <a:latin typeface="Courier New" panose="02070309020205020404" pitchFamily="49" charset="0"/>
              </a:rPr>
              <a:t>using</a:t>
            </a:r>
            <a:r>
              <a:rPr lang="en-US" sz="2400" b="1" i="0" dirty="0">
                <a:solidFill>
                  <a:srgbClr val="CCCCCC"/>
                </a:solidFill>
                <a:effectLst/>
                <a:latin typeface="Courier New" panose="02070309020205020404" pitchFamily="49" charset="0"/>
              </a:rPr>
              <a:t> </a:t>
            </a:r>
            <a:r>
              <a:rPr lang="en-US" sz="2400" b="1" i="0" dirty="0" err="1">
                <a:solidFill>
                  <a:srgbClr val="CCCCCC"/>
                </a:solidFill>
                <a:effectLst/>
                <a:latin typeface="Courier New" panose="02070309020205020404" pitchFamily="49" charset="0"/>
              </a:rPr>
              <a:t>System.Collections.Generic</a:t>
            </a:r>
            <a:r>
              <a:rPr lang="en-US" sz="2400" b="1" i="0" dirty="0">
                <a:solidFill>
                  <a:srgbClr val="CCCCCC"/>
                </a:solidFill>
                <a:effectLst/>
                <a:latin typeface="Courier New" panose="02070309020205020404" pitchFamily="49" charset="0"/>
              </a:rPr>
              <a:t>; </a:t>
            </a:r>
            <a:endParaRPr lang="ro-RO" sz="2400" b="1" i="0" dirty="0">
              <a:solidFill>
                <a:srgbClr val="CCCCCC"/>
              </a:solidFill>
              <a:effectLst/>
              <a:latin typeface="Courier New" panose="02070309020205020404" pitchFamily="49" charset="0"/>
            </a:endParaRPr>
          </a:p>
          <a:p>
            <a:pPr marL="34290" indent="0">
              <a:buNone/>
            </a:pPr>
            <a:r>
              <a:rPr lang="en-US" sz="2400" b="1" i="0" dirty="0">
                <a:solidFill>
                  <a:srgbClr val="CC99CD"/>
                </a:solidFill>
                <a:effectLst/>
                <a:latin typeface="Courier New" panose="02070309020205020404" pitchFamily="49" charset="0"/>
              </a:rPr>
              <a:t>class</a:t>
            </a:r>
            <a:r>
              <a:rPr lang="en-US" sz="2400" b="1" i="0" dirty="0">
                <a:solidFill>
                  <a:srgbClr val="CCCCCC"/>
                </a:solidFill>
                <a:effectLst/>
                <a:latin typeface="Courier New" panose="02070309020205020404" pitchFamily="49" charset="0"/>
              </a:rPr>
              <a:t> Person {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public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string</a:t>
            </a:r>
            <a:r>
              <a:rPr lang="en-US" sz="2400" b="1" i="0" dirty="0">
                <a:solidFill>
                  <a:srgbClr val="CCCCCC"/>
                </a:solidFill>
                <a:effectLst/>
                <a:latin typeface="Courier New" panose="02070309020205020404" pitchFamily="49" charset="0"/>
              </a:rPr>
              <a:t> Name { </a:t>
            </a:r>
            <a:r>
              <a:rPr lang="en-US" sz="2400" b="1" i="0" dirty="0">
                <a:solidFill>
                  <a:srgbClr val="CC99CD"/>
                </a:solidFill>
                <a:effectLst/>
                <a:latin typeface="Courier New" panose="02070309020205020404" pitchFamily="49" charset="0"/>
              </a:rPr>
              <a:t>get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set</a:t>
            </a:r>
            <a:r>
              <a:rPr lang="en-US" sz="2400" b="1" i="0" dirty="0">
                <a:solidFill>
                  <a:srgbClr val="CCCCCC"/>
                </a:solidFill>
                <a:effectLst/>
                <a:latin typeface="Courier New" panose="02070309020205020404" pitchFamily="49" charset="0"/>
              </a:rPr>
              <a:t>; }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public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Age { </a:t>
            </a:r>
            <a:r>
              <a:rPr lang="en-US" sz="2400" b="1" i="0" dirty="0">
                <a:solidFill>
                  <a:srgbClr val="CC99CD"/>
                </a:solidFill>
                <a:effectLst/>
                <a:latin typeface="Courier New" panose="02070309020205020404" pitchFamily="49" charset="0"/>
              </a:rPr>
              <a:t>get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set</a:t>
            </a:r>
            <a:r>
              <a:rPr lang="en-US" sz="2400" b="1" i="0" dirty="0">
                <a:solidFill>
                  <a:srgbClr val="CCCCCC"/>
                </a:solidFill>
                <a:effectLst/>
                <a:latin typeface="Courier New" panose="02070309020205020404" pitchFamily="49" charset="0"/>
              </a:rPr>
              <a:t>; } </a:t>
            </a:r>
            <a:endParaRPr lang="ro-RO" sz="2400" b="1" i="0" dirty="0">
              <a:solidFill>
                <a:srgbClr val="CCCCCC"/>
              </a:solidFill>
              <a:effectLst/>
              <a:latin typeface="Courier New" panose="02070309020205020404" pitchFamily="49" charset="0"/>
            </a:endParaRPr>
          </a:p>
          <a:p>
            <a:pPr marL="34290" indent="0">
              <a:buNone/>
            </a:pPr>
            <a:r>
              <a:rPr lang="en-US" sz="2400" b="1" i="0" dirty="0">
                <a:solidFill>
                  <a:srgbClr val="CCCCCC"/>
                </a:solidFill>
                <a:effectLst/>
                <a:latin typeface="Courier New" panose="02070309020205020404" pitchFamily="49" charset="0"/>
              </a:rPr>
              <a:t>}</a:t>
            </a:r>
            <a:endParaRPr lang="ro-RO" sz="2400" b="1" i="0" dirty="0">
              <a:solidFill>
                <a:srgbClr val="CCCCCC"/>
              </a:solidFill>
              <a:effectLst/>
              <a:latin typeface="Courier New" panose="02070309020205020404" pitchFamily="49" charset="0"/>
            </a:endParaRPr>
          </a:p>
          <a:p>
            <a:pPr marL="34290" indent="0">
              <a:buNone/>
            </a:pPr>
            <a:r>
              <a:rPr lang="en-US" sz="2400" b="1" i="0" dirty="0">
                <a:solidFill>
                  <a:srgbClr val="CC99CD"/>
                </a:solidFill>
                <a:effectLst/>
                <a:latin typeface="Courier New" panose="02070309020205020404" pitchFamily="49" charset="0"/>
              </a:rPr>
              <a:t>class</a:t>
            </a:r>
            <a:r>
              <a:rPr lang="en-US" sz="2400" b="1" i="0" dirty="0">
                <a:solidFill>
                  <a:srgbClr val="CCCCCC"/>
                </a:solidFill>
                <a:effectLst/>
                <a:latin typeface="Courier New" panose="02070309020205020404" pitchFamily="49" charset="0"/>
              </a:rPr>
              <a:t> Program {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static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void</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Main</a:t>
            </a:r>
            <a:r>
              <a:rPr lang="en-US" sz="2400" b="1" i="0" dirty="0">
                <a:solidFill>
                  <a:srgbClr val="CCCCCC"/>
                </a:solidFill>
                <a:effectLst/>
                <a:latin typeface="Courier New" panose="02070309020205020404" pitchFamily="49" charset="0"/>
              </a:rPr>
              <a:t>(){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CCCC"/>
                </a:solidFill>
                <a:effectLst/>
                <a:latin typeface="Courier New" panose="02070309020205020404" pitchFamily="49" charset="0"/>
              </a:rPr>
              <a:t>List&lt;Person&gt; people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new</a:t>
            </a:r>
            <a:r>
              <a:rPr lang="en-US" sz="2400" b="1" i="0" dirty="0">
                <a:solidFill>
                  <a:srgbClr val="CCCCCC"/>
                </a:solidFill>
                <a:effectLst/>
                <a:latin typeface="Courier New" panose="02070309020205020404" pitchFamily="49" charset="0"/>
              </a:rPr>
              <a:t> List&lt;Person&gt; {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new</a:t>
            </a:r>
            <a:r>
              <a:rPr lang="en-US" sz="2400" b="1" i="0" dirty="0">
                <a:solidFill>
                  <a:srgbClr val="CCCCCC"/>
                </a:solidFill>
                <a:effectLst/>
                <a:latin typeface="Courier New" panose="02070309020205020404" pitchFamily="49" charset="0"/>
              </a:rPr>
              <a:t> Person { Name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7EC699"/>
                </a:solidFill>
                <a:effectLst/>
                <a:latin typeface="Courier New" panose="02070309020205020404" pitchFamily="49" charset="0"/>
              </a:rPr>
              <a:t>"John"</a:t>
            </a:r>
            <a:r>
              <a:rPr lang="en-US" sz="2400" b="1" i="0" dirty="0">
                <a:solidFill>
                  <a:srgbClr val="CCCCCC"/>
                </a:solidFill>
                <a:effectLst/>
                <a:latin typeface="Courier New" panose="02070309020205020404" pitchFamily="49" charset="0"/>
              </a:rPr>
              <a:t>, Age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30</a:t>
            </a:r>
            <a:r>
              <a:rPr lang="en-US" sz="2400" b="1" i="0" dirty="0">
                <a:solidFill>
                  <a:srgbClr val="CCCCCC"/>
                </a:solidFill>
                <a:effectLst/>
                <a:latin typeface="Courier New" panose="02070309020205020404" pitchFamily="49" charset="0"/>
              </a:rPr>
              <a:t> }, </a:t>
            </a:r>
            <a:r>
              <a:rPr lang="ro-RO" sz="2400" b="1" i="0" dirty="0">
                <a:solidFill>
                  <a:srgbClr val="CCCCCC"/>
                </a:solidFill>
                <a:effectLst/>
                <a:latin typeface="Courier New" panose="02070309020205020404" pitchFamily="49" charset="0"/>
              </a:rPr>
              <a:t>   </a:t>
            </a:r>
          </a:p>
          <a:p>
            <a:pPr marL="34290" indent="0">
              <a:buNone/>
            </a:pPr>
            <a:r>
              <a:rPr lang="ro-RO"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new</a:t>
            </a:r>
            <a:r>
              <a:rPr lang="en-US" sz="2400" b="1" i="0" dirty="0">
                <a:solidFill>
                  <a:srgbClr val="CCCCCC"/>
                </a:solidFill>
                <a:effectLst/>
                <a:latin typeface="Courier New" panose="02070309020205020404" pitchFamily="49" charset="0"/>
              </a:rPr>
              <a:t> Person { Name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7EC699"/>
                </a:solidFill>
                <a:effectLst/>
                <a:latin typeface="Courier New" panose="02070309020205020404" pitchFamily="49" charset="0"/>
              </a:rPr>
              <a:t>"Sarah"</a:t>
            </a:r>
            <a:r>
              <a:rPr lang="en-US" sz="2400" b="1" i="0" dirty="0">
                <a:solidFill>
                  <a:srgbClr val="CCCCCC"/>
                </a:solidFill>
                <a:effectLst/>
                <a:latin typeface="Courier New" panose="02070309020205020404" pitchFamily="49" charset="0"/>
              </a:rPr>
              <a:t>, Age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25</a:t>
            </a:r>
            <a:r>
              <a:rPr lang="en-US" sz="2400" b="1" i="0" dirty="0">
                <a:solidFill>
                  <a:srgbClr val="CCCCCC"/>
                </a:solidFill>
                <a:effectLst/>
                <a:latin typeface="Courier New" panose="02070309020205020404" pitchFamily="49" charset="0"/>
              </a:rPr>
              <a:t> } </a:t>
            </a:r>
            <a:r>
              <a:rPr lang="ro-RO" sz="2400" b="1" i="0" dirty="0">
                <a:solidFill>
                  <a:srgbClr val="CCCCCC"/>
                </a:solidFill>
                <a:effectLst/>
                <a:latin typeface="Courier New" panose="02070309020205020404" pitchFamily="49" charset="0"/>
              </a:rPr>
              <a:t> </a:t>
            </a:r>
          </a:p>
          <a:p>
            <a:pPr marL="34290" indent="0">
              <a:buNone/>
            </a:pPr>
            <a:r>
              <a:rPr lang="ro-RO" sz="2400" b="1" dirty="0">
                <a:solidFill>
                  <a:srgbClr val="CCCCCC"/>
                </a:solidFill>
                <a:latin typeface="Courier New" panose="02070309020205020404" pitchFamily="49" charset="0"/>
              </a:rPr>
              <a:t>  </a:t>
            </a:r>
            <a:r>
              <a:rPr lang="en-US" sz="2400" b="1" i="0" dirty="0">
                <a:solidFill>
                  <a:srgbClr val="CCCCCC"/>
                </a:solidFill>
                <a:effectLst/>
                <a:latin typeface="Courier New" panose="02070309020205020404" pitchFamily="49" charset="0"/>
              </a:rPr>
              <a:t>}; </a:t>
            </a:r>
            <a:endParaRPr lang="ro-RO" sz="2800" noProof="0" dirty="0">
              <a:solidFill>
                <a:srgbClr val="00B0F0"/>
              </a:solidFill>
            </a:endParaRPr>
          </a:p>
        </p:txBody>
      </p:sp>
    </p:spTree>
    <p:extLst>
      <p:ext uri="{BB962C8B-B14F-4D97-AF65-F5344CB8AC3E}">
        <p14:creationId xmlns:p14="http://schemas.microsoft.com/office/powerpoint/2010/main" val="39631851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A6D54-259D-F390-71D9-8CCC0507D6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7FABC7-6E83-AAB2-8F64-BC6701FA9B12}"/>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926D2662-A35B-F7A1-0F49-0B6BDDAF4048}"/>
              </a:ext>
            </a:extLst>
          </p:cNvPr>
          <p:cNvSpPr>
            <a:spLocks noGrp="1"/>
          </p:cNvSpPr>
          <p:nvPr>
            <p:ph idx="1"/>
          </p:nvPr>
        </p:nvSpPr>
        <p:spPr>
          <a:xfrm>
            <a:off x="463925" y="1281952"/>
            <a:ext cx="8249770" cy="5074024"/>
          </a:xfrm>
        </p:spPr>
        <p:txBody>
          <a:bodyPr>
            <a:noAutofit/>
          </a:bodyPr>
          <a:lstStyle/>
          <a:p>
            <a:pPr marL="34290" indent="0">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limitări și erori</a:t>
            </a: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200" b="1" i="0" dirty="0">
                <a:solidFill>
                  <a:srgbClr val="CCCCCC"/>
                </a:solidFill>
                <a:effectLst/>
                <a:latin typeface="Courier New" panose="02070309020205020404" pitchFamily="49" charset="0"/>
              </a:rPr>
              <a:t>    </a:t>
            </a:r>
            <a:r>
              <a:rPr kumimoji="0" lang="en-US" sz="2400" b="1" i="0" u="none" strike="noStrike" kern="1200" cap="none" spc="0" normalizeH="0" baseline="0" noProof="0" dirty="0">
                <a:ln>
                  <a:noFill/>
                </a:ln>
                <a:solidFill>
                  <a:srgbClr val="999999"/>
                </a:solidFill>
                <a:effectLst/>
                <a:uLnTx/>
                <a:uFillTx/>
                <a:latin typeface="Courier New" panose="02070309020205020404" pitchFamily="49" charset="0"/>
                <a:ea typeface="+mn-ea"/>
                <a:cs typeface="+mn-cs"/>
              </a:rPr>
              <a:t>// Update age of each person by 1</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dirty="0">
                <a:solidFill>
                  <a:srgbClr val="CCCCCC"/>
                </a:solidFill>
                <a:latin typeface="Courier New" panose="02070309020205020404" pitchFamily="49" charset="0"/>
              </a:rPr>
              <a:t>    </a:t>
            </a:r>
            <a:r>
              <a:rPr kumimoji="0" lang="en-US" sz="24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foreach</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(Person </a:t>
            </a:r>
            <a:r>
              <a:rPr kumimoji="0" lang="en-US" sz="24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person</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4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in</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people) { </a:t>
            </a:r>
            <a:endPar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endParaRP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dirty="0">
                <a:solidFill>
                  <a:srgbClr val="CCCCCC"/>
                </a:solidFill>
                <a:latin typeface="Courier New" panose="02070309020205020404" pitchFamily="49" charset="0"/>
              </a:rPr>
              <a:t>      </a:t>
            </a:r>
            <a:r>
              <a:rPr kumimoji="0" lang="en-US" sz="24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person.Age</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400" b="1" i="0" u="none" strike="noStrike" kern="1200" cap="none" spc="0" normalizeH="0" baseline="0" noProof="0" dirty="0">
                <a:ln>
                  <a:noFill/>
                </a:ln>
                <a:solidFill>
                  <a:srgbClr val="67CDCC"/>
                </a:solidFill>
                <a:effectLst/>
                <a:uLnTx/>
                <a:uFillTx/>
                <a:latin typeface="Courier New" panose="02070309020205020404" pitchFamily="49" charset="0"/>
                <a:ea typeface="+mn-ea"/>
                <a:cs typeface="+mn-cs"/>
              </a:rPr>
              <a:t>+=</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400" b="1" i="0" u="none" strike="noStrike" kern="1200" cap="none" spc="0" normalizeH="0" baseline="0" noProof="0" dirty="0">
                <a:ln>
                  <a:noFill/>
                </a:ln>
                <a:solidFill>
                  <a:srgbClr val="F08D49"/>
                </a:solidFill>
                <a:effectLst/>
                <a:uLnTx/>
                <a:uFillTx/>
                <a:latin typeface="Courier New" panose="02070309020205020404" pitchFamily="49" charset="0"/>
                <a:ea typeface="+mn-ea"/>
                <a:cs typeface="+mn-cs"/>
              </a:rPr>
              <a:t>1</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endPar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endParaRP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dirty="0">
                <a:solidFill>
                  <a:srgbClr val="CCCCCC"/>
                </a:solidFill>
                <a:latin typeface="Courier New" panose="02070309020205020404" pitchFamily="49" charset="0"/>
              </a:rPr>
              <a:t>    </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endParaRPr kumimoji="0" lang="ro-RO" sz="2400" b="1" i="0" u="none" strike="noStrike" kern="1200" cap="none" spc="0" normalizeH="0" baseline="0" noProof="0" dirty="0">
              <a:ln>
                <a:noFill/>
              </a:ln>
              <a:solidFill>
                <a:srgbClr val="999999"/>
              </a:solidFill>
              <a:effectLst/>
              <a:uLnTx/>
              <a:uFillTx/>
              <a:latin typeface="Courier New" panose="02070309020205020404" pitchFamily="49" charset="0"/>
              <a:ea typeface="+mn-ea"/>
              <a:cs typeface="+mn-cs"/>
            </a:endParaRP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dirty="0">
                <a:solidFill>
                  <a:srgbClr val="999999"/>
                </a:solidFill>
                <a:latin typeface="Courier New" panose="02070309020205020404" pitchFamily="49" charset="0"/>
              </a:rPr>
              <a:t>    </a:t>
            </a:r>
            <a:r>
              <a:rPr kumimoji="0" lang="en-US" sz="24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foreach</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(Person </a:t>
            </a:r>
            <a:r>
              <a:rPr kumimoji="0" lang="en-US" sz="24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person</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r>
              <a:rPr kumimoji="0" lang="en-US" sz="2400" b="1" i="0" u="none" strike="noStrike" kern="1200" cap="none" spc="0" normalizeH="0" baseline="0" noProof="0" dirty="0">
                <a:ln>
                  <a:noFill/>
                </a:ln>
                <a:solidFill>
                  <a:srgbClr val="CC99CD"/>
                </a:solidFill>
                <a:effectLst/>
                <a:uLnTx/>
                <a:uFillTx/>
                <a:latin typeface="Courier New" panose="02070309020205020404" pitchFamily="49" charset="0"/>
                <a:ea typeface="+mn-ea"/>
                <a:cs typeface="+mn-cs"/>
              </a:rPr>
              <a:t>in</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people){ </a:t>
            </a:r>
            <a:endPar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endParaRP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dirty="0">
                <a:solidFill>
                  <a:srgbClr val="CCCCCC"/>
                </a:solidFill>
                <a:latin typeface="Courier New" panose="02070309020205020404" pitchFamily="49" charset="0"/>
              </a:rPr>
              <a:t>      </a:t>
            </a:r>
            <a:r>
              <a:rPr kumimoji="0" lang="en-US" sz="24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Console.</a:t>
            </a:r>
            <a:r>
              <a:rPr kumimoji="0" lang="en-US" sz="2400" b="1" i="0" u="none" strike="noStrike" kern="1200" cap="none" spc="0" normalizeH="0" baseline="0" noProof="0" dirty="0" err="1">
                <a:ln>
                  <a:noFill/>
                </a:ln>
                <a:solidFill>
                  <a:srgbClr val="F08D49"/>
                </a:solidFill>
                <a:effectLst/>
                <a:uLnTx/>
                <a:uFillTx/>
                <a:latin typeface="Courier New" panose="02070309020205020404" pitchFamily="49" charset="0"/>
                <a:ea typeface="+mn-ea"/>
                <a:cs typeface="+mn-cs"/>
              </a:rPr>
              <a:t>WriteLine</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en-US" sz="24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en-US" sz="24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person.Name</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en-US" sz="24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 </a:t>
            </a:r>
            <a:endParaRPr kumimoji="0" lang="ro-RO" sz="24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endParaRP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dirty="0">
                <a:solidFill>
                  <a:srgbClr val="7EC699"/>
                </a:solidFill>
                <a:latin typeface="Courier New" panose="02070309020205020404" pitchFamily="49" charset="0"/>
              </a:rPr>
              <a:t>      </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en-US" sz="2400" b="1" i="0" u="none" strike="noStrike" kern="1200" cap="none" spc="0" normalizeH="0" baseline="0" noProof="0" dirty="0" err="1">
                <a:ln>
                  <a:noFill/>
                </a:ln>
                <a:solidFill>
                  <a:srgbClr val="CCCCCC"/>
                </a:solidFill>
                <a:effectLst/>
                <a:uLnTx/>
                <a:uFillTx/>
                <a:latin typeface="Courier New" panose="02070309020205020404" pitchFamily="49" charset="0"/>
                <a:ea typeface="+mn-ea"/>
                <a:cs typeface="+mn-cs"/>
              </a:rPr>
              <a:t>person.Age</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r>
              <a:rPr kumimoji="0" lang="en-US" sz="2400" b="1" i="0" u="none" strike="noStrike" kern="1200" cap="none" spc="0" normalizeH="0" baseline="0" noProof="0" dirty="0">
                <a:ln>
                  <a:noFill/>
                </a:ln>
                <a:solidFill>
                  <a:srgbClr val="7EC699"/>
                </a:solidFill>
                <a:effectLst/>
                <a:uLnTx/>
                <a:uFillTx/>
                <a:latin typeface="Courier New" panose="02070309020205020404" pitchFamily="49" charset="0"/>
                <a:ea typeface="+mn-ea"/>
                <a:cs typeface="+mn-cs"/>
              </a:rPr>
              <a:t>"</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 </a:t>
            </a:r>
            <a:endPar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endParaRP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dirty="0">
                <a:solidFill>
                  <a:srgbClr val="CCCCCC"/>
                </a:solidFill>
                <a:latin typeface="Courier New" panose="02070309020205020404" pitchFamily="49" charset="0"/>
              </a:rPr>
              <a:t>    </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endPar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endParaRP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r>
              <a:rPr lang="ro-RO" sz="2400" b="1" dirty="0">
                <a:solidFill>
                  <a:srgbClr val="CCCCCC"/>
                </a:solidFill>
                <a:latin typeface="Courier New" panose="02070309020205020404" pitchFamily="49" charset="0"/>
              </a:rPr>
              <a:t>  </a:t>
            </a: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endPar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endParaRP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r>
              <a:rPr kumimoji="0" lang="en-US"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rPr>
              <a:t>}</a:t>
            </a:r>
            <a:endParaRPr kumimoji="0" lang="ro-RO" sz="2400" b="1" i="0" u="none" strike="noStrike" kern="1200" cap="none" spc="0" normalizeH="0" baseline="0" noProof="0" dirty="0">
              <a:ln>
                <a:noFill/>
              </a:ln>
              <a:solidFill>
                <a:srgbClr val="CCCCCC"/>
              </a:solidFill>
              <a:effectLst/>
              <a:uLnTx/>
              <a:uFillTx/>
              <a:latin typeface="Courier New" panose="02070309020205020404" pitchFamily="49" charset="0"/>
              <a:ea typeface="+mn-ea"/>
              <a:cs typeface="+mn-cs"/>
            </a:endParaRP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endParaRPr kumimoji="0" lang="ro-RO" sz="2800" b="1" i="0" u="none" strike="noStrike" kern="1200" cap="none" spc="0" normalizeH="0" baseline="0" noProof="0" dirty="0">
              <a:ln>
                <a:noFill/>
              </a:ln>
              <a:solidFill>
                <a:srgbClr val="CCCCCC"/>
              </a:solidFill>
              <a:effectLst/>
              <a:uLnTx/>
              <a:uFillTx/>
              <a:latin typeface="Arial"/>
              <a:ea typeface="+mn-ea"/>
              <a:cs typeface="+mn-cs"/>
            </a:endParaRPr>
          </a:p>
          <a:p>
            <a:pPr marL="34290" marR="0" lvl="0" indent="0" algn="l" defTabSz="685800" rtl="0" eaLnBrk="1" fontAlgn="auto" latinLnBrk="0" hangingPunct="1">
              <a:lnSpc>
                <a:spcPct val="100000"/>
              </a:lnSpc>
              <a:spcBef>
                <a:spcPct val="20000"/>
              </a:spcBef>
              <a:spcAft>
                <a:spcPts val="0"/>
              </a:spcAft>
              <a:buClr>
                <a:srgbClr val="FF8600"/>
              </a:buClr>
              <a:buSzTx/>
              <a:buFont typeface="Wingdings" charset="2"/>
              <a:buNone/>
              <a:tabLst/>
              <a:defRPr/>
            </a:pPr>
            <a:endParaRPr kumimoji="0" lang="en-US" sz="2400" b="1" i="0" u="none" strike="noStrike" kern="1200" cap="none" spc="0" normalizeH="0" baseline="0" noProof="0" dirty="0">
              <a:ln>
                <a:noFill/>
              </a:ln>
              <a:solidFill>
                <a:srgbClr val="00B0F0"/>
              </a:solidFill>
              <a:effectLst/>
              <a:uLnTx/>
              <a:uFillTx/>
              <a:latin typeface="Arial"/>
              <a:ea typeface="+mn-ea"/>
              <a:cs typeface="+mn-cs"/>
            </a:endParaRPr>
          </a:p>
          <a:p>
            <a:pPr marL="34290" indent="0">
              <a:buNone/>
            </a:pPr>
            <a:endParaRPr lang="ro-RO" sz="2200" b="1" i="0" dirty="0">
              <a:solidFill>
                <a:srgbClr val="CCCCCC"/>
              </a:solidFill>
              <a:effectLst/>
              <a:latin typeface="Courier New" panose="02070309020205020404" pitchFamily="49" charset="0"/>
            </a:endParaRPr>
          </a:p>
          <a:p>
            <a:pPr marL="34290" indent="0">
              <a:buNone/>
            </a:pPr>
            <a:endParaRPr lang="ro-RO" sz="2800" b="1" noProof="0" dirty="0">
              <a:solidFill>
                <a:srgbClr val="CCCCCC"/>
              </a:solidFill>
            </a:endParaRPr>
          </a:p>
          <a:p>
            <a:pPr marL="34290" indent="0">
              <a:buNone/>
            </a:pPr>
            <a:endParaRPr lang="en-US" sz="2400" b="1"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5858581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7B45D-8C2E-3881-29D8-1B456B1210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205E94-913F-56D6-65CB-E0DF9322DB9B}"/>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CEDF32D6-5BEA-13AA-4E8B-007E94BF1FD9}"/>
              </a:ext>
            </a:extLst>
          </p:cNvPr>
          <p:cNvSpPr>
            <a:spLocks noGrp="1"/>
          </p:cNvSpPr>
          <p:nvPr>
            <p:ph idx="1"/>
          </p:nvPr>
        </p:nvSpPr>
        <p:spPr>
          <a:xfrm>
            <a:off x="463925" y="1281952"/>
            <a:ext cx="8249770" cy="5074024"/>
          </a:xfrm>
        </p:spPr>
        <p:txBody>
          <a:bodyPr>
            <a:noAutofit/>
          </a:bodyPr>
          <a:lstStyle/>
          <a:p>
            <a:pPr marL="34290" indent="0">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limitări și erori</a:t>
            </a:r>
          </a:p>
          <a:p>
            <a:pPr marL="34290" indent="0">
              <a:buNone/>
            </a:pPr>
            <a:r>
              <a:rPr lang="ro-RO" sz="2800" dirty="0">
                <a:solidFill>
                  <a:srgbClr val="00B0F0"/>
                </a:solidFill>
                <a:latin typeface="Arial"/>
              </a:rPr>
              <a:t>Instrucțiunea f</a:t>
            </a:r>
            <a:r>
              <a:rPr kumimoji="0" lang="ro-RO" sz="2800" i="0" u="none" strike="noStrike" kern="1200" cap="none" spc="0" normalizeH="0" baseline="0" noProof="0" dirty="0" err="1">
                <a:ln>
                  <a:noFill/>
                </a:ln>
                <a:solidFill>
                  <a:srgbClr val="00B0F0"/>
                </a:solidFill>
                <a:effectLst/>
                <a:uLnTx/>
                <a:uFillTx/>
                <a:latin typeface="Arial"/>
                <a:ea typeface="+mn-ea"/>
                <a:cs typeface="+mn-cs"/>
              </a:rPr>
              <a:t>oreach</a:t>
            </a:r>
            <a:r>
              <a:rPr kumimoji="0" lang="ro-RO" sz="2800" i="0" u="none" strike="noStrike" kern="1200" cap="none" spc="0" normalizeH="0" baseline="0" noProof="0" dirty="0">
                <a:ln>
                  <a:noFill/>
                </a:ln>
                <a:solidFill>
                  <a:srgbClr val="00B0F0"/>
                </a:solidFill>
                <a:effectLst/>
                <a:uLnTx/>
                <a:uFillTx/>
                <a:latin typeface="Arial"/>
                <a:ea typeface="+mn-ea"/>
                <a:cs typeface="+mn-cs"/>
              </a:rPr>
              <a:t> nu oferă automat indexul fiecărui element. Dacă avem nevoie de poziția unui element, trebuie să folosim un contor separat.</a:t>
            </a:r>
            <a:endParaRPr kumimoji="0" lang="en-US" sz="2400" b="1" i="0" u="none" strike="noStrike" kern="1200" cap="none" spc="0" normalizeH="0" baseline="0" noProof="0" dirty="0">
              <a:ln>
                <a:noFill/>
              </a:ln>
              <a:solidFill>
                <a:srgbClr val="00B0F0"/>
              </a:solidFill>
              <a:effectLst/>
              <a:uLnTx/>
              <a:uFillTx/>
              <a:latin typeface="Arial"/>
              <a:ea typeface="+mn-ea"/>
              <a:cs typeface="+mn-cs"/>
            </a:endParaRPr>
          </a:p>
          <a:p>
            <a:pPr marL="34290" indent="0">
              <a:buNone/>
            </a:pPr>
            <a:r>
              <a:rPr lang="en-US" sz="2000" b="1" i="0" dirty="0">
                <a:solidFill>
                  <a:srgbClr val="CC99CD"/>
                </a:solidFill>
                <a:effectLst/>
                <a:latin typeface="Courier New" panose="02070309020205020404" pitchFamily="49" charset="0"/>
              </a:rPr>
              <a:t>using</a:t>
            </a:r>
            <a:r>
              <a:rPr lang="en-US" sz="2000" b="1" i="0" dirty="0">
                <a:solidFill>
                  <a:srgbClr val="CCCCCC"/>
                </a:solidFill>
                <a:effectLst/>
                <a:latin typeface="Courier New" panose="02070309020205020404" pitchFamily="49" charset="0"/>
              </a:rPr>
              <a:t> System;</a:t>
            </a:r>
            <a:endParaRPr lang="ro-RO" sz="2000" b="1" i="0" dirty="0">
              <a:solidFill>
                <a:srgbClr val="CCCCCC"/>
              </a:solidFill>
              <a:effectLst/>
              <a:latin typeface="Courier New" panose="02070309020205020404" pitchFamily="49" charset="0"/>
            </a:endParaRPr>
          </a:p>
          <a:p>
            <a:pPr marL="34290" indent="0">
              <a:buNone/>
            </a:pPr>
            <a:r>
              <a:rPr lang="en-US" sz="2000" b="1" i="0" dirty="0">
                <a:solidFill>
                  <a:srgbClr val="CC99CD"/>
                </a:solidFill>
                <a:effectLst/>
                <a:latin typeface="Courier New" panose="02070309020205020404" pitchFamily="49" charset="0"/>
              </a:rPr>
              <a:t>class</a:t>
            </a:r>
            <a:r>
              <a:rPr lang="en-US" sz="2000" b="1" i="0" dirty="0">
                <a:solidFill>
                  <a:srgbClr val="CCCCCC"/>
                </a:solidFill>
                <a:effectLst/>
                <a:latin typeface="Courier New" panose="02070309020205020404" pitchFamily="49" charset="0"/>
              </a:rPr>
              <a:t> Program { </a:t>
            </a:r>
            <a:endParaRPr lang="ro-RO" sz="2000" b="1" i="0" dirty="0">
              <a:solidFill>
                <a:srgbClr val="CCCCCC"/>
              </a:solidFill>
              <a:effectLst/>
              <a:latin typeface="Courier New" panose="02070309020205020404" pitchFamily="49" charset="0"/>
            </a:endParaRPr>
          </a:p>
          <a:p>
            <a:pPr marL="34290" indent="0">
              <a:buNone/>
            </a:pPr>
            <a:r>
              <a:rPr lang="ro-RO"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static</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void</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Main</a:t>
            </a:r>
            <a:r>
              <a:rPr lang="en-US" sz="2000" b="1" i="0" dirty="0">
                <a:solidFill>
                  <a:srgbClr val="CCCCCC"/>
                </a:solidFill>
                <a:effectLst/>
                <a:latin typeface="Courier New" panose="02070309020205020404" pitchFamily="49" charset="0"/>
              </a:rPr>
              <a:t>(){</a:t>
            </a:r>
            <a:endParaRPr lang="ro-RO" sz="2000" b="1" i="0" dirty="0">
              <a:solidFill>
                <a:srgbClr val="CCCCCC"/>
              </a:solidFill>
              <a:effectLst/>
              <a:latin typeface="Courier New" panose="02070309020205020404" pitchFamily="49" charset="0"/>
            </a:endParaRPr>
          </a:p>
          <a:p>
            <a:pPr marL="34290" indent="0">
              <a:buNone/>
            </a:pPr>
            <a:r>
              <a:rPr lang="ro-RO"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string</a:t>
            </a:r>
            <a:r>
              <a:rPr lang="en-US" sz="2000" b="1" i="0" dirty="0">
                <a:solidFill>
                  <a:srgbClr val="CCCCCC"/>
                </a:solidFill>
                <a:effectLst/>
                <a:latin typeface="Courier New" panose="02070309020205020404" pitchFamily="49" charset="0"/>
              </a:rPr>
              <a:t>[] names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 </a:t>
            </a:r>
            <a:r>
              <a:rPr lang="en-US" sz="2000" b="1" i="0" dirty="0">
                <a:solidFill>
                  <a:srgbClr val="7EC699"/>
                </a:solidFill>
                <a:effectLst/>
                <a:latin typeface="Courier New" panose="02070309020205020404" pitchFamily="49" charset="0"/>
              </a:rPr>
              <a:t>"Alice"</a:t>
            </a:r>
            <a:r>
              <a:rPr lang="en-US" sz="2000" b="1" i="0" dirty="0">
                <a:solidFill>
                  <a:srgbClr val="CCCCCC"/>
                </a:solidFill>
                <a:effectLst/>
                <a:latin typeface="Courier New" panose="02070309020205020404" pitchFamily="49" charset="0"/>
              </a:rPr>
              <a:t>, </a:t>
            </a:r>
            <a:r>
              <a:rPr lang="en-US" sz="2000" b="1" i="0" dirty="0">
                <a:solidFill>
                  <a:srgbClr val="7EC699"/>
                </a:solidFill>
                <a:effectLst/>
                <a:latin typeface="Courier New" panose="02070309020205020404" pitchFamily="49" charset="0"/>
              </a:rPr>
              <a:t>"Bob"</a:t>
            </a:r>
            <a:r>
              <a:rPr lang="en-US" sz="2000" b="1" i="0" dirty="0">
                <a:solidFill>
                  <a:srgbClr val="CCCCCC"/>
                </a:solidFill>
                <a:effectLst/>
                <a:latin typeface="Courier New" panose="02070309020205020404" pitchFamily="49" charset="0"/>
              </a:rPr>
              <a:t>, </a:t>
            </a:r>
            <a:r>
              <a:rPr lang="en-US" sz="2000" b="1" i="0" dirty="0">
                <a:solidFill>
                  <a:srgbClr val="7EC699"/>
                </a:solidFill>
                <a:effectLst/>
                <a:latin typeface="Courier New" panose="02070309020205020404" pitchFamily="49" charset="0"/>
              </a:rPr>
              <a:t>"Charlie"</a:t>
            </a:r>
            <a:r>
              <a:rPr lang="en-US" sz="2000" b="1" i="0" dirty="0">
                <a:solidFill>
                  <a:srgbClr val="CCCCCC"/>
                </a:solidFill>
                <a:effectLst/>
                <a:latin typeface="Courier New" panose="02070309020205020404" pitchFamily="49" charset="0"/>
              </a:rPr>
              <a:t> }; </a:t>
            </a:r>
            <a:endParaRPr lang="ro-RO" sz="2000" b="1" i="0" dirty="0">
              <a:solidFill>
                <a:srgbClr val="CCCCCC"/>
              </a:solidFill>
              <a:effectLst/>
              <a:latin typeface="Courier New" panose="02070309020205020404" pitchFamily="49" charset="0"/>
            </a:endParaRPr>
          </a:p>
          <a:p>
            <a:pPr marL="34290" indent="0">
              <a:buNone/>
            </a:pPr>
            <a:r>
              <a:rPr lang="ro-RO"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int</a:t>
            </a:r>
            <a:r>
              <a:rPr lang="en-US" sz="2000" b="1" i="0" dirty="0">
                <a:solidFill>
                  <a:srgbClr val="CCCCCC"/>
                </a:solidFill>
                <a:effectLst/>
                <a:latin typeface="Courier New" panose="02070309020205020404" pitchFamily="49" charset="0"/>
              </a:rPr>
              <a:t> index </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r>
              <a:rPr lang="en-US" sz="2000" b="1" i="0" dirty="0">
                <a:solidFill>
                  <a:srgbClr val="F08D49"/>
                </a:solidFill>
                <a:effectLst/>
                <a:latin typeface="Courier New" panose="02070309020205020404" pitchFamily="49" charset="0"/>
              </a:rPr>
              <a:t>0</a:t>
            </a:r>
            <a:r>
              <a:rPr lang="en-US" sz="2000" b="1" i="0" dirty="0">
                <a:solidFill>
                  <a:srgbClr val="CCCCCC"/>
                </a:solidFill>
                <a:effectLst/>
                <a:latin typeface="Courier New" panose="02070309020205020404" pitchFamily="49" charset="0"/>
              </a:rPr>
              <a:t>; </a:t>
            </a:r>
            <a:endParaRPr lang="ro-RO" sz="2000" b="1" i="0" dirty="0">
              <a:solidFill>
                <a:srgbClr val="CCCCCC"/>
              </a:solidFill>
              <a:effectLst/>
              <a:latin typeface="Courier New" panose="02070309020205020404" pitchFamily="49" charset="0"/>
            </a:endParaRPr>
          </a:p>
          <a:p>
            <a:pPr marL="34290" indent="0">
              <a:buNone/>
            </a:pPr>
            <a:r>
              <a:rPr lang="ro-RO" sz="2000" b="1" dirty="0">
                <a:solidFill>
                  <a:srgbClr val="CCCCCC"/>
                </a:solidFill>
                <a:latin typeface="Courier New" panose="02070309020205020404" pitchFamily="49" charset="0"/>
              </a:rPr>
              <a:t>    </a:t>
            </a:r>
            <a:r>
              <a:rPr lang="en-US" sz="2000" b="1" i="0" dirty="0">
                <a:solidFill>
                  <a:srgbClr val="CC99CD"/>
                </a:solidFill>
                <a:effectLst/>
                <a:latin typeface="Courier New" panose="02070309020205020404" pitchFamily="49" charset="0"/>
              </a:rPr>
              <a:t>foreach</a:t>
            </a:r>
            <a:r>
              <a:rPr lang="en-US" sz="2000" b="1" i="0" dirty="0">
                <a:solidFill>
                  <a:srgbClr val="CCCCCC"/>
                </a:solidFill>
                <a:effectLst/>
                <a:latin typeface="Courier New" panose="02070309020205020404" pitchFamily="49" charset="0"/>
              </a:rPr>
              <a:t> (</a:t>
            </a:r>
            <a:r>
              <a:rPr lang="en-US" sz="2000" b="1" i="0" dirty="0">
                <a:solidFill>
                  <a:srgbClr val="CC99CD"/>
                </a:solidFill>
                <a:effectLst/>
                <a:latin typeface="Courier New" panose="02070309020205020404" pitchFamily="49" charset="0"/>
              </a:rPr>
              <a:t>string</a:t>
            </a:r>
            <a:r>
              <a:rPr lang="en-US" sz="2000" b="1" i="0" dirty="0">
                <a:solidFill>
                  <a:srgbClr val="CCCCCC"/>
                </a:solidFill>
                <a:effectLst/>
                <a:latin typeface="Courier New" panose="02070309020205020404" pitchFamily="49" charset="0"/>
              </a:rPr>
              <a:t> name </a:t>
            </a:r>
            <a:r>
              <a:rPr lang="en-US" sz="2000" b="1" i="0" dirty="0">
                <a:solidFill>
                  <a:srgbClr val="CC99CD"/>
                </a:solidFill>
                <a:effectLst/>
                <a:latin typeface="Courier New" panose="02070309020205020404" pitchFamily="49" charset="0"/>
              </a:rPr>
              <a:t>in</a:t>
            </a:r>
            <a:r>
              <a:rPr lang="en-US" sz="2000" b="1" i="0" dirty="0">
                <a:solidFill>
                  <a:srgbClr val="CCCCCC"/>
                </a:solidFill>
                <a:effectLst/>
                <a:latin typeface="Courier New" panose="02070309020205020404" pitchFamily="49" charset="0"/>
              </a:rPr>
              <a:t> names){ </a:t>
            </a:r>
            <a:endParaRPr lang="ro-RO" sz="2000" b="1" i="0" dirty="0">
              <a:solidFill>
                <a:srgbClr val="CCCCCC"/>
              </a:solidFill>
              <a:effectLst/>
              <a:latin typeface="Courier New" panose="02070309020205020404" pitchFamily="49" charset="0"/>
            </a:endParaRPr>
          </a:p>
          <a:p>
            <a:pPr marL="34290" indent="0">
              <a:buNone/>
            </a:pPr>
            <a:r>
              <a:rPr lang="ro-RO" sz="2000" b="1" dirty="0">
                <a:solidFill>
                  <a:srgbClr val="CCCCCC"/>
                </a:solidFill>
                <a:latin typeface="Courier New" panose="02070309020205020404" pitchFamily="49" charset="0"/>
              </a:rPr>
              <a:t>      </a:t>
            </a:r>
            <a:r>
              <a:rPr lang="en-US" sz="2000" b="1" i="0" dirty="0" err="1">
                <a:solidFill>
                  <a:srgbClr val="CCCCCC"/>
                </a:solidFill>
                <a:effectLst/>
                <a:latin typeface="Courier New" panose="02070309020205020404" pitchFamily="49" charset="0"/>
              </a:rPr>
              <a:t>Console.</a:t>
            </a:r>
            <a:r>
              <a:rPr lang="en-US" sz="2000" b="1" i="0" dirty="0" err="1">
                <a:solidFill>
                  <a:srgbClr val="F08D49"/>
                </a:solidFill>
                <a:effectLst/>
                <a:latin typeface="Courier New" panose="02070309020205020404" pitchFamily="49" charset="0"/>
              </a:rPr>
              <a:t>WriteLine</a:t>
            </a:r>
            <a:r>
              <a:rPr lang="en-US" sz="2000" b="1" i="0" dirty="0">
                <a:solidFill>
                  <a:srgbClr val="CCCCCC"/>
                </a:solidFill>
                <a:effectLst/>
                <a:latin typeface="Courier New" panose="02070309020205020404" pitchFamily="49" charset="0"/>
              </a:rPr>
              <a:t>(</a:t>
            </a:r>
            <a:r>
              <a:rPr lang="en-US" sz="2000" b="1" i="0" dirty="0">
                <a:solidFill>
                  <a:srgbClr val="7EC699"/>
                </a:solidFill>
                <a:effectLst/>
                <a:latin typeface="Courier New" panose="02070309020205020404" pitchFamily="49" charset="0"/>
              </a:rPr>
              <a:t>$"Index: </a:t>
            </a:r>
            <a:r>
              <a:rPr lang="en-US" sz="2000" b="1" i="0" dirty="0">
                <a:solidFill>
                  <a:srgbClr val="CCCCCC"/>
                </a:solidFill>
                <a:effectLst/>
                <a:latin typeface="Courier New" panose="02070309020205020404" pitchFamily="49" charset="0"/>
              </a:rPr>
              <a:t>{index}</a:t>
            </a:r>
            <a:r>
              <a:rPr lang="en-US" sz="2000" b="1" i="0" dirty="0">
                <a:solidFill>
                  <a:srgbClr val="7EC699"/>
                </a:solidFill>
                <a:effectLst/>
                <a:latin typeface="Courier New" panose="02070309020205020404" pitchFamily="49" charset="0"/>
              </a:rPr>
              <a:t>, Name: </a:t>
            </a:r>
            <a:endParaRPr lang="ro-RO" sz="2000" b="1" i="0" dirty="0">
              <a:solidFill>
                <a:srgbClr val="7EC699"/>
              </a:solidFill>
              <a:effectLst/>
              <a:latin typeface="Courier New" panose="02070309020205020404" pitchFamily="49" charset="0"/>
            </a:endParaRPr>
          </a:p>
          <a:p>
            <a:pPr marL="34290" indent="0">
              <a:buNone/>
            </a:pPr>
            <a:r>
              <a:rPr lang="ro-RO" sz="2000" b="1" dirty="0">
                <a:solidFill>
                  <a:srgbClr val="7EC699"/>
                </a:solidFill>
                <a:latin typeface="Courier New" panose="02070309020205020404" pitchFamily="49" charset="0"/>
              </a:rPr>
              <a:t>      </a:t>
            </a:r>
            <a:r>
              <a:rPr lang="en-US" sz="2000" b="1" i="0" dirty="0">
                <a:solidFill>
                  <a:srgbClr val="CCCCCC"/>
                </a:solidFill>
                <a:effectLst/>
                <a:latin typeface="Courier New" panose="02070309020205020404" pitchFamily="49" charset="0"/>
              </a:rPr>
              <a:t>{name}</a:t>
            </a:r>
            <a:r>
              <a:rPr lang="en-US" sz="2000" b="1" i="0" dirty="0">
                <a:solidFill>
                  <a:srgbClr val="7EC699"/>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endParaRPr lang="ro-RO" sz="2000" b="1" i="0" dirty="0">
              <a:solidFill>
                <a:srgbClr val="CCCCCC"/>
              </a:solidFill>
              <a:effectLst/>
              <a:latin typeface="Courier New" panose="02070309020205020404" pitchFamily="49" charset="0"/>
            </a:endParaRPr>
          </a:p>
          <a:p>
            <a:pPr marL="34290" indent="0">
              <a:buNone/>
            </a:pPr>
            <a:r>
              <a:rPr lang="ro-RO"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index</a:t>
            </a:r>
            <a:r>
              <a:rPr lang="en-US" sz="2000" b="1" i="0" dirty="0">
                <a:solidFill>
                  <a:srgbClr val="67CDCC"/>
                </a:solidFill>
                <a:effectLst/>
                <a:latin typeface="Courier New" panose="02070309020205020404" pitchFamily="49" charset="0"/>
              </a:rPr>
              <a:t>++</a:t>
            </a:r>
            <a:r>
              <a:rPr lang="en-US" sz="2000" b="1" i="0" dirty="0">
                <a:solidFill>
                  <a:srgbClr val="CCCCCC"/>
                </a:solidFill>
                <a:effectLst/>
                <a:latin typeface="Courier New" panose="02070309020205020404" pitchFamily="49" charset="0"/>
              </a:rPr>
              <a:t>; </a:t>
            </a:r>
            <a:endParaRPr lang="ro-RO" sz="2000" b="1" i="0" dirty="0">
              <a:solidFill>
                <a:srgbClr val="CCCCCC"/>
              </a:solidFill>
              <a:effectLst/>
              <a:latin typeface="Courier New" panose="02070309020205020404" pitchFamily="49" charset="0"/>
            </a:endParaRPr>
          </a:p>
          <a:p>
            <a:pPr marL="34290" indent="0">
              <a:buNone/>
            </a:pPr>
            <a:r>
              <a:rPr lang="ro-RO"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a:t>
            </a:r>
            <a:endParaRPr lang="ro-RO" sz="2000" b="1" i="0" dirty="0">
              <a:solidFill>
                <a:srgbClr val="CCCCCC"/>
              </a:solidFill>
              <a:effectLst/>
              <a:latin typeface="Courier New" panose="02070309020205020404" pitchFamily="49" charset="0"/>
            </a:endParaRPr>
          </a:p>
          <a:p>
            <a:pPr marL="34290" indent="0">
              <a:buNone/>
            </a:pPr>
            <a:r>
              <a:rPr lang="ro-RO" sz="2000" b="1" dirty="0">
                <a:solidFill>
                  <a:srgbClr val="CCCCCC"/>
                </a:solidFill>
                <a:latin typeface="Courier New" panose="02070309020205020404" pitchFamily="49" charset="0"/>
              </a:rPr>
              <a:t>  </a:t>
            </a:r>
            <a:r>
              <a:rPr lang="en-US" sz="2000" b="1" i="0" dirty="0">
                <a:solidFill>
                  <a:srgbClr val="CCCCCC"/>
                </a:solidFill>
                <a:effectLst/>
                <a:latin typeface="Courier New" panose="02070309020205020404" pitchFamily="49" charset="0"/>
              </a:rPr>
              <a:t>}</a:t>
            </a:r>
            <a:endParaRPr lang="ro-RO" sz="2000" b="1" i="0" dirty="0">
              <a:solidFill>
                <a:srgbClr val="CCCCCC"/>
              </a:solidFill>
              <a:effectLst/>
              <a:latin typeface="Courier New" panose="02070309020205020404" pitchFamily="49" charset="0"/>
            </a:endParaRPr>
          </a:p>
          <a:p>
            <a:pPr marL="34290" indent="0">
              <a:buNone/>
            </a:pPr>
            <a:r>
              <a:rPr lang="en-US" sz="2000" b="1" i="0" dirty="0">
                <a:solidFill>
                  <a:srgbClr val="CCCCCC"/>
                </a:solidFill>
                <a:effectLst/>
                <a:latin typeface="Courier New" panose="02070309020205020404" pitchFamily="49" charset="0"/>
              </a:rPr>
              <a:t>}</a:t>
            </a:r>
            <a:endParaRPr lang="ro-RO" sz="2000" b="1" i="0" dirty="0">
              <a:solidFill>
                <a:srgbClr val="CCCCCC"/>
              </a:solidFill>
              <a:effectLst/>
              <a:latin typeface="Courier New" panose="02070309020205020404" pitchFamily="49" charset="0"/>
            </a:endParaRPr>
          </a:p>
          <a:p>
            <a:pPr marL="34290" indent="0">
              <a:buNone/>
            </a:pPr>
            <a:endParaRPr lang="ro-RO" sz="2800" b="1" noProof="0" dirty="0">
              <a:solidFill>
                <a:srgbClr val="CCCCCC"/>
              </a:solidFill>
            </a:endParaRPr>
          </a:p>
          <a:p>
            <a:pPr marL="34290" indent="0">
              <a:buNone/>
            </a:pPr>
            <a:endParaRPr lang="en-US" sz="2400" b="1"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0490179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22B8-BD3D-5EF8-B172-2331B4FF0E0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A7AC4D-73F7-448D-C74A-E09F1204F1BB}"/>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39859A80-3F05-6C84-DCF0-4E0DB456BB7F}"/>
              </a:ext>
            </a:extLst>
          </p:cNvPr>
          <p:cNvSpPr>
            <a:spLocks noGrp="1"/>
          </p:cNvSpPr>
          <p:nvPr>
            <p:ph idx="1"/>
          </p:nvPr>
        </p:nvSpPr>
        <p:spPr>
          <a:xfrm>
            <a:off x="463925" y="1281952"/>
            <a:ext cx="8249770" cy="5074024"/>
          </a:xfrm>
        </p:spPr>
        <p:txBody>
          <a:bodyPr>
            <a:noAutofit/>
          </a:bodyPr>
          <a:lstStyle/>
          <a:p>
            <a:pPr marL="34290" indent="0">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break</a:t>
            </a:r>
          </a:p>
          <a:p>
            <a:pPr marL="34290" indent="0">
              <a:buNone/>
            </a:pPr>
            <a:r>
              <a:rPr lang="en-US" sz="2400" b="1" i="0" dirty="0">
                <a:solidFill>
                  <a:srgbClr val="CC99CD"/>
                </a:solidFill>
                <a:effectLst/>
                <a:latin typeface="Courier New" panose="02070309020205020404" pitchFamily="49" charset="0"/>
              </a:rPr>
              <a:t>using</a:t>
            </a:r>
            <a:r>
              <a:rPr lang="en-US" sz="2400" b="1" i="0" dirty="0">
                <a:solidFill>
                  <a:srgbClr val="CCCCCC"/>
                </a:solidFill>
                <a:effectLst/>
                <a:latin typeface="Courier New" panose="02070309020205020404" pitchFamily="49" charset="0"/>
              </a:rPr>
              <a:t> System;</a:t>
            </a:r>
            <a:endParaRPr lang="ro-RO" sz="2400" b="1" i="0" dirty="0">
              <a:solidFill>
                <a:srgbClr val="CCCCCC"/>
              </a:solidFill>
              <a:effectLst/>
              <a:latin typeface="Courier New" panose="02070309020205020404" pitchFamily="49" charset="0"/>
            </a:endParaRPr>
          </a:p>
          <a:p>
            <a:pPr marL="34290" indent="0">
              <a:buNone/>
            </a:pPr>
            <a:r>
              <a:rPr lang="en-US" sz="2400" b="1" i="0" dirty="0">
                <a:solidFill>
                  <a:srgbClr val="CC99CD"/>
                </a:solidFill>
                <a:effectLst/>
                <a:latin typeface="Courier New" panose="02070309020205020404" pitchFamily="49" charset="0"/>
              </a:rPr>
              <a:t>class</a:t>
            </a:r>
            <a:r>
              <a:rPr lang="en-US" sz="2400" b="1" i="0" dirty="0">
                <a:solidFill>
                  <a:srgbClr val="CCCCCC"/>
                </a:solidFill>
                <a:effectLst/>
                <a:latin typeface="Courier New" panose="02070309020205020404" pitchFamily="49" charset="0"/>
              </a:rPr>
              <a:t> Program { </a:t>
            </a:r>
            <a:endParaRPr lang="ro-RO" sz="2400" b="1" i="0" dirty="0">
              <a:solidFill>
                <a:srgbClr val="CCCCCC"/>
              </a:solidFill>
              <a:effectLst/>
              <a:latin typeface="Courier New" panose="02070309020205020404" pitchFamily="49" charset="0"/>
            </a:endParaRPr>
          </a:p>
          <a:p>
            <a:pPr marL="34290" indent="0">
              <a:buNone/>
            </a:pPr>
            <a:r>
              <a:rPr lang="ro-RO" sz="2400" b="1" i="0" dirty="0">
                <a:solidFill>
                  <a:srgbClr val="CC99CD"/>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static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void</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Main</a:t>
            </a:r>
            <a:r>
              <a:rPr lang="en-US" sz="2400" b="1" i="0" dirty="0">
                <a:solidFill>
                  <a:srgbClr val="CCCCCC"/>
                </a:solidFill>
                <a:effectLst/>
                <a:latin typeface="Courier New" panose="02070309020205020404" pitchFamily="49" charset="0"/>
              </a:rPr>
              <a:t>(){ </a:t>
            </a:r>
            <a:endParaRPr lang="ro-RO" sz="2400" b="1" i="0" dirty="0">
              <a:solidFill>
                <a:srgbClr val="CCCCCC"/>
              </a:solidFill>
              <a:effectLst/>
              <a:latin typeface="Courier New" panose="02070309020205020404" pitchFamily="49" charset="0"/>
            </a:endParaRPr>
          </a:p>
          <a:p>
            <a:pPr marL="34290" indent="0">
              <a:buNone/>
            </a:pPr>
            <a:r>
              <a:rPr lang="ro-RO" sz="2400" b="1" i="0" dirty="0">
                <a:solidFill>
                  <a:srgbClr val="CC99CD"/>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numbers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 </a:t>
            </a:r>
            <a:r>
              <a:rPr lang="en-US" sz="2400" b="1" i="0" dirty="0">
                <a:solidFill>
                  <a:srgbClr val="F08D49"/>
                </a:solidFill>
                <a:effectLst/>
                <a:latin typeface="Courier New" panose="02070309020205020404" pitchFamily="49" charset="0"/>
              </a:rPr>
              <a:t>5</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10</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15</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20</a:t>
            </a:r>
            <a:r>
              <a:rPr lang="en-US" sz="2400" b="1" i="0" dirty="0">
                <a:solidFill>
                  <a:srgbClr val="CCCCCC"/>
                </a:solidFill>
                <a:effectLst/>
                <a:latin typeface="Courier New" panose="02070309020205020404" pitchFamily="49" charset="0"/>
              </a:rPr>
              <a:t> };</a:t>
            </a:r>
            <a:r>
              <a:rPr lang="en-US" sz="2400" b="1" i="0" dirty="0">
                <a:solidFill>
                  <a:srgbClr val="999999"/>
                </a:solidFill>
                <a:effectLst/>
                <a:latin typeface="Courier New" panose="02070309020205020404" pitchFamily="49" charset="0"/>
              </a:rPr>
              <a:t> </a:t>
            </a:r>
            <a:endParaRPr lang="ro-RO" sz="2400" b="1" i="0" dirty="0">
              <a:solidFill>
                <a:srgbClr val="999999"/>
              </a:solidFill>
              <a:effectLst/>
              <a:latin typeface="Courier New" panose="02070309020205020404" pitchFamily="49" charset="0"/>
            </a:endParaRPr>
          </a:p>
          <a:p>
            <a:pPr marL="34290" indent="0">
              <a:buNone/>
            </a:pPr>
            <a:r>
              <a:rPr lang="ro-RO" sz="2400" b="1" dirty="0">
                <a:solidFill>
                  <a:srgbClr val="999999"/>
                </a:solidFill>
                <a:latin typeface="Courier New" panose="02070309020205020404" pitchFamily="49" charset="0"/>
              </a:rPr>
              <a:t>    </a:t>
            </a:r>
            <a:r>
              <a:rPr lang="en-US" sz="2400" b="1" i="0" dirty="0">
                <a:solidFill>
                  <a:srgbClr val="CC99CD"/>
                </a:solidFill>
                <a:effectLst/>
                <a:latin typeface="Courier New" panose="02070309020205020404" pitchFamily="49" charset="0"/>
              </a:rPr>
              <a:t>foreach</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n </a:t>
            </a:r>
            <a:r>
              <a:rPr lang="en-US" sz="2400" b="1" i="0" dirty="0">
                <a:solidFill>
                  <a:srgbClr val="CC99CD"/>
                </a:solidFill>
                <a:effectLst/>
                <a:latin typeface="Courier New" panose="02070309020205020404" pitchFamily="49" charset="0"/>
              </a:rPr>
              <a:t>in</a:t>
            </a:r>
            <a:r>
              <a:rPr lang="en-US" sz="2400" b="1" i="0" dirty="0">
                <a:solidFill>
                  <a:srgbClr val="CCCCCC"/>
                </a:solidFill>
                <a:effectLst/>
                <a:latin typeface="Courier New" panose="02070309020205020404" pitchFamily="49" charset="0"/>
              </a:rPr>
              <a:t> numbers){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if</a:t>
            </a:r>
            <a:r>
              <a:rPr lang="en-US" sz="2400" b="1" i="0" dirty="0">
                <a:solidFill>
                  <a:srgbClr val="CCCCCC"/>
                </a:solidFill>
                <a:effectLst/>
                <a:latin typeface="Courier New" panose="02070309020205020404" pitchFamily="49" charset="0"/>
              </a:rPr>
              <a:t> (n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15</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break</a:t>
            </a:r>
            <a:r>
              <a:rPr lang="en-US" sz="2400" b="1" i="0" dirty="0">
                <a:solidFill>
                  <a:srgbClr val="CCCCCC"/>
                </a:solidFill>
                <a:effectLst/>
                <a:latin typeface="Courier New" panose="02070309020205020404" pitchFamily="49" charset="0"/>
              </a:rPr>
              <a:t>; </a:t>
            </a:r>
            <a:endParaRPr lang="ro-RO" sz="2400" b="1" i="0" dirty="0">
              <a:solidFill>
                <a:srgbClr val="999999"/>
              </a:solidFill>
              <a:effectLst/>
              <a:latin typeface="Courier New" panose="02070309020205020404" pitchFamily="49" charset="0"/>
            </a:endParaRPr>
          </a:p>
          <a:p>
            <a:pPr marL="34290" indent="0">
              <a:buNone/>
            </a:pPr>
            <a:r>
              <a:rPr lang="ro-RO" sz="2400" b="1" dirty="0">
                <a:solidFill>
                  <a:srgbClr val="999999"/>
                </a:solidFill>
                <a:latin typeface="Courier New" panose="02070309020205020404" pitchFamily="49" charset="0"/>
              </a:rPr>
              <a:t>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(n);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CCCC"/>
                </a:solidFill>
                <a:effectLst/>
                <a:latin typeface="Courier New" panose="02070309020205020404" pitchFamily="49" charset="0"/>
              </a:rPr>
              <a:t>}</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CCCC"/>
                </a:solidFill>
                <a:effectLst/>
                <a:latin typeface="Courier New" panose="02070309020205020404" pitchFamily="49" charset="0"/>
              </a:rPr>
              <a:t> }</a:t>
            </a:r>
            <a:endParaRPr lang="ro-RO" sz="2400" b="1" i="0" dirty="0">
              <a:solidFill>
                <a:srgbClr val="CCCCCC"/>
              </a:solidFill>
              <a:effectLst/>
              <a:latin typeface="Courier New" panose="02070309020205020404" pitchFamily="49" charset="0"/>
            </a:endParaRPr>
          </a:p>
          <a:p>
            <a:pPr marL="34290" indent="0">
              <a:buNone/>
            </a:pPr>
            <a:r>
              <a:rPr lang="en-US" sz="2400" b="1" i="0" dirty="0">
                <a:solidFill>
                  <a:srgbClr val="CCCCCC"/>
                </a:solidFill>
                <a:effectLst/>
                <a:latin typeface="Courier New" panose="02070309020205020404" pitchFamily="49" charset="0"/>
              </a:rPr>
              <a:t>}</a:t>
            </a:r>
            <a:endParaRPr lang="ro-RO" sz="2400" b="1" i="0" dirty="0">
              <a:solidFill>
                <a:srgbClr val="CCCCCC"/>
              </a:solidFill>
              <a:effectLst/>
              <a:latin typeface="Courier New" panose="02070309020205020404" pitchFamily="49" charset="0"/>
            </a:endParaRPr>
          </a:p>
          <a:p>
            <a:pPr marL="34290" indent="0">
              <a:buNone/>
            </a:pPr>
            <a:endParaRPr lang="ro-RO" sz="2800" b="1" noProof="0" dirty="0">
              <a:solidFill>
                <a:srgbClr val="CCCCCC"/>
              </a:solidFill>
            </a:endParaRPr>
          </a:p>
          <a:p>
            <a:pPr marL="34290" indent="0">
              <a:buNone/>
            </a:pPr>
            <a:endParaRPr lang="en-US" sz="2400" b="1"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41543072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A00EE-0B48-64E5-56DC-DC0E71ACFA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F7C75C6-D54F-0BDF-BB03-9D3581653BBD}"/>
              </a:ext>
            </a:extLst>
          </p:cNvPr>
          <p:cNvSpPr>
            <a:spLocks noGrp="1"/>
          </p:cNvSpPr>
          <p:nvPr>
            <p:ph type="title"/>
          </p:nvPr>
        </p:nvSpPr>
        <p:spPr>
          <a:xfrm>
            <a:off x="463925" y="582705"/>
            <a:ext cx="7819465" cy="504265"/>
          </a:xfrm>
        </p:spPr>
        <p:txBody>
          <a:bodyPr>
            <a:noAutofit/>
          </a:bodyPr>
          <a:lstStyle/>
          <a:p>
            <a:r>
              <a:rPr lang="ro-RO" sz="3200" noProof="0" dirty="0"/>
              <a:t>C# - Cursul 7</a:t>
            </a:r>
          </a:p>
        </p:txBody>
      </p:sp>
      <p:sp>
        <p:nvSpPr>
          <p:cNvPr id="5" name="Content Placeholder 4">
            <a:extLst>
              <a:ext uri="{FF2B5EF4-FFF2-40B4-BE49-F238E27FC236}">
                <a16:creationId xmlns:a16="http://schemas.microsoft.com/office/drawing/2014/main" id="{4BA21F2D-DCFD-10CB-EEAA-DEF6D9AB5CDD}"/>
              </a:ext>
            </a:extLst>
          </p:cNvPr>
          <p:cNvSpPr>
            <a:spLocks noGrp="1"/>
          </p:cNvSpPr>
          <p:nvPr>
            <p:ph idx="1"/>
          </p:nvPr>
        </p:nvSpPr>
        <p:spPr>
          <a:xfrm>
            <a:off x="463925" y="1281952"/>
            <a:ext cx="8249770" cy="5074024"/>
          </a:xfrm>
        </p:spPr>
        <p:txBody>
          <a:bodyPr>
            <a:noAutofit/>
          </a:bodyPr>
          <a:lstStyle/>
          <a:p>
            <a:pPr marL="34290" indent="0">
              <a:buNone/>
            </a:pPr>
            <a:r>
              <a:rPr lang="ro-RO" sz="2800" noProof="0" dirty="0">
                <a:solidFill>
                  <a:srgbClr val="00B0F0"/>
                </a:solidFill>
              </a:rPr>
              <a:t>Instrucțiunea </a:t>
            </a:r>
            <a:r>
              <a:rPr lang="ro-RO" sz="2800" noProof="0" dirty="0" err="1">
                <a:solidFill>
                  <a:srgbClr val="00B0F0"/>
                </a:solidFill>
              </a:rPr>
              <a:t>foreach</a:t>
            </a:r>
            <a:r>
              <a:rPr lang="ro-RO" sz="2800" noProof="0" dirty="0">
                <a:solidFill>
                  <a:srgbClr val="00B0F0"/>
                </a:solidFill>
              </a:rPr>
              <a:t> în C# - continue</a:t>
            </a:r>
          </a:p>
          <a:p>
            <a:pPr marL="34290" indent="0">
              <a:buNone/>
            </a:pPr>
            <a:r>
              <a:rPr lang="en-US" sz="2400" b="1" i="0" dirty="0">
                <a:solidFill>
                  <a:srgbClr val="CC99CD"/>
                </a:solidFill>
                <a:effectLst/>
                <a:latin typeface="Courier New" panose="02070309020205020404" pitchFamily="49" charset="0"/>
              </a:rPr>
              <a:t>using</a:t>
            </a:r>
            <a:r>
              <a:rPr lang="en-US" sz="2400" b="1" i="0" dirty="0">
                <a:solidFill>
                  <a:srgbClr val="CCCCCC"/>
                </a:solidFill>
                <a:effectLst/>
                <a:latin typeface="Courier New" panose="02070309020205020404" pitchFamily="49" charset="0"/>
              </a:rPr>
              <a:t> System; </a:t>
            </a:r>
            <a:endParaRPr lang="ro-RO" sz="2400" b="1" i="0" dirty="0">
              <a:solidFill>
                <a:srgbClr val="CCCCCC"/>
              </a:solidFill>
              <a:effectLst/>
              <a:latin typeface="Courier New" panose="02070309020205020404" pitchFamily="49" charset="0"/>
            </a:endParaRPr>
          </a:p>
          <a:p>
            <a:pPr marL="34290" indent="0">
              <a:buNone/>
            </a:pPr>
            <a:r>
              <a:rPr lang="en-US" sz="2400" b="1" i="0" dirty="0">
                <a:solidFill>
                  <a:srgbClr val="CC99CD"/>
                </a:solidFill>
                <a:effectLst/>
                <a:latin typeface="Courier New" panose="02070309020205020404" pitchFamily="49" charset="0"/>
              </a:rPr>
              <a:t>class</a:t>
            </a:r>
            <a:r>
              <a:rPr lang="en-US" sz="2400" b="1" i="0" dirty="0">
                <a:solidFill>
                  <a:srgbClr val="CCCCCC"/>
                </a:solidFill>
                <a:effectLst/>
                <a:latin typeface="Courier New" panose="02070309020205020404" pitchFamily="49" charset="0"/>
              </a:rPr>
              <a:t> Program {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static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void</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Main</a:t>
            </a:r>
            <a:r>
              <a:rPr lang="en-US" sz="2400" b="1" i="0" dirty="0">
                <a:solidFill>
                  <a:srgbClr val="CCCCCC"/>
                </a:solidFill>
                <a:effectLst/>
                <a:latin typeface="Courier New" panose="02070309020205020404" pitchFamily="49" charset="0"/>
              </a:rPr>
              <a:t>(){ </a:t>
            </a:r>
            <a:endParaRPr lang="ro-RO" sz="2400" b="1" i="0" dirty="0">
              <a:solidFill>
                <a:srgbClr val="CCCCCC"/>
              </a:solidFill>
              <a:effectLst/>
              <a:latin typeface="Courier New" panose="02070309020205020404" pitchFamily="49" charset="0"/>
            </a:endParaRPr>
          </a:p>
          <a:p>
            <a:pPr marL="34290" indent="0">
              <a:buNone/>
            </a:pPr>
            <a:r>
              <a:rPr lang="ro-RO" sz="2400" b="1" i="0" dirty="0">
                <a:solidFill>
                  <a:srgbClr val="CC99CD"/>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numbers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 </a:t>
            </a:r>
            <a:r>
              <a:rPr lang="en-US" sz="2400" b="1" i="0" dirty="0">
                <a:solidFill>
                  <a:srgbClr val="F08D49"/>
                </a:solidFill>
                <a:effectLst/>
                <a:latin typeface="Courier New" panose="02070309020205020404" pitchFamily="49" charset="0"/>
              </a:rPr>
              <a:t>5</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10</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15</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20</a:t>
            </a:r>
            <a:r>
              <a:rPr lang="en-US" sz="2400" b="1" i="0" dirty="0">
                <a:solidFill>
                  <a:srgbClr val="CCCCCC"/>
                </a:solidFill>
                <a:effectLst/>
                <a:latin typeface="Courier New" panose="02070309020205020404" pitchFamily="49" charset="0"/>
              </a:rPr>
              <a:t> };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foreach</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int</a:t>
            </a:r>
            <a:r>
              <a:rPr lang="en-US" sz="2400" b="1" i="0" dirty="0">
                <a:solidFill>
                  <a:srgbClr val="CCCCCC"/>
                </a:solidFill>
                <a:effectLst/>
                <a:latin typeface="Courier New" panose="02070309020205020404" pitchFamily="49" charset="0"/>
              </a:rPr>
              <a:t> n </a:t>
            </a:r>
            <a:r>
              <a:rPr lang="en-US" sz="2400" b="1" i="0" dirty="0">
                <a:solidFill>
                  <a:srgbClr val="CC99CD"/>
                </a:solidFill>
                <a:effectLst/>
                <a:latin typeface="Courier New" panose="02070309020205020404" pitchFamily="49" charset="0"/>
              </a:rPr>
              <a:t>in</a:t>
            </a:r>
            <a:r>
              <a:rPr lang="en-US" sz="2400" b="1" i="0" dirty="0">
                <a:solidFill>
                  <a:srgbClr val="CCCCCC"/>
                </a:solidFill>
                <a:effectLst/>
                <a:latin typeface="Courier New" panose="02070309020205020404" pitchFamily="49" charset="0"/>
              </a:rPr>
              <a:t> numbers){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99CD"/>
                </a:solidFill>
                <a:effectLst/>
                <a:latin typeface="Courier New" panose="02070309020205020404" pitchFamily="49" charset="0"/>
              </a:rPr>
              <a:t>if</a:t>
            </a:r>
            <a:r>
              <a:rPr lang="en-US" sz="2400" b="1" i="0" dirty="0">
                <a:solidFill>
                  <a:srgbClr val="CCCCCC"/>
                </a:solidFill>
                <a:effectLst/>
                <a:latin typeface="Courier New" panose="02070309020205020404" pitchFamily="49" charset="0"/>
              </a:rPr>
              <a:t> (n </a:t>
            </a:r>
            <a:r>
              <a:rPr lang="en-US" sz="2400" b="1" i="0" dirty="0">
                <a:solidFill>
                  <a:srgbClr val="67CDCC"/>
                </a:solidFill>
                <a:effectLst/>
                <a:latin typeface="Courier New" panose="02070309020205020404" pitchFamily="49" charset="0"/>
              </a:rPr>
              <a:t>==</a:t>
            </a:r>
            <a:r>
              <a:rPr lang="en-US" sz="2400" b="1" i="0" dirty="0">
                <a:solidFill>
                  <a:srgbClr val="CCCCCC"/>
                </a:solidFill>
                <a:effectLst/>
                <a:latin typeface="Courier New" panose="02070309020205020404" pitchFamily="49" charset="0"/>
              </a:rPr>
              <a:t> </a:t>
            </a:r>
            <a:r>
              <a:rPr lang="en-US" sz="2400" b="1" i="0" dirty="0">
                <a:solidFill>
                  <a:srgbClr val="F08D49"/>
                </a:solidFill>
                <a:effectLst/>
                <a:latin typeface="Courier New" panose="02070309020205020404" pitchFamily="49" charset="0"/>
              </a:rPr>
              <a:t>15</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continue</a:t>
            </a:r>
            <a:r>
              <a:rPr lang="en-US" sz="2400" b="1" i="0" dirty="0">
                <a:solidFill>
                  <a:srgbClr val="CCCCCC"/>
                </a:solidFill>
                <a:effectLst/>
                <a:latin typeface="Courier New" panose="02070309020205020404" pitchFamily="49" charset="0"/>
              </a:rPr>
              <a:t>; </a:t>
            </a:r>
            <a:endParaRPr lang="ro-RO" sz="2400" b="1" i="0" dirty="0">
              <a:solidFill>
                <a:srgbClr val="999999"/>
              </a:solidFill>
              <a:effectLst/>
              <a:latin typeface="Courier New" panose="02070309020205020404" pitchFamily="49" charset="0"/>
            </a:endParaRPr>
          </a:p>
          <a:p>
            <a:pPr marL="34290" indent="0">
              <a:buNone/>
            </a:pPr>
            <a:r>
              <a:rPr lang="ro-RO" sz="2400" b="1" dirty="0">
                <a:solidFill>
                  <a:srgbClr val="999999"/>
                </a:solidFill>
                <a:latin typeface="Courier New" panose="02070309020205020404" pitchFamily="49" charset="0"/>
              </a:rPr>
              <a:t>      </a:t>
            </a:r>
            <a:r>
              <a:rPr lang="en-US" sz="2400" b="1" i="0" dirty="0" err="1">
                <a:solidFill>
                  <a:srgbClr val="CCCCCC"/>
                </a:solidFill>
                <a:effectLst/>
                <a:latin typeface="Courier New" panose="02070309020205020404" pitchFamily="49" charset="0"/>
              </a:rPr>
              <a:t>Console.</a:t>
            </a:r>
            <a:r>
              <a:rPr lang="en-US" sz="2400" b="1" i="0" dirty="0" err="1">
                <a:solidFill>
                  <a:srgbClr val="F08D49"/>
                </a:solidFill>
                <a:effectLst/>
                <a:latin typeface="Courier New" panose="02070309020205020404" pitchFamily="49" charset="0"/>
              </a:rPr>
              <a:t>WriteLine</a:t>
            </a:r>
            <a:r>
              <a:rPr lang="en-US" sz="2400" b="1" i="0" dirty="0">
                <a:solidFill>
                  <a:srgbClr val="CCCCCC"/>
                </a:solidFill>
                <a:effectLst/>
                <a:latin typeface="Courier New" panose="02070309020205020404" pitchFamily="49" charset="0"/>
              </a:rPr>
              <a:t>(n);</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CCCC"/>
                </a:solidFill>
                <a:effectLst/>
                <a:latin typeface="Courier New" panose="02070309020205020404" pitchFamily="49" charset="0"/>
              </a:rPr>
              <a:t> } </a:t>
            </a:r>
            <a:endParaRPr lang="ro-RO" sz="2400" b="1" i="0" dirty="0">
              <a:solidFill>
                <a:srgbClr val="CCCCCC"/>
              </a:solidFill>
              <a:effectLst/>
              <a:latin typeface="Courier New" panose="02070309020205020404" pitchFamily="49" charset="0"/>
            </a:endParaRPr>
          </a:p>
          <a:p>
            <a:pPr marL="34290" indent="0">
              <a:buNone/>
            </a:pPr>
            <a:r>
              <a:rPr lang="ro-RO" sz="2400" b="1" dirty="0">
                <a:solidFill>
                  <a:srgbClr val="CCCCCC"/>
                </a:solidFill>
                <a:latin typeface="Courier New" panose="02070309020205020404" pitchFamily="49" charset="0"/>
              </a:rPr>
              <a:t>  </a:t>
            </a:r>
            <a:r>
              <a:rPr lang="en-US" sz="2400" b="1" i="0" dirty="0">
                <a:solidFill>
                  <a:srgbClr val="CCCCCC"/>
                </a:solidFill>
                <a:effectLst/>
                <a:latin typeface="Courier New" panose="02070309020205020404" pitchFamily="49" charset="0"/>
              </a:rPr>
              <a:t>} </a:t>
            </a:r>
            <a:endParaRPr lang="ro-RO" sz="2400" b="1" i="0">
              <a:solidFill>
                <a:srgbClr val="CCCCCC"/>
              </a:solidFill>
              <a:effectLst/>
              <a:latin typeface="Courier New" panose="02070309020205020404" pitchFamily="49" charset="0"/>
            </a:endParaRPr>
          </a:p>
          <a:p>
            <a:pPr marL="34290" indent="0">
              <a:buNone/>
            </a:pPr>
            <a:r>
              <a:rPr lang="en-US" sz="2400" b="1" i="0">
                <a:solidFill>
                  <a:srgbClr val="CCCCCC"/>
                </a:solidFill>
                <a:effectLst/>
                <a:latin typeface="Courier New" panose="02070309020205020404" pitchFamily="49" charset="0"/>
              </a:rPr>
              <a:t>}</a:t>
            </a:r>
            <a:endParaRPr lang="ro-RO" sz="2400" b="1" noProof="0" dirty="0">
              <a:solidFill>
                <a:srgbClr val="00B0F0"/>
              </a:solidFill>
            </a:endParaRPr>
          </a:p>
          <a:p>
            <a:pPr marL="34290" indent="0">
              <a:buNone/>
            </a:pPr>
            <a:endParaRPr lang="ro-RO" sz="2800" b="1" noProof="0" dirty="0">
              <a:solidFill>
                <a:srgbClr val="CCCCCC"/>
              </a:solidFill>
            </a:endParaRPr>
          </a:p>
          <a:p>
            <a:pPr marL="34290" indent="0">
              <a:buNone/>
            </a:pPr>
            <a:endParaRPr lang="en-US" sz="2400" b="1" noProof="0" dirty="0">
              <a:solidFill>
                <a:srgbClr val="00B0F0"/>
              </a:solidFill>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0757785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ldThem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ldTheme" id="{E044F4A2-B66D-45C2-96C7-FCDC24F4574A}" vid="{A3C9D0F2-0975-40A9-A9D7-E4850D5DE04F}"/>
    </a:ext>
  </a:extLst>
</a:theme>
</file>

<file path=docProps/app.xml><?xml version="1.0" encoding="utf-8"?>
<Properties xmlns="http://schemas.openxmlformats.org/officeDocument/2006/extended-properties" xmlns:vt="http://schemas.openxmlformats.org/officeDocument/2006/docPropsVTypes">
  <Template/>
  <TotalTime>5008</TotalTime>
  <Words>4815</Words>
  <Application>Microsoft Office PowerPoint</Application>
  <PresentationFormat>On-screen Show (4:3)</PresentationFormat>
  <Paragraphs>691</Paragraphs>
  <Slides>65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65</vt:i4>
      </vt:variant>
    </vt:vector>
  </HeadingPairs>
  <TitlesOfParts>
    <vt:vector size="69" baseType="lpstr">
      <vt:lpstr>Arial</vt:lpstr>
      <vt:lpstr>Courier New</vt:lpstr>
      <vt:lpstr>Wingdings</vt:lpstr>
      <vt:lpstr>oldTheme</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lpstr>C# - Cursul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Licenta A3 - Facultatea de Informatica și Ştiinţe</dc:creator>
  <cp:lastModifiedBy>Licenta A3 - Facultatea de Informatica și Ştiinţe</cp:lastModifiedBy>
  <cp:revision>55</cp:revision>
  <dcterms:created xsi:type="dcterms:W3CDTF">2025-10-05T09:43:55Z</dcterms:created>
  <dcterms:modified xsi:type="dcterms:W3CDTF">2025-12-03T08:46:51Z</dcterms:modified>
</cp:coreProperties>
</file>